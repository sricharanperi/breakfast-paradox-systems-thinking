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3.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4.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charts/chart5.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charts/chart6.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charts/chart7.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af1ca29-09ed-c5f1-9a2a-f91a547f2c79}">
          <p14:sldIdLst>
            <p14:sldId id="256"/>
            <p14:sldId id="257"/>
            <p14:sldId id="258"/>
          </p14:sldIdLst>
        </p14:section>
        <p14:section name="Background" id="{0cca0957-1b3a-f662-259e-6c43b21951b6}">
          <p14:sldIdLst>
            <p14:sldId id="259"/>
            <p14:sldId id="260"/>
            <p14:sldId id="261"/>
          </p14:sldIdLst>
        </p14:section>
        <p14:section name="Approach" id="{55cf8bc8-7cdc-0c9f-93d0-83c94842c0a3}">
          <p14:sldIdLst>
            <p14:sldId id="262"/>
            <p14:sldId id="263"/>
            <p14:sldId id="264"/>
            <p14:sldId id="265"/>
            <p14:sldId id="266"/>
          </p14:sldIdLst>
        </p14:section>
        <p14:section name="Understanding the system" id="{532b5022-c484-26d6-2313-4ed26af08458}">
          <p14:sldIdLst>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Lst>
        </p14:section>
        <p14:section name="Modelling the system" id="{2333a3f4-6b50-12d4-3493-15ac0ca5a9c3}">
          <p14:sldIdLst>
            <p14:sldId id="286"/>
            <p14:sldId id="287"/>
            <p14:sldId id="288"/>
            <p14:sldId id="289"/>
            <p14:sldId id="290"/>
            <p14:sldId id="291"/>
            <p14:sldId id="292"/>
            <p14:sldId id="293"/>
            <p14:sldId id="294"/>
            <p14:sldId id="295"/>
            <p14:sldId id="296"/>
          </p14:sldIdLst>
        </p14:section>
        <p14:section name="Finding where to intervene" id="{36f421b8-d627-bf4e-9128-34f53ccfdf08}">
          <p14:sldIdLst>
            <p14:sldId id="297"/>
            <p14:sldId id="298"/>
            <p14:sldId id="299"/>
            <p14:sldId id="300"/>
            <p14:sldId id="301"/>
          </p14:sldIdLst>
        </p14:section>
        <p14:section name="Designing and testing interventions" id="{c91f1df9-7e97-e867-3935-ea180bbad965}">
          <p14:sldIdLst>
            <p14:sldId id="302"/>
            <p14:sldId id="303"/>
            <p14:sldId id="304"/>
            <p14:sldId id="305"/>
            <p14:sldId id="306"/>
            <p14:sldId id="307"/>
            <p14:sldId id="308"/>
            <p14:sldId id="309"/>
            <p14:sldId id="310"/>
            <p14:sldId id="311"/>
            <p14:sldId id="312"/>
            <p14:sldId id="313"/>
            <p14:sldId id="314"/>
            <p14:sldId id="315"/>
          </p14:sldIdLst>
        </p14:section>
        <p14:section name="What the findings mean for the institution" id="{bb4c7af9-6eb0-7dee-d30e-a1cd2a7fa3a5}">
          <p14:sldIdLst>
            <p14:sldId id="316"/>
          </p14:sldIdLst>
        </p14:section>
        <p14:section name="Limitations and open questions" id="{a8be6b8a-daa0-b0e1-a52a-be1879506318}">
          <p14:sldIdLst>
            <p14:sldId id="317"/>
            <p14:sldId id="318"/>
          </p14:sldIdLst>
        </p14:section>
        <p14:section name="Reflections" id="{f829d793-83f3-d8c3-24ef-c3a886696f9b}">
          <p14:sldIdLst>
            <p14:sldId id="319"/>
          </p14:sldIdLst>
        </p14:section>
        <p14:section name="Questions for discussion" id="{c87bf9b7-cdc2-a707-dbb2-2e3832605e6c}">
          <p14:sldIdLst>
            <p14:sldId id="320"/>
          </p14:sldIdLst>
        </p14:section>
        <p14:section name="Appendix" id="{084b5c04-320b-d967-ecfa-4c05655d7ea8}">
          <p14:sldIdLst>
            <p14:sldId id="321"/>
            <p14:sldId id="322"/>
            <p14:sldId id="323"/>
            <p14:sldId id="324"/>
            <p14:sldId id="32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April</c:v>
                </c:pt>
              </c:strCache>
            </c:strRef>
          </c:tx>
          <c:spPr>
            <a:solidFill>
              <a:schemeClr val="accent1"/>
            </a:solidFill>
            <a:ln w="9525" cap="flat">
              <a:solidFill>
                <a:srgbClr val="F9F9F9"/>
              </a:solidFill>
              <a:prstDash val="solid"/>
              <a:round/>
            </a:ln>
            <a:effectLst/>
          </c:spPr>
          <c:dPt>
            <c:idx val="0"/>
            <c:bubble3D val="0"/>
            <c:spPr>
              <a:solidFill>
                <a:srgbClr val="2E7D32"/>
              </a:solidFill>
              <a:ln w="12700" cap="flat">
                <a:solidFill>
                  <a:srgbClr val="0E1440"/>
                </a:solidFill>
                <a:prstDash val="solid"/>
                <a:round/>
              </a:ln>
              <a:effectLst/>
            </c:spPr>
          </c:dPt>
          <c:dPt>
            <c:idx val="1"/>
            <c:bubble3D val="0"/>
            <c:spPr>
              <a:solidFill>
                <a:srgbClr val="C62828"/>
              </a:solidFill>
              <a:ln w="12700" cap="flat">
                <a:solidFill>
                  <a:srgbClr val="0E1440"/>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Scanned</c:v>
                </c:pt>
                <c:pt idx="1">
                  <c:v>Not scanned</c:v>
                </c:pt>
              </c:strCache>
            </c:strRef>
          </c:cat>
          <c:val>
            <c:numRef>
              <c:f>Sheet1!$B$2:$B$3</c:f>
              <c:numCache>
                <c:ptCount val="2"/>
                <c:pt idx="0">
                  <c:v>37.1</c:v>
                </c:pt>
                <c:pt idx="1">
                  <c:v>62.9</c:v>
                </c:pt>
              </c:numCache>
            </c:numRef>
          </c:val>
        </c:ser>
        <c:firstSliceAng val="0"/>
        <c:holeSize val="66"/>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Percent eaten</c:v>
                </c:pt>
              </c:strCache>
            </c:strRef>
          </c:tx>
          <c:spPr>
            <a:solidFill>
              <a:srgbClr val="1565C0"/>
            </a:solidFill>
            <a:effectLst/>
          </c:spPr>
          <c:invertIfNegative val="0"/>
          <c:dLbls>
            <c:numFmt formatCode="0.0" sourceLinked="0"/>
            <c:txPr>
              <a:bodyPr/>
              <a:lstStyle/>
              <a:p>
                <a:pPr>
                  <a:defRPr b="0" i="0" strike="noStrike" sz="1200" u="none">
                    <a:solidFill>
                      <a:srgbClr val="1F2430"/>
                    </a:solidFill>
                    <a:latin typeface="+mn-lt"/>
                  </a:defRPr>
                </a:pPr>
              </a:p>
            </c:txPr>
            <c:showLegendKey val="0"/>
            <c:showVal val="1"/>
            <c:showCatName val="0"/>
            <c:showSerName val="0"/>
            <c:showPercent val="0"/>
            <c:showBubbleSize val="0"/>
            <c:showLeaderLines val="0"/>
          </c:dLbls>
          <c:dPt>
            <c:idx val="0"/>
            <c:invertIfNegative val="0"/>
            <c:bubble3D val="0"/>
            <c:spPr>
              <a:solidFill>
                <a:srgbClr val="1565C0"/>
              </a:solidFill>
              <a:effectLst/>
            </c:spPr>
          </c:dPt>
          <c:dPt>
            <c:idx val="1"/>
            <c:invertIfNegative val="0"/>
            <c:bubble3D val="0"/>
            <c:spPr>
              <a:solidFill>
                <a:srgbClr val="1565C0"/>
              </a:solidFill>
              <a:effectLst/>
            </c:spPr>
          </c:dPt>
          <c:dPt>
            <c:idx val="2"/>
            <c:invertIfNegative val="0"/>
            <c:bubble3D val="0"/>
            <c:spPr>
              <a:solidFill>
                <a:srgbClr val="1565C0"/>
              </a:solidFill>
              <a:effectLst/>
            </c:spPr>
          </c:dPt>
          <c:dPt>
            <c:idx val="3"/>
            <c:invertIfNegative val="0"/>
            <c:bubble3D val="0"/>
            <c:spPr>
              <a:solidFill>
                <a:srgbClr val="1565C0"/>
              </a:solidFill>
              <a:effectLst/>
            </c:spPr>
          </c:dPt>
          <c:dPt>
            <c:idx val="4"/>
            <c:invertIfNegative val="0"/>
            <c:bubble3D val="0"/>
            <c:spPr>
              <a:solidFill>
                <a:srgbClr val="1565C0"/>
              </a:solidFill>
              <a:effectLst/>
            </c:spPr>
          </c:dPt>
          <c:dPt>
            <c:idx val="5"/>
            <c:invertIfNegative val="0"/>
            <c:bubble3D val="0"/>
            <c:spPr>
              <a:solidFill>
                <a:srgbClr val="9AA3B5"/>
              </a:solidFill>
              <a:effectLst/>
            </c:spPr>
          </c:dPt>
          <c:dPt>
            <c:idx val="6"/>
            <c:invertIfNegative val="0"/>
            <c:bubble3D val="0"/>
            <c:spPr>
              <a:solidFill>
                <a:srgbClr val="C62828"/>
              </a:solidFill>
              <a:effectLst/>
            </c:spPr>
          </c:dPt>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41.1</c:v>
                </c:pt>
                <c:pt idx="1">
                  <c:v>42.1</c:v>
                </c:pt>
                <c:pt idx="2">
                  <c:v>37</c:v>
                </c:pt>
                <c:pt idx="3">
                  <c:v>39.5</c:v>
                </c:pt>
                <c:pt idx="4">
                  <c:v>37.5</c:v>
                </c:pt>
                <c:pt idx="5">
                  <c:v>34.8</c:v>
                </c:pt>
                <c:pt idx="6">
                  <c:v>27.3</c:v>
                </c:pt>
              </c:numCache>
            </c:numRef>
          </c:val>
        </c:ser>
        <c:dLbls>
          <c:numFmt formatCode="0.0" sourceLinked="0"/>
          <c:txPr>
            <a:bodyPr/>
            <a:lstStyle/>
            <a:p>
              <a:pPr>
                <a:defRPr b="0" i="0" strike="noStrike" sz="1200" u="none">
                  <a:solidFill>
                    <a:srgbClr val="1F24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430"/>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scans</c:v>
                </c:pt>
              </c:strCache>
            </c:strRef>
          </c:tx>
          <c:spPr>
            <a:solidFill>
              <a:srgbClr val="1565C0"/>
            </a:solidFill>
            <a:effectLst/>
          </c:spPr>
          <c:invertIfNegative val="0"/>
          <c:dLbls>
            <c:numFmt formatCode="0.0"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dPt>
            <c:idx val="0"/>
            <c:invertIfNegative val="0"/>
            <c:bubble3D val="0"/>
            <c:spPr>
              <a:solidFill>
                <a:srgbClr val="1565C0"/>
              </a:solidFill>
              <a:effectLst/>
            </c:spPr>
          </c:dPt>
          <c:dPt>
            <c:idx val="1"/>
            <c:invertIfNegative val="0"/>
            <c:bubble3D val="0"/>
            <c:spPr>
              <a:solidFill>
                <a:srgbClr val="1565C0"/>
              </a:solidFill>
              <a:effectLst/>
            </c:spPr>
          </c:dPt>
          <c:dPt>
            <c:idx val="2"/>
            <c:invertIfNegative val="0"/>
            <c:bubble3D val="0"/>
            <c:spPr>
              <a:solidFill>
                <a:srgbClr val="1565C0"/>
              </a:solidFill>
              <a:effectLst/>
            </c:spPr>
          </c:dPt>
          <c:dPt>
            <c:idx val="3"/>
            <c:invertIfNegative val="0"/>
            <c:bubble3D val="0"/>
            <c:spPr>
              <a:solidFill>
                <a:srgbClr val="1565C0"/>
              </a:solidFill>
              <a:effectLst/>
            </c:spPr>
          </c:dPt>
          <c:dPt>
            <c:idx val="4"/>
            <c:invertIfNegative val="0"/>
            <c:bubble3D val="0"/>
            <c:spPr>
              <a:solidFill>
                <a:srgbClr val="1565C0"/>
              </a:solidFill>
              <a:effectLst/>
            </c:spPr>
          </c:dPt>
          <c:dPt>
            <c:idx val="5"/>
            <c:invertIfNegative val="0"/>
            <c:bubble3D val="0"/>
            <c:spPr>
              <a:solidFill>
                <a:srgbClr val="1565C0"/>
              </a:solidFill>
              <a:effectLst/>
            </c:spPr>
          </c:dPt>
          <c:dPt>
            <c:idx val="6"/>
            <c:invertIfNegative val="0"/>
            <c:bubble3D val="0"/>
            <c:spPr>
              <a:solidFill>
                <a:srgbClr val="1565C0"/>
              </a:solidFill>
              <a:effectLst/>
            </c:spPr>
          </c:dPt>
          <c:dPt>
            <c:idx val="7"/>
            <c:invertIfNegative val="0"/>
            <c:bubble3D val="0"/>
            <c:spPr>
              <a:solidFill>
                <a:srgbClr val="1565C0"/>
              </a:solidFill>
              <a:effectLst/>
            </c:spPr>
          </c:dPt>
          <c:dPt>
            <c:idx val="8"/>
            <c:invertIfNegative val="0"/>
            <c:bubble3D val="0"/>
            <c:spPr>
              <a:solidFill>
                <a:srgbClr val="1565C0"/>
              </a:solidFill>
              <a:effectLst/>
            </c:spPr>
          </c:dPt>
          <c:dPt>
            <c:idx val="9"/>
            <c:invertIfNegative val="0"/>
            <c:bubble3D val="0"/>
            <c:spPr>
              <a:solidFill>
                <a:srgbClr val="C62828"/>
              </a:solidFill>
              <a:effectLst/>
            </c:spPr>
          </c:dPt>
          <c:dPt>
            <c:idx val="10"/>
            <c:invertIfNegative val="0"/>
            <c:bubble3D val="0"/>
            <c:spPr>
              <a:solidFill>
                <a:srgbClr val="F57F17"/>
              </a:solidFill>
              <a:effectLst/>
            </c:spPr>
          </c:dPt>
          <c:dPt>
            <c:idx val="11"/>
            <c:invertIfNegative val="0"/>
            <c:bubble3D val="0"/>
            <c:spPr>
              <a:solidFill>
                <a:srgbClr val="1565C0"/>
              </a:solidFill>
              <a:effectLst/>
            </c:spPr>
          </c:dPt>
          <c:cat>
            <c:multiLvlStrRef>
              <c:f>Sheet1!$A$2:$A$13</c:f>
              <c:multiLvlStrCache>
                <c:ptCount val="12"/>
                <c:lvl>
                  <c:pt idx="0">
                    <c:v>7:00</c:v>
                  </c:pt>
                  <c:pt idx="1">
                    <c:v>7:15</c:v>
                  </c:pt>
                  <c:pt idx="2">
                    <c:v>7:30</c:v>
                  </c:pt>
                  <c:pt idx="3">
                    <c:v>7:45</c:v>
                  </c:pt>
                  <c:pt idx="4">
                    <c:v>8:00</c:v>
                  </c:pt>
                  <c:pt idx="5">
                    <c:v>8:15</c:v>
                  </c:pt>
                  <c:pt idx="6">
                    <c:v>8:30</c:v>
                  </c:pt>
                  <c:pt idx="7">
                    <c:v>8:45</c:v>
                  </c:pt>
                  <c:pt idx="8">
                    <c:v>9:00</c:v>
                  </c:pt>
                  <c:pt idx="9">
                    <c:v>9:15</c:v>
                  </c:pt>
                  <c:pt idx="10">
                    <c:v>9:30</c:v>
                  </c:pt>
                  <c:pt idx="11">
                    <c:v>9:45</c:v>
                  </c:pt>
                </c:lvl>
              </c:multiLvlStrCache>
            </c:multiLvlStrRef>
          </c:cat>
          <c:val>
            <c:numRef>
              <c:f>Sheet1!$B$2:$B$13</c:f>
              <c:numCache>
                <c:formatCode>General</c:formatCode>
                <c:ptCount val="12"/>
                <c:pt idx="0">
                  <c:v>1.3</c:v>
                </c:pt>
                <c:pt idx="1">
                  <c:v>1.3</c:v>
                </c:pt>
                <c:pt idx="2">
                  <c:v>9.6</c:v>
                </c:pt>
                <c:pt idx="3">
                  <c:v>5.7</c:v>
                </c:pt>
                <c:pt idx="4">
                  <c:v>7.3</c:v>
                </c:pt>
                <c:pt idx="5">
                  <c:v>8.3</c:v>
                </c:pt>
                <c:pt idx="6">
                  <c:v>8.2</c:v>
                </c:pt>
                <c:pt idx="7">
                  <c:v>8.9</c:v>
                </c:pt>
                <c:pt idx="8">
                  <c:v>13.5</c:v>
                </c:pt>
                <c:pt idx="9">
                  <c:v>26.5</c:v>
                </c:pt>
                <c:pt idx="10">
                  <c:v>9.1</c:v>
                </c:pt>
                <c:pt idx="11">
                  <c:v>0.1</c:v>
                </c:pt>
              </c:numCache>
            </c:numRef>
          </c:val>
        </c:ser>
        <c:dLbls>
          <c:numFmt formatCode="0.0"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430"/>
                </a:solidFill>
                <a:latin typeface="+mn-lt"/>
              </a:defRPr>
            </a:pPr>
            <a:endParaRPr lang="en-US"/>
          </a:p>
        </c:txPr>
        <c:crossAx val="2094734552"/>
        <c:crosses val="autoZero"/>
        <c:auto val="1"/>
        <c:lblAlgn val="ctr"/>
        <c:noMultiLvlLbl val="1"/>
      </c:catAx>
      <c:valAx>
        <c:axId val="2094734552"/>
        <c:scaling>
          <c:orientation val="minMax"/>
          <c:max val="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Portions a day</c:v>
                </c:pt>
              </c:strCache>
            </c:strRef>
          </c:tx>
          <c:spPr>
            <a:solidFill>
              <a:srgbClr val="C62828"/>
            </a:solidFill>
            <a:effectLst/>
          </c:spPr>
          <c:invertIfNegative val="0"/>
          <c:dLbls>
            <c:numFmt formatCode="#,##0" sourceLinked="0"/>
            <c:txPr>
              <a:bodyPr/>
              <a:lstStyle/>
              <a:p>
                <a:pPr>
                  <a:defRPr b="0" i="0" strike="noStrike" sz="1400" u="none">
                    <a:solidFill>
                      <a:srgbClr val="1F2430"/>
                    </a:solidFill>
                    <a:latin typeface="+mn-lt"/>
                  </a:defRPr>
                </a:pPr>
              </a:p>
            </c:txPr>
            <c:showLegendKey val="0"/>
            <c:showVal val="1"/>
            <c:showCatName val="0"/>
            <c:showSerName val="0"/>
            <c:showPercent val="0"/>
            <c:showBubbleSize val="0"/>
            <c:showLeaderLines val="0"/>
          </c:dLbls>
          <c:dPt>
            <c:idx val="0"/>
            <c:invertIfNegative val="0"/>
            <c:bubble3D val="0"/>
            <c:spPr>
              <a:solidFill>
                <a:srgbClr val="C62828"/>
              </a:solidFill>
              <a:effectLst/>
            </c:spPr>
          </c:dPt>
          <c:dPt>
            <c:idx val="1"/>
            <c:invertIfNegative val="0"/>
            <c:bubble3D val="0"/>
            <c:spPr>
              <a:solidFill>
                <a:srgbClr val="2E7D32"/>
              </a:solidFill>
              <a:effectLst/>
            </c:spPr>
          </c:dPt>
          <c:cat>
            <c:multiLvlStrRef>
              <c:f>Sheet1!$A$2:$A$3</c:f>
              <c:multiLvlStrCache>
                <c:ptCount val="2"/>
                <c:lvl>
                  <c:pt idx="0">
                    <c:v>First batch, about 70% of roughly 1,070</c:v>
                  </c:pt>
                  <c:pt idx="1">
                    <c:v>Eaten a day</c:v>
                  </c:pt>
                </c:lvl>
              </c:multiLvlStrCache>
            </c:multiLvlStrRef>
          </c:cat>
          <c:val>
            <c:numRef>
              <c:f>Sheet1!$B$2:$B$3</c:f>
              <c:numCache>
                <c:formatCode>General</c:formatCode>
                <c:ptCount val="2"/>
                <c:pt idx="0">
                  <c:v>750</c:v>
                </c:pt>
                <c:pt idx="1">
                  <c:v>398</c:v>
                </c:pt>
              </c:numCache>
            </c:numRef>
          </c:val>
        </c:ser>
        <c:dLbls>
          <c:numFmt formatCode="#,##0" sourceLinked="0"/>
          <c:txPr>
            <a:bodyPr/>
            <a:lstStyle/>
            <a:p>
              <a:pPr>
                <a:defRPr b="0" i="0" strike="noStrike" sz="1400" u="none">
                  <a:solidFill>
                    <a:srgbClr val="1F24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430"/>
                </a:solidFill>
                <a:latin typeface="+mn-lt"/>
              </a:defRPr>
            </a:pPr>
            <a:endParaRPr lang="en-US"/>
          </a:p>
        </c:txPr>
        <c:crossAx val="2094734552"/>
        <c:crosses val="autoZero"/>
        <c:auto val="1"/>
        <c:lblAlgn val="ctr"/>
        <c:noMultiLvlLbl val="1"/>
      </c:catAx>
      <c:valAx>
        <c:axId val="2094734552"/>
        <c:scaling>
          <c:orientation val="minMax"/>
          <c:max val="9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Multiple</c:v>
                </c:pt>
              </c:strCache>
            </c:strRef>
          </c:tx>
          <c:spPr>
            <a:solidFill>
              <a:srgbClr val="1565C0"/>
            </a:solidFill>
            <a:effectLst/>
          </c:spPr>
          <c:invertIfNegative val="0"/>
          <c:dLbls>
            <c:numFmt formatCode="0.0" sourceLinked="0"/>
            <c:txPr>
              <a:bodyPr/>
              <a:lstStyle/>
              <a:p>
                <a:pPr>
                  <a:defRPr b="0" i="0" strike="noStrike" sz="1600" u="none">
                    <a:solidFill>
                      <a:srgbClr val="1F2430"/>
                    </a:solidFill>
                    <a:latin typeface="+mn-lt"/>
                  </a:defRPr>
                </a:pPr>
              </a:p>
            </c:txPr>
            <c:showLegendKey val="0"/>
            <c:showVal val="1"/>
            <c:showCatName val="0"/>
            <c:showSerName val="0"/>
            <c:showPercent val="0"/>
            <c:showBubbleSize val="0"/>
            <c:showLeaderLines val="0"/>
          </c:dLbls>
          <c:dPt>
            <c:idx val="0"/>
            <c:invertIfNegative val="0"/>
            <c:bubble3D val="0"/>
            <c:spPr>
              <a:solidFill>
                <a:srgbClr val="1565C0"/>
              </a:solidFill>
              <a:effectLst/>
            </c:spPr>
          </c:dPt>
          <c:dPt>
            <c:idx val="1"/>
            <c:invertIfNegative val="0"/>
            <c:bubble3D val="0"/>
            <c:spPr>
              <a:solidFill>
                <a:srgbClr val="C62828"/>
              </a:solidFill>
              <a:effectLst/>
            </c:spPr>
          </c:dPt>
          <c:cat>
            <c:multiLvlStrRef>
              <c:f>Sheet1!$A$2:$A$3</c:f>
              <c:multiLvlStrCache>
                <c:ptCount val="2"/>
                <c:lvl>
                  <c:pt idx="0">
                    <c:v>Tuesday</c:v>
                  </c:pt>
                  <c:pt idx="1">
                    <c:v>Sunday</c:v>
                  </c:pt>
                </c:lvl>
              </c:multiLvlStrCache>
            </c:multiLvlStrRef>
          </c:cat>
          <c:val>
            <c:numRef>
              <c:f>Sheet1!$B$2:$B$3</c:f>
              <c:numCache>
                <c:formatCode>General</c:formatCode>
                <c:ptCount val="2"/>
                <c:pt idx="0">
                  <c:v>1.9</c:v>
                </c:pt>
                <c:pt idx="1">
                  <c:v>3.1</c:v>
                </c:pt>
              </c:numCache>
            </c:numRef>
          </c:val>
        </c:ser>
        <c:dLbls>
          <c:numFmt formatCode="0.0" sourceLinked="0"/>
          <c:txPr>
            <a:bodyPr/>
            <a:lstStyle/>
            <a:p>
              <a:pPr>
                <a:defRPr b="0" i="0" strike="noStrike" sz="1600" u="none">
                  <a:solidFill>
                    <a:srgbClr val="1F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430"/>
                </a:solidFill>
                <a:latin typeface="+mn-lt"/>
              </a:defRPr>
            </a:pPr>
            <a:endParaRPr lang="en-US"/>
          </a:p>
        </c:txPr>
        <c:crossAx val="2094734552"/>
        <c:crosses val="autoZero"/>
        <c:auto val="1"/>
        <c:lblAlgn val="ctr"/>
        <c:noMultiLvlLbl val="1"/>
      </c:catAx>
      <c:valAx>
        <c:axId val="2094734552"/>
        <c:scaling>
          <c:orientation val="minMax"/>
          <c:max val="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Surplus a day</c:v>
                </c:pt>
              </c:strCache>
            </c:strRef>
          </c:tx>
          <c:spPr>
            <a:solidFill>
              <a:srgbClr val="1A237E"/>
            </a:solidFill>
            <a:effectLst/>
          </c:spPr>
          <c:invertIfNegative val="0"/>
          <c:dLbls>
            <c:numFmt formatCode="General" sourceLinked="0"/>
            <c:txPr>
              <a:bodyPr/>
              <a:lstStyle/>
              <a:p>
                <a:pPr>
                  <a:defRPr b="0" i="0" strike="noStrike" sz="1100" u="none">
                    <a:solidFill>
                      <a:srgbClr val="1F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Baseline: 70% of registrations, one batch (759 cooked)</c:v>
                  </c:pt>
                  <c:pt idx="1">
                    <c:v>Ratio cut to 50% (542 cooked)</c:v>
                  </c:pt>
                  <c:pt idx="2">
                    <c:v>Calibrated to forecast plus 10%, one batch (440)</c:v>
                  </c:pt>
                  <c:pt idx="3">
                    <c:v>Calibrated plus late batch at 9:00 (485)</c:v>
                  </c:pt>
                </c:lvl>
              </c:multiLvlStrCache>
            </c:multiLvlStrRef>
          </c:cat>
          <c:val>
            <c:numRef>
              <c:f>Sheet1!$B$2:$B$5</c:f>
              <c:numCache>
                <c:formatCode>General</c:formatCode>
                <c:ptCount val="4"/>
                <c:pt idx="0">
                  <c:v>362</c:v>
                </c:pt>
                <c:pt idx="1">
                  <c:v>150</c:v>
                </c:pt>
                <c:pt idx="2">
                  <c:v>60</c:v>
                </c:pt>
                <c:pt idx="3">
                  <c:v>91</c:v>
                </c:pt>
              </c:numCache>
            </c:numRef>
          </c:val>
        </c:ser>
        <c:ser>
          <c:idx val="1"/>
          <c:order val="1"/>
          <c:tx>
            <c:strRef>
              <c:f>Sheet1!$C$1</c:f>
              <c:strCache>
                <c:ptCount val="1"/>
                <c:pt idx="0">
                  <c:v>Short a day</c:v>
                </c:pt>
              </c:strCache>
            </c:strRef>
          </c:tx>
          <c:spPr>
            <a:solidFill>
              <a:srgbClr val="C62828"/>
            </a:solidFill>
            <a:effectLst/>
          </c:spPr>
          <c:invertIfNegative val="0"/>
          <c:dLbls>
            <c:numFmt formatCode="General" sourceLinked="0"/>
            <c:txPr>
              <a:bodyPr/>
              <a:lstStyle/>
              <a:p>
                <a:pPr>
                  <a:defRPr b="0" i="0" strike="noStrike" sz="1100" u="none">
                    <a:solidFill>
                      <a:srgbClr val="1F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Baseline: 70% of registrations, one batch (759 cooked)</c:v>
                  </c:pt>
                  <c:pt idx="1">
                    <c:v>Ratio cut to 50% (542 cooked)</c:v>
                  </c:pt>
                  <c:pt idx="2">
                    <c:v>Calibrated to forecast plus 10%, one batch (440)</c:v>
                  </c:pt>
                  <c:pt idx="3">
                    <c:v>Calibrated plus late batch at 9:00 (485)</c:v>
                  </c:pt>
                </c:lvl>
              </c:multiLvlStrCache>
            </c:multiLvlStrRef>
          </c:cat>
          <c:val>
            <c:numRef>
              <c:f>Sheet1!$C$2:$C$5</c:f>
              <c:numCache>
                <c:formatCode>General</c:formatCode>
                <c:ptCount val="4"/>
                <c:pt idx="0">
                  <c:v>0</c:v>
                </c:pt>
                <c:pt idx="1">
                  <c:v>4.5</c:v>
                </c:pt>
                <c:pt idx="2">
                  <c:v>16.8</c:v>
                </c:pt>
                <c:pt idx="3">
                  <c:v>2.6</c:v>
                </c:pt>
              </c:numCache>
            </c:numRef>
          </c:val>
        </c:ser>
        <c:dLbls>
          <c:numFmt formatCode="General" sourceLinked="0"/>
          <c:txPr>
            <a:bodyPr/>
            <a:lstStyle/>
            <a:p>
              <a:pPr>
                <a:defRPr b="0" i="0" strike="noStrike" sz="1100" u="none">
                  <a:solidFill>
                    <a:srgbClr val="1F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F2430"/>
                </a:solidFill>
                <a:latin typeface="+mn-lt"/>
              </a:defRPr>
            </a:pPr>
            <a:endParaRPr lang="en-US"/>
          </a:p>
        </c:txPr>
        <c:crossAx val="2094734552"/>
        <c:crosses val="autoZero"/>
        <c:auto val="1"/>
        <c:lblAlgn val="ctr"/>
        <c:noMultiLvlLbl val="1"/>
      </c:catAx>
      <c:valAx>
        <c:axId val="2094734552"/>
        <c:scaling>
          <c:orientation val="minMax"/>
          <c:max val="4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F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1565C0"/>
            </a:solidFill>
            <a:effectLst/>
          </c:spPr>
          <c:invertIfNegative val="0"/>
          <c:dLbls>
            <c:numFmt formatCode="#,##0"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dPt>
            <c:idx val="0"/>
            <c:invertIfNegative val="0"/>
            <c:bubble3D val="0"/>
            <c:spPr>
              <a:solidFill>
                <a:srgbClr val="1565C0"/>
              </a:solidFill>
              <a:effectLst/>
            </c:spPr>
          </c:dPt>
          <c:dPt>
            <c:idx val="1"/>
            <c:invertIfNegative val="0"/>
            <c:bubble3D val="0"/>
            <c:spPr>
              <a:solidFill>
                <a:srgbClr val="9AA3B5"/>
              </a:solidFill>
              <a:effectLst/>
            </c:spPr>
          </c:dPt>
          <c:dPt>
            <c:idx val="2"/>
            <c:invertIfNegative val="0"/>
            <c:bubble3D val="0"/>
            <c:spPr>
              <a:solidFill>
                <a:srgbClr val="1565C0"/>
              </a:solidFill>
              <a:effectLst/>
            </c:spPr>
          </c:dPt>
          <c:dPt>
            <c:idx val="3"/>
            <c:invertIfNegative val="0"/>
            <c:bubble3D val="0"/>
            <c:spPr>
              <a:solidFill>
                <a:srgbClr val="1565C0"/>
              </a:solidFill>
              <a:effectLst/>
            </c:spPr>
          </c:dPt>
          <c:dPt>
            <c:idx val="4"/>
            <c:invertIfNegative val="0"/>
            <c:bubble3D val="0"/>
            <c:spPr>
              <a:solidFill>
                <a:srgbClr val="9AA3B5"/>
              </a:solidFill>
              <a:effectLst/>
            </c:spPr>
          </c:dPt>
          <c:dPt>
            <c:idx val="5"/>
            <c:invertIfNegative val="0"/>
            <c:bubble3D val="0"/>
            <c:spPr>
              <a:solidFill>
                <a:srgbClr val="9AA3B5"/>
              </a:solidFill>
              <a:effectLst/>
            </c:spPr>
          </c:dPt>
          <c:dPt>
            <c:idx val="6"/>
            <c:invertIfNegative val="0"/>
            <c:bubble3D val="0"/>
            <c:spPr>
              <a:solidFill>
                <a:srgbClr val="1565C0"/>
              </a:solidFill>
              <a:effectLst/>
            </c:spPr>
          </c:dPt>
          <c:dPt>
            <c:idx val="7"/>
            <c:invertIfNegative val="0"/>
            <c:bubble3D val="0"/>
            <c:spPr>
              <a:solidFill>
                <a:srgbClr val="1565C0"/>
              </a:solidFill>
              <a:effectLst/>
            </c:spPr>
          </c:dPt>
          <c:dPt>
            <c:idx val="8"/>
            <c:invertIfNegative val="0"/>
            <c:bubble3D val="0"/>
            <c:spPr>
              <a:solidFill>
                <a:srgbClr val="9AA3B5"/>
              </a:solidFill>
              <a:effectLst/>
            </c:spPr>
          </c:dPt>
          <c:dPt>
            <c:idx val="9"/>
            <c:invertIfNegative val="0"/>
            <c:bubble3D val="0"/>
            <c:spPr>
              <a:solidFill>
                <a:srgbClr val="1565C0"/>
              </a:solidFill>
              <a:effectLst/>
            </c:spPr>
          </c:dPt>
          <c:dPt>
            <c:idx val="10"/>
            <c:invertIfNegative val="0"/>
            <c:bubble3D val="0"/>
            <c:spPr>
              <a:solidFill>
                <a:srgbClr val="1565C0"/>
              </a:solidFill>
              <a:effectLst/>
            </c:spPr>
          </c:dPt>
          <c:dPt>
            <c:idx val="11"/>
            <c:invertIfNegative val="0"/>
            <c:bubble3D val="0"/>
            <c:spPr>
              <a:solidFill>
                <a:srgbClr val="9AA3B5"/>
              </a:solidFill>
              <a:effectLst/>
            </c:spPr>
          </c:dPt>
          <c:cat>
            <c:multiLvlStrRef>
              <c:f>Sheet1!$A$2:$A$13</c:f>
              <c:multiLvlStrCache>
                <c:ptCount val="12"/>
                <c:lvl>
                  <c:pt idx="0">
                    <c:v>Re-sequenced bundle (passes)</c:v>
                  </c:pt>
                  <c:pt idx="1">
                    <c:v>First-draft bundle (fails G4)</c:v>
                  </c:pt>
                  <c:pt idx="2">
                    <c:v>A Breakfast Ledger</c:v>
                  </c:pt>
                  <c:pt idx="3">
                    <c:v>H Shared Reading</c:v>
                  </c:pt>
                  <c:pt idx="4">
                    <c:v>F Billed at consumption (fails G3, held)</c:v>
                  </c:pt>
                  <c:pt idx="5">
                    <c:v>C Crest Plan alone (fails G4)</c:v>
                  </c:pt>
                  <c:pt idx="6">
                    <c:v>D Sunday skip, ratio kept</c:v>
                  </c:pt>
                  <c:pt idx="7">
                    <c:v>E Operator Menu Slot</c:v>
                  </c:pt>
                  <c:pt idx="8">
                    <c:v>B Kitchen Kit alone (fails G4)</c:v>
                  </c:pt>
                  <c:pt idx="9">
                    <c:v>D every-day skip</c:v>
                  </c:pt>
                  <c:pt idx="10">
                    <c:v>D Sunday opt-in, first draft</c:v>
                  </c:pt>
                  <c:pt idx="11">
                    <c:v>G Ratio cut to 50% (fails G1)</c:v>
                  </c:pt>
                </c:lvl>
              </c:multiLvlStrCache>
            </c:multiLvlStrRef>
          </c:cat>
          <c:val>
            <c:numRef>
              <c:f>Sheet1!$B$2:$B$13</c:f>
              <c:numCache>
                <c:formatCode>General</c:formatCode>
                <c:ptCount val="12"/>
                <c:pt idx="0">
                  <c:v>79</c:v>
                </c:pt>
                <c:pt idx="1">
                  <c:v>79</c:v>
                </c:pt>
                <c:pt idx="2">
                  <c:v>68</c:v>
                </c:pt>
                <c:pt idx="3">
                  <c:v>65</c:v>
                </c:pt>
                <c:pt idx="4">
                  <c:v>63</c:v>
                </c:pt>
                <c:pt idx="5">
                  <c:v>63</c:v>
                </c:pt>
                <c:pt idx="6">
                  <c:v>60</c:v>
                </c:pt>
                <c:pt idx="7">
                  <c:v>60</c:v>
                </c:pt>
                <c:pt idx="8">
                  <c:v>58</c:v>
                </c:pt>
                <c:pt idx="9">
                  <c:v>50</c:v>
                </c:pt>
                <c:pt idx="10">
                  <c:v>50</c:v>
                </c:pt>
                <c:pt idx="11">
                  <c:v>48</c:v>
                </c:pt>
              </c:numCache>
            </c:numRef>
          </c:val>
        </c:ser>
        <c:dLbls>
          <c:numFmt formatCode="#,##0"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430"/>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systems study of one everyday waste. Open by asking the room to guess what share of breakfasts registered in the hostel are eaten, and hold the answer for slide 2. The team worked for about six weeks and all three members worked on every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size of the gap, measured twice, with lunch as the control. Kadamba's figure is 62.9 per cent of 32,162 breakfast registrations in April 2026. At Yuktāhār breakfast was used about 28 per cent of the time in the first 20 days of September, so about 72 per cent went unused; lunch under the same rules was used 56 to 89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first: build the route, open a Sunday skip, calibrate the kitchen. The first move sends the records that already exist to the people who set the rules. The second is a decision for the rule owners and is the only move that reduces students' bills. The third is the quick fix and is labelled as such everywhere it appears. The surplus figure is a projection from replaying Kadamba's April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make no-show cheap for the system and costly for the student. Each hall has a caterer appointed by the institution. Breakfast runs from 7:30 to 9:30 and classes begin at 8:30. At the counter students scan a QR code, and that scan is the institution's only record of who 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brief's cause was a claim to test, and the question changed once the default was seen. The brief asks why students skip a meal they registered for. The team judged that too narrow, because registration is a default students did not choose, so not turning up is no decision about a meal they selected. The aim became to explain why the arrangement persists as a property of the whole system and to recommend a testable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Lunch and dinner run under the same portal, rules and caterer, so they make a fair comparison. Yuktāhār's lunch records were the only comparison data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four-phase plan was followed, and evidence in the fifth week changed what came before. Phase 1 describes the system, Phase 2 models it, Phase 3 finds where it could change, Phase 4 designs and tests. Three habits came out of weeks that went wrong: revise in dependency order, start every revision with a gap audit, and write each evidence batch as one dated summary that is the only source of facts. Decisions were logged with a date and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shaped the sample, and the records existed for only two halls. The student voices are five interviews on 6 September plus one team member's own account on 3 September; the team counts four to five distinct people after a labelling gap in one transcript set. The head of facilities was interviewed on 13 September. The kitchen visits on 26 September produced about two hours and fifteen minutes of audio, transcribed by machine from Telugu, and where an observer who understood the conversation disagreed, the observer's reading was used. The scan export has no student identifier and only aggregates are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questionnaire had 39 questions for five roles and was criticised as leading. It was rewritten under standing rules and replaced by three guides in six versions on 5 and 6 September. A wording review then found four questions that invited the expected answer. The five student interviews followed a written list of 23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labels, and one strict rule for drawing loops. When sources conflicted, the Bakul summary of 28 September ruled on Bakul and the first-hand account of 27 September ruled on Kadamba and Yuktāhār; machine-translated claims stayed marked unclear until an observer confirmed them. The labels let findings change cleanly when evidence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and contracts the team could not obtain would not have arrived by waiting, and evidence kept coming in batches. The interviews were part of a course assignment and the project record holds no signed consent forms, so interviewees and staff are named by role only. The team also set itself a rule that no recorded figure may be used against the person who recorded it, and carried that rule into the design as a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boundary decides what a change must allow for. Phase 1 looked at breakfast from five sides: its edges, its stakeholders, its power structure, its process and its behaviour over time. The class timetable is outside the boundary but stays on the maps because it shapes the morning. Cutting surplus also cuts food that outsiders and staff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institution's aim of minimising wastage through advance planning needs registration to mean intent, and it does not. The poster aim is "minimizing food wastage through advance meal planning". That works only if registration expresses an intent to eat. Held food is a candidate route, not a confirmed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already measured twice, and nothing carries it to the people who set the rules. Three further symptoms: registrations stay flat while turnout varies by weekday because an exit that closes four days ahead cannot follow daily variation; arrivals pile up at the close, so kitchens cook just in case and still run short; and no student could name a case where feedback had changed registration, billing or hours. This broken arrow returns on slides 31, 40 and 41 and is built on slide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has twenty-four actors in rings around the student, and seven only appeared once operators were seen at work. The operators differ most from one another. Kadamba's operator appears to treat the count as an obligation it is paid for, though no contract has been seen, and runs a ladder of command. Bakul's manager holds that "there should not be a shortage of food, even if some wastage occurs", and works across two sites. Yuktāhār treats waste as a cost to cut and has no hierarchy. Informal actors do real jobs: Mess Cell is a resale market and Yuktāhār's twice-daily meeting is in effect its forecasting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separation was made on 5 September. Five governance identities remain unconfirmed, including who heads the dining services body, which is the first of three conflicts left open on purpose. The figures abbreviate the dining services body and its parent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decisions, six holders, and few links between them. Kadamba's line of command runs from the parent facilities body to the dining services body to the operator and down the operator's ladder. The facility team has its own side channel for food safety, and Yuktāhār's structure is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and leverage are different things, and they sit with different people. Placement is ordinal and rests on the team's judgement. Students carry high consequence and low power. The operator has the best data and no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actor is decisive on one question and absent on the next. The price is a picture that is harder to read at a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Meal returns nothing, resale returns value, and the operators' incentive depends on a contract nobody has seen. This is the third open conflict and the one that matters most; it gates the deepest levers. The Mess Office's reported motive in December 2024 was its own workload, and the result was a tighter cancellation rule that left the default untouched. Conclusions that depend on the basis are marked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firms, three regimes, and every first batch sits above recorded turnout. Yuktāhār's book lookup uses the weekday register and events as well as the matching day from the previous menu cycle. Bakul's kitchen is at Hafizpet, about 8 km away, which is a late correction of the earlier belief that it cooked near the airport.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kitchen feeds its outcome into the next plan; the other does not. Yuktāhār runs on paper books each cross-checked by a peer, and one rule binds them: what was issued must match what was cooked. The rule covers materials and not diners, so on 3 September the Wastage Book records 77 diners (28 per cent) while the register records 110 (40 per cent). Waste is weighed without blame; staff resisted at first ("they are catching us") and later reported lower waste. Formal rules are automatic registration, five cancellations and Skip Meal without refund; informal ones are each kitchen's ratio, floor or lookup. None of the five other student respondents knew anyone who had tried to change a mess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half of the process was written before the kitchen half, and the kitchen half stayed marked as unobserved until operator evidence existed, so the first process map was incomplete for several weeks. Students register once a month in effect, as a standing booking; the portal locks weekly; the only active step is to opt out, and the daily decision to go or skip is made on waking with the 8:30 class pressing.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month in one picture. Each row of the export is one registration, with the meal date, the line (vegetarian or non-vegetarian) and the scan time, which is blank when the person did not eat. There is no student identifier. Turnout is defined as scans divided by registrations.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exit that closes four days ahead cannot follow a weekday rhythm. From 6 April registrations sit between 1,039 and 1,123 every day. Registered numbers do not move with the week; eating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crowd peaks just before 9:30, long after the first batch is cooked. Students described two peaks in interviews; the scans show one building crowd. Bakul's labour-heavy items start from about 3 AM. The first batch is committed hours before the crest.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shows that the cause is particular to breakfast, and that belief ran far ahead of the record. On Sunday 6 September, 267 students were registered and 50 ate. Lunch registrations fall on Sundays and breakfast registrations do not, which suggests breakfast is a standing default in a way lunch is not, though this rests on three Sundays.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batch is the binding constraint: it can be topped up and never reduced. Every hall's first batch sits above recorded turnout. Real-time signals arrive only after the first batch is cooked. This is why shortage and surplus can occur on the same morning: a late crest meets a fixed first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changed its mind eight times and kept the corrections in one pass. Each correction was made in every deliverable in the same pass. The Bakul belief had two parts: that it cooks near the airport, and that its ratio rose from 70 to 80 per cent; the raise was withdrawn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described: a default, guessed batches, a measured but unrouted gap. Bridge to Section 4: why does a gap that is measured every day persist? Phase 2 turns these findings into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bottleneck is the cooked first batch, and the record of the gap stays in the kitchen. Bridge from Section 3: why does a gap measured every day persist? The system map runs from who decides, through how a breakfast happens and what it runs on, to what holds it in place. Its main finding is where the bottleneck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absorbers do real good for real people, which makes the gap invisible and fixing it delicate. The case lists the eight absorbers as resale, operator top-ups and discount, reuse, outside diners and staff, held and reheated food (a candidate), the late door, outside venues, and the contractor's bin. It states that three protect no one: the over-cooked first batch, repeated reheating and the bin. Mark those three as in the case and keep the rest green or neutral. Any lever that would remove an absorber that protects someone is ruled out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working loop corrects the kitchen's conversion, and none touches the booking. Menu fatigue travelled from students through the Student Council and Student Parliament to a biweekly rotation approved by the faculty committee of the dining services body. The Wastage Book loop lowers the next matching day's issue when a larger leftover is recorded. The top-up runs at all three halls, but at Kadamba it takes 10 to 15 minutes, so a top-up asked for at the final surge lands at or after the close. Skip Meal's link to the kitchen is the second open conflict: the institution's side says declarations reach the kitchen, and Kadamba's operator says it cooks on registrations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mechanisms stay as candidates because one link is missing. The strictness protects the central claim: nothing runs back from the surplus to the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has been tried and switched off each time its trigger passed. Three explanations are possible and untested: per-plate payment may count registrations, a default is less work, or the model reverts with the calendar. Dated changes are second-hand: the cancellation limit was tightened in December 2024, and as of September 2026 no change to registration or billing rules had been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problem splits into students not showing up and kitchens cooking more than is eaten. Seven chains were traced through the iceberg from a dated event to the belief that holds it. Eleven archetypes were checked and five held: shifting the burden appears twice (resale stands in for fixing billing; reuse, outside diners, held food and the bin stand in for calibrating the batch), growth hitting a ceiling fits Kadamba's popularity, and success to the successful fits Kadamba's scarcity feeding defensive registration while Bakul stays underfilled. One chain was kept on purpose, a student who fasts by choice, which is real and too small to explain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read like a consulting memo. The team split the work into a reframing and a separate opportunity statement, and stopped before design to rank four intervention points by depth and cost, so that Phase 3 began from a shortlist filtered against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five assumptions fail on the evidence; the fifth is partly true. The 11,941 scans are Kadamba's April breakfast scans; the books are Yuktāhār's.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alternative framings fail at least one test, and each fails for a stated reason. "How do we help kitchens forecast better?" fails because operators already forecast: the best-instrumented kitchen believes up to 50 per cent where its register says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stable equilibrium: three forces create the gap, eight absorbers take up its cost, and only loud signals reach the rule setters. No single actor feels this as their whole problem. The student feels a charge. One operator measures the gap every morning and has nobody to tell; another cooks to the count as an obligation; a third adjusts weekly but never below a floor held against shortage. The paradox is seen in aggregate only by the actors with the least authority over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routes are missing, and four places to intervene follow, with two questions that gate the deepest. Bridge to Section 5: where can this equilibrium change, and what must any change protect? The two gate questions are the third open conflict and the unknown owner of the cut-off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levers sit deep on the ladder, and place 9 is deliberately left empty. Bridge: the twelve levers and what each is: LP1 build the missing routes from records to rule owners; LP2 change the breakfast default and its exit; LP3 make surplus a cost in the operator's goal; LP4 an operator forum that runs its own trials; LP5 a record-calibrated first batch and a daily record; LP6 crest-aware top-up and a staged late batch; LP7 a cost trigger on the oversight line; LP8 operator voice in the menu; LP9 a named owner of booked, cooked and eaten; LP10 what a booking costs: billing at consumption; LP11 test the governing mental models; LP12 change the goal actually sought. Cutting Kadamba's 70 per cent ratio by decree would only move cost from surplus to run-outs, which is why parameters appear only as settings inside deeper levers. The full table with who can act on each is in Appendix 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by depth alone favours beliefs and goals that a student team cannot change; choosing by ease alone favours parameter settings. The most direct fix for students' bills, billing at consumption, is deferred. Any lever that would remove an absorber protecting someone is ruled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 fix and the fundamental fix must be paired, or the quick fix will hide the cause. A check against six archetypes found three present. The quick fix is still worth doing because students eat the food that is saved and it buys time. The link from a better kitchen to relaxed pressure on rule owners is assumed and not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principles protect people and keep the measures honest. The status quo persists because it pays each actor: students make no decision, the Kadamba operator has few run-outs, and the dining services body keeps a low workload. So the route-building and belief levers must reach the dining services body and the Mess Office before any rule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test slice is chosen where the batch overshoots most. Kadamba and Yuktāhār share registration, billing and, as far as is known, tendered plate payment, and part only in their planning rule. Five other differences separate them, so the comparison cannot prove cause. Sunday also has the lowest turnout.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aim at a lever; the eighth is there to be beaten. A weekly sheet of scans and books for each hall with the charge for uneaten breakfasts (A); a plan card, a named allowance for outside diners and staff, a daily sheet and an operator forum (B); a weekday arrival card and a late batch at 9:00 (C); a Sunday skip that removes the charge and lowers the count (D); an operator slot at each two-week menu cycle (E); the charge made on the scan (F); first batch cut from 70 to 50 per cent by instruction (G); joint sessions on each belief and on the working goal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ledger turns a quiet gap into money, and the plan card cooks close to the number who ate. The ledger is one A4 page for each hall for each week. The plan card sets each dish at the evening meeting from the gram standard, and the daily sheet logs batches, top-ups, run-out time and leftovers. Applied to 19 April, the plan card and the 9:00 rule cook close to the 179 who ate, far below the baseline batch. Registered and eaten are records; the cooked amounts are projected. Six co-design tests are planned for the first stage, from testing the skip wording with 8 to 12 students to testing the 9:00 batch with the Kadamba supervisor and cook; none has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simple rule moves the cost to somewhere else. The ratio cut leaves 150 surplus portions, 138 of them vegetarian, and runs the non-vegetarian line short on 7 of 23 days, because one flat ratio cannot serve two lines 16 points apart. A calibrated single batch cuts surplus to 60 but moves the cost to the crest: on 26 April the vegetarian line would have run out at 9:24, 45 portions short. On the three backtest Sundays the refined design would leave about 45 surplus and about 2 short. Under assumed shocks, line-days short run 2, 7, 13 and 15 from lightest to heaviest crest. Inputs: 70 per cent first batch (tested 60 to 80), Rs 48 and Rs 66. Nothing is sized for Bakul.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Projecting at 8:00 under-reads the day by 26.9 per cent on average. Whether the late batch can arrive by 9:15 is untested, and the design depends on it, which is why a raw reserve is mandatory and two failed Sundays in a row stop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kitchen bundle saves food, not money, for students. This is why Skip Meal does not work today: its on-screen text says the student will still be charged. The rates are Rs 48 vegetarian and Rs 66 non-vegetarian; the skip uptake of 25 to 50 per cent of no-shows is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score cannot see sequencing, so pass or fail comes first. The criteria: booked against eaten, cooked against eaten, crest service and fundamental capability weighed 15 each; fairness, food quality and desirability 10 each; feasibility and reversibility 5 each. In revision, food quality rose from 5 to 10 and desirability entered at 10. The Billed at Consumption concept and the Crest Plan alone both outscore the Sunday Exit and the Menu Slot yet fail a gate. The foil scores 48 per cent. The first-draft bundle proposed the Sunday skip only after the kitchen pilot had proved itself and fails G4; the re-sequenced bundle has the same parts with the skip and the route on fixed dates, and passes. Scores are the team's judgement and are model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highly scored concepts are excluded because the gates override a higher score. The first bundle made the fundamental fix wait on the quick fix, which is a small case of shifting the burden.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Reasoned responses point to who might resist, and a candidate loop warns how a cut could be undone. The calibrated batch saves the Kadamba operator food cost on either payment basis, which argues against holding the Sunday proposal behind the kitchen result. The responses are reasoned, meaning the team's expectation of how groups would respond, never their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builds the route, opens the exit and calibrates the kitchen, and most of it needs others. Bakul joins only once it has scans, a measured top-up lead time, an item record and a kitchen lever that does not raise shortage risk. The plan runs for 20 weeks. The solid arrow is the same object that was broken on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lanes, five markers, and decision points that say what happens if the evidence goes the other way. In the first stage the ledger and its charge line are built, the co-design tests are run, and a joint reading at week 4 takes the goal and indicators to the parent body and the dining services body. In the second stage the Sunday skip is proposed at week 6 together with the payment-basis question, and the Kadamba Sunday vegetarian pilot begins. In the third stage the skip is in force from about week 10 if adopted, the every-day skip decision is at week 14, and handover runs from week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better kitchen could make the booking look unimportant, so the exit would never open. The model assumes 25 to 50 per cent of no-shows and tested 10 to 75. If the skip is declined, the Sunday charge line goes to the escalation forum. This is the decision that revised the team's first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is judged against comparison days and stopped for stated reasons. The operator's operations manager, the Yuktāhār operator, the parent body and the rule owner must agree. The pilot runs on Kadamba's vegetarian line at Sunday breakfast.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a route that outlives the project. Each waste indicator is read beside the run-out indicator for the same hall and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Surplus starts to fall with the Sunday pilot, while the charge moves only when the skip comes into force. All of these are projections under assumed adoption and uptake. Nothing was piloted on campus, the responses of other groups are reasoned and the co-design tests are planned and have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corrects itself locally and has no correction at the centre. The recommendation asks little of students and a good deal of the institution. The records that would calibrate every kitchen are already kept. The second step, a Sunday skip that removes the charge, is a decision for rule owners who today hold only fragments. The team held back from proposing a named owner until the payment basis is known, since that basis decides who has a reason to close the gap. The institution's posters give its aim as minimising food wastage through advance meal planning, and that planning happens at registration, which is not where the quantity of food is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findings are strong where records exist and thin where only people spoke. Self-presentation is a real bias: one kitchen head believed turnout to be about 50 per cent where his own register shows about 28. Operator statements about their own practice were read as single-sourced until a record agreed. The proposal keeps every arrangement that feeds or protects someone: resale, reuse, outside diners' and staff meals, and late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left three disagreements open on purpose. Table 11 of the case with who could answer each question is in Appendix A4.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general lesson of the study. For several weeks the team reasoned from the student side and the published rules, and the first honest look inside a kitchen changed more than any analysis had. The first reframing and the first bundle both named a fix and an owner too early, and both were reversed once the team saw it had built the burden-shifting pattern into its own plan. The system measures its problem every day and still cannot act on it, because the measurement is not delivered to the people who could.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questions, not on a summary. Full wording. Question 1: the Yuktāhār operator keeps the best records and still believes about half the students come to breakfast, while his register says about 28 per cent. Question 2: a complaint about menu fatigue became a fortnightly rotation within a term, while the registration gap, far larger, has persisted; how would you make a quiet cost audible without removing the outlets that absorb it? Question 3: the bundle cuts the projected surplus from 362 to 91 portions and does nothing for students' bills; what would change your answer if it were the only part the institution adopted? Question 4: per-plate payment may count registrations, a default is less work, or the model reverts with the calendar. Question 5: if operators are paid on registered plates a Sunday skip costs the operator something, and if on served plates it does not. Question 6: the team kept a deliberately weak concept in every test and let four gates overrule a weighted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tables. Table 1: objective number, objective, activity, phase (nine rows: 1 Fix the boundary and separate visible symptoms from underlying issues, activity 1, phase 1; 2 Identify the people and bodies and what each needs, 2, 1; 3 Establish who holds authority, power and leverage over each decision, 3, 1; 4 Trace how a registration becomes cooked food, 4, 1; 5 Measure behaviour over a morning, a week and a month, 5, 1; 6 Build a model and test which feedback mechanisms close, 6, 2; 7 Trace events to structures and beliefs, and reframe, activities 7 and 8, 2; 8 Find where change could act and what any change must protect, 9, 3; 9 Design, test and evaluate interventions, 10, 4). Table 2 (sources, what each gave, main limit): a team member's own account on 3 September; nine portal screens; five student interviews on 6 September; head of facilities on 13 September with a kitchen walkthrough and four posters; operator visits to three kitchens on 26 September and a first-hand account on 27 September; Yuktāhār's books and registers on 26 September; Kadamba scan export for April 2026, each with its main limit as in the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tables. Table 1: objective number, objective, activity, phase (nine rows: 1 Fix the boundary and separate visible symptoms from underlying issues, activity 1, phase 1; 2 Identify the people and bodies and what each needs, 2, 1; 3 Establish who holds authority, power and leverage over each decision, 3, 1; 4 Trace how a registration becomes cooked food, 4, 1; 5 Measure behaviour over a morning, a week and a month, 5, 1; 6 Build a model and test which feedback mechanisms close, 6, 2; 7 Trace events to structures and beliefs, and reframe, activities 7 and 8, 2; 8 Find where change could act and what any change must protect, 9, 3; 9 Design, test and evaluate interventions, 10, 4). Table 2 (sources, what each gave, main limit): a team member's own account on 3 September; nine portal screens; five student interviews on 6 September; head of facilities on 13 September with a kitchen walkthrough and four posters; operator visits to three kitchens on 26 September and a first-hand account on 27 September; Yuktāhār's books and registers on 26 September; Kadamba scan export for April 2026, each with its main limit as in the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table of LP1 to LP12 with place numbers and "can a student team act on it" exactly as in the case: LP1 place 6, yes: high to prototype, medium to deliver; LP2 place 5, propose only; LP3 place 3, low to medium; LP4 place 4, medium; LP5 places 6 and 8, operator decides, high at Yuktāhār, medium at Kadamba, unsizeable at Bakul; LP6 places 6 and 10, operator decides, high at Kadamba, low at Bakul; LP7 place 8, medium after LP1; LP8 place 6, medium; LP9 place 5, held, low; LP10 place 5, held, low; LP11 place 2, medium; LP12 place 3, low to medium. Add the note that the ladder figure on slide 42 shows additional places for LP3, LP5, LP7 and LP8 and is the authority for the chip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table: DP1 Sunday skip, week 6, in force about week 10, goes ahead on this date, and if declined the Sunday charge line goes to the escalation forum. DP2 Every-day skip, week 14, from about week 16, Sunday uptake at least 25 per cent and no Sunday more than 10 short, and if uptake is under 10 per cent the wording is retested. DP3 Default matched to intent, after a term of DP2, opt-in on the lowest-turnout days, and if uptake is low and the charge stable the skip and default stay. DP4 Billing and payment, once the payment basis is known, billing at consumption or payment on served plates, and if plates are registered and there is no rate agreement billing stays and the skip carries the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table of the eight questions and answerers as on slide 63, in full wording from the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AF8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rtlCol="0"/>
          <a:lstStyle>
            <a:lvl1pPr algn="l" indent="0" marL="0">
              <a:buNone/>
              <a:defRPr lang="en-US" sz="2400" b="1" dirty="0">
                <a:solidFill>
                  <a:srgbClr val="1F2430"/>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4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rtlCol="0"/>
          <a:lstStyle>
            <a:lvl1pPr algn="l" indent="0" marL="0">
              <a:buNone/>
              <a:defRPr lang="en-US" sz="2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0E14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234440"/>
            <a:ext cx="4754880" cy="137160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PP">
    <p:bg>
      <p:bgPr>
        <a:solidFill>
          <a:srgbClr val="FAF8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640080"/>
          </a:xfrm>
          <a:prstGeom prst="rect">
            <a:avLst/>
          </a:prstGeom>
          <a:noFill/>
          <a:ln/>
        </p:spPr>
        <p:txBody>
          <a:bodyPr wrap="square" rtlCol="0"/>
          <a:lstStyle>
            <a:lvl1pPr algn="l" indent="0" marL="0">
              <a:buNone/>
              <a:defRPr lang="en-US" sz="2400" b="1" dirty="0">
                <a:solidFill>
                  <a:srgbClr val="1F2430"/>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28-1.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3.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slideLayout" Target="../slideLayouts/slideLayout2.xml"/><Relationship Id="rId1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2.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2.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slideLayout" Target="../slideLayouts/slideLayout2.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2.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2.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2.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5" Type="http://schemas.openxmlformats.org/officeDocument/2006/relationships/chart" Target="/ppt/charts/chart7.xml"/><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6" Type="http://schemas.openxmlformats.org/officeDocument/2006/relationships/slideLayout" Target="../slideLayouts/slideLayout2.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2.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2.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slideLayout" Target="../slideLayouts/slideLayout2.xml"/><Relationship Id="rId7"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2.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image" Target="../media/image-58-6.png"/><Relationship Id="rId7" Type="http://schemas.openxmlformats.org/officeDocument/2006/relationships/image" Target="../media/image-58-7.png"/><Relationship Id="rId8" Type="http://schemas.openxmlformats.org/officeDocument/2006/relationships/image" Target="../media/image-58-8.png"/><Relationship Id="rId9" Type="http://schemas.openxmlformats.org/officeDocument/2006/relationships/image" Target="../media/image-58-9.png"/><Relationship Id="rId10" Type="http://schemas.openxmlformats.org/officeDocument/2006/relationships/image" Target="../media/image-58-10.png"/><Relationship Id="rId11" Type="http://schemas.openxmlformats.org/officeDocument/2006/relationships/slideLayout" Target="../slideLayouts/slideLayout2.xml"/><Relationship Id="rId1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slideLayout" Target="../slideLayouts/slideLayout2.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slideLayout" Target="../slideLayouts/slideLayout3.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1234440"/>
            <a:ext cx="4754880" cy="137160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The Breakfast Paradox</a:t>
            </a:r>
            <a:endParaRPr lang="en-US" sz="4400" dirty="0"/>
          </a:p>
        </p:txBody>
      </p:sp>
      <p:sp>
        <p:nvSpPr>
          <p:cNvPr id="3" name="Shape 1"/>
          <p:cNvSpPr/>
          <p:nvPr/>
        </p:nvSpPr>
        <p:spPr>
          <a:xfrm>
            <a:off x="457200" y="4864608"/>
            <a:ext cx="100584" cy="100584"/>
          </a:xfrm>
          <a:prstGeom prst="ellipse">
            <a:avLst/>
          </a:prstGeom>
          <a:ln w="9525">
            <a:solidFill>
              <a:srgbClr val="6B74A8"/>
            </a:solidFill>
            <a:prstDash val="solid"/>
          </a:ln>
        </p:spPr>
      </p:sp>
      <p:sp>
        <p:nvSpPr>
          <p:cNvPr id="4" name="Shape 2"/>
          <p:cNvSpPr/>
          <p:nvPr/>
        </p:nvSpPr>
        <p:spPr>
          <a:xfrm>
            <a:off x="640080" y="4864608"/>
            <a:ext cx="100584" cy="100584"/>
          </a:xfrm>
          <a:prstGeom prst="ellipse">
            <a:avLst/>
          </a:prstGeom>
          <a:ln w="9525">
            <a:solidFill>
              <a:srgbClr val="6B74A8"/>
            </a:solidFill>
            <a:prstDash val="solid"/>
          </a:ln>
        </p:spPr>
      </p:sp>
      <p:sp>
        <p:nvSpPr>
          <p:cNvPr id="5" name="Shape 3"/>
          <p:cNvSpPr/>
          <p:nvPr/>
        </p:nvSpPr>
        <p:spPr>
          <a:xfrm>
            <a:off x="822960" y="4864608"/>
            <a:ext cx="100584" cy="100584"/>
          </a:xfrm>
          <a:prstGeom prst="ellipse">
            <a:avLst/>
          </a:prstGeom>
          <a:ln w="9525">
            <a:solidFill>
              <a:srgbClr val="6B74A8"/>
            </a:solidFill>
            <a:prstDash val="solid"/>
          </a:ln>
        </p:spPr>
      </p:sp>
      <p:sp>
        <p:nvSpPr>
          <p:cNvPr id="6" name="Shape 4"/>
          <p:cNvSpPr/>
          <p:nvPr/>
        </p:nvSpPr>
        <p:spPr>
          <a:xfrm>
            <a:off x="1005840" y="4864608"/>
            <a:ext cx="100584" cy="100584"/>
          </a:xfrm>
          <a:prstGeom prst="ellipse">
            <a:avLst/>
          </a:prstGeom>
          <a:ln w="9525">
            <a:solidFill>
              <a:srgbClr val="6B74A8"/>
            </a:solidFill>
            <a:prstDash val="solid"/>
          </a:ln>
        </p:spPr>
      </p:sp>
      <p:sp>
        <p:nvSpPr>
          <p:cNvPr id="7" name="Shape 5"/>
          <p:cNvSpPr/>
          <p:nvPr/>
        </p:nvSpPr>
        <p:spPr>
          <a:xfrm>
            <a:off x="1188720" y="4864608"/>
            <a:ext cx="100584" cy="100584"/>
          </a:xfrm>
          <a:prstGeom prst="ellipse">
            <a:avLst/>
          </a:prstGeom>
          <a:ln w="9525">
            <a:solidFill>
              <a:srgbClr val="6B74A8"/>
            </a:solidFill>
            <a:prstDash val="solid"/>
          </a:ln>
        </p:spPr>
      </p:sp>
      <p:sp>
        <p:nvSpPr>
          <p:cNvPr id="8" name="Shape 6"/>
          <p:cNvSpPr/>
          <p:nvPr/>
        </p:nvSpPr>
        <p:spPr>
          <a:xfrm>
            <a:off x="1371600" y="4864608"/>
            <a:ext cx="100584" cy="100584"/>
          </a:xfrm>
          <a:prstGeom prst="ellipse">
            <a:avLst/>
          </a:prstGeom>
          <a:ln w="9525">
            <a:solidFill>
              <a:srgbClr val="6B74A8"/>
            </a:solidFill>
            <a:prstDash val="solid"/>
          </a:ln>
        </p:spPr>
      </p:sp>
      <p:sp>
        <p:nvSpPr>
          <p:cNvPr id="9" name="Shape 7"/>
          <p:cNvSpPr/>
          <p:nvPr/>
        </p:nvSpPr>
        <p:spPr>
          <a:xfrm>
            <a:off x="1554480" y="4864608"/>
            <a:ext cx="100584" cy="100584"/>
          </a:xfrm>
          <a:prstGeom prst="ellipse">
            <a:avLst/>
          </a:prstGeom>
          <a:ln w="9525">
            <a:solidFill>
              <a:srgbClr val="6B74A8"/>
            </a:solidFill>
            <a:prstDash val="solid"/>
          </a:ln>
        </p:spPr>
      </p:sp>
      <p:sp>
        <p:nvSpPr>
          <p:cNvPr id="10" name="Shape 8"/>
          <p:cNvSpPr/>
          <p:nvPr/>
        </p:nvSpPr>
        <p:spPr>
          <a:xfrm>
            <a:off x="1737360" y="4864608"/>
            <a:ext cx="100584" cy="100584"/>
          </a:xfrm>
          <a:prstGeom prst="ellipse">
            <a:avLst/>
          </a:prstGeom>
          <a:ln w="9525">
            <a:solidFill>
              <a:srgbClr val="6B74A8"/>
            </a:solidFill>
            <a:prstDash val="solid"/>
          </a:ln>
        </p:spPr>
      </p:sp>
      <p:sp>
        <p:nvSpPr>
          <p:cNvPr id="11" name="Shape 9"/>
          <p:cNvSpPr/>
          <p:nvPr/>
        </p:nvSpPr>
        <p:spPr>
          <a:xfrm>
            <a:off x="1920240" y="4864608"/>
            <a:ext cx="100584" cy="100584"/>
          </a:xfrm>
          <a:prstGeom prst="ellipse">
            <a:avLst/>
          </a:prstGeom>
          <a:ln w="9525">
            <a:solidFill>
              <a:srgbClr val="6B74A8"/>
            </a:solidFill>
            <a:prstDash val="solid"/>
          </a:ln>
        </p:spPr>
      </p:sp>
      <p:sp>
        <p:nvSpPr>
          <p:cNvPr id="12" name="Shape 10"/>
          <p:cNvSpPr/>
          <p:nvPr/>
        </p:nvSpPr>
        <p:spPr>
          <a:xfrm>
            <a:off x="2103120" y="4864608"/>
            <a:ext cx="100584" cy="100584"/>
          </a:xfrm>
          <a:prstGeom prst="ellipse">
            <a:avLst/>
          </a:prstGeom>
          <a:ln w="9525">
            <a:solidFill>
              <a:srgbClr val="6B74A8"/>
            </a:solidFill>
            <a:prstDash val="solid"/>
          </a:ln>
        </p:spPr>
      </p:sp>
      <p:sp>
        <p:nvSpPr>
          <p:cNvPr id="13" name="Shape 11"/>
          <p:cNvSpPr/>
          <p:nvPr/>
        </p:nvSpPr>
        <p:spPr>
          <a:xfrm>
            <a:off x="4983480" y="594360"/>
            <a:ext cx="4297680" cy="4297680"/>
          </a:xfrm>
          <a:prstGeom prst="ellipse">
            <a:avLst/>
          </a:prstGeom>
          <a:ln w="38100">
            <a:solidFill>
              <a:srgbClr val="B8BFE6"/>
            </a:solidFill>
            <a:prstDash val="solid"/>
          </a:ln>
        </p:spPr>
      </p:sp>
      <p:sp>
        <p:nvSpPr>
          <p:cNvPr id="14" name="Shape 12"/>
          <p:cNvSpPr/>
          <p:nvPr/>
        </p:nvSpPr>
        <p:spPr>
          <a:xfrm>
            <a:off x="4983480" y="594360"/>
            <a:ext cx="4297680" cy="4297680"/>
          </a:xfrm>
          <a:prstGeom prst="pie">
            <a:avLst>
              <a:gd name="adj1" fmla="val 16200000"/>
              <a:gd name="adj2" fmla="val 2613600"/>
            </a:avLst>
          </a:prstGeom>
          <a:solidFill>
            <a:srgbClr val="E65100"/>
          </a:solidFill>
          <a:ln/>
        </p:spPr>
      </p:sp>
      <p:sp>
        <p:nvSpPr>
          <p:cNvPr id="15" name="Text 13"/>
          <p:cNvSpPr txBox="1"/>
          <p:nvPr/>
        </p:nvSpPr>
        <p:spPr>
          <a:xfrm>
            <a:off x="457200" y="2697480"/>
            <a:ext cx="4023360" cy="822960"/>
          </a:xfrm>
          <a:prstGeom prst="rect">
            <a:avLst/>
          </a:prstGeom>
          <a:noFill/>
          <a:ln/>
        </p:spPr>
        <p:txBody>
          <a:bodyPr wrap="square" lIns="0" tIns="0" rIns="0" bIns="0" rtlCol="0" anchor="t"/>
          <a:lstStyle/>
          <a:p>
            <a:pPr algn="l" indent="0" marL="0">
              <a:buNone/>
            </a:pPr>
            <a:r>
              <a:rPr lang="en-US" sz="1800" dirty="0">
                <a:solidFill>
                  <a:srgbClr val="B8BFE6"/>
                </a:solidFill>
              </a:rPr>
              <a:t>Why most registered breakfasts go uneaten in the hostel dining halls of IIIT Hyderabad</a:t>
            </a:r>
            <a:endParaRPr lang="en-US" sz="1800" dirty="0"/>
          </a:p>
        </p:txBody>
      </p:sp>
      <p:sp>
        <p:nvSpPr>
          <p:cNvPr id="16" name="Text 14"/>
          <p:cNvSpPr txBox="1"/>
          <p:nvPr/>
        </p:nvSpPr>
        <p:spPr>
          <a:xfrm>
            <a:off x="457200" y="3657600"/>
            <a:ext cx="4023360" cy="411480"/>
          </a:xfrm>
          <a:prstGeom prst="rect">
            <a:avLst/>
          </a:prstGeom>
          <a:noFill/>
          <a:ln/>
        </p:spPr>
        <p:txBody>
          <a:bodyPr wrap="square" lIns="0" tIns="0" rIns="0" bIns="0" rtlCol="0" anchor="t"/>
          <a:lstStyle/>
          <a:p>
            <a:pPr algn="l" indent="0" marL="0">
              <a:buNone/>
            </a:pPr>
            <a:r>
              <a:rPr lang="en-US" sz="1200" dirty="0">
                <a:solidFill>
                  <a:srgbClr val="FFFFFF"/>
                </a:solidFill>
              </a:rPr>
              <a:t>Team Invictus: Sricharan Peri, Prathyusha Kalluri, Neha Susan Manoj</a:t>
            </a:r>
            <a:endParaRPr lang="en-US" sz="1200" dirty="0"/>
          </a:p>
        </p:txBody>
      </p:sp>
      <p:sp>
        <p:nvSpPr>
          <p:cNvPr id="17" name="Text 15"/>
          <p:cNvSpPr txBox="1"/>
          <p:nvPr/>
        </p:nvSpPr>
        <p:spPr>
          <a:xfrm>
            <a:off x="457200" y="4160520"/>
            <a:ext cx="4023360" cy="411480"/>
          </a:xfrm>
          <a:prstGeom prst="rect">
            <a:avLst/>
          </a:prstGeom>
          <a:noFill/>
          <a:ln/>
        </p:spPr>
        <p:txBody>
          <a:bodyPr wrap="square" lIns="0" tIns="0" rIns="0" bIns="0" rtlCol="0" anchor="t"/>
          <a:lstStyle/>
          <a:p>
            <a:pPr algn="l" indent="0" marL="0">
              <a:buNone/>
            </a:pPr>
            <a:r>
              <a:rPr lang="en-US" sz="1200" dirty="0">
                <a:solidFill>
                  <a:srgbClr val="B8BFE6"/>
                </a:solidFill>
              </a:rPr>
              <a:t>Systems Thinking and Design PD2.405, Prof. Raman Saxena. September to October 2026</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About two thirds of registered breakfasts go uneaten, while most lunches are eaten</a:t>
            </a:r>
            <a:endParaRPr lang="en-US" sz="2400" dirty="0"/>
          </a:p>
        </p:txBody>
      </p:sp>
      <p:sp>
        <p:nvSpPr>
          <p:cNvPr id="3" name="Shape 1"/>
          <p:cNvSpPr/>
          <p:nvPr/>
        </p:nvSpPr>
        <p:spPr>
          <a:xfrm>
            <a:off x="457200" y="4864608"/>
            <a:ext cx="100584" cy="100584"/>
          </a:xfrm>
          <a:prstGeom prst="ellipse">
            <a:avLst/>
          </a:prstGeom>
          <a:ln w="9525">
            <a:solidFill>
              <a:srgbClr val="6B74A8"/>
            </a:solidFill>
            <a:prstDash val="solid"/>
          </a:ln>
        </p:spPr>
      </p:sp>
      <p:sp>
        <p:nvSpPr>
          <p:cNvPr id="4" name="Shape 2"/>
          <p:cNvSpPr/>
          <p:nvPr/>
        </p:nvSpPr>
        <p:spPr>
          <a:xfrm>
            <a:off x="640080" y="4864608"/>
            <a:ext cx="100584" cy="100584"/>
          </a:xfrm>
          <a:prstGeom prst="ellipse">
            <a:avLst/>
          </a:prstGeom>
          <a:ln w="9525">
            <a:solidFill>
              <a:srgbClr val="6B74A8"/>
            </a:solidFill>
            <a:prstDash val="solid"/>
          </a:ln>
        </p:spPr>
      </p:sp>
      <p:sp>
        <p:nvSpPr>
          <p:cNvPr id="5" name="Shape 3"/>
          <p:cNvSpPr/>
          <p:nvPr/>
        </p:nvSpPr>
        <p:spPr>
          <a:xfrm>
            <a:off x="822960" y="4864608"/>
            <a:ext cx="100584" cy="100584"/>
          </a:xfrm>
          <a:prstGeom prst="ellipse">
            <a:avLst/>
          </a:prstGeom>
          <a:ln w="9525">
            <a:solidFill>
              <a:srgbClr val="6B74A8"/>
            </a:solidFill>
            <a:prstDash val="solid"/>
          </a:ln>
        </p:spPr>
      </p:sp>
      <p:sp>
        <p:nvSpPr>
          <p:cNvPr id="6" name="Shape 4"/>
          <p:cNvSpPr/>
          <p:nvPr/>
        </p:nvSpPr>
        <p:spPr>
          <a:xfrm>
            <a:off x="1005840" y="4864608"/>
            <a:ext cx="100584" cy="100584"/>
          </a:xfrm>
          <a:prstGeom prst="ellipse">
            <a:avLst/>
          </a:prstGeom>
          <a:ln w="9525">
            <a:solidFill>
              <a:srgbClr val="6B74A8"/>
            </a:solidFill>
            <a:prstDash val="solid"/>
          </a:ln>
        </p:spPr>
      </p:sp>
      <p:sp>
        <p:nvSpPr>
          <p:cNvPr id="7" name="Shape 5"/>
          <p:cNvSpPr/>
          <p:nvPr/>
        </p:nvSpPr>
        <p:spPr>
          <a:xfrm>
            <a:off x="1188720" y="4864608"/>
            <a:ext cx="100584" cy="100584"/>
          </a:xfrm>
          <a:prstGeom prst="ellipse">
            <a:avLst/>
          </a:prstGeom>
          <a:ln w="9525">
            <a:solidFill>
              <a:srgbClr val="6B74A8"/>
            </a:solidFill>
            <a:prstDash val="solid"/>
          </a:ln>
        </p:spPr>
      </p:sp>
      <p:sp>
        <p:nvSpPr>
          <p:cNvPr id="8" name="Shape 6"/>
          <p:cNvSpPr/>
          <p:nvPr/>
        </p:nvSpPr>
        <p:spPr>
          <a:xfrm>
            <a:off x="1371600" y="4864608"/>
            <a:ext cx="100584" cy="100584"/>
          </a:xfrm>
          <a:prstGeom prst="ellipse">
            <a:avLst/>
          </a:prstGeom>
          <a:ln w="9525">
            <a:solidFill>
              <a:srgbClr val="6B74A8"/>
            </a:solidFill>
            <a:prstDash val="solid"/>
          </a:ln>
        </p:spPr>
      </p:sp>
      <p:sp>
        <p:nvSpPr>
          <p:cNvPr id="9" name="Shape 7"/>
          <p:cNvSpPr/>
          <p:nvPr/>
        </p:nvSpPr>
        <p:spPr>
          <a:xfrm>
            <a:off x="1554480" y="4864608"/>
            <a:ext cx="100584" cy="100584"/>
          </a:xfrm>
          <a:prstGeom prst="ellipse">
            <a:avLst/>
          </a:prstGeom>
          <a:ln w="9525">
            <a:solidFill>
              <a:srgbClr val="6B74A8"/>
            </a:solidFill>
            <a:prstDash val="solid"/>
          </a:ln>
        </p:spPr>
      </p:sp>
      <p:sp>
        <p:nvSpPr>
          <p:cNvPr id="10" name="Shape 8"/>
          <p:cNvSpPr/>
          <p:nvPr/>
        </p:nvSpPr>
        <p:spPr>
          <a:xfrm>
            <a:off x="1737360" y="4864608"/>
            <a:ext cx="100584" cy="100584"/>
          </a:xfrm>
          <a:prstGeom prst="ellipse">
            <a:avLst/>
          </a:prstGeom>
          <a:ln w="9525">
            <a:solidFill>
              <a:srgbClr val="6B74A8"/>
            </a:solidFill>
            <a:prstDash val="solid"/>
          </a:ln>
        </p:spPr>
      </p:sp>
      <p:sp>
        <p:nvSpPr>
          <p:cNvPr id="11" name="Shape 9"/>
          <p:cNvSpPr/>
          <p:nvPr/>
        </p:nvSpPr>
        <p:spPr>
          <a:xfrm>
            <a:off x="1920240" y="4864608"/>
            <a:ext cx="100584" cy="100584"/>
          </a:xfrm>
          <a:prstGeom prst="ellipse">
            <a:avLst/>
          </a:prstGeom>
          <a:ln w="9525">
            <a:solidFill>
              <a:srgbClr val="6B74A8"/>
            </a:solidFill>
            <a:prstDash val="solid"/>
          </a:ln>
        </p:spPr>
      </p:sp>
      <p:sp>
        <p:nvSpPr>
          <p:cNvPr id="12" name="Shape 10"/>
          <p:cNvSpPr/>
          <p:nvPr/>
        </p:nvSpPr>
        <p:spPr>
          <a:xfrm>
            <a:off x="2103120" y="4864608"/>
            <a:ext cx="100584" cy="100584"/>
          </a:xfrm>
          <a:prstGeom prst="ellipse">
            <a:avLst/>
          </a:prstGeom>
          <a:ln w="9525">
            <a:solidFill>
              <a:srgbClr val="6B74A8"/>
            </a:solidFill>
            <a:prstDash val="solid"/>
          </a:ln>
        </p:spPr>
      </p:sp>
      <p:sp>
        <p:nvSpPr>
          <p:cNvPr id="13" name="Shape 11"/>
          <p:cNvSpPr/>
          <p:nvPr/>
        </p:nvSpPr>
        <p:spPr>
          <a:xfrm>
            <a:off x="868680" y="1371600"/>
            <a:ext cx="1737360" cy="1737360"/>
          </a:xfrm>
          <a:prstGeom prst="ellipse">
            <a:avLst/>
          </a:prstGeom>
          <a:solidFill>
            <a:srgbClr val="C62828"/>
          </a:solidFill>
          <a:ln w="25400">
            <a:solidFill>
              <a:srgbClr val="B8BFE6"/>
            </a:solidFill>
            <a:prstDash val="solid"/>
          </a:ln>
        </p:spPr>
      </p:sp>
      <p:sp>
        <p:nvSpPr>
          <p:cNvPr id="14" name="Shape 12"/>
          <p:cNvSpPr/>
          <p:nvPr/>
        </p:nvSpPr>
        <p:spPr>
          <a:xfrm>
            <a:off x="868680" y="1371600"/>
            <a:ext cx="1737360" cy="1737360"/>
          </a:xfrm>
          <a:prstGeom prst="pie">
            <a:avLst>
              <a:gd name="adj1" fmla="val 16200000"/>
              <a:gd name="adj2" fmla="val 2613600"/>
            </a:avLst>
          </a:prstGeom>
          <a:solidFill>
            <a:srgbClr val="2E7D32"/>
          </a:solidFill>
          <a:ln/>
        </p:spPr>
      </p:sp>
      <p:sp>
        <p:nvSpPr>
          <p:cNvPr id="15" name="Shape 13"/>
          <p:cNvSpPr/>
          <p:nvPr/>
        </p:nvSpPr>
        <p:spPr>
          <a:xfrm>
            <a:off x="3703320" y="1371600"/>
            <a:ext cx="1737360" cy="1737360"/>
          </a:xfrm>
          <a:prstGeom prst="ellipse">
            <a:avLst/>
          </a:prstGeom>
          <a:solidFill>
            <a:srgbClr val="C62828"/>
          </a:solidFill>
          <a:ln w="25400">
            <a:solidFill>
              <a:srgbClr val="B8BFE6"/>
            </a:solidFill>
            <a:prstDash val="solid"/>
          </a:ln>
        </p:spPr>
      </p:sp>
      <p:sp>
        <p:nvSpPr>
          <p:cNvPr id="16" name="Shape 14"/>
          <p:cNvSpPr/>
          <p:nvPr/>
        </p:nvSpPr>
        <p:spPr>
          <a:xfrm>
            <a:off x="3703320" y="1371600"/>
            <a:ext cx="1737360" cy="1737360"/>
          </a:xfrm>
          <a:prstGeom prst="pie">
            <a:avLst>
              <a:gd name="adj1" fmla="val 16200000"/>
              <a:gd name="adj2" fmla="val 648000"/>
            </a:avLst>
          </a:prstGeom>
          <a:solidFill>
            <a:srgbClr val="2E7D32"/>
          </a:solidFill>
          <a:ln/>
        </p:spPr>
      </p:sp>
      <p:sp>
        <p:nvSpPr>
          <p:cNvPr id="17" name="Shape 15"/>
          <p:cNvSpPr/>
          <p:nvPr/>
        </p:nvSpPr>
        <p:spPr>
          <a:xfrm>
            <a:off x="6537960" y="1371600"/>
            <a:ext cx="1737360" cy="1737360"/>
          </a:xfrm>
          <a:prstGeom prst="ellipse">
            <a:avLst/>
          </a:prstGeom>
          <a:solidFill>
            <a:srgbClr val="9AA3B5"/>
          </a:solidFill>
          <a:ln w="25400">
            <a:solidFill>
              <a:srgbClr val="B8BFE6"/>
            </a:solidFill>
            <a:prstDash val="solid"/>
          </a:ln>
        </p:spPr>
      </p:sp>
      <p:sp>
        <p:nvSpPr>
          <p:cNvPr id="18" name="Shape 16"/>
          <p:cNvSpPr/>
          <p:nvPr/>
        </p:nvSpPr>
        <p:spPr>
          <a:xfrm>
            <a:off x="6537960" y="1371600"/>
            <a:ext cx="1737360" cy="1737360"/>
          </a:xfrm>
          <a:prstGeom prst="pie">
            <a:avLst>
              <a:gd name="adj1" fmla="val 16200000"/>
              <a:gd name="adj2" fmla="val 13824000"/>
            </a:avLst>
          </a:prstGeom>
          <a:solidFill>
            <a:srgbClr val="2E7D32">
              <a:alpha val="45000"/>
            </a:srgbClr>
          </a:solidFill>
          <a:ln/>
        </p:spPr>
      </p:sp>
      <p:sp>
        <p:nvSpPr>
          <p:cNvPr id="19" name="Shape 17"/>
          <p:cNvSpPr/>
          <p:nvPr/>
        </p:nvSpPr>
        <p:spPr>
          <a:xfrm>
            <a:off x="6537960" y="1371600"/>
            <a:ext cx="1737360" cy="1737360"/>
          </a:xfrm>
          <a:prstGeom prst="pie">
            <a:avLst>
              <a:gd name="adj1" fmla="val 16200000"/>
              <a:gd name="adj2" fmla="val 6696000"/>
            </a:avLst>
          </a:prstGeom>
          <a:solidFill>
            <a:srgbClr val="2E7D32"/>
          </a:solidFill>
          <a:ln/>
        </p:spPr>
      </p:sp>
      <p:sp>
        <p:nvSpPr>
          <p:cNvPr id="20" name="Text 18"/>
          <p:cNvSpPr txBox="1"/>
          <p:nvPr/>
        </p:nvSpPr>
        <p:spPr>
          <a:xfrm>
            <a:off x="457200" y="3200400"/>
            <a:ext cx="256032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62.9%</a:t>
            </a:r>
            <a:endParaRPr lang="en-US" sz="4000" dirty="0"/>
          </a:p>
        </p:txBody>
      </p:sp>
      <p:sp>
        <p:nvSpPr>
          <p:cNvPr id="21" name="Text 19"/>
          <p:cNvSpPr txBox="1"/>
          <p:nvPr/>
        </p:nvSpPr>
        <p:spPr>
          <a:xfrm>
            <a:off x="3291840" y="3200400"/>
            <a:ext cx="256032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about 72%</a:t>
            </a:r>
            <a:endParaRPr lang="en-US" sz="4000" dirty="0"/>
          </a:p>
        </p:txBody>
      </p:sp>
      <p:sp>
        <p:nvSpPr>
          <p:cNvPr id="22" name="Text 20"/>
          <p:cNvSpPr txBox="1"/>
          <p:nvPr/>
        </p:nvSpPr>
        <p:spPr>
          <a:xfrm>
            <a:off x="6126480" y="3200400"/>
            <a:ext cx="256032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56 to 89%</a:t>
            </a:r>
            <a:endParaRPr lang="en-US" sz="4000" dirty="0"/>
          </a:p>
        </p:txBody>
      </p:sp>
      <p:sp>
        <p:nvSpPr>
          <p:cNvPr id="23" name="Text 21"/>
          <p:cNvSpPr txBox="1"/>
          <p:nvPr/>
        </p:nvSpPr>
        <p:spPr>
          <a:xfrm>
            <a:off x="457200" y="3931920"/>
            <a:ext cx="2560320" cy="274320"/>
          </a:xfrm>
          <a:prstGeom prst="rect">
            <a:avLst/>
          </a:prstGeom>
          <a:noFill/>
          <a:ln/>
        </p:spPr>
        <p:txBody>
          <a:bodyPr wrap="square" lIns="0" tIns="0" rIns="0" bIns="0" rtlCol="0" anchor="t"/>
          <a:lstStyle/>
          <a:p>
            <a:pPr algn="ctr" indent="0" marL="0">
              <a:buNone/>
            </a:pPr>
            <a:r>
              <a:rPr lang="en-US" sz="1400" dirty="0">
                <a:solidFill>
                  <a:srgbClr val="B8BFE6"/>
                </a:solidFill>
              </a:rPr>
              <a:t>Kadamba, April 2026, not eaten</a:t>
            </a:r>
            <a:endParaRPr lang="en-US" sz="1400" dirty="0"/>
          </a:p>
        </p:txBody>
      </p:sp>
      <p:sp>
        <p:nvSpPr>
          <p:cNvPr id="24" name="Text 22"/>
          <p:cNvSpPr txBox="1"/>
          <p:nvPr/>
        </p:nvSpPr>
        <p:spPr>
          <a:xfrm>
            <a:off x="3291840" y="3931920"/>
            <a:ext cx="2560320" cy="274320"/>
          </a:xfrm>
          <a:prstGeom prst="rect">
            <a:avLst/>
          </a:prstGeom>
          <a:noFill/>
          <a:ln/>
        </p:spPr>
        <p:txBody>
          <a:bodyPr wrap="square" lIns="0" tIns="0" rIns="0" bIns="0" rtlCol="0" anchor="t"/>
          <a:lstStyle/>
          <a:p>
            <a:pPr algn="ctr" indent="0" marL="0">
              <a:buNone/>
            </a:pPr>
            <a:r>
              <a:rPr lang="en-US" sz="1400" dirty="0">
                <a:solidFill>
                  <a:srgbClr val="B8BFE6"/>
                </a:solidFill>
              </a:rPr>
              <a:t>Yuktāhār, September, not eaten</a:t>
            </a:r>
            <a:endParaRPr lang="en-US" sz="1400" dirty="0"/>
          </a:p>
        </p:txBody>
      </p:sp>
      <p:sp>
        <p:nvSpPr>
          <p:cNvPr id="25" name="Text 23"/>
          <p:cNvSpPr txBox="1"/>
          <p:nvPr/>
        </p:nvSpPr>
        <p:spPr>
          <a:xfrm>
            <a:off x="6126480" y="3931920"/>
            <a:ext cx="2560320" cy="274320"/>
          </a:xfrm>
          <a:prstGeom prst="rect">
            <a:avLst/>
          </a:prstGeom>
          <a:noFill/>
          <a:ln/>
        </p:spPr>
        <p:txBody>
          <a:bodyPr wrap="square" lIns="0" tIns="0" rIns="0" bIns="0" rtlCol="0" anchor="t"/>
          <a:lstStyle/>
          <a:p>
            <a:pPr algn="ctr" indent="0" marL="0">
              <a:buNone/>
            </a:pPr>
            <a:r>
              <a:rPr lang="en-US" sz="1400" dirty="0">
                <a:solidFill>
                  <a:srgbClr val="B8BFE6"/>
                </a:solidFill>
              </a:rPr>
              <a:t>Yuktāhār lunch, eaten</a:t>
            </a:r>
            <a:endParaRPr lang="en-US" sz="1400" dirty="0"/>
          </a:p>
        </p:txBody>
      </p:sp>
      <p:sp>
        <p:nvSpPr>
          <p:cNvPr id="26" name="Text 24"/>
          <p:cNvSpPr txBox="1"/>
          <p:nvPr/>
        </p:nvSpPr>
        <p:spPr>
          <a:xfrm>
            <a:off x="457200" y="4389120"/>
            <a:ext cx="4572000" cy="228600"/>
          </a:xfrm>
          <a:prstGeom prst="rect">
            <a:avLst/>
          </a:prstGeom>
          <a:noFill/>
          <a:ln/>
        </p:spPr>
        <p:txBody>
          <a:bodyPr wrap="square" lIns="0" tIns="0" rIns="0" bIns="0" rtlCol="0" anchor="t"/>
          <a:lstStyle/>
          <a:p>
            <a:pPr algn="l" indent="0" marL="0">
              <a:buNone/>
            </a:pPr>
            <a:r>
              <a:rPr lang="en-US" sz="1100" dirty="0">
                <a:solidFill>
                  <a:srgbClr val="B8BFE6"/>
                </a:solidFill>
              </a:rPr>
              <a:t>Green: eaten.  Red: registered and not eaten.</a:t>
            </a:r>
            <a:endParaRPr lang="en-US" sz="1100" dirty="0"/>
          </a:p>
        </p:txBody>
      </p:sp>
      <p:sp>
        <p:nvSpPr>
          <p:cNvPr id="27" name="Shape 25"/>
          <p:cNvSpPr/>
          <p:nvPr/>
        </p:nvSpPr>
        <p:spPr>
          <a:xfrm>
            <a:off x="7758684" y="1097280"/>
            <a:ext cx="928116" cy="201168"/>
          </a:xfrm>
          <a:prstGeom prst="roundRect">
            <a:avLst>
              <a:gd name="adj" fmla="val 22727"/>
            </a:avLst>
          </a:prstGeom>
          <a:solidFill>
            <a:srgbClr val="2E7D32"/>
          </a:solidFill>
          <a:ln/>
        </p:spPr>
      </p:sp>
      <p:sp>
        <p:nvSpPr>
          <p:cNvPr id="28" name="Text 26"/>
          <p:cNvSpPr txBox="1"/>
          <p:nvPr/>
        </p:nvSpPr>
        <p:spPr>
          <a:xfrm>
            <a:off x="7758684" y="1097280"/>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team recommends three moves that run together</a:t>
            </a:r>
            <a:endParaRPr lang="en-US" sz="2400" dirty="0"/>
          </a:p>
        </p:txBody>
      </p:sp>
      <p:sp>
        <p:nvSpPr>
          <p:cNvPr id="3" name="Shape 1"/>
          <p:cNvSpPr/>
          <p:nvPr/>
        </p:nvSpPr>
        <p:spPr>
          <a:xfrm>
            <a:off x="457200" y="4864608"/>
            <a:ext cx="100584" cy="100584"/>
          </a:xfrm>
          <a:prstGeom prst="ellipse">
            <a:avLst/>
          </a:prstGeom>
          <a:ln w="9525">
            <a:solidFill>
              <a:srgbClr val="9AA3B5"/>
            </a:solidFill>
            <a:prstDash val="solid"/>
          </a:ln>
        </p:spPr>
      </p:sp>
      <p:sp>
        <p:nvSpPr>
          <p:cNvPr id="4" name="Shape 2"/>
          <p:cNvSpPr/>
          <p:nvPr/>
        </p:nvSpPr>
        <p:spPr>
          <a:xfrm>
            <a:off x="640080" y="4864608"/>
            <a:ext cx="100584" cy="100584"/>
          </a:xfrm>
          <a:prstGeom prst="ellipse">
            <a:avLst/>
          </a:prstGeom>
          <a:ln w="9525">
            <a:solidFill>
              <a:srgbClr val="9AA3B5"/>
            </a:solidFill>
            <a:prstDash val="solid"/>
          </a:ln>
        </p:spPr>
      </p:sp>
      <p:sp>
        <p:nvSpPr>
          <p:cNvPr id="5" name="Shape 3"/>
          <p:cNvSpPr/>
          <p:nvPr/>
        </p:nvSpPr>
        <p:spPr>
          <a:xfrm>
            <a:off x="822960" y="4864608"/>
            <a:ext cx="100584" cy="100584"/>
          </a:xfrm>
          <a:prstGeom prst="ellipse">
            <a:avLst/>
          </a:prstGeom>
          <a:ln w="9525">
            <a:solidFill>
              <a:srgbClr val="9AA3B5"/>
            </a:solidFill>
            <a:prstDash val="solid"/>
          </a:ln>
        </p:spPr>
      </p:sp>
      <p:sp>
        <p:nvSpPr>
          <p:cNvPr id="6" name="Shape 4"/>
          <p:cNvSpPr/>
          <p:nvPr/>
        </p:nvSpPr>
        <p:spPr>
          <a:xfrm>
            <a:off x="1005840" y="4864608"/>
            <a:ext cx="100584" cy="100584"/>
          </a:xfrm>
          <a:prstGeom prst="ellipse">
            <a:avLst/>
          </a:prstGeom>
          <a:ln w="9525">
            <a:solidFill>
              <a:srgbClr val="9AA3B5"/>
            </a:solidFill>
            <a:prstDash val="solid"/>
          </a:ln>
        </p:spPr>
      </p:sp>
      <p:sp>
        <p:nvSpPr>
          <p:cNvPr id="7" name="Shape 5"/>
          <p:cNvSpPr/>
          <p:nvPr/>
        </p:nvSpPr>
        <p:spPr>
          <a:xfrm>
            <a:off x="1188720" y="4864608"/>
            <a:ext cx="100584" cy="100584"/>
          </a:xfrm>
          <a:prstGeom prst="ellipse">
            <a:avLst/>
          </a:prstGeom>
          <a:ln w="9525">
            <a:solidFill>
              <a:srgbClr val="9AA3B5"/>
            </a:solidFill>
            <a:prstDash val="solid"/>
          </a:ln>
        </p:spPr>
      </p:sp>
      <p:sp>
        <p:nvSpPr>
          <p:cNvPr id="8" name="Shape 6"/>
          <p:cNvSpPr/>
          <p:nvPr/>
        </p:nvSpPr>
        <p:spPr>
          <a:xfrm>
            <a:off x="1371600" y="4864608"/>
            <a:ext cx="100584" cy="100584"/>
          </a:xfrm>
          <a:prstGeom prst="ellipse">
            <a:avLst/>
          </a:prstGeom>
          <a:ln w="9525">
            <a:solidFill>
              <a:srgbClr val="9AA3B5"/>
            </a:solidFill>
            <a:prstDash val="solid"/>
          </a:ln>
        </p:spPr>
      </p:sp>
      <p:sp>
        <p:nvSpPr>
          <p:cNvPr id="9" name="Shape 7"/>
          <p:cNvSpPr/>
          <p:nvPr/>
        </p:nvSpPr>
        <p:spPr>
          <a:xfrm>
            <a:off x="1554480" y="4864608"/>
            <a:ext cx="100584" cy="100584"/>
          </a:xfrm>
          <a:prstGeom prst="ellipse">
            <a:avLst/>
          </a:prstGeom>
          <a:ln w="9525">
            <a:solidFill>
              <a:srgbClr val="9AA3B5"/>
            </a:solidFill>
            <a:prstDash val="solid"/>
          </a:ln>
        </p:spPr>
      </p:sp>
      <p:sp>
        <p:nvSpPr>
          <p:cNvPr id="10" name="Shape 8"/>
          <p:cNvSpPr/>
          <p:nvPr/>
        </p:nvSpPr>
        <p:spPr>
          <a:xfrm>
            <a:off x="1737360" y="4864608"/>
            <a:ext cx="100584" cy="100584"/>
          </a:xfrm>
          <a:prstGeom prst="ellipse">
            <a:avLst/>
          </a:prstGeom>
          <a:ln w="9525">
            <a:solidFill>
              <a:srgbClr val="9AA3B5"/>
            </a:solidFill>
            <a:prstDash val="solid"/>
          </a:ln>
        </p:spPr>
      </p:sp>
      <p:sp>
        <p:nvSpPr>
          <p:cNvPr id="11" name="Shape 9"/>
          <p:cNvSpPr/>
          <p:nvPr/>
        </p:nvSpPr>
        <p:spPr>
          <a:xfrm>
            <a:off x="1920240" y="4864608"/>
            <a:ext cx="100584" cy="100584"/>
          </a:xfrm>
          <a:prstGeom prst="ellipse">
            <a:avLst/>
          </a:prstGeom>
          <a:ln w="9525">
            <a:solidFill>
              <a:srgbClr val="9AA3B5"/>
            </a:solidFill>
            <a:prstDash val="solid"/>
          </a:ln>
        </p:spPr>
      </p:sp>
      <p:sp>
        <p:nvSpPr>
          <p:cNvPr id="12" name="Shape 10"/>
          <p:cNvSpPr/>
          <p:nvPr/>
        </p:nvSpPr>
        <p:spPr>
          <a:xfrm>
            <a:off x="2103120" y="4864608"/>
            <a:ext cx="100584" cy="100584"/>
          </a:xfrm>
          <a:prstGeom prst="ellipse">
            <a:avLst/>
          </a:prstGeom>
          <a:ln w="9525">
            <a:solidFill>
              <a:srgbClr val="9AA3B5"/>
            </a:solidFill>
            <a:prstDash val="solid"/>
          </a:ln>
        </p:spPr>
      </p:sp>
      <p:sp>
        <p:nvSpPr>
          <p:cNvPr id="13" name="Shape 11"/>
          <p:cNvSpPr/>
          <p:nvPr/>
        </p:nvSpPr>
        <p:spPr>
          <a:xfrm>
            <a:off x="457200" y="1371600"/>
            <a:ext cx="2651760" cy="2331720"/>
          </a:xfrm>
          <a:prstGeom prst="roundRect">
            <a:avLst>
              <a:gd name="adj" fmla="val 3137"/>
            </a:avLst>
          </a:prstGeom>
          <a:solidFill>
            <a:srgbClr val="E0F2F1"/>
          </a:solidFill>
          <a:ln w="12700">
            <a:solidFill>
              <a:srgbClr val="00695C"/>
            </a:solidFill>
            <a:prstDash val="solid"/>
          </a:ln>
        </p:spPr>
      </p:sp>
      <p:sp>
        <p:nvSpPr>
          <p:cNvPr id="14" name="Shape 12"/>
          <p:cNvSpPr/>
          <p:nvPr/>
        </p:nvSpPr>
        <p:spPr>
          <a:xfrm>
            <a:off x="640080" y="1600200"/>
            <a:ext cx="548640" cy="548640"/>
          </a:xfrm>
          <a:prstGeom prst="ellipse">
            <a:avLst/>
          </a:prstGeom>
          <a:solidFill>
            <a:srgbClr val="00695C"/>
          </a:solidFill>
          <a:ln/>
        </p:spPr>
      </p:sp>
      <p:pic>
        <p:nvPicPr>
          <p:cNvPr id="15" name="Image 0" descr="AltRoute">    </p:cNvPr>
          <p:cNvPicPr>
            <a:picLocks noChangeAspect="1"/>
          </p:cNvPicPr>
          <p:nvPr/>
        </p:nvPicPr>
        <p:blipFill>
          <a:blip r:embed="rId1"/>
          <a:stretch>
            <a:fillRect/>
          </a:stretch>
        </p:blipFill>
        <p:spPr>
          <a:xfrm>
            <a:off x="749808" y="1709928"/>
            <a:ext cx="329184" cy="329184"/>
          </a:xfrm>
          <a:prstGeom prst="rect">
            <a:avLst/>
          </a:prstGeom>
        </p:spPr>
      </p:pic>
      <p:sp>
        <p:nvSpPr>
          <p:cNvPr id="16" name="Text 13"/>
          <p:cNvSpPr txBox="1"/>
          <p:nvPr/>
        </p:nvSpPr>
        <p:spPr>
          <a:xfrm>
            <a:off x="640080" y="2286000"/>
            <a:ext cx="2286000" cy="640080"/>
          </a:xfrm>
          <a:prstGeom prst="rect">
            <a:avLst/>
          </a:prstGeom>
          <a:noFill/>
          <a:ln/>
        </p:spPr>
        <p:txBody>
          <a:bodyPr wrap="square" lIns="0" tIns="0" rIns="0" bIns="0" rtlCol="0" anchor="t"/>
          <a:lstStyle/>
          <a:p>
            <a:pPr algn="l" indent="0" marL="0">
              <a:buNone/>
            </a:pPr>
            <a:r>
              <a:rPr lang="en-US" sz="1600" b="1" dirty="0">
                <a:solidFill>
                  <a:srgbClr val="1F2430"/>
                </a:solidFill>
              </a:rPr>
              <a:t>Build the missing route</a:t>
            </a:r>
            <a:endParaRPr lang="en-US" sz="1600" dirty="0"/>
          </a:p>
        </p:txBody>
      </p:sp>
      <p:sp>
        <p:nvSpPr>
          <p:cNvPr id="17" name="Text 14"/>
          <p:cNvSpPr txBox="1"/>
          <p:nvPr/>
        </p:nvSpPr>
        <p:spPr>
          <a:xfrm>
            <a:off x="640080" y="2971800"/>
            <a:ext cx="2286000" cy="640080"/>
          </a:xfrm>
          <a:prstGeom prst="rect">
            <a:avLst/>
          </a:prstGeom>
          <a:noFill/>
          <a:ln/>
        </p:spPr>
        <p:txBody>
          <a:bodyPr wrap="square" lIns="0" tIns="0" rIns="0" bIns="0" rtlCol="0" anchor="t"/>
          <a:lstStyle/>
          <a:p>
            <a:pPr algn="l" indent="0" marL="0">
              <a:buNone/>
            </a:pPr>
            <a:r>
              <a:rPr lang="en-US" sz="1300" dirty="0">
                <a:solidFill>
                  <a:srgbClr val="616161"/>
                </a:solidFill>
              </a:rPr>
              <a:t>Send the records that already exist to the people who set the rules</a:t>
            </a:r>
            <a:endParaRPr lang="en-US" sz="1300" dirty="0"/>
          </a:p>
        </p:txBody>
      </p:sp>
      <p:sp>
        <p:nvSpPr>
          <p:cNvPr id="18" name="Shape 15"/>
          <p:cNvSpPr/>
          <p:nvPr/>
        </p:nvSpPr>
        <p:spPr>
          <a:xfrm>
            <a:off x="3246120" y="1371600"/>
            <a:ext cx="2651760" cy="2331720"/>
          </a:xfrm>
          <a:prstGeom prst="roundRect">
            <a:avLst>
              <a:gd name="adj" fmla="val 3137"/>
            </a:avLst>
          </a:prstGeom>
          <a:solidFill>
            <a:srgbClr val="E3F2FD"/>
          </a:solidFill>
          <a:ln w="12700">
            <a:solidFill>
              <a:srgbClr val="1565C0"/>
            </a:solidFill>
            <a:prstDash val="solid"/>
          </a:ln>
        </p:spPr>
      </p:sp>
      <p:sp>
        <p:nvSpPr>
          <p:cNvPr id="19" name="Shape 16"/>
          <p:cNvSpPr/>
          <p:nvPr/>
        </p:nvSpPr>
        <p:spPr>
          <a:xfrm>
            <a:off x="3429000" y="1600200"/>
            <a:ext cx="548640" cy="548640"/>
          </a:xfrm>
          <a:prstGeom prst="ellipse">
            <a:avLst/>
          </a:prstGeom>
          <a:solidFill>
            <a:srgbClr val="1565C0"/>
          </a:solidFill>
          <a:ln/>
        </p:spPr>
      </p:sp>
      <p:pic>
        <p:nvPicPr>
          <p:cNvPr id="20" name="Image 1" descr="Event">    </p:cNvPr>
          <p:cNvPicPr>
            <a:picLocks noChangeAspect="1"/>
          </p:cNvPicPr>
          <p:nvPr/>
        </p:nvPicPr>
        <p:blipFill>
          <a:blip r:embed="rId2"/>
          <a:stretch>
            <a:fillRect/>
          </a:stretch>
        </p:blipFill>
        <p:spPr>
          <a:xfrm>
            <a:off x="3538728" y="1709928"/>
            <a:ext cx="329184" cy="329184"/>
          </a:xfrm>
          <a:prstGeom prst="rect">
            <a:avLst/>
          </a:prstGeom>
        </p:spPr>
      </p:pic>
      <p:sp>
        <p:nvSpPr>
          <p:cNvPr id="21" name="Text 17"/>
          <p:cNvSpPr txBox="1"/>
          <p:nvPr/>
        </p:nvSpPr>
        <p:spPr>
          <a:xfrm>
            <a:off x="3429000" y="2286000"/>
            <a:ext cx="2286000" cy="640080"/>
          </a:xfrm>
          <a:prstGeom prst="rect">
            <a:avLst/>
          </a:prstGeom>
          <a:noFill/>
          <a:ln/>
        </p:spPr>
        <p:txBody>
          <a:bodyPr wrap="square" lIns="0" tIns="0" rIns="0" bIns="0" rtlCol="0" anchor="t"/>
          <a:lstStyle/>
          <a:p>
            <a:pPr algn="l" indent="0" marL="0">
              <a:buNone/>
            </a:pPr>
            <a:r>
              <a:rPr lang="en-US" sz="1600" b="1" dirty="0">
                <a:solidFill>
                  <a:srgbClr val="1F2430"/>
                </a:solidFill>
              </a:rPr>
              <a:t>Open a Sunday skip that removes the charge</a:t>
            </a:r>
            <a:endParaRPr lang="en-US" sz="1600" dirty="0"/>
          </a:p>
        </p:txBody>
      </p:sp>
      <p:sp>
        <p:nvSpPr>
          <p:cNvPr id="22" name="Text 18"/>
          <p:cNvSpPr txBox="1"/>
          <p:nvPr/>
        </p:nvSpPr>
        <p:spPr>
          <a:xfrm>
            <a:off x="3429000" y="2971800"/>
            <a:ext cx="2286000" cy="640080"/>
          </a:xfrm>
          <a:prstGeom prst="rect">
            <a:avLst/>
          </a:prstGeom>
          <a:noFill/>
          <a:ln/>
        </p:spPr>
        <p:txBody>
          <a:bodyPr wrap="square" lIns="0" tIns="0" rIns="0" bIns="0" rtlCol="0" anchor="t"/>
          <a:lstStyle/>
          <a:p>
            <a:pPr algn="l" indent="0" marL="0">
              <a:buNone/>
            </a:pPr>
            <a:r>
              <a:rPr lang="en-US" sz="1300" dirty="0">
                <a:solidFill>
                  <a:srgbClr val="616161"/>
                </a:solidFill>
              </a:rPr>
              <a:t>The one move that lowers what students pay</a:t>
            </a:r>
            <a:endParaRPr lang="en-US" sz="1300" dirty="0"/>
          </a:p>
        </p:txBody>
      </p:sp>
      <p:sp>
        <p:nvSpPr>
          <p:cNvPr id="23" name="Shape 19"/>
          <p:cNvSpPr/>
          <p:nvPr/>
        </p:nvSpPr>
        <p:spPr>
          <a:xfrm>
            <a:off x="6035040" y="1371600"/>
            <a:ext cx="2651760" cy="2331720"/>
          </a:xfrm>
          <a:prstGeom prst="roundRect">
            <a:avLst>
              <a:gd name="adj" fmla="val 3137"/>
            </a:avLst>
          </a:prstGeom>
          <a:solidFill>
            <a:srgbClr val="FFF8E1"/>
          </a:solidFill>
          <a:ln w="12700">
            <a:solidFill>
              <a:srgbClr val="F57F17"/>
            </a:solidFill>
            <a:prstDash val="solid"/>
          </a:ln>
        </p:spPr>
      </p:sp>
      <p:sp>
        <p:nvSpPr>
          <p:cNvPr id="24" name="Shape 20"/>
          <p:cNvSpPr/>
          <p:nvPr/>
        </p:nvSpPr>
        <p:spPr>
          <a:xfrm>
            <a:off x="6217920" y="1600200"/>
            <a:ext cx="548640" cy="548640"/>
          </a:xfrm>
          <a:prstGeom prst="ellipse">
            <a:avLst/>
          </a:prstGeom>
          <a:solidFill>
            <a:srgbClr val="F57F17"/>
          </a:solidFill>
          <a:ln/>
        </p:spPr>
      </p:sp>
      <p:pic>
        <p:nvPicPr>
          <p:cNvPr id="25" name="Image 2" descr="Balance">    </p:cNvPr>
          <p:cNvPicPr>
            <a:picLocks noChangeAspect="1"/>
          </p:cNvPicPr>
          <p:nvPr/>
        </p:nvPicPr>
        <p:blipFill>
          <a:blip r:embed="rId3"/>
          <a:stretch>
            <a:fillRect/>
          </a:stretch>
        </p:blipFill>
        <p:spPr>
          <a:xfrm>
            <a:off x="6327648" y="1709928"/>
            <a:ext cx="329184" cy="329184"/>
          </a:xfrm>
          <a:prstGeom prst="rect">
            <a:avLst/>
          </a:prstGeom>
        </p:spPr>
      </p:pic>
      <p:sp>
        <p:nvSpPr>
          <p:cNvPr id="26" name="Text 21"/>
          <p:cNvSpPr txBox="1"/>
          <p:nvPr/>
        </p:nvSpPr>
        <p:spPr>
          <a:xfrm>
            <a:off x="6217920" y="2286000"/>
            <a:ext cx="2286000" cy="640080"/>
          </a:xfrm>
          <a:prstGeom prst="rect">
            <a:avLst/>
          </a:prstGeom>
          <a:noFill/>
          <a:ln/>
        </p:spPr>
        <p:txBody>
          <a:bodyPr wrap="square" lIns="0" tIns="0" rIns="0" bIns="0" rtlCol="0" anchor="t"/>
          <a:lstStyle/>
          <a:p>
            <a:pPr algn="l" indent="0" marL="0">
              <a:buNone/>
            </a:pPr>
            <a:r>
              <a:rPr lang="en-US" sz="1600" b="1" dirty="0">
                <a:solidFill>
                  <a:srgbClr val="1F2430"/>
                </a:solidFill>
              </a:rPr>
              <a:t>Calibrate the kitchen’s first batch</a:t>
            </a:r>
            <a:endParaRPr lang="en-US" sz="1600" dirty="0"/>
          </a:p>
        </p:txBody>
      </p:sp>
      <p:sp>
        <p:nvSpPr>
          <p:cNvPr id="27" name="Text 22"/>
          <p:cNvSpPr txBox="1"/>
          <p:nvPr/>
        </p:nvSpPr>
        <p:spPr>
          <a:xfrm>
            <a:off x="6217920" y="2971800"/>
            <a:ext cx="2286000" cy="640080"/>
          </a:xfrm>
          <a:prstGeom prst="rect">
            <a:avLst/>
          </a:prstGeom>
          <a:noFill/>
          <a:ln/>
        </p:spPr>
        <p:txBody>
          <a:bodyPr wrap="square" lIns="0" tIns="0" rIns="0" bIns="0" rtlCol="0" anchor="t"/>
          <a:lstStyle/>
          <a:p>
            <a:pPr algn="l" indent="0" marL="0">
              <a:buNone/>
            </a:pPr>
            <a:r>
              <a:rPr lang="en-US" sz="1300" dirty="0">
                <a:solidFill>
                  <a:srgbClr val="616161"/>
                </a:solidFill>
              </a:rPr>
              <a:t>Buys time and saves food</a:t>
            </a:r>
            <a:endParaRPr lang="en-US" sz="1300" dirty="0"/>
          </a:p>
        </p:txBody>
      </p:sp>
      <p:sp>
        <p:nvSpPr>
          <p:cNvPr id="28" name="Shape 23"/>
          <p:cNvSpPr/>
          <p:nvPr/>
        </p:nvSpPr>
        <p:spPr>
          <a:xfrm>
            <a:off x="7269480" y="1481328"/>
            <a:ext cx="1188720" cy="237744"/>
          </a:xfrm>
          <a:prstGeom prst="roundRect">
            <a:avLst>
              <a:gd name="adj" fmla="val 23077"/>
            </a:avLst>
          </a:prstGeom>
          <a:solidFill>
            <a:srgbClr val="FFF8E1"/>
          </a:solidFill>
          <a:ln w="12700">
            <a:solidFill>
              <a:srgbClr val="F57F17"/>
            </a:solidFill>
            <a:prstDash val="solid"/>
          </a:ln>
        </p:spPr>
      </p:sp>
      <p:sp>
        <p:nvSpPr>
          <p:cNvPr id="29" name="Text 24"/>
          <p:cNvSpPr txBox="1"/>
          <p:nvPr/>
        </p:nvSpPr>
        <p:spPr>
          <a:xfrm>
            <a:off x="7333488" y="1481328"/>
            <a:ext cx="1060704" cy="237744"/>
          </a:xfrm>
          <a:prstGeom prst="rect">
            <a:avLst/>
          </a:prstGeom>
          <a:noFill/>
          <a:ln/>
        </p:spPr>
        <p:txBody>
          <a:bodyPr wrap="square" lIns="0" tIns="0" rIns="0" bIns="0" rtlCol="0" anchor="ctr"/>
          <a:lstStyle/>
          <a:p>
            <a:pPr algn="ctr" indent="0" marL="0">
              <a:buNone/>
            </a:pPr>
            <a:r>
              <a:rPr lang="en-US" sz="1000" b="1" dirty="0">
                <a:solidFill>
                  <a:srgbClr val="8D4A00"/>
                </a:solidFill>
              </a:rPr>
              <a:t>QUICK FIX</a:t>
            </a:r>
            <a:endParaRPr lang="en-US" sz="1000" dirty="0"/>
          </a:p>
        </p:txBody>
      </p:sp>
      <p:sp>
        <p:nvSpPr>
          <p:cNvPr id="30" name="Shape 25"/>
          <p:cNvSpPr/>
          <p:nvPr/>
        </p:nvSpPr>
        <p:spPr>
          <a:xfrm>
            <a:off x="1266444" y="3913632"/>
            <a:ext cx="928116" cy="201168"/>
          </a:xfrm>
          <a:prstGeom prst="roundRect">
            <a:avLst>
              <a:gd name="adj" fmla="val 22727"/>
            </a:avLst>
          </a:prstGeom>
          <a:solidFill>
            <a:srgbClr val="1A237E"/>
          </a:solidFill>
          <a:ln/>
        </p:spPr>
      </p:sp>
      <p:sp>
        <p:nvSpPr>
          <p:cNvPr id="31" name="Text 26"/>
          <p:cNvSpPr txBox="1"/>
          <p:nvPr/>
        </p:nvSpPr>
        <p:spPr>
          <a:xfrm>
            <a:off x="1266444" y="391363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PROJECTED</a:t>
            </a:r>
            <a:endParaRPr lang="en-US" sz="900" dirty="0"/>
          </a:p>
        </p:txBody>
      </p:sp>
      <p:sp>
        <p:nvSpPr>
          <p:cNvPr id="32" name="Text 27"/>
          <p:cNvSpPr txBox="1"/>
          <p:nvPr/>
        </p:nvSpPr>
        <p:spPr>
          <a:xfrm>
            <a:off x="2331720" y="3895344"/>
            <a:ext cx="5669280" cy="237744"/>
          </a:xfrm>
          <a:prstGeom prst="rect">
            <a:avLst/>
          </a:prstGeom>
          <a:noFill/>
          <a:ln/>
        </p:spPr>
        <p:txBody>
          <a:bodyPr wrap="square" lIns="0" tIns="0" rIns="0" bIns="0" rtlCol="0" anchor="ctr"/>
          <a:lstStyle/>
          <a:p>
            <a:pPr algn="l" indent="0" marL="0">
              <a:buNone/>
            </a:pPr>
            <a:r>
              <a:rPr lang="en-US" sz="1400" b="1" dirty="0">
                <a:solidFill>
                  <a:srgbClr val="1F2430"/>
                </a:solidFill>
              </a:rPr>
              <a:t>Replayed on April records: surplus 362 to 91 portions a day</a:t>
            </a:r>
            <a:endParaRPr lang="en-US" sz="1400" dirty="0"/>
          </a:p>
        </p:txBody>
      </p:sp>
      <p:sp>
        <p:nvSpPr>
          <p:cNvPr id="33" name="Text 28"/>
          <p:cNvSpPr txBox="1"/>
          <p:nvPr/>
        </p:nvSpPr>
        <p:spPr>
          <a:xfrm>
            <a:off x="457200" y="4297680"/>
            <a:ext cx="7315200" cy="274320"/>
          </a:xfrm>
          <a:prstGeom prst="rect">
            <a:avLst/>
          </a:prstGeom>
          <a:noFill/>
          <a:ln/>
        </p:spPr>
        <p:txBody>
          <a:bodyPr wrap="square" lIns="0" tIns="0" rIns="0" bIns="0" rtlCol="0" anchor="t"/>
          <a:lstStyle/>
          <a:p>
            <a:pPr algn="l" indent="0" marL="0">
              <a:buNone/>
            </a:pPr>
            <a:r>
              <a:rPr lang="en-US" sz="1400" dirty="0">
                <a:solidFill>
                  <a:srgbClr val="616161"/>
                </a:solidFill>
              </a:rPr>
              <a:t>Only the rule change lowers what students pay.</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Every hostel student is registered and billed for every meal, and the exit is narrow</a:t>
            </a:r>
            <a:endParaRPr lang="en-US" sz="2400" dirty="0"/>
          </a:p>
        </p:txBody>
      </p:sp>
      <p:sp>
        <p:nvSpPr>
          <p:cNvPr id="3" name="Shape 1"/>
          <p:cNvSpPr/>
          <p:nvPr/>
        </p:nvSpPr>
        <p:spPr>
          <a:xfrm>
            <a:off x="434340" y="4841748"/>
            <a:ext cx="146304" cy="146304"/>
          </a:xfrm>
          <a:prstGeom prst="ellipse">
            <a:avLst/>
          </a:prstGeom>
          <a:solidFill>
            <a:srgbClr val="FFFFFF"/>
          </a:solidFill>
          <a:ln/>
        </p:spPr>
      </p:sp>
      <p:sp>
        <p:nvSpPr>
          <p:cNvPr id="4" name="Shape 2"/>
          <p:cNvSpPr/>
          <p:nvPr/>
        </p:nvSpPr>
        <p:spPr>
          <a:xfrm>
            <a:off x="397764" y="4805172"/>
            <a:ext cx="219456" cy="219456"/>
          </a:xfrm>
          <a:prstGeom prst="ellipse">
            <a:avLst/>
          </a:prstGeom>
          <a:ln w="9525">
            <a:solidFill>
              <a:srgbClr val="FFFFFF"/>
            </a:solidFill>
            <a:prstDash val="solid"/>
          </a:ln>
        </p:spPr>
      </p:sp>
      <p:sp>
        <p:nvSpPr>
          <p:cNvPr id="5" name="Shape 3"/>
          <p:cNvSpPr/>
          <p:nvPr/>
        </p:nvSpPr>
        <p:spPr>
          <a:xfrm>
            <a:off x="640080" y="4864608"/>
            <a:ext cx="100584" cy="100584"/>
          </a:xfrm>
          <a:prstGeom prst="ellipse">
            <a:avLst/>
          </a:prstGeom>
          <a:ln w="9525">
            <a:solidFill>
              <a:srgbClr val="6B74A8"/>
            </a:solidFill>
            <a:prstDash val="solid"/>
          </a:ln>
        </p:spPr>
      </p:sp>
      <p:sp>
        <p:nvSpPr>
          <p:cNvPr id="6" name="Shape 4"/>
          <p:cNvSpPr/>
          <p:nvPr/>
        </p:nvSpPr>
        <p:spPr>
          <a:xfrm>
            <a:off x="822960" y="4864608"/>
            <a:ext cx="100584" cy="100584"/>
          </a:xfrm>
          <a:prstGeom prst="ellipse">
            <a:avLst/>
          </a:prstGeom>
          <a:ln w="9525">
            <a:solidFill>
              <a:srgbClr val="6B74A8"/>
            </a:solidFill>
            <a:prstDash val="solid"/>
          </a:ln>
        </p:spPr>
      </p:sp>
      <p:sp>
        <p:nvSpPr>
          <p:cNvPr id="7" name="Shape 5"/>
          <p:cNvSpPr/>
          <p:nvPr/>
        </p:nvSpPr>
        <p:spPr>
          <a:xfrm>
            <a:off x="1005840" y="4864608"/>
            <a:ext cx="100584" cy="100584"/>
          </a:xfrm>
          <a:prstGeom prst="ellipse">
            <a:avLst/>
          </a:prstGeom>
          <a:ln w="9525">
            <a:solidFill>
              <a:srgbClr val="6B74A8"/>
            </a:solidFill>
            <a:prstDash val="solid"/>
          </a:ln>
        </p:spPr>
      </p:sp>
      <p:sp>
        <p:nvSpPr>
          <p:cNvPr id="8" name="Shape 6"/>
          <p:cNvSpPr/>
          <p:nvPr/>
        </p:nvSpPr>
        <p:spPr>
          <a:xfrm>
            <a:off x="1188720" y="4864608"/>
            <a:ext cx="100584" cy="100584"/>
          </a:xfrm>
          <a:prstGeom prst="ellipse">
            <a:avLst/>
          </a:prstGeom>
          <a:ln w="9525">
            <a:solidFill>
              <a:srgbClr val="6B74A8"/>
            </a:solidFill>
            <a:prstDash val="solid"/>
          </a:ln>
        </p:spPr>
      </p:sp>
      <p:sp>
        <p:nvSpPr>
          <p:cNvPr id="9" name="Shape 7"/>
          <p:cNvSpPr/>
          <p:nvPr/>
        </p:nvSpPr>
        <p:spPr>
          <a:xfrm>
            <a:off x="1371600" y="4864608"/>
            <a:ext cx="100584" cy="100584"/>
          </a:xfrm>
          <a:prstGeom prst="ellipse">
            <a:avLst/>
          </a:prstGeom>
          <a:ln w="9525">
            <a:solidFill>
              <a:srgbClr val="6B74A8"/>
            </a:solidFill>
            <a:prstDash val="solid"/>
          </a:ln>
        </p:spPr>
      </p:sp>
      <p:sp>
        <p:nvSpPr>
          <p:cNvPr id="10" name="Shape 8"/>
          <p:cNvSpPr/>
          <p:nvPr/>
        </p:nvSpPr>
        <p:spPr>
          <a:xfrm>
            <a:off x="1554480" y="4864608"/>
            <a:ext cx="100584" cy="100584"/>
          </a:xfrm>
          <a:prstGeom prst="ellipse">
            <a:avLst/>
          </a:prstGeom>
          <a:ln w="9525">
            <a:solidFill>
              <a:srgbClr val="6B74A8"/>
            </a:solidFill>
            <a:prstDash val="solid"/>
          </a:ln>
        </p:spPr>
      </p:sp>
      <p:sp>
        <p:nvSpPr>
          <p:cNvPr id="11" name="Shape 9"/>
          <p:cNvSpPr/>
          <p:nvPr/>
        </p:nvSpPr>
        <p:spPr>
          <a:xfrm>
            <a:off x="1737360" y="4864608"/>
            <a:ext cx="100584" cy="100584"/>
          </a:xfrm>
          <a:prstGeom prst="ellipse">
            <a:avLst/>
          </a:prstGeom>
          <a:ln w="9525">
            <a:solidFill>
              <a:srgbClr val="6B74A8"/>
            </a:solidFill>
            <a:prstDash val="solid"/>
          </a:ln>
        </p:spPr>
      </p:sp>
      <p:sp>
        <p:nvSpPr>
          <p:cNvPr id="12" name="Shape 10"/>
          <p:cNvSpPr/>
          <p:nvPr/>
        </p:nvSpPr>
        <p:spPr>
          <a:xfrm>
            <a:off x="1920240" y="4864608"/>
            <a:ext cx="100584" cy="100584"/>
          </a:xfrm>
          <a:prstGeom prst="ellipse">
            <a:avLst/>
          </a:prstGeom>
          <a:ln w="9525">
            <a:solidFill>
              <a:srgbClr val="6B74A8"/>
            </a:solidFill>
            <a:prstDash val="solid"/>
          </a:ln>
        </p:spPr>
      </p:sp>
      <p:sp>
        <p:nvSpPr>
          <p:cNvPr id="13" name="Shape 11"/>
          <p:cNvSpPr/>
          <p:nvPr/>
        </p:nvSpPr>
        <p:spPr>
          <a:xfrm>
            <a:off x="2103120" y="4864608"/>
            <a:ext cx="100584" cy="100584"/>
          </a:xfrm>
          <a:prstGeom prst="ellipse">
            <a:avLst/>
          </a:prstGeom>
          <a:ln w="9525">
            <a:solidFill>
              <a:srgbClr val="6B74A8"/>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B8BFE6"/>
                </a:solidFill>
              </a:rPr>
              <a:t>1 Background</a:t>
            </a:r>
            <a:endParaRPr lang="en-US" sz="1000" dirty="0"/>
          </a:p>
        </p:txBody>
      </p:sp>
      <p:sp>
        <p:nvSpPr>
          <p:cNvPr id="15" name="Shape 13"/>
          <p:cNvSpPr/>
          <p:nvPr/>
        </p:nvSpPr>
        <p:spPr>
          <a:xfrm>
            <a:off x="2468880" y="2286000"/>
            <a:ext cx="914400" cy="914400"/>
          </a:xfrm>
          <a:prstGeom prst="ellipse">
            <a:avLst/>
          </a:prstGeom>
          <a:ln w="25400">
            <a:solidFill>
              <a:srgbClr val="B8BFE6"/>
            </a:solidFill>
            <a:prstDash val="solid"/>
          </a:ln>
        </p:spPr>
      </p:sp>
      <p:sp>
        <p:nvSpPr>
          <p:cNvPr id="16" name="Shape 14"/>
          <p:cNvSpPr/>
          <p:nvPr/>
        </p:nvSpPr>
        <p:spPr>
          <a:xfrm>
            <a:off x="2468880" y="2286000"/>
            <a:ext cx="914400" cy="914400"/>
          </a:xfrm>
          <a:prstGeom prst="pie">
            <a:avLst>
              <a:gd name="adj1" fmla="val 16200000"/>
              <a:gd name="adj2" fmla="val 2613600"/>
            </a:avLst>
          </a:prstGeom>
          <a:solidFill>
            <a:srgbClr val="E65100"/>
          </a:solidFill>
          <a:ln/>
        </p:spPr>
      </p:sp>
      <p:sp>
        <p:nvSpPr>
          <p:cNvPr id="17" name="Shape 15"/>
          <p:cNvSpPr/>
          <p:nvPr/>
        </p:nvSpPr>
        <p:spPr>
          <a:xfrm flipV="1">
            <a:off x="2926080" y="1600200"/>
            <a:ext cx="0" cy="1143000"/>
          </a:xfrm>
          <a:prstGeom prst="line">
            <a:avLst/>
          </a:prstGeom>
          <a:noFill/>
          <a:ln w="12700">
            <a:solidFill>
              <a:srgbClr val="6B74A8"/>
            </a:solidFill>
            <a:prstDash val="solid"/>
          </a:ln>
        </p:spPr>
      </p:sp>
      <p:sp>
        <p:nvSpPr>
          <p:cNvPr id="18" name="Shape 16"/>
          <p:cNvSpPr/>
          <p:nvPr/>
        </p:nvSpPr>
        <p:spPr>
          <a:xfrm flipV="1">
            <a:off x="2926080" y="2240280"/>
            <a:ext cx="2057400" cy="502920"/>
          </a:xfrm>
          <a:prstGeom prst="line">
            <a:avLst/>
          </a:prstGeom>
          <a:noFill/>
          <a:ln w="12700">
            <a:solidFill>
              <a:srgbClr val="6B74A8"/>
            </a:solidFill>
            <a:prstDash val="solid"/>
          </a:ln>
        </p:spPr>
      </p:sp>
      <p:sp>
        <p:nvSpPr>
          <p:cNvPr id="19" name="Shape 17"/>
          <p:cNvSpPr/>
          <p:nvPr/>
        </p:nvSpPr>
        <p:spPr>
          <a:xfrm>
            <a:off x="2926080" y="2743200"/>
            <a:ext cx="2057400" cy="457200"/>
          </a:xfrm>
          <a:prstGeom prst="line">
            <a:avLst/>
          </a:prstGeom>
          <a:noFill/>
          <a:ln w="12700">
            <a:solidFill>
              <a:srgbClr val="6B74A8"/>
            </a:solidFill>
            <a:prstDash val="solid"/>
          </a:ln>
        </p:spPr>
      </p:sp>
      <p:sp>
        <p:nvSpPr>
          <p:cNvPr id="20" name="Shape 18"/>
          <p:cNvSpPr/>
          <p:nvPr/>
        </p:nvSpPr>
        <p:spPr>
          <a:xfrm flipH="1">
            <a:off x="1508760" y="2743200"/>
            <a:ext cx="1417320" cy="457200"/>
          </a:xfrm>
          <a:prstGeom prst="line">
            <a:avLst/>
          </a:prstGeom>
          <a:noFill/>
          <a:ln w="12700">
            <a:solidFill>
              <a:srgbClr val="6B74A8"/>
            </a:solidFill>
            <a:prstDash val="solid"/>
          </a:ln>
        </p:spPr>
      </p:sp>
      <p:sp>
        <p:nvSpPr>
          <p:cNvPr id="21" name="Shape 19"/>
          <p:cNvSpPr/>
          <p:nvPr/>
        </p:nvSpPr>
        <p:spPr>
          <a:xfrm flipH="1" flipV="1">
            <a:off x="1508760" y="2240280"/>
            <a:ext cx="1417320" cy="502920"/>
          </a:xfrm>
          <a:prstGeom prst="line">
            <a:avLst/>
          </a:prstGeom>
          <a:noFill/>
          <a:ln w="12700">
            <a:solidFill>
              <a:srgbClr val="6B74A8"/>
            </a:solidFill>
            <a:prstDash val="solid"/>
          </a:ln>
        </p:spPr>
      </p:sp>
      <p:sp>
        <p:nvSpPr>
          <p:cNvPr id="22" name="Shape 20"/>
          <p:cNvSpPr/>
          <p:nvPr/>
        </p:nvSpPr>
        <p:spPr>
          <a:xfrm>
            <a:off x="2468880" y="2286000"/>
            <a:ext cx="914400" cy="914400"/>
          </a:xfrm>
          <a:prstGeom prst="ellipse">
            <a:avLst/>
          </a:prstGeom>
          <a:solidFill>
            <a:srgbClr val="0E1440"/>
          </a:solidFill>
          <a:ln/>
        </p:spPr>
      </p:sp>
      <p:sp>
        <p:nvSpPr>
          <p:cNvPr id="23" name="Shape 21"/>
          <p:cNvSpPr/>
          <p:nvPr/>
        </p:nvSpPr>
        <p:spPr>
          <a:xfrm>
            <a:off x="2468880" y="2286000"/>
            <a:ext cx="914400" cy="914400"/>
          </a:xfrm>
          <a:prstGeom prst="ellipse">
            <a:avLst/>
          </a:prstGeom>
          <a:ln w="25400">
            <a:solidFill>
              <a:srgbClr val="B8BFE6"/>
            </a:solidFill>
            <a:prstDash val="solid"/>
          </a:ln>
        </p:spPr>
      </p:sp>
      <p:sp>
        <p:nvSpPr>
          <p:cNvPr id="24" name="Shape 22"/>
          <p:cNvSpPr/>
          <p:nvPr/>
        </p:nvSpPr>
        <p:spPr>
          <a:xfrm>
            <a:off x="2468880" y="2286000"/>
            <a:ext cx="914400" cy="914400"/>
          </a:xfrm>
          <a:prstGeom prst="pie">
            <a:avLst>
              <a:gd name="adj1" fmla="val 16200000"/>
              <a:gd name="adj2" fmla="val 2613600"/>
            </a:avLst>
          </a:prstGeom>
          <a:solidFill>
            <a:srgbClr val="E65100"/>
          </a:solidFill>
          <a:ln/>
        </p:spPr>
      </p:sp>
      <p:sp>
        <p:nvSpPr>
          <p:cNvPr id="25" name="Shape 23"/>
          <p:cNvSpPr/>
          <p:nvPr/>
        </p:nvSpPr>
        <p:spPr>
          <a:xfrm>
            <a:off x="1691640" y="1325880"/>
            <a:ext cx="2468880" cy="502920"/>
          </a:xfrm>
          <a:prstGeom prst="roundRect">
            <a:avLst>
              <a:gd name="adj" fmla="val 10909"/>
            </a:avLst>
          </a:prstGeom>
          <a:solidFill>
            <a:srgbClr val="E3F2FD"/>
          </a:solidFill>
          <a:ln w="12700">
            <a:solidFill>
              <a:srgbClr val="1565C0"/>
            </a:solidFill>
            <a:prstDash val="solid"/>
          </a:ln>
        </p:spPr>
      </p:sp>
      <p:sp>
        <p:nvSpPr>
          <p:cNvPr id="26" name="Text 24"/>
          <p:cNvSpPr txBox="1"/>
          <p:nvPr/>
        </p:nvSpPr>
        <p:spPr>
          <a:xfrm>
            <a:off x="1755648" y="1325880"/>
            <a:ext cx="2340864" cy="502920"/>
          </a:xfrm>
          <a:prstGeom prst="rect">
            <a:avLst/>
          </a:prstGeom>
          <a:noFill/>
          <a:ln/>
        </p:spPr>
        <p:txBody>
          <a:bodyPr wrap="square" lIns="0" tIns="0" rIns="0" bIns="0" rtlCol="0" anchor="ctr"/>
          <a:lstStyle/>
          <a:p>
            <a:pPr algn="ctr" indent="0" marL="0">
              <a:buNone/>
            </a:pPr>
            <a:r>
              <a:rPr lang="en-US" sz="1200" dirty="0">
                <a:solidFill>
                  <a:srgbClr val="1F2430"/>
                </a:solidFill>
              </a:rPr>
              <a:t>Registered for every meal, holidays included</a:t>
            </a:r>
            <a:endParaRPr lang="en-US" sz="1200" dirty="0"/>
          </a:p>
        </p:txBody>
      </p:sp>
      <p:sp>
        <p:nvSpPr>
          <p:cNvPr id="27" name="Shape 25"/>
          <p:cNvSpPr/>
          <p:nvPr/>
        </p:nvSpPr>
        <p:spPr>
          <a:xfrm>
            <a:off x="3931920" y="1965960"/>
            <a:ext cx="2103120" cy="502920"/>
          </a:xfrm>
          <a:prstGeom prst="roundRect">
            <a:avLst>
              <a:gd name="adj" fmla="val 10909"/>
            </a:avLst>
          </a:prstGeom>
          <a:solidFill>
            <a:srgbClr val="E3F2FD"/>
          </a:solidFill>
          <a:ln w="12700">
            <a:solidFill>
              <a:srgbClr val="1565C0"/>
            </a:solidFill>
            <a:prstDash val="solid"/>
          </a:ln>
        </p:spPr>
      </p:sp>
      <p:sp>
        <p:nvSpPr>
          <p:cNvPr id="28" name="Text 26"/>
          <p:cNvSpPr txBox="1"/>
          <p:nvPr/>
        </p:nvSpPr>
        <p:spPr>
          <a:xfrm>
            <a:off x="3995928" y="1965960"/>
            <a:ext cx="1975104" cy="502920"/>
          </a:xfrm>
          <a:prstGeom prst="rect">
            <a:avLst/>
          </a:prstGeom>
          <a:noFill/>
          <a:ln/>
        </p:spPr>
        <p:txBody>
          <a:bodyPr wrap="square" lIns="0" tIns="0" rIns="0" bIns="0" rtlCol="0" anchor="ctr"/>
          <a:lstStyle/>
          <a:p>
            <a:pPr algn="ctr" indent="0" marL="0">
              <a:buNone/>
            </a:pPr>
            <a:r>
              <a:rPr lang="en-US" sz="1200" dirty="0">
                <a:solidFill>
                  <a:srgbClr val="1F2430"/>
                </a:solidFill>
              </a:rPr>
              <a:t>Charge follows the registration</a:t>
            </a:r>
            <a:endParaRPr lang="en-US" sz="1200" dirty="0"/>
          </a:p>
        </p:txBody>
      </p:sp>
      <p:sp>
        <p:nvSpPr>
          <p:cNvPr id="29" name="Shape 27"/>
          <p:cNvSpPr/>
          <p:nvPr/>
        </p:nvSpPr>
        <p:spPr>
          <a:xfrm>
            <a:off x="3931920" y="2926080"/>
            <a:ext cx="2103120" cy="502920"/>
          </a:xfrm>
          <a:prstGeom prst="roundRect">
            <a:avLst>
              <a:gd name="adj" fmla="val 10909"/>
            </a:avLst>
          </a:prstGeom>
          <a:solidFill>
            <a:srgbClr val="E3F2FD"/>
          </a:solidFill>
          <a:ln w="12700">
            <a:solidFill>
              <a:srgbClr val="1565C0"/>
            </a:solidFill>
            <a:prstDash val="solid"/>
          </a:ln>
        </p:spPr>
      </p:sp>
      <p:sp>
        <p:nvSpPr>
          <p:cNvPr id="30" name="Text 28"/>
          <p:cNvSpPr txBox="1"/>
          <p:nvPr/>
        </p:nvSpPr>
        <p:spPr>
          <a:xfrm>
            <a:off x="3995928" y="2926080"/>
            <a:ext cx="1975104" cy="502920"/>
          </a:xfrm>
          <a:prstGeom prst="rect">
            <a:avLst/>
          </a:prstGeom>
          <a:noFill/>
          <a:ln/>
        </p:spPr>
        <p:txBody>
          <a:bodyPr wrap="square" lIns="0" tIns="0" rIns="0" bIns="0" rtlCol="0" anchor="ctr"/>
          <a:lstStyle/>
          <a:p>
            <a:pPr algn="ctr" indent="0" marL="0">
              <a:buNone/>
            </a:pPr>
            <a:r>
              <a:rPr lang="en-US" sz="1200" dirty="0">
                <a:solidFill>
                  <a:srgbClr val="1F2430"/>
                </a:solidFill>
              </a:rPr>
              <a:t>Exit: five cancellations a month, four days ahead</a:t>
            </a:r>
            <a:endParaRPr lang="en-US" sz="1200" dirty="0"/>
          </a:p>
        </p:txBody>
      </p:sp>
      <p:sp>
        <p:nvSpPr>
          <p:cNvPr id="31" name="Shape 29"/>
          <p:cNvSpPr/>
          <p:nvPr/>
        </p:nvSpPr>
        <p:spPr>
          <a:xfrm>
            <a:off x="457200" y="2926080"/>
            <a:ext cx="2103120" cy="502920"/>
          </a:xfrm>
          <a:prstGeom prst="roundRect">
            <a:avLst>
              <a:gd name="adj" fmla="val 10909"/>
            </a:avLst>
          </a:prstGeom>
          <a:solidFill>
            <a:srgbClr val="E3F2FD"/>
          </a:solidFill>
          <a:ln w="12700">
            <a:solidFill>
              <a:srgbClr val="1565C0"/>
            </a:solidFill>
            <a:prstDash val="solid"/>
          </a:ln>
        </p:spPr>
      </p:sp>
      <p:sp>
        <p:nvSpPr>
          <p:cNvPr id="32" name="Text 30"/>
          <p:cNvSpPr txBox="1"/>
          <p:nvPr/>
        </p:nvSpPr>
        <p:spPr>
          <a:xfrm>
            <a:off x="521208" y="2926080"/>
            <a:ext cx="1975104" cy="502920"/>
          </a:xfrm>
          <a:prstGeom prst="rect">
            <a:avLst/>
          </a:prstGeom>
          <a:noFill/>
          <a:ln/>
        </p:spPr>
        <p:txBody>
          <a:bodyPr wrap="square" lIns="0" tIns="0" rIns="0" bIns="0" rtlCol="0" anchor="ctr"/>
          <a:lstStyle/>
          <a:p>
            <a:pPr algn="ctr" indent="0" marL="0">
              <a:buNone/>
            </a:pPr>
            <a:r>
              <a:rPr lang="en-US" sz="1200" dirty="0">
                <a:solidFill>
                  <a:srgbClr val="1F2430"/>
                </a:solidFill>
              </a:rPr>
              <a:t>Skip Meal: still charged</a:t>
            </a:r>
            <a:endParaRPr lang="en-US" sz="1200" dirty="0"/>
          </a:p>
        </p:txBody>
      </p:sp>
      <p:sp>
        <p:nvSpPr>
          <p:cNvPr id="33" name="Shape 31"/>
          <p:cNvSpPr/>
          <p:nvPr/>
        </p:nvSpPr>
        <p:spPr>
          <a:xfrm>
            <a:off x="457200" y="1965960"/>
            <a:ext cx="2103120" cy="502920"/>
          </a:xfrm>
          <a:prstGeom prst="roundRect">
            <a:avLst>
              <a:gd name="adj" fmla="val 10909"/>
            </a:avLst>
          </a:prstGeom>
          <a:solidFill>
            <a:srgbClr val="E3F2FD"/>
          </a:solidFill>
          <a:ln w="12700">
            <a:solidFill>
              <a:srgbClr val="1565C0"/>
            </a:solidFill>
            <a:prstDash val="solid"/>
          </a:ln>
        </p:spPr>
      </p:sp>
      <p:sp>
        <p:nvSpPr>
          <p:cNvPr id="34" name="Text 32"/>
          <p:cNvSpPr txBox="1"/>
          <p:nvPr/>
        </p:nvSpPr>
        <p:spPr>
          <a:xfrm>
            <a:off x="521208" y="1965960"/>
            <a:ext cx="1975104" cy="502920"/>
          </a:xfrm>
          <a:prstGeom prst="rect">
            <a:avLst/>
          </a:prstGeom>
          <a:noFill/>
          <a:ln/>
        </p:spPr>
        <p:txBody>
          <a:bodyPr wrap="square" lIns="0" tIns="0" rIns="0" bIns="0" rtlCol="0" anchor="ctr"/>
          <a:lstStyle/>
          <a:p>
            <a:pPr algn="ctr" indent="0" marL="0">
              <a:buNone/>
            </a:pPr>
            <a:r>
              <a:rPr lang="en-US" sz="1200" dirty="0">
                <a:solidFill>
                  <a:srgbClr val="1F2430"/>
                </a:solidFill>
              </a:rPr>
              <a:t>Walk-in pays about 70% more</a:t>
            </a:r>
            <a:endParaRPr lang="en-US" sz="1200" dirty="0"/>
          </a:p>
        </p:txBody>
      </p:sp>
      <p:sp>
        <p:nvSpPr>
          <p:cNvPr id="35" name="Text 33"/>
          <p:cNvSpPr txBox="1"/>
          <p:nvPr/>
        </p:nvSpPr>
        <p:spPr>
          <a:xfrm>
            <a:off x="457200" y="3749040"/>
            <a:ext cx="2743200" cy="201168"/>
          </a:xfrm>
          <a:prstGeom prst="rect">
            <a:avLst/>
          </a:prstGeom>
          <a:noFill/>
          <a:ln/>
        </p:spPr>
        <p:txBody>
          <a:bodyPr wrap="square" lIns="0" tIns="0" rIns="0" bIns="0" rtlCol="0" anchor="t"/>
          <a:lstStyle/>
          <a:p>
            <a:pPr algn="l" indent="0" marL="0">
              <a:buNone/>
            </a:pPr>
            <a:r>
              <a:rPr lang="en-US" sz="1100" dirty="0">
                <a:solidFill>
                  <a:srgbClr val="B8BFE6"/>
                </a:solidFill>
              </a:rPr>
              <a:t>The breakfast window</a:t>
            </a:r>
            <a:endParaRPr lang="en-US" sz="1100" dirty="0"/>
          </a:p>
        </p:txBody>
      </p:sp>
      <p:sp>
        <p:nvSpPr>
          <p:cNvPr id="36" name="Shape 34"/>
          <p:cNvSpPr/>
          <p:nvPr/>
        </p:nvSpPr>
        <p:spPr>
          <a:xfrm>
            <a:off x="457200" y="4005072"/>
            <a:ext cx="5394960" cy="146304"/>
          </a:xfrm>
          <a:prstGeom prst="roundRect">
            <a:avLst>
              <a:gd name="adj" fmla="val 25000"/>
            </a:avLst>
          </a:prstGeom>
          <a:solidFill>
            <a:srgbClr val="1565C0"/>
          </a:solidFill>
          <a:ln/>
        </p:spPr>
      </p:sp>
      <p:sp>
        <p:nvSpPr>
          <p:cNvPr id="37" name="Shape 35"/>
          <p:cNvSpPr/>
          <p:nvPr/>
        </p:nvSpPr>
        <p:spPr>
          <a:xfrm>
            <a:off x="3154680" y="3913632"/>
            <a:ext cx="0" cy="329184"/>
          </a:xfrm>
          <a:prstGeom prst="line">
            <a:avLst/>
          </a:prstGeom>
          <a:noFill/>
          <a:ln w="31750">
            <a:solidFill>
              <a:srgbClr val="F57F17"/>
            </a:solidFill>
            <a:prstDash val="solid"/>
          </a:ln>
        </p:spPr>
      </p:sp>
      <p:sp>
        <p:nvSpPr>
          <p:cNvPr id="38" name="Text 36"/>
          <p:cNvSpPr txBox="1"/>
          <p:nvPr/>
        </p:nvSpPr>
        <p:spPr>
          <a:xfrm>
            <a:off x="457200" y="4206240"/>
            <a:ext cx="731520" cy="201168"/>
          </a:xfrm>
          <a:prstGeom prst="rect">
            <a:avLst/>
          </a:prstGeom>
          <a:noFill/>
          <a:ln/>
        </p:spPr>
        <p:txBody>
          <a:bodyPr wrap="square" lIns="0" tIns="0" rIns="0" bIns="0" rtlCol="0" anchor="t"/>
          <a:lstStyle/>
          <a:p>
            <a:pPr algn="l" indent="0" marL="0">
              <a:buNone/>
            </a:pPr>
            <a:r>
              <a:rPr lang="en-US" sz="1100" dirty="0">
                <a:solidFill>
                  <a:srgbClr val="B8BFE6"/>
                </a:solidFill>
              </a:rPr>
              <a:t>7:30</a:t>
            </a:r>
            <a:endParaRPr lang="en-US" sz="1100" dirty="0"/>
          </a:p>
        </p:txBody>
      </p:sp>
      <p:sp>
        <p:nvSpPr>
          <p:cNvPr id="39" name="Text 37"/>
          <p:cNvSpPr txBox="1"/>
          <p:nvPr/>
        </p:nvSpPr>
        <p:spPr>
          <a:xfrm>
            <a:off x="2514600" y="4261104"/>
            <a:ext cx="1280160" cy="201168"/>
          </a:xfrm>
          <a:prstGeom prst="rect">
            <a:avLst/>
          </a:prstGeom>
          <a:noFill/>
          <a:ln/>
        </p:spPr>
        <p:txBody>
          <a:bodyPr wrap="square" lIns="0" tIns="0" rIns="0" bIns="0" rtlCol="0" anchor="t"/>
          <a:lstStyle/>
          <a:p>
            <a:pPr algn="ctr" indent="0" marL="0">
              <a:buNone/>
            </a:pPr>
            <a:r>
              <a:rPr lang="en-US" sz="1100" b="1" dirty="0">
                <a:solidFill>
                  <a:srgbClr val="F57F17"/>
                </a:solidFill>
              </a:rPr>
              <a:t>8:30 class starts</a:t>
            </a:r>
            <a:endParaRPr lang="en-US" sz="1100" dirty="0"/>
          </a:p>
        </p:txBody>
      </p:sp>
      <p:sp>
        <p:nvSpPr>
          <p:cNvPr id="40" name="Text 38"/>
          <p:cNvSpPr txBox="1"/>
          <p:nvPr/>
        </p:nvSpPr>
        <p:spPr>
          <a:xfrm>
            <a:off x="4572000" y="4206240"/>
            <a:ext cx="1280160" cy="201168"/>
          </a:xfrm>
          <a:prstGeom prst="rect">
            <a:avLst/>
          </a:prstGeom>
          <a:noFill/>
          <a:ln/>
        </p:spPr>
        <p:txBody>
          <a:bodyPr wrap="square" lIns="0" tIns="0" rIns="0" bIns="0" rtlCol="0" anchor="t"/>
          <a:lstStyle/>
          <a:p>
            <a:pPr algn="r" indent="0" marL="0">
              <a:buNone/>
            </a:pPr>
            <a:r>
              <a:rPr lang="en-US" sz="1100" dirty="0">
                <a:solidFill>
                  <a:srgbClr val="B8BFE6"/>
                </a:solidFill>
              </a:rPr>
              <a:t>9:30 doors close</a:t>
            </a:r>
            <a:endParaRPr lang="en-US" sz="1100" dirty="0"/>
          </a:p>
        </p:txBody>
      </p:sp>
      <p:sp>
        <p:nvSpPr>
          <p:cNvPr id="41" name="Text 39"/>
          <p:cNvSpPr txBox="1"/>
          <p:nvPr/>
        </p:nvSpPr>
        <p:spPr>
          <a:xfrm>
            <a:off x="6126480" y="1325880"/>
            <a:ext cx="2560320" cy="411480"/>
          </a:xfrm>
          <a:prstGeom prst="rect">
            <a:avLst/>
          </a:prstGeom>
          <a:noFill/>
          <a:ln/>
        </p:spPr>
        <p:txBody>
          <a:bodyPr wrap="square" lIns="0" tIns="0" rIns="0" bIns="0" rtlCol="0" anchor="t"/>
          <a:lstStyle/>
          <a:p>
            <a:pPr algn="l" indent="0" marL="0">
              <a:buNone/>
            </a:pPr>
            <a:r>
              <a:rPr lang="en-US" sz="1400" dirty="0">
                <a:solidFill>
                  <a:srgbClr val="FFFFFF"/>
                </a:solidFill>
              </a:rPr>
              <a:t>Four halls: Kadamba, Palash, Bakul, Yuktāhār.</a:t>
            </a:r>
            <a:endParaRPr lang="en-US" sz="1400" dirty="0"/>
          </a:p>
        </p:txBody>
      </p:sp>
      <p:pic>
        <p:nvPicPr>
          <p:cNvPr id="42" name="Image 0" descr="Portal registration dialog with the Skip Meal text">    </p:cNvPr>
          <p:cNvPicPr>
            <a:picLocks noChangeAspect="1"/>
          </p:cNvPicPr>
          <p:nvPr/>
        </p:nvPicPr>
        <p:blipFill>
          <a:blip r:embed="rId1"/>
          <a:stretch>
            <a:fillRect/>
          </a:stretch>
        </p:blipFill>
        <p:spPr>
          <a:xfrm>
            <a:off x="6126480" y="1874520"/>
            <a:ext cx="2560320" cy="1021210"/>
          </a:xfrm>
          <a:prstGeom prst="rect">
            <a:avLst/>
          </a:prstGeom>
        </p:spPr>
      </p:pic>
      <p:sp>
        <p:nvSpPr>
          <p:cNvPr id="43" name="Shape 40"/>
          <p:cNvSpPr/>
          <p:nvPr/>
        </p:nvSpPr>
        <p:spPr>
          <a:xfrm>
            <a:off x="6126480" y="2507670"/>
            <a:ext cx="2560320" cy="310896"/>
          </a:xfrm>
          <a:prstGeom prst="roundRect">
            <a:avLst>
              <a:gd name="adj" fmla="val 11765"/>
            </a:avLst>
          </a:prstGeom>
          <a:ln w="25400">
            <a:solidFill>
              <a:srgbClr val="F57F17"/>
            </a:solidFill>
            <a:prstDash val="solid"/>
          </a:ln>
        </p:spPr>
      </p:sp>
      <p:sp>
        <p:nvSpPr>
          <p:cNvPr id="44" name="Text 41"/>
          <p:cNvSpPr txBox="1"/>
          <p:nvPr/>
        </p:nvSpPr>
        <p:spPr>
          <a:xfrm>
            <a:off x="6126480" y="3108960"/>
            <a:ext cx="2560320" cy="457200"/>
          </a:xfrm>
          <a:prstGeom prst="rect">
            <a:avLst/>
          </a:prstGeom>
          <a:noFill/>
          <a:ln/>
        </p:spPr>
        <p:txBody>
          <a:bodyPr wrap="square" lIns="0" tIns="0" rIns="0" bIns="0" rtlCol="0" anchor="t"/>
          <a:lstStyle/>
          <a:p>
            <a:pPr algn="l" indent="0" marL="0">
              <a:buNone/>
            </a:pPr>
            <a:r>
              <a:rPr lang="en-US" sz="1200" dirty="0">
                <a:solidFill>
                  <a:srgbClr val="F57F17"/>
                </a:solidFill>
              </a:rPr>
              <a:t>The portal states it in plain words</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Only the first link in the brief's story was confirmed, so the team restated the problem</a:t>
            </a:r>
            <a:endParaRPr lang="en-US" sz="2400" dirty="0"/>
          </a:p>
        </p:txBody>
      </p:sp>
      <p:sp>
        <p:nvSpPr>
          <p:cNvPr id="3" name="Shape 1"/>
          <p:cNvSpPr/>
          <p:nvPr/>
        </p:nvSpPr>
        <p:spPr>
          <a:xfrm>
            <a:off x="434340" y="4841748"/>
            <a:ext cx="146304" cy="146304"/>
          </a:xfrm>
          <a:prstGeom prst="ellipse">
            <a:avLst/>
          </a:prstGeom>
          <a:solidFill>
            <a:srgbClr val="1A237E"/>
          </a:solidFill>
          <a:ln/>
        </p:spPr>
      </p:sp>
      <p:sp>
        <p:nvSpPr>
          <p:cNvPr id="4" name="Shape 2"/>
          <p:cNvSpPr/>
          <p:nvPr/>
        </p:nvSpPr>
        <p:spPr>
          <a:xfrm>
            <a:off x="397764" y="4805172"/>
            <a:ext cx="219456" cy="219456"/>
          </a:xfrm>
          <a:prstGeom prst="ellipse">
            <a:avLst/>
          </a:prstGeom>
          <a:ln w="9525">
            <a:solidFill>
              <a:srgbClr val="1A237E"/>
            </a:solidFill>
            <a:prstDash val="solid"/>
          </a:ln>
        </p:spPr>
      </p:sp>
      <p:sp>
        <p:nvSpPr>
          <p:cNvPr id="5" name="Shape 3"/>
          <p:cNvSpPr/>
          <p:nvPr/>
        </p:nvSpPr>
        <p:spPr>
          <a:xfrm>
            <a:off x="640080" y="4864608"/>
            <a:ext cx="100584" cy="100584"/>
          </a:xfrm>
          <a:prstGeom prst="ellipse">
            <a:avLst/>
          </a:prstGeom>
          <a:ln w="9525">
            <a:solidFill>
              <a:srgbClr val="9AA3B5"/>
            </a:solidFill>
            <a:prstDash val="solid"/>
          </a:ln>
        </p:spPr>
      </p:sp>
      <p:sp>
        <p:nvSpPr>
          <p:cNvPr id="6" name="Shape 4"/>
          <p:cNvSpPr/>
          <p:nvPr/>
        </p:nvSpPr>
        <p:spPr>
          <a:xfrm>
            <a:off x="822960" y="4864608"/>
            <a:ext cx="100584" cy="100584"/>
          </a:xfrm>
          <a:prstGeom prst="ellipse">
            <a:avLst/>
          </a:prstGeom>
          <a:ln w="9525">
            <a:solidFill>
              <a:srgbClr val="9AA3B5"/>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1 Background</a:t>
            </a:r>
            <a:endParaRPr lang="en-US" sz="1000" dirty="0"/>
          </a:p>
        </p:txBody>
      </p:sp>
      <p:sp>
        <p:nvSpPr>
          <p:cNvPr id="15" name="Shape 13"/>
          <p:cNvSpPr/>
          <p:nvPr/>
        </p:nvSpPr>
        <p:spPr>
          <a:xfrm>
            <a:off x="457200" y="1280160"/>
            <a:ext cx="3931920" cy="3154680"/>
          </a:xfrm>
          <a:prstGeom prst="roundRect">
            <a:avLst>
              <a:gd name="adj" fmla="val 2319"/>
            </a:avLst>
          </a:prstGeom>
          <a:solidFill>
            <a:srgbClr val="F2F2F2"/>
          </a:solidFill>
          <a:ln/>
        </p:spPr>
      </p:sp>
      <p:sp>
        <p:nvSpPr>
          <p:cNvPr id="16" name="Text 14"/>
          <p:cNvSpPr txBox="1"/>
          <p:nvPr/>
        </p:nvSpPr>
        <p:spPr>
          <a:xfrm>
            <a:off x="640080" y="1371600"/>
            <a:ext cx="3566160" cy="201168"/>
          </a:xfrm>
          <a:prstGeom prst="rect">
            <a:avLst/>
          </a:prstGeom>
          <a:noFill/>
          <a:ln/>
        </p:spPr>
        <p:txBody>
          <a:bodyPr wrap="square" lIns="0" tIns="0" rIns="0" bIns="0" rtlCol="0" anchor="t"/>
          <a:lstStyle/>
          <a:p>
            <a:pPr algn="l" indent="0" marL="0">
              <a:buNone/>
            </a:pPr>
            <a:r>
              <a:rPr lang="en-US" sz="1000" b="1" spc="200" kern="0" dirty="0">
                <a:solidFill>
                  <a:srgbClr val="616161"/>
                </a:solidFill>
              </a:rPr>
              <a:t>THE BRIEF’S STORY</a:t>
            </a:r>
            <a:endParaRPr lang="en-US" sz="1000" dirty="0"/>
          </a:p>
        </p:txBody>
      </p:sp>
      <p:sp>
        <p:nvSpPr>
          <p:cNvPr id="17" name="Shape 15"/>
          <p:cNvSpPr/>
          <p:nvPr/>
        </p:nvSpPr>
        <p:spPr>
          <a:xfrm>
            <a:off x="740664" y="1746504"/>
            <a:ext cx="347472" cy="347472"/>
          </a:xfrm>
          <a:prstGeom prst="ellipse">
            <a:avLst/>
          </a:prstGeom>
          <a:solidFill>
            <a:srgbClr val="616161"/>
          </a:solidFill>
          <a:ln/>
        </p:spPr>
      </p:sp>
      <p:pic>
        <p:nvPicPr>
          <p:cNvPr id="18" name="Image 0" descr="Alarm">    </p:cNvPr>
          <p:cNvPicPr>
            <a:picLocks noChangeAspect="1"/>
          </p:cNvPicPr>
          <p:nvPr/>
        </p:nvPicPr>
        <p:blipFill>
          <a:blip r:embed="rId1"/>
          <a:stretch>
            <a:fillRect/>
          </a:stretch>
        </p:blipFill>
        <p:spPr>
          <a:xfrm>
            <a:off x="810158" y="1815998"/>
            <a:ext cx="208483" cy="208483"/>
          </a:xfrm>
          <a:prstGeom prst="rect">
            <a:avLst/>
          </a:prstGeom>
        </p:spPr>
      </p:pic>
      <p:sp>
        <p:nvSpPr>
          <p:cNvPr id="19" name="Text 16"/>
          <p:cNvSpPr txBox="1"/>
          <p:nvPr/>
        </p:nvSpPr>
        <p:spPr>
          <a:xfrm>
            <a:off x="1188720" y="1737360"/>
            <a:ext cx="1463040" cy="365760"/>
          </a:xfrm>
          <a:prstGeom prst="rect">
            <a:avLst/>
          </a:prstGeom>
          <a:noFill/>
          <a:ln/>
        </p:spPr>
        <p:txBody>
          <a:bodyPr wrap="square" lIns="0" tIns="0" rIns="0" bIns="0" rtlCol="0" anchor="ctr"/>
          <a:lstStyle/>
          <a:p>
            <a:pPr algn="l" indent="0" marL="0">
              <a:buNone/>
            </a:pPr>
            <a:r>
              <a:rPr lang="en-US" sz="1300" dirty="0">
                <a:solidFill>
                  <a:srgbClr val="1F2430"/>
                </a:solidFill>
              </a:rPr>
              <a:t>Alarm at 7:45</a:t>
            </a:r>
            <a:endParaRPr lang="en-US" sz="1300" dirty="0"/>
          </a:p>
        </p:txBody>
      </p:sp>
      <p:sp>
        <p:nvSpPr>
          <p:cNvPr id="20" name="Shape 17"/>
          <p:cNvSpPr/>
          <p:nvPr/>
        </p:nvSpPr>
        <p:spPr>
          <a:xfrm>
            <a:off x="740664" y="2276856"/>
            <a:ext cx="347472" cy="347472"/>
          </a:xfrm>
          <a:prstGeom prst="ellipse">
            <a:avLst/>
          </a:prstGeom>
          <a:solidFill>
            <a:srgbClr val="616161"/>
          </a:solidFill>
          <a:ln/>
        </p:spPr>
      </p:sp>
      <p:pic>
        <p:nvPicPr>
          <p:cNvPr id="21" name="Image 1" descr="Bedtime">    </p:cNvPr>
          <p:cNvPicPr>
            <a:picLocks noChangeAspect="1"/>
          </p:cNvPicPr>
          <p:nvPr/>
        </p:nvPicPr>
        <p:blipFill>
          <a:blip r:embed="rId2"/>
          <a:stretch>
            <a:fillRect/>
          </a:stretch>
        </p:blipFill>
        <p:spPr>
          <a:xfrm>
            <a:off x="810158" y="2346350"/>
            <a:ext cx="208483" cy="208483"/>
          </a:xfrm>
          <a:prstGeom prst="rect">
            <a:avLst/>
          </a:prstGeom>
        </p:spPr>
      </p:pic>
      <p:sp>
        <p:nvSpPr>
          <p:cNvPr id="22" name="Text 18"/>
          <p:cNvSpPr txBox="1"/>
          <p:nvPr/>
        </p:nvSpPr>
        <p:spPr>
          <a:xfrm>
            <a:off x="1188720" y="2267712"/>
            <a:ext cx="1463040" cy="365760"/>
          </a:xfrm>
          <a:prstGeom prst="rect">
            <a:avLst/>
          </a:prstGeom>
          <a:noFill/>
          <a:ln/>
        </p:spPr>
        <p:txBody>
          <a:bodyPr wrap="square" lIns="0" tIns="0" rIns="0" bIns="0" rtlCol="0" anchor="ctr"/>
          <a:lstStyle/>
          <a:p>
            <a:pPr algn="l" indent="0" marL="0">
              <a:buNone/>
            </a:pPr>
            <a:r>
              <a:rPr lang="en-US" sz="1300" dirty="0">
                <a:solidFill>
                  <a:srgbClr val="1F2430"/>
                </a:solidFill>
              </a:rPr>
              <a:t>Sleep</a:t>
            </a:r>
            <a:endParaRPr lang="en-US" sz="1300" dirty="0"/>
          </a:p>
        </p:txBody>
      </p:sp>
      <p:sp>
        <p:nvSpPr>
          <p:cNvPr id="23" name="Shape 19"/>
          <p:cNvSpPr/>
          <p:nvPr/>
        </p:nvSpPr>
        <p:spPr>
          <a:xfrm>
            <a:off x="740664" y="2807208"/>
            <a:ext cx="347472" cy="347472"/>
          </a:xfrm>
          <a:prstGeom prst="ellipse">
            <a:avLst/>
          </a:prstGeom>
          <a:solidFill>
            <a:srgbClr val="616161"/>
          </a:solidFill>
          <a:ln/>
        </p:spPr>
      </p:sp>
      <p:pic>
        <p:nvPicPr>
          <p:cNvPr id="24" name="Image 2" descr="Fastfood">    </p:cNvPr>
          <p:cNvPicPr>
            <a:picLocks noChangeAspect="1"/>
          </p:cNvPicPr>
          <p:nvPr/>
        </p:nvPicPr>
        <p:blipFill>
          <a:blip r:embed="rId3"/>
          <a:stretch>
            <a:fillRect/>
          </a:stretch>
        </p:blipFill>
        <p:spPr>
          <a:xfrm>
            <a:off x="810158" y="2876702"/>
            <a:ext cx="208483" cy="208483"/>
          </a:xfrm>
          <a:prstGeom prst="rect">
            <a:avLst/>
          </a:prstGeom>
        </p:spPr>
      </p:pic>
      <p:sp>
        <p:nvSpPr>
          <p:cNvPr id="25" name="Text 20"/>
          <p:cNvSpPr txBox="1"/>
          <p:nvPr/>
        </p:nvSpPr>
        <p:spPr>
          <a:xfrm>
            <a:off x="1188720" y="2798064"/>
            <a:ext cx="1463040" cy="365760"/>
          </a:xfrm>
          <a:prstGeom prst="rect">
            <a:avLst/>
          </a:prstGeom>
          <a:noFill/>
          <a:ln/>
        </p:spPr>
        <p:txBody>
          <a:bodyPr wrap="square" lIns="0" tIns="0" rIns="0" bIns="0" rtlCol="0" anchor="ctr"/>
          <a:lstStyle/>
          <a:p>
            <a:pPr algn="l" indent="0" marL="0">
              <a:buNone/>
            </a:pPr>
            <a:r>
              <a:rPr lang="en-US" sz="1300" dirty="0">
                <a:solidFill>
                  <a:srgbClr val="1F2430"/>
                </a:solidFill>
              </a:rPr>
              <a:t>No breakfast</a:t>
            </a:r>
            <a:endParaRPr lang="en-US" sz="1300" dirty="0"/>
          </a:p>
        </p:txBody>
      </p:sp>
      <p:sp>
        <p:nvSpPr>
          <p:cNvPr id="26" name="Shape 21"/>
          <p:cNvSpPr/>
          <p:nvPr/>
        </p:nvSpPr>
        <p:spPr>
          <a:xfrm>
            <a:off x="740664" y="3337560"/>
            <a:ext cx="347472" cy="347472"/>
          </a:xfrm>
          <a:prstGeom prst="ellipse">
            <a:avLst/>
          </a:prstGeom>
          <a:solidFill>
            <a:srgbClr val="616161"/>
          </a:solidFill>
          <a:ln/>
        </p:spPr>
      </p:sp>
      <p:pic>
        <p:nvPicPr>
          <p:cNvPr id="27" name="Image 3" descr="Schedule">    </p:cNvPr>
          <p:cNvPicPr>
            <a:picLocks noChangeAspect="1"/>
          </p:cNvPicPr>
          <p:nvPr/>
        </p:nvPicPr>
        <p:blipFill>
          <a:blip r:embed="rId4"/>
          <a:stretch>
            <a:fillRect/>
          </a:stretch>
        </p:blipFill>
        <p:spPr>
          <a:xfrm>
            <a:off x="810158" y="3407054"/>
            <a:ext cx="208483" cy="208483"/>
          </a:xfrm>
          <a:prstGeom prst="rect">
            <a:avLst/>
          </a:prstGeom>
        </p:spPr>
      </p:pic>
      <p:sp>
        <p:nvSpPr>
          <p:cNvPr id="28" name="Text 22"/>
          <p:cNvSpPr txBox="1"/>
          <p:nvPr/>
        </p:nvSpPr>
        <p:spPr>
          <a:xfrm>
            <a:off x="1188720" y="3328416"/>
            <a:ext cx="1463040" cy="365760"/>
          </a:xfrm>
          <a:prstGeom prst="rect">
            <a:avLst/>
          </a:prstGeom>
          <a:noFill/>
          <a:ln/>
        </p:spPr>
        <p:txBody>
          <a:bodyPr wrap="square" lIns="0" tIns="0" rIns="0" bIns="0" rtlCol="0" anchor="ctr"/>
          <a:lstStyle/>
          <a:p>
            <a:pPr algn="l" indent="0" marL="0">
              <a:buNone/>
            </a:pPr>
            <a:r>
              <a:rPr lang="en-US" sz="1300" dirty="0">
                <a:solidFill>
                  <a:srgbClr val="1F2430"/>
                </a:solidFill>
              </a:rPr>
              <a:t>Hungry at 11:15</a:t>
            </a:r>
            <a:endParaRPr lang="en-US" sz="1300" dirty="0"/>
          </a:p>
        </p:txBody>
      </p:sp>
      <p:sp>
        <p:nvSpPr>
          <p:cNvPr id="29" name="Shape 23"/>
          <p:cNvSpPr/>
          <p:nvPr/>
        </p:nvSpPr>
        <p:spPr>
          <a:xfrm>
            <a:off x="740664" y="3867912"/>
            <a:ext cx="347472" cy="347472"/>
          </a:xfrm>
          <a:prstGeom prst="ellipse">
            <a:avLst/>
          </a:prstGeom>
          <a:solidFill>
            <a:srgbClr val="616161"/>
          </a:solidFill>
          <a:ln/>
        </p:spPr>
      </p:sp>
      <p:pic>
        <p:nvPicPr>
          <p:cNvPr id="30" name="Image 4" descr="Delete">    </p:cNvPr>
          <p:cNvPicPr>
            <a:picLocks noChangeAspect="1"/>
          </p:cNvPicPr>
          <p:nvPr/>
        </p:nvPicPr>
        <p:blipFill>
          <a:blip r:embed="rId5"/>
          <a:stretch>
            <a:fillRect/>
          </a:stretch>
        </p:blipFill>
        <p:spPr>
          <a:xfrm>
            <a:off x="810158" y="3937406"/>
            <a:ext cx="208483" cy="208483"/>
          </a:xfrm>
          <a:prstGeom prst="rect">
            <a:avLst/>
          </a:prstGeom>
        </p:spPr>
      </p:pic>
      <p:sp>
        <p:nvSpPr>
          <p:cNvPr id="31" name="Text 24"/>
          <p:cNvSpPr txBox="1"/>
          <p:nvPr/>
        </p:nvSpPr>
        <p:spPr>
          <a:xfrm>
            <a:off x="1188720" y="3858768"/>
            <a:ext cx="1463040" cy="365760"/>
          </a:xfrm>
          <a:prstGeom prst="rect">
            <a:avLst/>
          </a:prstGeom>
          <a:noFill/>
          <a:ln/>
        </p:spPr>
        <p:txBody>
          <a:bodyPr wrap="square" lIns="0" tIns="0" rIns="0" bIns="0" rtlCol="0" anchor="ctr"/>
          <a:lstStyle/>
          <a:p>
            <a:pPr algn="l" indent="0" marL="0">
              <a:buNone/>
            </a:pPr>
            <a:r>
              <a:rPr lang="en-US" sz="1300" dirty="0">
                <a:solidFill>
                  <a:srgbClr val="1F2430"/>
                </a:solidFill>
              </a:rPr>
              <a:t>Food thrown away</a:t>
            </a:r>
            <a:endParaRPr lang="en-US" sz="1300" dirty="0"/>
          </a:p>
        </p:txBody>
      </p:sp>
      <p:sp>
        <p:nvSpPr>
          <p:cNvPr id="32" name="Shape 25"/>
          <p:cNvSpPr/>
          <p:nvPr/>
        </p:nvSpPr>
        <p:spPr>
          <a:xfrm>
            <a:off x="2770632" y="1856232"/>
            <a:ext cx="310896" cy="310896"/>
          </a:xfrm>
          <a:prstGeom prst="ellipse">
            <a:avLst/>
          </a:prstGeom>
          <a:solidFill>
            <a:srgbClr val="2E7D32"/>
          </a:solidFill>
          <a:ln/>
        </p:spPr>
      </p:sp>
      <p:pic>
        <p:nvPicPr>
          <p:cNvPr id="33" name="Image 5" descr="CheckCircle">    </p:cNvPr>
          <p:cNvPicPr>
            <a:picLocks noChangeAspect="1"/>
          </p:cNvPicPr>
          <p:nvPr/>
        </p:nvPicPr>
        <p:blipFill>
          <a:blip r:embed="rId6"/>
          <a:stretch>
            <a:fillRect/>
          </a:stretch>
        </p:blipFill>
        <p:spPr>
          <a:xfrm>
            <a:off x="2832811" y="1918411"/>
            <a:ext cx="186538" cy="186538"/>
          </a:xfrm>
          <a:prstGeom prst="rect">
            <a:avLst/>
          </a:prstGeom>
        </p:spPr>
      </p:pic>
      <p:sp>
        <p:nvSpPr>
          <p:cNvPr id="34" name="Text 26"/>
          <p:cNvSpPr txBox="1"/>
          <p:nvPr/>
        </p:nvSpPr>
        <p:spPr>
          <a:xfrm>
            <a:off x="3200400" y="1783080"/>
            <a:ext cx="1097280" cy="868680"/>
          </a:xfrm>
          <a:prstGeom prst="rect">
            <a:avLst/>
          </a:prstGeom>
          <a:noFill/>
          <a:ln/>
        </p:spPr>
        <p:txBody>
          <a:bodyPr wrap="square" lIns="0" tIns="0" rIns="0" bIns="0" rtlCol="0" anchor="t"/>
          <a:lstStyle/>
          <a:p>
            <a:pPr algn="l" indent="0" marL="0">
              <a:buNone/>
            </a:pPr>
            <a:r>
              <a:rPr lang="en-US" sz="1000" dirty="0">
                <a:solidFill>
                  <a:srgbClr val="2E7D32"/>
                </a:solidFill>
              </a:rPr>
              <a:t>Late nights lead to missed mornings: confirmed in interviews</a:t>
            </a:r>
            <a:endParaRPr lang="en-US" sz="1000" dirty="0"/>
          </a:p>
        </p:txBody>
      </p:sp>
      <p:sp>
        <p:nvSpPr>
          <p:cNvPr id="35" name="Shape 27"/>
          <p:cNvSpPr/>
          <p:nvPr/>
        </p:nvSpPr>
        <p:spPr>
          <a:xfrm>
            <a:off x="2770632" y="3044952"/>
            <a:ext cx="310896" cy="310896"/>
          </a:xfrm>
          <a:prstGeom prst="ellipse">
            <a:avLst/>
          </a:prstGeom>
          <a:solidFill>
            <a:srgbClr val="9AA3B5"/>
          </a:solidFill>
          <a:ln/>
        </p:spPr>
      </p:sp>
      <p:pic>
        <p:nvPicPr>
          <p:cNvPr id="36" name="Image 6" descr="Help">    </p:cNvPr>
          <p:cNvPicPr>
            <a:picLocks noChangeAspect="1"/>
          </p:cNvPicPr>
          <p:nvPr/>
        </p:nvPicPr>
        <p:blipFill>
          <a:blip r:embed="rId7"/>
          <a:stretch>
            <a:fillRect/>
          </a:stretch>
        </p:blipFill>
        <p:spPr>
          <a:xfrm>
            <a:off x="2832811" y="3107131"/>
            <a:ext cx="186538" cy="186538"/>
          </a:xfrm>
          <a:prstGeom prst="rect">
            <a:avLst/>
          </a:prstGeom>
        </p:spPr>
      </p:pic>
      <p:sp>
        <p:nvSpPr>
          <p:cNvPr id="37" name="Text 28"/>
          <p:cNvSpPr txBox="1"/>
          <p:nvPr/>
        </p:nvSpPr>
        <p:spPr>
          <a:xfrm>
            <a:off x="3200400" y="2880360"/>
            <a:ext cx="1097280" cy="1005840"/>
          </a:xfrm>
          <a:prstGeom prst="rect">
            <a:avLst/>
          </a:prstGeom>
          <a:noFill/>
          <a:ln/>
        </p:spPr>
        <p:txBody>
          <a:bodyPr wrap="square" lIns="0" tIns="0" rIns="0" bIns="0" rtlCol="0" anchor="t"/>
          <a:lstStyle/>
          <a:p>
            <a:pPr algn="l" indent="0" marL="0">
              <a:buNone/>
            </a:pPr>
            <a:r>
              <a:rPr lang="en-US" sz="1000" dirty="0">
                <a:solidFill>
                  <a:srgbClr val="616161"/>
                </a:solidFill>
              </a:rPr>
              <a:t>Not yet shown: food wasted, costly, the clock is the reason</a:t>
            </a:r>
            <a:endParaRPr lang="en-US" sz="1000" dirty="0"/>
          </a:p>
        </p:txBody>
      </p:sp>
      <p:sp>
        <p:nvSpPr>
          <p:cNvPr id="38" name="Shape 29"/>
          <p:cNvSpPr/>
          <p:nvPr/>
        </p:nvSpPr>
        <p:spPr>
          <a:xfrm>
            <a:off x="4572000" y="2834640"/>
            <a:ext cx="274320" cy="0"/>
          </a:xfrm>
          <a:prstGeom prst="line">
            <a:avLst/>
          </a:prstGeom>
          <a:noFill/>
          <a:ln w="31750">
            <a:solidFill>
              <a:srgbClr val="1A237E"/>
            </a:solidFill>
            <a:prstDash val="solid"/>
            <a:tailEnd type="triangle"/>
          </a:ln>
        </p:spPr>
      </p:sp>
      <p:sp>
        <p:nvSpPr>
          <p:cNvPr id="39" name="Shape 30"/>
          <p:cNvSpPr/>
          <p:nvPr/>
        </p:nvSpPr>
        <p:spPr>
          <a:xfrm>
            <a:off x="5029200" y="1280160"/>
            <a:ext cx="3657600" cy="914400"/>
          </a:xfrm>
          <a:prstGeom prst="roundRect">
            <a:avLst>
              <a:gd name="adj" fmla="val 8000"/>
            </a:avLst>
          </a:prstGeom>
          <a:solidFill>
            <a:srgbClr val="FDECEA"/>
          </a:solidFill>
          <a:ln w="12700">
            <a:solidFill>
              <a:srgbClr val="C62828"/>
            </a:solidFill>
            <a:prstDash val="solid"/>
          </a:ln>
        </p:spPr>
      </p:sp>
      <p:sp>
        <p:nvSpPr>
          <p:cNvPr id="40" name="Shape 31"/>
          <p:cNvSpPr/>
          <p:nvPr/>
        </p:nvSpPr>
        <p:spPr>
          <a:xfrm>
            <a:off x="5166360" y="1554480"/>
            <a:ext cx="365760" cy="365760"/>
          </a:xfrm>
          <a:prstGeom prst="ellipse">
            <a:avLst/>
          </a:prstGeom>
          <a:solidFill>
            <a:srgbClr val="C62828"/>
          </a:solidFill>
          <a:ln/>
        </p:spPr>
      </p:sp>
      <p:sp>
        <p:nvSpPr>
          <p:cNvPr id="41" name="Text 32"/>
          <p:cNvSpPr txBox="1"/>
          <p:nvPr/>
        </p:nvSpPr>
        <p:spPr>
          <a:xfrm>
            <a:off x="5166360" y="1280160"/>
            <a:ext cx="365760" cy="9144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42" name="Text 33"/>
          <p:cNvSpPr txBox="1"/>
          <p:nvPr/>
        </p:nvSpPr>
        <p:spPr>
          <a:xfrm>
            <a:off x="5669280" y="1353312"/>
            <a:ext cx="2880360" cy="822960"/>
          </a:xfrm>
          <a:prstGeom prst="rect">
            <a:avLst/>
          </a:prstGeom>
          <a:noFill/>
          <a:ln/>
        </p:spPr>
        <p:txBody>
          <a:bodyPr wrap="square" lIns="0" tIns="0" rIns="0" bIns="0" rtlCol="0" anchor="ctr"/>
          <a:lstStyle/>
          <a:p>
            <a:pPr algn="l" indent="0" marL="0">
              <a:buNone/>
            </a:pPr>
            <a:r>
              <a:rPr lang="en-US" sz="1400" dirty="0">
                <a:solidFill>
                  <a:srgbClr val="1F2430"/>
                </a:solidFill>
              </a:rPr>
              <a:t>Registration misses who eats by about two thirds</a:t>
            </a:r>
            <a:endParaRPr lang="en-US" sz="1400" dirty="0"/>
          </a:p>
        </p:txBody>
      </p:sp>
      <p:sp>
        <p:nvSpPr>
          <p:cNvPr id="43" name="Shape 34"/>
          <p:cNvSpPr/>
          <p:nvPr/>
        </p:nvSpPr>
        <p:spPr>
          <a:xfrm>
            <a:off x="5029200" y="2304288"/>
            <a:ext cx="3657600" cy="914400"/>
          </a:xfrm>
          <a:prstGeom prst="roundRect">
            <a:avLst>
              <a:gd name="adj" fmla="val 8000"/>
            </a:avLst>
          </a:prstGeom>
          <a:solidFill>
            <a:srgbClr val="FDECEA"/>
          </a:solidFill>
          <a:ln w="12700">
            <a:solidFill>
              <a:srgbClr val="C62828"/>
            </a:solidFill>
            <a:prstDash val="solid"/>
          </a:ln>
        </p:spPr>
      </p:sp>
      <p:sp>
        <p:nvSpPr>
          <p:cNvPr id="44" name="Shape 35"/>
          <p:cNvSpPr/>
          <p:nvPr/>
        </p:nvSpPr>
        <p:spPr>
          <a:xfrm>
            <a:off x="5166360" y="2578608"/>
            <a:ext cx="365760" cy="365760"/>
          </a:xfrm>
          <a:prstGeom prst="ellipse">
            <a:avLst/>
          </a:prstGeom>
          <a:solidFill>
            <a:srgbClr val="C62828"/>
          </a:solidFill>
          <a:ln/>
        </p:spPr>
      </p:sp>
      <p:sp>
        <p:nvSpPr>
          <p:cNvPr id="45" name="Text 36"/>
          <p:cNvSpPr txBox="1"/>
          <p:nvPr/>
        </p:nvSpPr>
        <p:spPr>
          <a:xfrm>
            <a:off x="5166360" y="2304288"/>
            <a:ext cx="365760" cy="9144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46" name="Text 37"/>
          <p:cNvSpPr txBox="1"/>
          <p:nvPr/>
        </p:nvSpPr>
        <p:spPr>
          <a:xfrm>
            <a:off x="5669280" y="2377440"/>
            <a:ext cx="2880360" cy="822960"/>
          </a:xfrm>
          <a:prstGeom prst="rect">
            <a:avLst/>
          </a:prstGeom>
          <a:noFill/>
          <a:ln/>
        </p:spPr>
        <p:txBody>
          <a:bodyPr wrap="square" lIns="0" tIns="0" rIns="0" bIns="0" rtlCol="0" anchor="ctr"/>
          <a:lstStyle/>
          <a:p>
            <a:pPr algn="l" indent="0" marL="0">
              <a:buNone/>
            </a:pPr>
            <a:r>
              <a:rPr lang="en-US" sz="1400" dirty="0">
                <a:solidFill>
                  <a:srgbClr val="1F2430"/>
                </a:solidFill>
              </a:rPr>
              <a:t>Each kitchen applies its own conversion</a:t>
            </a:r>
            <a:endParaRPr lang="en-US" sz="1400" dirty="0"/>
          </a:p>
        </p:txBody>
      </p:sp>
      <p:sp>
        <p:nvSpPr>
          <p:cNvPr id="47" name="Shape 38"/>
          <p:cNvSpPr/>
          <p:nvPr/>
        </p:nvSpPr>
        <p:spPr>
          <a:xfrm>
            <a:off x="5029200" y="3328416"/>
            <a:ext cx="3657600" cy="914400"/>
          </a:xfrm>
          <a:prstGeom prst="roundRect">
            <a:avLst>
              <a:gd name="adj" fmla="val 8000"/>
            </a:avLst>
          </a:prstGeom>
          <a:solidFill>
            <a:srgbClr val="FDECEA"/>
          </a:solidFill>
          <a:ln w="12700">
            <a:solidFill>
              <a:srgbClr val="C62828"/>
            </a:solidFill>
            <a:prstDash val="solid"/>
          </a:ln>
        </p:spPr>
      </p:sp>
      <p:sp>
        <p:nvSpPr>
          <p:cNvPr id="48" name="Shape 39"/>
          <p:cNvSpPr/>
          <p:nvPr/>
        </p:nvSpPr>
        <p:spPr>
          <a:xfrm>
            <a:off x="5166360" y="3602736"/>
            <a:ext cx="365760" cy="365760"/>
          </a:xfrm>
          <a:prstGeom prst="ellipse">
            <a:avLst/>
          </a:prstGeom>
          <a:solidFill>
            <a:srgbClr val="C62828"/>
          </a:solidFill>
          <a:ln/>
        </p:spPr>
      </p:sp>
      <p:sp>
        <p:nvSpPr>
          <p:cNvPr id="49" name="Text 40"/>
          <p:cNvSpPr txBox="1"/>
          <p:nvPr/>
        </p:nvSpPr>
        <p:spPr>
          <a:xfrm>
            <a:off x="5166360" y="3328416"/>
            <a:ext cx="365760" cy="9144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50" name="Text 41"/>
          <p:cNvSpPr txBox="1"/>
          <p:nvPr/>
        </p:nvSpPr>
        <p:spPr>
          <a:xfrm>
            <a:off x="5669280" y="3401568"/>
            <a:ext cx="2880360" cy="822960"/>
          </a:xfrm>
          <a:prstGeom prst="rect">
            <a:avLst/>
          </a:prstGeom>
          <a:noFill/>
          <a:ln/>
        </p:spPr>
        <p:txBody>
          <a:bodyPr wrap="square" lIns="0" tIns="0" rIns="0" bIns="0" rtlCol="0" anchor="ctr"/>
          <a:lstStyle/>
          <a:p>
            <a:pPr algn="l" indent="0" marL="0">
              <a:buNone/>
            </a:pPr>
            <a:r>
              <a:rPr lang="en-US" sz="1400" dirty="0">
                <a:solidFill>
                  <a:srgbClr val="1F2430"/>
                </a:solidFill>
              </a:rPr>
              <a:t>The records that could fix it reach no rule setter</a:t>
            </a:r>
            <a:endParaRPr lang="en-US" sz="1400" dirty="0"/>
          </a:p>
        </p:txBody>
      </p:sp>
      <p:sp>
        <p:nvSpPr>
          <p:cNvPr id="51" name="Text 42"/>
          <p:cNvSpPr txBox="1"/>
          <p:nvPr/>
        </p:nvSpPr>
        <p:spPr>
          <a:xfrm>
            <a:off x="5029200" y="4389120"/>
            <a:ext cx="3657600" cy="365760"/>
          </a:xfrm>
          <a:prstGeom prst="rect">
            <a:avLst/>
          </a:prstGeom>
          <a:noFill/>
          <a:ln/>
        </p:spPr>
        <p:txBody>
          <a:bodyPr wrap="square" lIns="0" tIns="0" rIns="0" bIns="0" rtlCol="0" anchor="t"/>
          <a:lstStyle/>
          <a:p>
            <a:pPr algn="l" indent="0" marL="0">
              <a:buNone/>
            </a:pPr>
            <a:r>
              <a:rPr lang="en-US" sz="1200" i="1" dirty="0">
                <a:solidFill>
                  <a:srgbClr val="616161"/>
                </a:solidFill>
              </a:rPr>
              <a:t>The question moved from why students skip to why the arrangement persists.</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team studied breakfast only and used lunch as the control</a:t>
            </a:r>
            <a:endParaRPr lang="en-US" sz="2400" dirty="0"/>
          </a:p>
        </p:txBody>
      </p:sp>
      <p:sp>
        <p:nvSpPr>
          <p:cNvPr id="3" name="Shape 1"/>
          <p:cNvSpPr/>
          <p:nvPr/>
        </p:nvSpPr>
        <p:spPr>
          <a:xfrm>
            <a:off x="434340" y="4841748"/>
            <a:ext cx="146304" cy="146304"/>
          </a:xfrm>
          <a:prstGeom prst="ellipse">
            <a:avLst/>
          </a:prstGeom>
          <a:solidFill>
            <a:srgbClr val="1A237E"/>
          </a:solidFill>
          <a:ln/>
        </p:spPr>
      </p:sp>
      <p:sp>
        <p:nvSpPr>
          <p:cNvPr id="4" name="Shape 2"/>
          <p:cNvSpPr/>
          <p:nvPr/>
        </p:nvSpPr>
        <p:spPr>
          <a:xfrm>
            <a:off x="397764" y="4805172"/>
            <a:ext cx="219456" cy="219456"/>
          </a:xfrm>
          <a:prstGeom prst="ellipse">
            <a:avLst/>
          </a:prstGeom>
          <a:ln w="9525">
            <a:solidFill>
              <a:srgbClr val="1A237E"/>
            </a:solidFill>
            <a:prstDash val="solid"/>
          </a:ln>
        </p:spPr>
      </p:sp>
      <p:sp>
        <p:nvSpPr>
          <p:cNvPr id="5" name="Shape 3"/>
          <p:cNvSpPr/>
          <p:nvPr/>
        </p:nvSpPr>
        <p:spPr>
          <a:xfrm>
            <a:off x="640080" y="4864608"/>
            <a:ext cx="100584" cy="100584"/>
          </a:xfrm>
          <a:prstGeom prst="ellipse">
            <a:avLst/>
          </a:prstGeom>
          <a:ln w="9525">
            <a:solidFill>
              <a:srgbClr val="9AA3B5"/>
            </a:solidFill>
            <a:prstDash val="solid"/>
          </a:ln>
        </p:spPr>
      </p:sp>
      <p:sp>
        <p:nvSpPr>
          <p:cNvPr id="6" name="Shape 4"/>
          <p:cNvSpPr/>
          <p:nvPr/>
        </p:nvSpPr>
        <p:spPr>
          <a:xfrm>
            <a:off x="822960" y="4864608"/>
            <a:ext cx="100584" cy="100584"/>
          </a:xfrm>
          <a:prstGeom prst="ellipse">
            <a:avLst/>
          </a:prstGeom>
          <a:ln w="9525">
            <a:solidFill>
              <a:srgbClr val="9AA3B5"/>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1 Background</a:t>
            </a:r>
            <a:endParaRPr lang="en-US" sz="1000" dirty="0"/>
          </a:p>
        </p:txBody>
      </p:sp>
      <p:sp>
        <p:nvSpPr>
          <p:cNvPr id="15" name="Shape 13"/>
          <p:cNvSpPr/>
          <p:nvPr/>
        </p:nvSpPr>
        <p:spPr>
          <a:xfrm>
            <a:off x="6839712" y="109728"/>
            <a:ext cx="91440" cy="91440"/>
          </a:xfrm>
          <a:prstGeom prst="ellipse">
            <a:avLst/>
          </a:prstGeom>
          <a:solidFill>
            <a:srgbClr val="1A237E"/>
          </a:solidFill>
          <a:ln w="9525">
            <a:solidFill>
              <a:srgbClr val="1A237E"/>
            </a:solidFill>
            <a:prstDash val="solid"/>
          </a:ln>
        </p:spPr>
      </p:sp>
      <p:sp>
        <p:nvSpPr>
          <p:cNvPr id="16" name="Shape 14"/>
          <p:cNvSpPr/>
          <p:nvPr/>
        </p:nvSpPr>
        <p:spPr>
          <a:xfrm>
            <a:off x="6986016" y="109728"/>
            <a:ext cx="91440" cy="91440"/>
          </a:xfrm>
          <a:prstGeom prst="ellipse">
            <a:avLst/>
          </a:prstGeom>
          <a:ln w="9525">
            <a:solidFill>
              <a:srgbClr val="1A237E"/>
            </a:solidFill>
            <a:prstDash val="solid"/>
          </a:ln>
        </p:spPr>
      </p:sp>
      <p:sp>
        <p:nvSpPr>
          <p:cNvPr id="17" name="Shape 15"/>
          <p:cNvSpPr/>
          <p:nvPr/>
        </p:nvSpPr>
        <p:spPr>
          <a:xfrm>
            <a:off x="7132320" y="109728"/>
            <a:ext cx="91440" cy="91440"/>
          </a:xfrm>
          <a:prstGeom prst="ellipse">
            <a:avLst/>
          </a:prstGeom>
          <a:ln w="9525">
            <a:solidFill>
              <a:srgbClr val="1A237E"/>
            </a:solidFill>
            <a:prstDash val="solid"/>
          </a:ln>
        </p:spPr>
      </p:sp>
      <p:sp>
        <p:nvSpPr>
          <p:cNvPr id="18" name="Shape 16"/>
          <p:cNvSpPr/>
          <p:nvPr/>
        </p:nvSpPr>
        <p:spPr>
          <a:xfrm>
            <a:off x="7278624" y="109728"/>
            <a:ext cx="91440" cy="91440"/>
          </a:xfrm>
          <a:prstGeom prst="ellipse">
            <a:avLst/>
          </a:prstGeom>
          <a:ln w="9525">
            <a:solidFill>
              <a:srgbClr val="1A237E"/>
            </a:solidFill>
            <a:prstDash val="solid"/>
          </a:ln>
        </p:spPr>
      </p:sp>
      <p:sp>
        <p:nvSpPr>
          <p:cNvPr id="19" name="Shape 17"/>
          <p:cNvSpPr/>
          <p:nvPr/>
        </p:nvSpPr>
        <p:spPr>
          <a:xfrm>
            <a:off x="7424928" y="109728"/>
            <a:ext cx="91440" cy="91440"/>
          </a:xfrm>
          <a:prstGeom prst="ellipse">
            <a:avLst/>
          </a:prstGeom>
          <a:ln w="9525">
            <a:solidFill>
              <a:srgbClr val="1A237E"/>
            </a:solidFill>
            <a:prstDash val="solid"/>
          </a:ln>
        </p:spPr>
      </p:sp>
      <p:sp>
        <p:nvSpPr>
          <p:cNvPr id="20" name="Shape 18"/>
          <p:cNvSpPr/>
          <p:nvPr/>
        </p:nvSpPr>
        <p:spPr>
          <a:xfrm>
            <a:off x="7571232" y="109728"/>
            <a:ext cx="91440" cy="91440"/>
          </a:xfrm>
          <a:prstGeom prst="ellipse">
            <a:avLst/>
          </a:prstGeom>
          <a:ln w="9525">
            <a:solidFill>
              <a:srgbClr val="1A237E"/>
            </a:solidFill>
            <a:prstDash val="solid"/>
          </a:ln>
        </p:spPr>
      </p:sp>
      <p:sp>
        <p:nvSpPr>
          <p:cNvPr id="21" name="Shape 19"/>
          <p:cNvSpPr/>
          <p:nvPr/>
        </p:nvSpPr>
        <p:spPr>
          <a:xfrm>
            <a:off x="7717536" y="109728"/>
            <a:ext cx="91440" cy="91440"/>
          </a:xfrm>
          <a:prstGeom prst="ellipse">
            <a:avLst/>
          </a:prstGeom>
          <a:ln w="9525">
            <a:solidFill>
              <a:srgbClr val="1A237E"/>
            </a:solidFill>
            <a:prstDash val="solid"/>
          </a:ln>
        </p:spPr>
      </p:sp>
      <p:sp>
        <p:nvSpPr>
          <p:cNvPr id="22" name="Shape 20"/>
          <p:cNvSpPr/>
          <p:nvPr/>
        </p:nvSpPr>
        <p:spPr>
          <a:xfrm>
            <a:off x="7863840" y="109728"/>
            <a:ext cx="91440" cy="91440"/>
          </a:xfrm>
          <a:prstGeom prst="ellipse">
            <a:avLst/>
          </a:prstGeom>
          <a:ln w="9525">
            <a:solidFill>
              <a:srgbClr val="1A237E"/>
            </a:solidFill>
            <a:prstDash val="solid"/>
          </a:ln>
        </p:spPr>
      </p:sp>
      <p:sp>
        <p:nvSpPr>
          <p:cNvPr id="23" name="Shape 21"/>
          <p:cNvSpPr/>
          <p:nvPr/>
        </p:nvSpPr>
        <p:spPr>
          <a:xfrm>
            <a:off x="8010144" y="109728"/>
            <a:ext cx="91440" cy="91440"/>
          </a:xfrm>
          <a:prstGeom prst="ellipse">
            <a:avLst/>
          </a:prstGeom>
          <a:ln w="9525">
            <a:solidFill>
              <a:srgbClr val="1A237E"/>
            </a:solidFill>
            <a:prstDash val="solid"/>
          </a:ln>
        </p:spPr>
      </p:sp>
      <p:sp>
        <p:nvSpPr>
          <p:cNvPr id="24" name="Shape 22"/>
          <p:cNvSpPr/>
          <p:nvPr/>
        </p:nvSpPr>
        <p:spPr>
          <a:xfrm>
            <a:off x="8156448" y="109728"/>
            <a:ext cx="91440" cy="91440"/>
          </a:xfrm>
          <a:prstGeom prst="ellipse">
            <a:avLst/>
          </a:prstGeom>
          <a:ln w="9525">
            <a:solidFill>
              <a:srgbClr val="1A237E"/>
            </a:solidFill>
            <a:prstDash val="solid"/>
          </a:ln>
        </p:spPr>
      </p:sp>
      <p:sp>
        <p:nvSpPr>
          <p:cNvPr id="25" name="Shape 23"/>
          <p:cNvSpPr/>
          <p:nvPr/>
        </p:nvSpPr>
        <p:spPr>
          <a:xfrm>
            <a:off x="8302752" y="109728"/>
            <a:ext cx="91440" cy="91440"/>
          </a:xfrm>
          <a:prstGeom prst="ellipse">
            <a:avLst/>
          </a:prstGeom>
          <a:ln w="9525">
            <a:solidFill>
              <a:srgbClr val="1A237E"/>
            </a:solidFill>
            <a:prstDash val="solid"/>
          </a:ln>
        </p:spPr>
      </p:sp>
      <p:sp>
        <p:nvSpPr>
          <p:cNvPr id="26" name="Shape 24"/>
          <p:cNvSpPr/>
          <p:nvPr/>
        </p:nvSpPr>
        <p:spPr>
          <a:xfrm>
            <a:off x="8449056" y="109728"/>
            <a:ext cx="91440" cy="91440"/>
          </a:xfrm>
          <a:prstGeom prst="ellipse">
            <a:avLst/>
          </a:prstGeom>
          <a:ln w="9525">
            <a:solidFill>
              <a:srgbClr val="1A237E"/>
            </a:solidFill>
            <a:prstDash val="solid"/>
          </a:ln>
        </p:spPr>
      </p:sp>
      <p:sp>
        <p:nvSpPr>
          <p:cNvPr id="27" name="Shape 25"/>
          <p:cNvSpPr/>
          <p:nvPr/>
        </p:nvSpPr>
        <p:spPr>
          <a:xfrm>
            <a:off x="8595360" y="109728"/>
            <a:ext cx="91440" cy="91440"/>
          </a:xfrm>
          <a:prstGeom prst="ellipse">
            <a:avLst/>
          </a:prstGeom>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1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Study breakfast only, with lunch as the control</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1</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The whole mess service, or breakfast with no comparison</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If lunch under the same rules works, the cause is particular to breakfast</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Nothing is said about lunch or dinner; one hall's lunch records were the only comparison</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Yuktāhār lunch used 56 to 89 per cent</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Three batches of field evidence arrived late and forced revision of the earlier work</a:t>
            </a:r>
            <a:endParaRPr lang="en-US" sz="2400" dirty="0"/>
          </a:p>
        </p:txBody>
      </p:sp>
      <p:sp>
        <p:nvSpPr>
          <p:cNvPr id="3" name="Shape 1"/>
          <p:cNvSpPr/>
          <p:nvPr/>
        </p:nvSpPr>
        <p:spPr>
          <a:xfrm>
            <a:off x="457200" y="4864608"/>
            <a:ext cx="100584" cy="100584"/>
          </a:xfrm>
          <a:prstGeom prst="ellipse">
            <a:avLst/>
          </a:prstGeom>
          <a:solidFill>
            <a:srgbClr val="FFFFFF"/>
          </a:solidFill>
          <a:ln/>
        </p:spPr>
      </p:sp>
      <p:sp>
        <p:nvSpPr>
          <p:cNvPr id="4" name="Shape 2"/>
          <p:cNvSpPr/>
          <p:nvPr/>
        </p:nvSpPr>
        <p:spPr>
          <a:xfrm>
            <a:off x="617220" y="4841748"/>
            <a:ext cx="146304" cy="146304"/>
          </a:xfrm>
          <a:prstGeom prst="ellipse">
            <a:avLst/>
          </a:prstGeom>
          <a:solidFill>
            <a:srgbClr val="FFFFFF"/>
          </a:solidFill>
          <a:ln/>
        </p:spPr>
      </p:sp>
      <p:sp>
        <p:nvSpPr>
          <p:cNvPr id="5" name="Shape 3"/>
          <p:cNvSpPr/>
          <p:nvPr/>
        </p:nvSpPr>
        <p:spPr>
          <a:xfrm>
            <a:off x="580644" y="4805172"/>
            <a:ext cx="219456" cy="219456"/>
          </a:xfrm>
          <a:prstGeom prst="ellipse">
            <a:avLst/>
          </a:prstGeom>
          <a:ln w="9525">
            <a:solidFill>
              <a:srgbClr val="FFFFFF"/>
            </a:solidFill>
            <a:prstDash val="solid"/>
          </a:ln>
        </p:spPr>
      </p:sp>
      <p:sp>
        <p:nvSpPr>
          <p:cNvPr id="6" name="Shape 4"/>
          <p:cNvSpPr/>
          <p:nvPr/>
        </p:nvSpPr>
        <p:spPr>
          <a:xfrm>
            <a:off x="822960" y="4864608"/>
            <a:ext cx="100584" cy="100584"/>
          </a:xfrm>
          <a:prstGeom prst="ellipse">
            <a:avLst/>
          </a:prstGeom>
          <a:ln w="9525">
            <a:solidFill>
              <a:srgbClr val="6B74A8"/>
            </a:solidFill>
            <a:prstDash val="solid"/>
          </a:ln>
        </p:spPr>
      </p:sp>
      <p:sp>
        <p:nvSpPr>
          <p:cNvPr id="7" name="Shape 5"/>
          <p:cNvSpPr/>
          <p:nvPr/>
        </p:nvSpPr>
        <p:spPr>
          <a:xfrm>
            <a:off x="1005840" y="4864608"/>
            <a:ext cx="100584" cy="100584"/>
          </a:xfrm>
          <a:prstGeom prst="ellipse">
            <a:avLst/>
          </a:prstGeom>
          <a:ln w="9525">
            <a:solidFill>
              <a:srgbClr val="6B74A8"/>
            </a:solidFill>
            <a:prstDash val="solid"/>
          </a:ln>
        </p:spPr>
      </p:sp>
      <p:sp>
        <p:nvSpPr>
          <p:cNvPr id="8" name="Shape 6"/>
          <p:cNvSpPr/>
          <p:nvPr/>
        </p:nvSpPr>
        <p:spPr>
          <a:xfrm>
            <a:off x="1188720" y="4864608"/>
            <a:ext cx="100584" cy="100584"/>
          </a:xfrm>
          <a:prstGeom prst="ellipse">
            <a:avLst/>
          </a:prstGeom>
          <a:ln w="9525">
            <a:solidFill>
              <a:srgbClr val="6B74A8"/>
            </a:solidFill>
            <a:prstDash val="solid"/>
          </a:ln>
        </p:spPr>
      </p:sp>
      <p:sp>
        <p:nvSpPr>
          <p:cNvPr id="9" name="Shape 7"/>
          <p:cNvSpPr/>
          <p:nvPr/>
        </p:nvSpPr>
        <p:spPr>
          <a:xfrm>
            <a:off x="1371600" y="4864608"/>
            <a:ext cx="100584" cy="100584"/>
          </a:xfrm>
          <a:prstGeom prst="ellipse">
            <a:avLst/>
          </a:prstGeom>
          <a:ln w="9525">
            <a:solidFill>
              <a:srgbClr val="6B74A8"/>
            </a:solidFill>
            <a:prstDash val="solid"/>
          </a:ln>
        </p:spPr>
      </p:sp>
      <p:sp>
        <p:nvSpPr>
          <p:cNvPr id="10" name="Shape 8"/>
          <p:cNvSpPr/>
          <p:nvPr/>
        </p:nvSpPr>
        <p:spPr>
          <a:xfrm>
            <a:off x="1554480" y="4864608"/>
            <a:ext cx="100584" cy="100584"/>
          </a:xfrm>
          <a:prstGeom prst="ellipse">
            <a:avLst/>
          </a:prstGeom>
          <a:ln w="9525">
            <a:solidFill>
              <a:srgbClr val="6B74A8"/>
            </a:solidFill>
            <a:prstDash val="solid"/>
          </a:ln>
        </p:spPr>
      </p:sp>
      <p:sp>
        <p:nvSpPr>
          <p:cNvPr id="11" name="Shape 9"/>
          <p:cNvSpPr/>
          <p:nvPr/>
        </p:nvSpPr>
        <p:spPr>
          <a:xfrm>
            <a:off x="1737360" y="4864608"/>
            <a:ext cx="100584" cy="100584"/>
          </a:xfrm>
          <a:prstGeom prst="ellipse">
            <a:avLst/>
          </a:prstGeom>
          <a:ln w="9525">
            <a:solidFill>
              <a:srgbClr val="6B74A8"/>
            </a:solidFill>
            <a:prstDash val="solid"/>
          </a:ln>
        </p:spPr>
      </p:sp>
      <p:sp>
        <p:nvSpPr>
          <p:cNvPr id="12" name="Shape 10"/>
          <p:cNvSpPr/>
          <p:nvPr/>
        </p:nvSpPr>
        <p:spPr>
          <a:xfrm>
            <a:off x="1920240" y="4864608"/>
            <a:ext cx="100584" cy="100584"/>
          </a:xfrm>
          <a:prstGeom prst="ellipse">
            <a:avLst/>
          </a:prstGeom>
          <a:ln w="9525">
            <a:solidFill>
              <a:srgbClr val="6B74A8"/>
            </a:solidFill>
            <a:prstDash val="solid"/>
          </a:ln>
        </p:spPr>
      </p:sp>
      <p:sp>
        <p:nvSpPr>
          <p:cNvPr id="13" name="Shape 11"/>
          <p:cNvSpPr/>
          <p:nvPr/>
        </p:nvSpPr>
        <p:spPr>
          <a:xfrm>
            <a:off x="2103120" y="4864608"/>
            <a:ext cx="100584" cy="100584"/>
          </a:xfrm>
          <a:prstGeom prst="ellipse">
            <a:avLst/>
          </a:prstGeom>
          <a:ln w="9525">
            <a:solidFill>
              <a:srgbClr val="6B74A8"/>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B8BFE6"/>
                </a:solidFill>
              </a:rPr>
              <a:t>2 Approach</a:t>
            </a:r>
            <a:endParaRPr lang="en-US" sz="1000" dirty="0"/>
          </a:p>
        </p:txBody>
      </p:sp>
      <p:sp>
        <p:nvSpPr>
          <p:cNvPr id="15" name="Shape 13"/>
          <p:cNvSpPr/>
          <p:nvPr/>
        </p:nvSpPr>
        <p:spPr>
          <a:xfrm>
            <a:off x="457200" y="1298448"/>
            <a:ext cx="4041648" cy="566928"/>
          </a:xfrm>
          <a:prstGeom prst="roundRect">
            <a:avLst>
              <a:gd name="adj" fmla="val 9677"/>
            </a:avLst>
          </a:prstGeom>
          <a:solidFill>
            <a:srgbClr val="E8EAF6"/>
          </a:solidFill>
          <a:ln/>
        </p:spPr>
      </p:sp>
      <p:sp>
        <p:nvSpPr>
          <p:cNvPr id="16" name="Text 14"/>
          <p:cNvSpPr txBox="1"/>
          <p:nvPr/>
        </p:nvSpPr>
        <p:spPr>
          <a:xfrm>
            <a:off x="493776" y="1298448"/>
            <a:ext cx="3968496" cy="566928"/>
          </a:xfrm>
          <a:prstGeom prst="rect">
            <a:avLst/>
          </a:prstGeom>
          <a:noFill/>
          <a:ln/>
        </p:spPr>
        <p:txBody>
          <a:bodyPr wrap="square" lIns="0" tIns="0" rIns="0" bIns="0" rtlCol="0" anchor="ctr"/>
          <a:lstStyle/>
          <a:p>
            <a:pPr algn="ctr" indent="0" marL="0">
              <a:buNone/>
            </a:pPr>
            <a:r>
              <a:rPr lang="en-US" sz="1100" b="1" dirty="0">
                <a:solidFill>
                  <a:srgbClr val="1A237E"/>
                </a:solidFill>
              </a:rPr>
              <a:t>Phase 1  Describe</a:t>
            </a:r>
            <a:endParaRPr lang="en-US" sz="1100" dirty="0"/>
          </a:p>
        </p:txBody>
      </p:sp>
      <p:sp>
        <p:nvSpPr>
          <p:cNvPr id="17" name="Shape 15"/>
          <p:cNvSpPr/>
          <p:nvPr/>
        </p:nvSpPr>
        <p:spPr>
          <a:xfrm>
            <a:off x="4572000" y="1298448"/>
            <a:ext cx="2395728" cy="566928"/>
          </a:xfrm>
          <a:prstGeom prst="roundRect">
            <a:avLst>
              <a:gd name="adj" fmla="val 9677"/>
            </a:avLst>
          </a:prstGeom>
          <a:solidFill>
            <a:srgbClr val="E8EAF6"/>
          </a:solidFill>
          <a:ln/>
        </p:spPr>
      </p:sp>
      <p:sp>
        <p:nvSpPr>
          <p:cNvPr id="18" name="Text 16"/>
          <p:cNvSpPr txBox="1"/>
          <p:nvPr/>
        </p:nvSpPr>
        <p:spPr>
          <a:xfrm>
            <a:off x="4608576" y="1298448"/>
            <a:ext cx="2322576" cy="566928"/>
          </a:xfrm>
          <a:prstGeom prst="rect">
            <a:avLst/>
          </a:prstGeom>
          <a:noFill/>
          <a:ln/>
        </p:spPr>
        <p:txBody>
          <a:bodyPr wrap="square" lIns="0" tIns="0" rIns="0" bIns="0" rtlCol="0" anchor="ctr"/>
          <a:lstStyle/>
          <a:p>
            <a:pPr algn="ctr" indent="0" marL="0">
              <a:buNone/>
            </a:pPr>
            <a:r>
              <a:rPr lang="en-US" sz="1100" b="1" dirty="0">
                <a:solidFill>
                  <a:srgbClr val="1A237E"/>
                </a:solidFill>
              </a:rPr>
              <a:t>Phase 2  Model</a:t>
            </a:r>
            <a:endParaRPr lang="en-US" sz="1100" dirty="0"/>
          </a:p>
        </p:txBody>
      </p:sp>
      <p:sp>
        <p:nvSpPr>
          <p:cNvPr id="19" name="Shape 17"/>
          <p:cNvSpPr/>
          <p:nvPr/>
        </p:nvSpPr>
        <p:spPr>
          <a:xfrm>
            <a:off x="7040880" y="1298448"/>
            <a:ext cx="749808" cy="566928"/>
          </a:xfrm>
          <a:prstGeom prst="roundRect">
            <a:avLst>
              <a:gd name="adj" fmla="val 9677"/>
            </a:avLst>
          </a:prstGeom>
          <a:solidFill>
            <a:srgbClr val="E8EAF6"/>
          </a:solidFill>
          <a:ln/>
        </p:spPr>
      </p:sp>
      <p:sp>
        <p:nvSpPr>
          <p:cNvPr id="20" name="Text 18"/>
          <p:cNvSpPr txBox="1"/>
          <p:nvPr/>
        </p:nvSpPr>
        <p:spPr>
          <a:xfrm>
            <a:off x="7077456" y="1298448"/>
            <a:ext cx="676656" cy="566928"/>
          </a:xfrm>
          <a:prstGeom prst="rect">
            <a:avLst/>
          </a:prstGeom>
          <a:noFill/>
          <a:ln/>
        </p:spPr>
        <p:txBody>
          <a:bodyPr wrap="square" lIns="0" tIns="0" rIns="0" bIns="0" rtlCol="0" anchor="ctr"/>
          <a:lstStyle/>
          <a:p>
            <a:pPr algn="ctr" indent="0" marL="0">
              <a:buNone/>
            </a:pPr>
            <a:r>
              <a:rPr lang="en-US" sz="1100" b="1" dirty="0">
                <a:solidFill>
                  <a:srgbClr val="1A237E"/>
                </a:solidFill>
              </a:rPr>
              <a:t>Phase 3</a:t>
            </a:r>
            <a:endParaRPr lang="en-US" sz="1100" dirty="0"/>
          </a:p>
          <a:p>
            <a:pPr algn="ctr" indent="0" marL="0">
              <a:buNone/>
            </a:pPr>
            <a:r>
              <a:rPr lang="en-US" sz="1100" b="1" dirty="0">
                <a:solidFill>
                  <a:srgbClr val="1A237E"/>
                </a:solidFill>
              </a:rPr>
              <a:t>Leverage</a:t>
            </a:r>
            <a:endParaRPr lang="en-US" sz="1100" dirty="0"/>
          </a:p>
        </p:txBody>
      </p:sp>
      <p:sp>
        <p:nvSpPr>
          <p:cNvPr id="21" name="Shape 19"/>
          <p:cNvSpPr/>
          <p:nvPr/>
        </p:nvSpPr>
        <p:spPr>
          <a:xfrm>
            <a:off x="7863840" y="1298448"/>
            <a:ext cx="749808" cy="566928"/>
          </a:xfrm>
          <a:prstGeom prst="roundRect">
            <a:avLst>
              <a:gd name="adj" fmla="val 9677"/>
            </a:avLst>
          </a:prstGeom>
          <a:solidFill>
            <a:srgbClr val="E8EAF6"/>
          </a:solidFill>
          <a:ln/>
        </p:spPr>
      </p:sp>
      <p:sp>
        <p:nvSpPr>
          <p:cNvPr id="22" name="Text 20"/>
          <p:cNvSpPr txBox="1"/>
          <p:nvPr/>
        </p:nvSpPr>
        <p:spPr>
          <a:xfrm>
            <a:off x="7900416" y="1298448"/>
            <a:ext cx="676656" cy="566928"/>
          </a:xfrm>
          <a:prstGeom prst="rect">
            <a:avLst/>
          </a:prstGeom>
          <a:noFill/>
          <a:ln/>
        </p:spPr>
        <p:txBody>
          <a:bodyPr wrap="square" lIns="0" tIns="0" rIns="0" bIns="0" rtlCol="0" anchor="ctr"/>
          <a:lstStyle/>
          <a:p>
            <a:pPr algn="ctr" indent="0" marL="0">
              <a:buNone/>
            </a:pPr>
            <a:r>
              <a:rPr lang="en-US" sz="1100" b="1" dirty="0">
                <a:solidFill>
                  <a:srgbClr val="1A237E"/>
                </a:solidFill>
              </a:rPr>
              <a:t>Phase 4</a:t>
            </a:r>
            <a:endParaRPr lang="en-US" sz="1100" dirty="0"/>
          </a:p>
          <a:p>
            <a:pPr algn="ctr" indent="0" marL="0">
              <a:buNone/>
            </a:pPr>
            <a:r>
              <a:rPr lang="en-US" sz="1100" b="1" dirty="0">
                <a:solidFill>
                  <a:srgbClr val="1A237E"/>
                </a:solidFill>
              </a:rPr>
              <a:t>Design</a:t>
            </a:r>
            <a:endParaRPr lang="en-US" sz="1100" dirty="0"/>
          </a:p>
        </p:txBody>
      </p:sp>
      <p:sp>
        <p:nvSpPr>
          <p:cNvPr id="23" name="Shape 21"/>
          <p:cNvSpPr/>
          <p:nvPr/>
        </p:nvSpPr>
        <p:spPr>
          <a:xfrm>
            <a:off x="676656" y="2020824"/>
            <a:ext cx="310896" cy="310896"/>
          </a:xfrm>
          <a:prstGeom prst="ellipse">
            <a:avLst/>
          </a:prstGeom>
          <a:solidFill>
            <a:srgbClr val="1565C0"/>
          </a:solidFill>
          <a:ln/>
        </p:spPr>
      </p:sp>
      <p:sp>
        <p:nvSpPr>
          <p:cNvPr id="24" name="Text 22"/>
          <p:cNvSpPr txBox="1"/>
          <p:nvPr/>
        </p:nvSpPr>
        <p:spPr>
          <a:xfrm>
            <a:off x="676656" y="20208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5" name="Shape 23"/>
          <p:cNvSpPr/>
          <p:nvPr/>
        </p:nvSpPr>
        <p:spPr>
          <a:xfrm>
            <a:off x="1499616" y="2020824"/>
            <a:ext cx="310896" cy="310896"/>
          </a:xfrm>
          <a:prstGeom prst="ellipse">
            <a:avLst/>
          </a:prstGeom>
          <a:solidFill>
            <a:srgbClr val="1565C0"/>
          </a:solidFill>
          <a:ln/>
        </p:spPr>
      </p:sp>
      <p:sp>
        <p:nvSpPr>
          <p:cNvPr id="26" name="Text 24"/>
          <p:cNvSpPr txBox="1"/>
          <p:nvPr/>
        </p:nvSpPr>
        <p:spPr>
          <a:xfrm>
            <a:off x="1499616" y="20208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7" name="Shape 25"/>
          <p:cNvSpPr/>
          <p:nvPr/>
        </p:nvSpPr>
        <p:spPr>
          <a:xfrm>
            <a:off x="2322576" y="2020824"/>
            <a:ext cx="310896" cy="310896"/>
          </a:xfrm>
          <a:prstGeom prst="ellipse">
            <a:avLst/>
          </a:prstGeom>
          <a:solidFill>
            <a:srgbClr val="1565C0"/>
          </a:solidFill>
          <a:ln/>
        </p:spPr>
      </p:sp>
      <p:sp>
        <p:nvSpPr>
          <p:cNvPr id="28" name="Text 26"/>
          <p:cNvSpPr txBox="1"/>
          <p:nvPr/>
        </p:nvSpPr>
        <p:spPr>
          <a:xfrm>
            <a:off x="2322576" y="20208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9" name="Shape 27"/>
          <p:cNvSpPr/>
          <p:nvPr/>
        </p:nvSpPr>
        <p:spPr>
          <a:xfrm>
            <a:off x="3145536" y="2020824"/>
            <a:ext cx="310896" cy="310896"/>
          </a:xfrm>
          <a:prstGeom prst="ellipse">
            <a:avLst/>
          </a:prstGeom>
          <a:solidFill>
            <a:srgbClr val="1565C0"/>
          </a:solidFill>
          <a:ln/>
        </p:spPr>
      </p:sp>
      <p:sp>
        <p:nvSpPr>
          <p:cNvPr id="30" name="Text 28"/>
          <p:cNvSpPr txBox="1"/>
          <p:nvPr/>
        </p:nvSpPr>
        <p:spPr>
          <a:xfrm>
            <a:off x="3145536" y="20208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1" name="Shape 29"/>
          <p:cNvSpPr/>
          <p:nvPr/>
        </p:nvSpPr>
        <p:spPr>
          <a:xfrm>
            <a:off x="3968496" y="2020824"/>
            <a:ext cx="310896" cy="310896"/>
          </a:xfrm>
          <a:prstGeom prst="ellipse">
            <a:avLst/>
          </a:prstGeom>
          <a:solidFill>
            <a:srgbClr val="1565C0"/>
          </a:solidFill>
          <a:ln/>
        </p:spPr>
      </p:sp>
      <p:sp>
        <p:nvSpPr>
          <p:cNvPr id="32" name="Text 30"/>
          <p:cNvSpPr txBox="1"/>
          <p:nvPr/>
        </p:nvSpPr>
        <p:spPr>
          <a:xfrm>
            <a:off x="3968496" y="20208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3" name="Shape 31"/>
          <p:cNvSpPr/>
          <p:nvPr/>
        </p:nvSpPr>
        <p:spPr>
          <a:xfrm>
            <a:off x="4791456" y="2020824"/>
            <a:ext cx="310896" cy="310896"/>
          </a:xfrm>
          <a:prstGeom prst="ellipse">
            <a:avLst/>
          </a:prstGeom>
          <a:solidFill>
            <a:srgbClr val="1565C0"/>
          </a:solidFill>
          <a:ln/>
        </p:spPr>
      </p:sp>
      <p:sp>
        <p:nvSpPr>
          <p:cNvPr id="34" name="Text 32"/>
          <p:cNvSpPr txBox="1"/>
          <p:nvPr/>
        </p:nvSpPr>
        <p:spPr>
          <a:xfrm>
            <a:off x="4791456" y="20208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5" name="Shape 33"/>
          <p:cNvSpPr/>
          <p:nvPr/>
        </p:nvSpPr>
        <p:spPr>
          <a:xfrm>
            <a:off x="5614416" y="2020824"/>
            <a:ext cx="310896" cy="310896"/>
          </a:xfrm>
          <a:prstGeom prst="ellipse">
            <a:avLst/>
          </a:prstGeom>
          <a:solidFill>
            <a:srgbClr val="1565C0"/>
          </a:solidFill>
          <a:ln/>
        </p:spPr>
      </p:sp>
      <p:sp>
        <p:nvSpPr>
          <p:cNvPr id="36" name="Text 34"/>
          <p:cNvSpPr txBox="1"/>
          <p:nvPr/>
        </p:nvSpPr>
        <p:spPr>
          <a:xfrm>
            <a:off x="5614416" y="20208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37" name="Shape 35"/>
          <p:cNvSpPr/>
          <p:nvPr/>
        </p:nvSpPr>
        <p:spPr>
          <a:xfrm>
            <a:off x="6437376" y="2020824"/>
            <a:ext cx="310896" cy="310896"/>
          </a:xfrm>
          <a:prstGeom prst="ellipse">
            <a:avLst/>
          </a:prstGeom>
          <a:solidFill>
            <a:srgbClr val="1565C0"/>
          </a:solidFill>
          <a:ln/>
        </p:spPr>
      </p:sp>
      <p:sp>
        <p:nvSpPr>
          <p:cNvPr id="38" name="Text 36"/>
          <p:cNvSpPr txBox="1"/>
          <p:nvPr/>
        </p:nvSpPr>
        <p:spPr>
          <a:xfrm>
            <a:off x="6437376" y="20208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39" name="Shape 37"/>
          <p:cNvSpPr/>
          <p:nvPr/>
        </p:nvSpPr>
        <p:spPr>
          <a:xfrm>
            <a:off x="7260336" y="2020824"/>
            <a:ext cx="310896" cy="310896"/>
          </a:xfrm>
          <a:prstGeom prst="ellipse">
            <a:avLst/>
          </a:prstGeom>
          <a:solidFill>
            <a:srgbClr val="1565C0"/>
          </a:solidFill>
          <a:ln/>
        </p:spPr>
      </p:sp>
      <p:sp>
        <p:nvSpPr>
          <p:cNvPr id="40" name="Text 38"/>
          <p:cNvSpPr txBox="1"/>
          <p:nvPr/>
        </p:nvSpPr>
        <p:spPr>
          <a:xfrm>
            <a:off x="7260336" y="20208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9</a:t>
            </a:r>
            <a:endParaRPr lang="en-US" sz="1200" dirty="0"/>
          </a:p>
        </p:txBody>
      </p:sp>
      <p:sp>
        <p:nvSpPr>
          <p:cNvPr id="41" name="Shape 39"/>
          <p:cNvSpPr/>
          <p:nvPr/>
        </p:nvSpPr>
        <p:spPr>
          <a:xfrm>
            <a:off x="8083296" y="2020824"/>
            <a:ext cx="310896" cy="310896"/>
          </a:xfrm>
          <a:prstGeom prst="ellipse">
            <a:avLst/>
          </a:prstGeom>
          <a:solidFill>
            <a:srgbClr val="1565C0"/>
          </a:solidFill>
          <a:ln/>
        </p:spPr>
      </p:sp>
      <p:sp>
        <p:nvSpPr>
          <p:cNvPr id="42" name="Text 40"/>
          <p:cNvSpPr txBox="1"/>
          <p:nvPr/>
        </p:nvSpPr>
        <p:spPr>
          <a:xfrm>
            <a:off x="8083296" y="20208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10</a:t>
            </a:r>
            <a:endParaRPr lang="en-US" sz="1200" dirty="0"/>
          </a:p>
        </p:txBody>
      </p:sp>
      <p:sp>
        <p:nvSpPr>
          <p:cNvPr id="43" name="Text 41"/>
          <p:cNvSpPr txBox="1"/>
          <p:nvPr/>
        </p:nvSpPr>
        <p:spPr>
          <a:xfrm>
            <a:off x="457200" y="2395728"/>
            <a:ext cx="1097280" cy="182880"/>
          </a:xfrm>
          <a:prstGeom prst="rect">
            <a:avLst/>
          </a:prstGeom>
          <a:noFill/>
          <a:ln/>
        </p:spPr>
        <p:txBody>
          <a:bodyPr wrap="square" lIns="0" tIns="0" rIns="0" bIns="0" rtlCol="0" anchor="t"/>
          <a:lstStyle/>
          <a:p>
            <a:pPr algn="l" indent="0" marL="0">
              <a:buNone/>
            </a:pPr>
            <a:r>
              <a:rPr lang="en-US" sz="1000" dirty="0">
                <a:solidFill>
                  <a:srgbClr val="B8BFE6"/>
                </a:solidFill>
              </a:rPr>
              <a:t>Activities</a:t>
            </a:r>
            <a:endParaRPr lang="en-US" sz="1000" dirty="0"/>
          </a:p>
        </p:txBody>
      </p:sp>
      <p:sp>
        <p:nvSpPr>
          <p:cNvPr id="44" name="Shape 42"/>
          <p:cNvSpPr/>
          <p:nvPr/>
        </p:nvSpPr>
        <p:spPr>
          <a:xfrm>
            <a:off x="676656" y="2606040"/>
            <a:ext cx="310896" cy="274320"/>
          </a:xfrm>
          <a:prstGeom prst="roundRect">
            <a:avLst>
              <a:gd name="adj" fmla="val 50000"/>
            </a:avLst>
          </a:prstGeom>
          <a:solidFill>
            <a:srgbClr val="6A1B9A"/>
          </a:solidFill>
          <a:ln/>
        </p:spPr>
      </p:sp>
      <p:sp>
        <p:nvSpPr>
          <p:cNvPr id="45" name="Text 43"/>
          <p:cNvSpPr txBox="1"/>
          <p:nvPr/>
        </p:nvSpPr>
        <p:spPr>
          <a:xfrm>
            <a:off x="676656" y="2606040"/>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46" name="Shape 44"/>
          <p:cNvSpPr/>
          <p:nvPr/>
        </p:nvSpPr>
        <p:spPr>
          <a:xfrm>
            <a:off x="1499616" y="2606040"/>
            <a:ext cx="310896" cy="274320"/>
          </a:xfrm>
          <a:prstGeom prst="roundRect">
            <a:avLst>
              <a:gd name="adj" fmla="val 50000"/>
            </a:avLst>
          </a:prstGeom>
          <a:solidFill>
            <a:srgbClr val="6A1B9A"/>
          </a:solidFill>
          <a:ln/>
        </p:spPr>
      </p:sp>
      <p:sp>
        <p:nvSpPr>
          <p:cNvPr id="47" name="Text 45"/>
          <p:cNvSpPr txBox="1"/>
          <p:nvPr/>
        </p:nvSpPr>
        <p:spPr>
          <a:xfrm>
            <a:off x="1499616" y="2606040"/>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48" name="Shape 46"/>
          <p:cNvSpPr/>
          <p:nvPr/>
        </p:nvSpPr>
        <p:spPr>
          <a:xfrm>
            <a:off x="2322576" y="2606040"/>
            <a:ext cx="310896" cy="274320"/>
          </a:xfrm>
          <a:prstGeom prst="roundRect">
            <a:avLst>
              <a:gd name="adj" fmla="val 50000"/>
            </a:avLst>
          </a:prstGeom>
          <a:solidFill>
            <a:srgbClr val="6A1B9A"/>
          </a:solidFill>
          <a:ln/>
        </p:spPr>
      </p:sp>
      <p:sp>
        <p:nvSpPr>
          <p:cNvPr id="49" name="Text 47"/>
          <p:cNvSpPr txBox="1"/>
          <p:nvPr/>
        </p:nvSpPr>
        <p:spPr>
          <a:xfrm>
            <a:off x="2322576" y="2606040"/>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50" name="Shape 48"/>
          <p:cNvSpPr/>
          <p:nvPr/>
        </p:nvSpPr>
        <p:spPr>
          <a:xfrm>
            <a:off x="3145536" y="2606040"/>
            <a:ext cx="310896" cy="274320"/>
          </a:xfrm>
          <a:prstGeom prst="roundRect">
            <a:avLst>
              <a:gd name="adj" fmla="val 50000"/>
            </a:avLst>
          </a:prstGeom>
          <a:solidFill>
            <a:srgbClr val="6A1B9A"/>
          </a:solidFill>
          <a:ln/>
        </p:spPr>
      </p:sp>
      <p:sp>
        <p:nvSpPr>
          <p:cNvPr id="51" name="Text 49"/>
          <p:cNvSpPr txBox="1"/>
          <p:nvPr/>
        </p:nvSpPr>
        <p:spPr>
          <a:xfrm>
            <a:off x="3145536" y="2606040"/>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52" name="Shape 50"/>
          <p:cNvSpPr/>
          <p:nvPr/>
        </p:nvSpPr>
        <p:spPr>
          <a:xfrm>
            <a:off x="3968496" y="2606040"/>
            <a:ext cx="310896" cy="274320"/>
          </a:xfrm>
          <a:prstGeom prst="roundRect">
            <a:avLst>
              <a:gd name="adj" fmla="val 50000"/>
            </a:avLst>
          </a:prstGeom>
          <a:solidFill>
            <a:srgbClr val="6A1B9A"/>
          </a:solidFill>
          <a:ln/>
        </p:spPr>
      </p:sp>
      <p:sp>
        <p:nvSpPr>
          <p:cNvPr id="53" name="Text 51"/>
          <p:cNvSpPr txBox="1"/>
          <p:nvPr/>
        </p:nvSpPr>
        <p:spPr>
          <a:xfrm>
            <a:off x="3968496" y="2606040"/>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54" name="Shape 52"/>
          <p:cNvSpPr/>
          <p:nvPr/>
        </p:nvSpPr>
        <p:spPr>
          <a:xfrm>
            <a:off x="4791456" y="2606040"/>
            <a:ext cx="310896" cy="274320"/>
          </a:xfrm>
          <a:prstGeom prst="roundRect">
            <a:avLst>
              <a:gd name="adj" fmla="val 50000"/>
            </a:avLst>
          </a:prstGeom>
          <a:solidFill>
            <a:srgbClr val="6A1B9A"/>
          </a:solidFill>
          <a:ln/>
        </p:spPr>
      </p:sp>
      <p:sp>
        <p:nvSpPr>
          <p:cNvPr id="55" name="Text 53"/>
          <p:cNvSpPr txBox="1"/>
          <p:nvPr/>
        </p:nvSpPr>
        <p:spPr>
          <a:xfrm>
            <a:off x="4791456" y="2606040"/>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56" name="Shape 54"/>
          <p:cNvSpPr/>
          <p:nvPr/>
        </p:nvSpPr>
        <p:spPr>
          <a:xfrm>
            <a:off x="5614416" y="2606040"/>
            <a:ext cx="1133856" cy="274320"/>
          </a:xfrm>
          <a:prstGeom prst="roundRect">
            <a:avLst>
              <a:gd name="adj" fmla="val 50000"/>
            </a:avLst>
          </a:prstGeom>
          <a:solidFill>
            <a:srgbClr val="6A1B9A"/>
          </a:solidFill>
          <a:ln/>
        </p:spPr>
      </p:sp>
      <p:sp>
        <p:nvSpPr>
          <p:cNvPr id="57" name="Text 55"/>
          <p:cNvSpPr txBox="1"/>
          <p:nvPr/>
        </p:nvSpPr>
        <p:spPr>
          <a:xfrm>
            <a:off x="5614416" y="2606040"/>
            <a:ext cx="1133856" cy="274320"/>
          </a:xfrm>
          <a:prstGeom prst="rect">
            <a:avLst/>
          </a:prstGeom>
          <a:noFill/>
          <a:ln/>
        </p:spPr>
        <p:txBody>
          <a:bodyPr wrap="square" lIns="0" tIns="0" rIns="0" bIns="0" rtlCol="0" anchor="ctr"/>
          <a:lstStyle/>
          <a:p>
            <a:pPr algn="ctr" indent="0" marL="0">
              <a:buNone/>
            </a:pPr>
            <a:r>
              <a:rPr lang="en-US" sz="1100" b="1" dirty="0">
                <a:solidFill>
                  <a:srgbClr val="FFFFFF"/>
                </a:solidFill>
              </a:rPr>
              <a:t>7</a:t>
            </a:r>
            <a:endParaRPr lang="en-US" sz="1100" dirty="0"/>
          </a:p>
        </p:txBody>
      </p:sp>
      <p:sp>
        <p:nvSpPr>
          <p:cNvPr id="58" name="Shape 56"/>
          <p:cNvSpPr/>
          <p:nvPr/>
        </p:nvSpPr>
        <p:spPr>
          <a:xfrm>
            <a:off x="7260336" y="2606040"/>
            <a:ext cx="310896" cy="274320"/>
          </a:xfrm>
          <a:prstGeom prst="roundRect">
            <a:avLst>
              <a:gd name="adj" fmla="val 50000"/>
            </a:avLst>
          </a:prstGeom>
          <a:solidFill>
            <a:srgbClr val="6A1B9A"/>
          </a:solidFill>
          <a:ln/>
        </p:spPr>
      </p:sp>
      <p:sp>
        <p:nvSpPr>
          <p:cNvPr id="59" name="Text 57"/>
          <p:cNvSpPr txBox="1"/>
          <p:nvPr/>
        </p:nvSpPr>
        <p:spPr>
          <a:xfrm>
            <a:off x="7260336" y="2606040"/>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rPr>
              <a:t>8</a:t>
            </a:r>
            <a:endParaRPr lang="en-US" sz="1100" dirty="0"/>
          </a:p>
        </p:txBody>
      </p:sp>
      <p:sp>
        <p:nvSpPr>
          <p:cNvPr id="60" name="Shape 58"/>
          <p:cNvSpPr/>
          <p:nvPr/>
        </p:nvSpPr>
        <p:spPr>
          <a:xfrm>
            <a:off x="8083296" y="2606040"/>
            <a:ext cx="310896" cy="274320"/>
          </a:xfrm>
          <a:prstGeom prst="roundRect">
            <a:avLst>
              <a:gd name="adj" fmla="val 50000"/>
            </a:avLst>
          </a:prstGeom>
          <a:solidFill>
            <a:srgbClr val="6A1B9A"/>
          </a:solidFill>
          <a:ln/>
        </p:spPr>
      </p:sp>
      <p:sp>
        <p:nvSpPr>
          <p:cNvPr id="61" name="Text 59"/>
          <p:cNvSpPr txBox="1"/>
          <p:nvPr/>
        </p:nvSpPr>
        <p:spPr>
          <a:xfrm>
            <a:off x="8083296" y="2606040"/>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rPr>
              <a:t>9</a:t>
            </a:r>
            <a:endParaRPr lang="en-US" sz="1100" dirty="0"/>
          </a:p>
        </p:txBody>
      </p:sp>
      <p:sp>
        <p:nvSpPr>
          <p:cNvPr id="62" name="Text 60"/>
          <p:cNvSpPr txBox="1"/>
          <p:nvPr/>
        </p:nvSpPr>
        <p:spPr>
          <a:xfrm>
            <a:off x="457200" y="2926080"/>
            <a:ext cx="1097280" cy="182880"/>
          </a:xfrm>
          <a:prstGeom prst="rect">
            <a:avLst/>
          </a:prstGeom>
          <a:noFill/>
          <a:ln/>
        </p:spPr>
        <p:txBody>
          <a:bodyPr wrap="square" lIns="0" tIns="0" rIns="0" bIns="0" rtlCol="0" anchor="t"/>
          <a:lstStyle/>
          <a:p>
            <a:pPr algn="l" indent="0" marL="0">
              <a:buNone/>
            </a:pPr>
            <a:r>
              <a:rPr lang="en-US" sz="1000" dirty="0">
                <a:solidFill>
                  <a:srgbClr val="B8BFE6"/>
                </a:solidFill>
              </a:rPr>
              <a:t>Objectives</a:t>
            </a:r>
            <a:endParaRPr lang="en-US" sz="1000" dirty="0"/>
          </a:p>
        </p:txBody>
      </p:sp>
      <p:sp>
        <p:nvSpPr>
          <p:cNvPr id="63" name="Shape 61"/>
          <p:cNvSpPr/>
          <p:nvPr/>
        </p:nvSpPr>
        <p:spPr>
          <a:xfrm>
            <a:off x="822960" y="4251960"/>
            <a:ext cx="7498080" cy="0"/>
          </a:xfrm>
          <a:prstGeom prst="line">
            <a:avLst/>
          </a:prstGeom>
          <a:noFill/>
          <a:ln w="15875">
            <a:solidFill>
              <a:srgbClr val="B8BFE6"/>
            </a:solidFill>
            <a:prstDash val="solid"/>
          </a:ln>
        </p:spPr>
      </p:sp>
      <p:sp>
        <p:nvSpPr>
          <p:cNvPr id="64" name="Text 62"/>
          <p:cNvSpPr txBox="1"/>
          <p:nvPr/>
        </p:nvSpPr>
        <p:spPr>
          <a:xfrm>
            <a:off x="457200" y="4315968"/>
            <a:ext cx="731520" cy="182880"/>
          </a:xfrm>
          <a:prstGeom prst="rect">
            <a:avLst/>
          </a:prstGeom>
          <a:noFill/>
          <a:ln/>
        </p:spPr>
        <p:txBody>
          <a:bodyPr wrap="square" lIns="0" tIns="0" rIns="0" bIns="0" rtlCol="0" anchor="t"/>
          <a:lstStyle/>
          <a:p>
            <a:pPr algn="ctr" indent="0" marL="0">
              <a:buNone/>
            </a:pPr>
            <a:r>
              <a:rPr lang="en-US" sz="1000" dirty="0">
                <a:solidFill>
                  <a:srgbClr val="B8BFE6"/>
                </a:solidFill>
              </a:rPr>
              <a:t>3 Sep</a:t>
            </a:r>
            <a:endParaRPr lang="en-US" sz="1000" dirty="0"/>
          </a:p>
        </p:txBody>
      </p:sp>
      <p:sp>
        <p:nvSpPr>
          <p:cNvPr id="65" name="Text 63"/>
          <p:cNvSpPr txBox="1"/>
          <p:nvPr/>
        </p:nvSpPr>
        <p:spPr>
          <a:xfrm>
            <a:off x="2686359" y="4315968"/>
            <a:ext cx="731520" cy="182880"/>
          </a:xfrm>
          <a:prstGeom prst="rect">
            <a:avLst/>
          </a:prstGeom>
          <a:noFill/>
          <a:ln/>
        </p:spPr>
        <p:txBody>
          <a:bodyPr wrap="square" lIns="0" tIns="0" rIns="0" bIns="0" rtlCol="0" anchor="t"/>
          <a:lstStyle/>
          <a:p>
            <a:pPr algn="ctr" indent="0" marL="0">
              <a:buNone/>
            </a:pPr>
            <a:r>
              <a:rPr lang="en-US" sz="1000" dirty="0">
                <a:solidFill>
                  <a:srgbClr val="B8BFE6"/>
                </a:solidFill>
              </a:rPr>
              <a:t>14 Sep</a:t>
            </a:r>
            <a:endParaRPr lang="en-US" sz="1000" dirty="0"/>
          </a:p>
        </p:txBody>
      </p:sp>
      <p:sp>
        <p:nvSpPr>
          <p:cNvPr id="66" name="Text 64"/>
          <p:cNvSpPr txBox="1"/>
          <p:nvPr/>
        </p:nvSpPr>
        <p:spPr>
          <a:xfrm>
            <a:off x="5118169" y="4315968"/>
            <a:ext cx="731520" cy="182880"/>
          </a:xfrm>
          <a:prstGeom prst="rect">
            <a:avLst/>
          </a:prstGeom>
          <a:noFill/>
          <a:ln/>
        </p:spPr>
        <p:txBody>
          <a:bodyPr wrap="square" lIns="0" tIns="0" rIns="0" bIns="0" rtlCol="0" anchor="t"/>
          <a:lstStyle/>
          <a:p>
            <a:pPr algn="ctr" indent="0" marL="0">
              <a:buNone/>
            </a:pPr>
            <a:r>
              <a:rPr lang="en-US" sz="1000" dirty="0">
                <a:solidFill>
                  <a:srgbClr val="B8BFE6"/>
                </a:solidFill>
              </a:rPr>
              <a:t>26 Sep</a:t>
            </a:r>
            <a:endParaRPr lang="en-US" sz="1000" dirty="0"/>
          </a:p>
        </p:txBody>
      </p:sp>
      <p:sp>
        <p:nvSpPr>
          <p:cNvPr id="67" name="Text 65"/>
          <p:cNvSpPr txBox="1"/>
          <p:nvPr/>
        </p:nvSpPr>
        <p:spPr>
          <a:xfrm>
            <a:off x="5523470" y="4315968"/>
            <a:ext cx="731520" cy="182880"/>
          </a:xfrm>
          <a:prstGeom prst="rect">
            <a:avLst/>
          </a:prstGeom>
          <a:noFill/>
          <a:ln/>
        </p:spPr>
        <p:txBody>
          <a:bodyPr wrap="square" lIns="0" tIns="0" rIns="0" bIns="0" rtlCol="0" anchor="t"/>
          <a:lstStyle/>
          <a:p>
            <a:pPr algn="ctr" indent="0" marL="0">
              <a:buNone/>
            </a:pPr>
            <a:r>
              <a:rPr lang="en-US" sz="1000" dirty="0">
                <a:solidFill>
                  <a:srgbClr val="B8BFE6"/>
                </a:solidFill>
              </a:rPr>
              <a:t>28 Sep</a:t>
            </a:r>
            <a:endParaRPr lang="en-US" sz="1000" dirty="0"/>
          </a:p>
        </p:txBody>
      </p:sp>
      <p:sp>
        <p:nvSpPr>
          <p:cNvPr id="68" name="Text 66"/>
          <p:cNvSpPr txBox="1"/>
          <p:nvPr/>
        </p:nvSpPr>
        <p:spPr>
          <a:xfrm>
            <a:off x="7752629" y="4315968"/>
            <a:ext cx="731520" cy="182880"/>
          </a:xfrm>
          <a:prstGeom prst="rect">
            <a:avLst/>
          </a:prstGeom>
          <a:noFill/>
          <a:ln/>
        </p:spPr>
        <p:txBody>
          <a:bodyPr wrap="square" lIns="0" tIns="0" rIns="0" bIns="0" rtlCol="0" anchor="t"/>
          <a:lstStyle/>
          <a:p>
            <a:pPr algn="ctr" indent="0" marL="0">
              <a:buNone/>
            </a:pPr>
            <a:r>
              <a:rPr lang="en-US" sz="1000" dirty="0">
                <a:solidFill>
                  <a:srgbClr val="B8BFE6"/>
                </a:solidFill>
              </a:rPr>
              <a:t>Early Oct</a:t>
            </a:r>
            <a:endParaRPr lang="en-US" sz="1000" dirty="0"/>
          </a:p>
        </p:txBody>
      </p:sp>
      <p:sp>
        <p:nvSpPr>
          <p:cNvPr id="69" name="Shape 67"/>
          <p:cNvSpPr/>
          <p:nvPr/>
        </p:nvSpPr>
        <p:spPr>
          <a:xfrm>
            <a:off x="822960" y="3246120"/>
            <a:ext cx="2229159" cy="237744"/>
          </a:xfrm>
          <a:prstGeom prst="roundRect">
            <a:avLst>
              <a:gd name="adj" fmla="val 19231"/>
            </a:avLst>
          </a:prstGeom>
          <a:solidFill>
            <a:srgbClr val="1565C0"/>
          </a:solidFill>
          <a:ln/>
        </p:spPr>
      </p:sp>
      <p:sp>
        <p:nvSpPr>
          <p:cNvPr id="70" name="Text 68"/>
          <p:cNvSpPr txBox="1"/>
          <p:nvPr/>
        </p:nvSpPr>
        <p:spPr>
          <a:xfrm>
            <a:off x="896112" y="3246120"/>
            <a:ext cx="2377440" cy="237744"/>
          </a:xfrm>
          <a:prstGeom prst="rect">
            <a:avLst/>
          </a:prstGeom>
          <a:noFill/>
          <a:ln/>
        </p:spPr>
        <p:txBody>
          <a:bodyPr wrap="square" lIns="0" tIns="0" rIns="0" bIns="0" rtlCol="0" anchor="ctr"/>
          <a:lstStyle/>
          <a:p>
            <a:pPr algn="l" indent="0" marL="0">
              <a:buNone/>
            </a:pPr>
            <a:r>
              <a:rPr lang="en-US" sz="1000" dirty="0">
                <a:solidFill>
                  <a:srgbClr val="FFFFFF"/>
                </a:solidFill>
              </a:rPr>
              <a:t>First drafts of phases 1 and 2</a:t>
            </a:r>
            <a:endParaRPr lang="en-US" sz="1000" dirty="0"/>
          </a:p>
        </p:txBody>
      </p:sp>
      <p:sp>
        <p:nvSpPr>
          <p:cNvPr id="71" name="Shape 69"/>
          <p:cNvSpPr/>
          <p:nvPr/>
        </p:nvSpPr>
        <p:spPr>
          <a:xfrm>
            <a:off x="5406205" y="3561588"/>
            <a:ext cx="155448" cy="155448"/>
          </a:xfrm>
          <a:prstGeom prst="ellipse">
            <a:avLst/>
          </a:prstGeom>
          <a:solidFill>
            <a:srgbClr val="F57F17"/>
          </a:solidFill>
          <a:ln/>
        </p:spPr>
      </p:sp>
      <p:sp>
        <p:nvSpPr>
          <p:cNvPr id="72" name="Shape 70"/>
          <p:cNvSpPr/>
          <p:nvPr/>
        </p:nvSpPr>
        <p:spPr>
          <a:xfrm>
            <a:off x="5608855" y="3561588"/>
            <a:ext cx="155448" cy="155448"/>
          </a:xfrm>
          <a:prstGeom prst="ellipse">
            <a:avLst/>
          </a:prstGeom>
          <a:solidFill>
            <a:srgbClr val="F57F17"/>
          </a:solidFill>
          <a:ln/>
        </p:spPr>
      </p:sp>
      <p:sp>
        <p:nvSpPr>
          <p:cNvPr id="73" name="Shape 71"/>
          <p:cNvSpPr/>
          <p:nvPr/>
        </p:nvSpPr>
        <p:spPr>
          <a:xfrm>
            <a:off x="5811506" y="3561588"/>
            <a:ext cx="155448" cy="155448"/>
          </a:xfrm>
          <a:prstGeom prst="ellipse">
            <a:avLst/>
          </a:prstGeom>
          <a:solidFill>
            <a:srgbClr val="F57F17"/>
          </a:solidFill>
          <a:ln/>
        </p:spPr>
      </p:sp>
      <p:sp>
        <p:nvSpPr>
          <p:cNvPr id="74" name="Text 72"/>
          <p:cNvSpPr txBox="1"/>
          <p:nvPr/>
        </p:nvSpPr>
        <p:spPr>
          <a:xfrm>
            <a:off x="6072110" y="3529584"/>
            <a:ext cx="2834640" cy="219456"/>
          </a:xfrm>
          <a:prstGeom prst="rect">
            <a:avLst/>
          </a:prstGeom>
          <a:noFill/>
          <a:ln/>
        </p:spPr>
        <p:txBody>
          <a:bodyPr wrap="square" lIns="0" tIns="0" rIns="0" bIns="0" rtlCol="0" anchor="ctr"/>
          <a:lstStyle/>
          <a:p>
            <a:pPr algn="l" indent="0" marL="0">
              <a:buNone/>
            </a:pPr>
            <a:r>
              <a:rPr lang="en-US" sz="1000" b="1" dirty="0">
                <a:solidFill>
                  <a:srgbClr val="F57F17"/>
                </a:solidFill>
              </a:rPr>
              <a:t>Field evidence: 26, 27 and 28 September</a:t>
            </a:r>
            <a:endParaRPr lang="en-US" sz="1000" dirty="0"/>
          </a:p>
        </p:txBody>
      </p:sp>
      <p:sp>
        <p:nvSpPr>
          <p:cNvPr id="75" name="Shape 73"/>
          <p:cNvSpPr/>
          <p:nvPr/>
        </p:nvSpPr>
        <p:spPr>
          <a:xfrm>
            <a:off x="5686579" y="3840480"/>
            <a:ext cx="202651" cy="201168"/>
          </a:xfrm>
          <a:prstGeom prst="roundRect">
            <a:avLst>
              <a:gd name="adj" fmla="val 18182"/>
            </a:avLst>
          </a:prstGeom>
          <a:solidFill>
            <a:srgbClr val="C62828"/>
          </a:solidFill>
          <a:ln/>
        </p:spPr>
      </p:sp>
      <p:sp>
        <p:nvSpPr>
          <p:cNvPr id="76" name="Text 74"/>
          <p:cNvSpPr txBox="1"/>
          <p:nvPr/>
        </p:nvSpPr>
        <p:spPr>
          <a:xfrm>
            <a:off x="6072110" y="3831336"/>
            <a:ext cx="3200400" cy="219456"/>
          </a:xfrm>
          <a:prstGeom prst="rect">
            <a:avLst/>
          </a:prstGeom>
          <a:noFill/>
          <a:ln/>
        </p:spPr>
        <p:txBody>
          <a:bodyPr wrap="square" lIns="0" tIns="0" rIns="0" bIns="0" rtlCol="0" anchor="ctr"/>
          <a:lstStyle/>
          <a:p>
            <a:pPr algn="l" indent="0" marL="0">
              <a:buNone/>
            </a:pPr>
            <a:r>
              <a:rPr lang="en-US" sz="1000" dirty="0">
                <a:solidFill>
                  <a:srgbClr val="FFFFFF"/>
                </a:solidFill>
              </a:rPr>
              <a:t>Three revision passes through every earlier activity</a:t>
            </a:r>
            <a:endParaRPr lang="en-US" sz="1000" dirty="0"/>
          </a:p>
        </p:txBody>
      </p:sp>
      <p:sp>
        <p:nvSpPr>
          <p:cNvPr id="77" name="Shape 75"/>
          <p:cNvSpPr/>
          <p:nvPr/>
        </p:nvSpPr>
        <p:spPr>
          <a:xfrm>
            <a:off x="5889230" y="4096512"/>
            <a:ext cx="2229159" cy="128016"/>
          </a:xfrm>
          <a:prstGeom prst="roundRect">
            <a:avLst>
              <a:gd name="adj" fmla="val 28571"/>
            </a:avLst>
          </a:prstGeom>
          <a:solidFill>
            <a:srgbClr val="00695C"/>
          </a:solidFill>
          <a:ln/>
        </p:spPr>
      </p:sp>
      <p:sp>
        <p:nvSpPr>
          <p:cNvPr id="78" name="Text 76"/>
          <p:cNvSpPr txBox="1"/>
          <p:nvPr/>
        </p:nvSpPr>
        <p:spPr>
          <a:xfrm>
            <a:off x="5212080" y="4526280"/>
            <a:ext cx="3383280" cy="201168"/>
          </a:xfrm>
          <a:prstGeom prst="rect">
            <a:avLst/>
          </a:prstGeom>
          <a:noFill/>
          <a:ln/>
        </p:spPr>
        <p:txBody>
          <a:bodyPr wrap="square" lIns="0" tIns="0" rIns="0" bIns="0" rtlCol="0" anchor="t"/>
          <a:lstStyle/>
          <a:p>
            <a:pPr algn="r" indent="0" marL="0">
              <a:buNone/>
            </a:pPr>
            <a:r>
              <a:rPr lang="en-US" sz="1000" dirty="0">
                <a:solidFill>
                  <a:srgbClr val="B8BFE6"/>
                </a:solidFill>
              </a:rPr>
              <a:t>Phases 3 and 4 written on the revised evidence</a:t>
            </a:r>
            <a:endParaRPr lang="en-US" sz="1000" dirty="0"/>
          </a:p>
        </p:txBody>
      </p:sp>
      <p:sp>
        <p:nvSpPr>
          <p:cNvPr id="79" name="Text 77"/>
          <p:cNvSpPr txBox="1"/>
          <p:nvPr/>
        </p:nvSpPr>
        <p:spPr>
          <a:xfrm>
            <a:off x="457200" y="4526280"/>
            <a:ext cx="4572000" cy="201168"/>
          </a:xfrm>
          <a:prstGeom prst="rect">
            <a:avLst/>
          </a:prstGeom>
          <a:noFill/>
          <a:ln/>
        </p:spPr>
        <p:txBody>
          <a:bodyPr wrap="square" lIns="0" tIns="0" rIns="0" bIns="0" rtlCol="0" anchor="t"/>
          <a:lstStyle/>
          <a:p>
            <a:pPr algn="l" indent="0" marL="0">
              <a:buNone/>
            </a:pPr>
            <a:r>
              <a:rPr lang="en-US" sz="1100" dirty="0">
                <a:solidFill>
                  <a:srgbClr val="B8BFE6"/>
                </a:solidFill>
              </a:rPr>
              <a:t>Four phases, ten activities, fifteen deliverables, nine objectives</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evidence came from six students, three kitchens and two sets of records</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17220" y="4841748"/>
            <a:ext cx="146304" cy="146304"/>
          </a:xfrm>
          <a:prstGeom prst="ellipse">
            <a:avLst/>
          </a:prstGeom>
          <a:solidFill>
            <a:srgbClr val="1A237E"/>
          </a:solidFill>
          <a:ln/>
        </p:spPr>
      </p:sp>
      <p:sp>
        <p:nvSpPr>
          <p:cNvPr id="5" name="Shape 3"/>
          <p:cNvSpPr/>
          <p:nvPr/>
        </p:nvSpPr>
        <p:spPr>
          <a:xfrm>
            <a:off x="580644" y="4805172"/>
            <a:ext cx="219456" cy="219456"/>
          </a:xfrm>
          <a:prstGeom prst="ellipse">
            <a:avLst/>
          </a:prstGeom>
          <a:ln w="9525">
            <a:solidFill>
              <a:srgbClr val="1A237E"/>
            </a:solidFill>
            <a:prstDash val="solid"/>
          </a:ln>
        </p:spPr>
      </p:sp>
      <p:sp>
        <p:nvSpPr>
          <p:cNvPr id="6" name="Shape 4"/>
          <p:cNvSpPr/>
          <p:nvPr/>
        </p:nvSpPr>
        <p:spPr>
          <a:xfrm>
            <a:off x="822960" y="4864608"/>
            <a:ext cx="100584" cy="100584"/>
          </a:xfrm>
          <a:prstGeom prst="ellipse">
            <a:avLst/>
          </a:prstGeom>
          <a:ln w="9525">
            <a:solidFill>
              <a:srgbClr val="9AA3B5"/>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2 Approach</a:t>
            </a:r>
            <a:endParaRPr lang="en-US" sz="1000" dirty="0"/>
          </a:p>
        </p:txBody>
      </p:sp>
      <p:sp>
        <p:nvSpPr>
          <p:cNvPr id="15" name="Shape 13"/>
          <p:cNvSpPr/>
          <p:nvPr/>
        </p:nvSpPr>
        <p:spPr>
          <a:xfrm>
            <a:off x="457200" y="1280160"/>
            <a:ext cx="2651760" cy="1078992"/>
          </a:xfrm>
          <a:prstGeom prst="roundRect">
            <a:avLst>
              <a:gd name="adj" fmla="val 6780"/>
            </a:avLst>
          </a:prstGeom>
          <a:solidFill>
            <a:srgbClr val="FFF3E0"/>
          </a:solidFill>
          <a:ln w="12700">
            <a:solidFill>
              <a:srgbClr val="E65100"/>
            </a:solidFill>
            <a:prstDash val="solid"/>
          </a:ln>
        </p:spPr>
      </p:sp>
      <p:sp>
        <p:nvSpPr>
          <p:cNvPr id="16" name="Text 14"/>
          <p:cNvSpPr txBox="1"/>
          <p:nvPr/>
        </p:nvSpPr>
        <p:spPr>
          <a:xfrm>
            <a:off x="594360" y="1325880"/>
            <a:ext cx="1188720" cy="640080"/>
          </a:xfrm>
          <a:prstGeom prst="rect">
            <a:avLst/>
          </a:prstGeom>
          <a:noFill/>
          <a:ln/>
        </p:spPr>
        <p:txBody>
          <a:bodyPr wrap="square" lIns="0" tIns="0" rIns="0" bIns="0" rtlCol="0" anchor="ctr"/>
          <a:lstStyle/>
          <a:p>
            <a:pPr algn="l" indent="0" marL="0">
              <a:buNone/>
            </a:pPr>
            <a:r>
              <a:rPr lang="en-US" sz="4000" b="1" dirty="0">
                <a:solidFill>
                  <a:srgbClr val="E65100"/>
                </a:solidFill>
                <a:latin typeface="Cambria" pitchFamily="34" charset="0"/>
                <a:ea typeface="Cambria" pitchFamily="34" charset="-122"/>
                <a:cs typeface="Cambria" pitchFamily="34" charset="-120"/>
              </a:rPr>
              <a:t>6</a:t>
            </a:r>
            <a:endParaRPr lang="en-US" sz="4000" dirty="0"/>
          </a:p>
        </p:txBody>
      </p:sp>
      <p:sp>
        <p:nvSpPr>
          <p:cNvPr id="17" name="Text 15"/>
          <p:cNvSpPr txBox="1"/>
          <p:nvPr/>
        </p:nvSpPr>
        <p:spPr>
          <a:xfrm>
            <a:off x="594360" y="1938528"/>
            <a:ext cx="2377440" cy="384048"/>
          </a:xfrm>
          <a:prstGeom prst="rect">
            <a:avLst/>
          </a:prstGeom>
          <a:noFill/>
          <a:ln/>
        </p:spPr>
        <p:txBody>
          <a:bodyPr wrap="square" lIns="0" tIns="0" rIns="0" bIns="0" rtlCol="0" anchor="t"/>
          <a:lstStyle/>
          <a:p>
            <a:pPr algn="l" indent="0" marL="0">
              <a:buNone/>
            </a:pPr>
            <a:r>
              <a:rPr lang="en-US" sz="1200" dirty="0">
                <a:solidFill>
                  <a:srgbClr val="1F2430"/>
                </a:solidFill>
              </a:rPr>
              <a:t>student voices</a:t>
            </a:r>
            <a:endParaRPr lang="en-US" sz="1200" dirty="0"/>
          </a:p>
        </p:txBody>
      </p:sp>
      <p:sp>
        <p:nvSpPr>
          <p:cNvPr id="18" name="Shape 16"/>
          <p:cNvSpPr/>
          <p:nvPr/>
        </p:nvSpPr>
        <p:spPr>
          <a:xfrm>
            <a:off x="2468880" y="1444752"/>
            <a:ext cx="365760" cy="365760"/>
          </a:xfrm>
          <a:prstGeom prst="ellipse">
            <a:avLst/>
          </a:prstGeom>
          <a:solidFill>
            <a:srgbClr val="E65100"/>
          </a:solidFill>
          <a:ln/>
        </p:spPr>
      </p:sp>
      <p:pic>
        <p:nvPicPr>
          <p:cNvPr id="19" name="Image 0" descr="School">    </p:cNvPr>
          <p:cNvPicPr>
            <a:picLocks noChangeAspect="1"/>
          </p:cNvPicPr>
          <p:nvPr/>
        </p:nvPicPr>
        <p:blipFill>
          <a:blip r:embed="rId1"/>
          <a:stretch>
            <a:fillRect/>
          </a:stretch>
        </p:blipFill>
        <p:spPr>
          <a:xfrm>
            <a:off x="2542032" y="1517904"/>
            <a:ext cx="219456" cy="219456"/>
          </a:xfrm>
          <a:prstGeom prst="rect">
            <a:avLst/>
          </a:prstGeom>
        </p:spPr>
      </p:pic>
      <p:sp>
        <p:nvSpPr>
          <p:cNvPr id="20" name="Shape 17"/>
          <p:cNvSpPr/>
          <p:nvPr/>
        </p:nvSpPr>
        <p:spPr>
          <a:xfrm>
            <a:off x="3246120" y="1280160"/>
            <a:ext cx="2651760" cy="1078992"/>
          </a:xfrm>
          <a:prstGeom prst="roundRect">
            <a:avLst>
              <a:gd name="adj" fmla="val 6780"/>
            </a:avLst>
          </a:prstGeom>
          <a:solidFill>
            <a:srgbClr val="E0F2F1"/>
          </a:solidFill>
          <a:ln w="12700">
            <a:solidFill>
              <a:srgbClr val="00695C"/>
            </a:solidFill>
            <a:prstDash val="solid"/>
          </a:ln>
        </p:spPr>
      </p:sp>
      <p:sp>
        <p:nvSpPr>
          <p:cNvPr id="21" name="Text 18"/>
          <p:cNvSpPr txBox="1"/>
          <p:nvPr/>
        </p:nvSpPr>
        <p:spPr>
          <a:xfrm>
            <a:off x="3383280" y="1325880"/>
            <a:ext cx="1188720" cy="640080"/>
          </a:xfrm>
          <a:prstGeom prst="rect">
            <a:avLst/>
          </a:prstGeom>
          <a:noFill/>
          <a:ln/>
        </p:spPr>
        <p:txBody>
          <a:bodyPr wrap="square" lIns="0" tIns="0" rIns="0" bIns="0" rtlCol="0" anchor="ctr"/>
          <a:lstStyle/>
          <a:p>
            <a:pPr algn="l" indent="0" marL="0">
              <a:buNone/>
            </a:pPr>
            <a:r>
              <a:rPr lang="en-US" sz="4000" b="1" dirty="0">
                <a:solidFill>
                  <a:srgbClr val="00695C"/>
                </a:solidFill>
                <a:latin typeface="Cambria" pitchFamily="34" charset="0"/>
                <a:ea typeface="Cambria" pitchFamily="34" charset="-122"/>
                <a:cs typeface="Cambria" pitchFamily="34" charset="-120"/>
              </a:rPr>
              <a:t>1</a:t>
            </a:r>
            <a:endParaRPr lang="en-US" sz="4000" dirty="0"/>
          </a:p>
        </p:txBody>
      </p:sp>
      <p:sp>
        <p:nvSpPr>
          <p:cNvPr id="22" name="Text 19"/>
          <p:cNvSpPr txBox="1"/>
          <p:nvPr/>
        </p:nvSpPr>
        <p:spPr>
          <a:xfrm>
            <a:off x="3383280" y="1938528"/>
            <a:ext cx="2377440" cy="384048"/>
          </a:xfrm>
          <a:prstGeom prst="rect">
            <a:avLst/>
          </a:prstGeom>
          <a:noFill/>
          <a:ln/>
        </p:spPr>
        <p:txBody>
          <a:bodyPr wrap="square" lIns="0" tIns="0" rIns="0" bIns="0" rtlCol="0" anchor="t"/>
          <a:lstStyle/>
          <a:p>
            <a:pPr algn="l" indent="0" marL="0">
              <a:buNone/>
            </a:pPr>
            <a:r>
              <a:rPr lang="en-US" sz="1200" dirty="0">
                <a:solidFill>
                  <a:srgbClr val="1F2430"/>
                </a:solidFill>
              </a:rPr>
              <a:t>head of facilities, with a kitchen walkthrough</a:t>
            </a:r>
            <a:endParaRPr lang="en-US" sz="1200" dirty="0"/>
          </a:p>
        </p:txBody>
      </p:sp>
      <p:sp>
        <p:nvSpPr>
          <p:cNvPr id="23" name="Shape 20"/>
          <p:cNvSpPr/>
          <p:nvPr/>
        </p:nvSpPr>
        <p:spPr>
          <a:xfrm>
            <a:off x="5257800" y="1444752"/>
            <a:ext cx="365760" cy="365760"/>
          </a:xfrm>
          <a:prstGeom prst="ellipse">
            <a:avLst/>
          </a:prstGeom>
          <a:solidFill>
            <a:srgbClr val="00695C"/>
          </a:solidFill>
          <a:ln/>
        </p:spPr>
      </p:sp>
      <p:pic>
        <p:nvPicPr>
          <p:cNvPr id="24" name="Image 1" descr="AccountBalance">    </p:cNvPr>
          <p:cNvPicPr>
            <a:picLocks noChangeAspect="1"/>
          </p:cNvPicPr>
          <p:nvPr/>
        </p:nvPicPr>
        <p:blipFill>
          <a:blip r:embed="rId2"/>
          <a:stretch>
            <a:fillRect/>
          </a:stretch>
        </p:blipFill>
        <p:spPr>
          <a:xfrm>
            <a:off x="5330952" y="1517904"/>
            <a:ext cx="219456" cy="219456"/>
          </a:xfrm>
          <a:prstGeom prst="rect">
            <a:avLst/>
          </a:prstGeom>
        </p:spPr>
      </p:pic>
      <p:sp>
        <p:nvSpPr>
          <p:cNvPr id="25" name="Shape 21"/>
          <p:cNvSpPr/>
          <p:nvPr/>
        </p:nvSpPr>
        <p:spPr>
          <a:xfrm>
            <a:off x="6035040" y="1280160"/>
            <a:ext cx="2651760" cy="1078992"/>
          </a:xfrm>
          <a:prstGeom prst="roundRect">
            <a:avLst>
              <a:gd name="adj" fmla="val 6780"/>
            </a:avLst>
          </a:prstGeom>
          <a:solidFill>
            <a:srgbClr val="E3F2FD"/>
          </a:solidFill>
          <a:ln w="12700">
            <a:solidFill>
              <a:srgbClr val="1565C0"/>
            </a:solidFill>
            <a:prstDash val="solid"/>
          </a:ln>
        </p:spPr>
      </p:sp>
      <p:sp>
        <p:nvSpPr>
          <p:cNvPr id="26" name="Text 22"/>
          <p:cNvSpPr txBox="1"/>
          <p:nvPr/>
        </p:nvSpPr>
        <p:spPr>
          <a:xfrm>
            <a:off x="6172200" y="1325880"/>
            <a:ext cx="1188720" cy="640080"/>
          </a:xfrm>
          <a:prstGeom prst="rect">
            <a:avLst/>
          </a:prstGeom>
          <a:noFill/>
          <a:ln/>
        </p:spPr>
        <p:txBody>
          <a:bodyPr wrap="square" lIns="0" tIns="0" rIns="0" bIns="0" rtlCol="0" anchor="ctr"/>
          <a:lstStyle/>
          <a:p>
            <a:pPr algn="l" indent="0" marL="0">
              <a:buNone/>
            </a:pPr>
            <a:r>
              <a:rPr lang="en-US" sz="4000" b="1" dirty="0">
                <a:solidFill>
                  <a:srgbClr val="1565C0"/>
                </a:solidFill>
                <a:latin typeface="Cambria" pitchFamily="34" charset="0"/>
                <a:ea typeface="Cambria" pitchFamily="34" charset="-122"/>
                <a:cs typeface="Cambria" pitchFamily="34" charset="-120"/>
              </a:rPr>
              <a:t>3</a:t>
            </a:r>
            <a:endParaRPr lang="en-US" sz="4000" dirty="0"/>
          </a:p>
        </p:txBody>
      </p:sp>
      <p:sp>
        <p:nvSpPr>
          <p:cNvPr id="27" name="Text 23"/>
          <p:cNvSpPr txBox="1"/>
          <p:nvPr/>
        </p:nvSpPr>
        <p:spPr>
          <a:xfrm>
            <a:off x="6172200" y="1938528"/>
            <a:ext cx="2377440" cy="384048"/>
          </a:xfrm>
          <a:prstGeom prst="rect">
            <a:avLst/>
          </a:prstGeom>
          <a:noFill/>
          <a:ln/>
        </p:spPr>
        <p:txBody>
          <a:bodyPr wrap="square" lIns="0" tIns="0" rIns="0" bIns="0" rtlCol="0" anchor="t"/>
          <a:lstStyle/>
          <a:p>
            <a:pPr algn="l" indent="0" marL="0">
              <a:buNone/>
            </a:pPr>
            <a:r>
              <a:rPr lang="en-US" sz="1200" dirty="0">
                <a:solidFill>
                  <a:srgbClr val="1F2430"/>
                </a:solidFill>
              </a:rPr>
              <a:t>kitchens visited in one day</a:t>
            </a:r>
            <a:endParaRPr lang="en-US" sz="1200" dirty="0"/>
          </a:p>
        </p:txBody>
      </p:sp>
      <p:sp>
        <p:nvSpPr>
          <p:cNvPr id="28" name="Shape 24"/>
          <p:cNvSpPr/>
          <p:nvPr/>
        </p:nvSpPr>
        <p:spPr>
          <a:xfrm>
            <a:off x="8046720" y="1444752"/>
            <a:ext cx="365760" cy="365760"/>
          </a:xfrm>
          <a:prstGeom prst="ellipse">
            <a:avLst/>
          </a:prstGeom>
          <a:solidFill>
            <a:srgbClr val="1565C0"/>
          </a:solidFill>
          <a:ln/>
        </p:spPr>
      </p:sp>
      <p:pic>
        <p:nvPicPr>
          <p:cNvPr id="29" name="Image 2" descr="Restaurant">    </p:cNvPr>
          <p:cNvPicPr>
            <a:picLocks noChangeAspect="1"/>
          </p:cNvPicPr>
          <p:nvPr/>
        </p:nvPicPr>
        <p:blipFill>
          <a:blip r:embed="rId3"/>
          <a:stretch>
            <a:fillRect/>
          </a:stretch>
        </p:blipFill>
        <p:spPr>
          <a:xfrm>
            <a:off x="8119872" y="1517904"/>
            <a:ext cx="219456" cy="219456"/>
          </a:xfrm>
          <a:prstGeom prst="rect">
            <a:avLst/>
          </a:prstGeom>
        </p:spPr>
      </p:pic>
      <p:sp>
        <p:nvSpPr>
          <p:cNvPr id="30" name="Shape 25"/>
          <p:cNvSpPr/>
          <p:nvPr/>
        </p:nvSpPr>
        <p:spPr>
          <a:xfrm>
            <a:off x="457200" y="2468880"/>
            <a:ext cx="2651760" cy="1078992"/>
          </a:xfrm>
          <a:prstGeom prst="roundRect">
            <a:avLst>
              <a:gd name="adj" fmla="val 6780"/>
            </a:avLst>
          </a:prstGeom>
          <a:solidFill>
            <a:srgbClr val="F3E5F5"/>
          </a:solidFill>
          <a:ln w="12700">
            <a:solidFill>
              <a:srgbClr val="6A1B9A"/>
            </a:solidFill>
            <a:prstDash val="solid"/>
          </a:ln>
        </p:spPr>
      </p:sp>
      <p:sp>
        <p:nvSpPr>
          <p:cNvPr id="31" name="Text 26"/>
          <p:cNvSpPr txBox="1"/>
          <p:nvPr/>
        </p:nvSpPr>
        <p:spPr>
          <a:xfrm>
            <a:off x="594360" y="2514600"/>
            <a:ext cx="1188720" cy="640080"/>
          </a:xfrm>
          <a:prstGeom prst="rect">
            <a:avLst/>
          </a:prstGeom>
          <a:noFill/>
          <a:ln/>
        </p:spPr>
        <p:txBody>
          <a:bodyPr wrap="square" lIns="0" tIns="0" rIns="0" bIns="0" rtlCol="0" anchor="ctr"/>
          <a:lstStyle/>
          <a:p>
            <a:pPr algn="l" indent="0" marL="0">
              <a:buNone/>
            </a:pPr>
            <a:r>
              <a:rPr lang="en-US" sz="4000" b="1" dirty="0">
                <a:solidFill>
                  <a:srgbClr val="6A1B9A"/>
                </a:solidFill>
                <a:latin typeface="Cambria" pitchFamily="34" charset="0"/>
                <a:ea typeface="Cambria" pitchFamily="34" charset="-122"/>
                <a:cs typeface="Cambria" pitchFamily="34" charset="-120"/>
              </a:rPr>
              <a:t>22</a:t>
            </a:r>
            <a:endParaRPr lang="en-US" sz="4000" dirty="0"/>
          </a:p>
        </p:txBody>
      </p:sp>
      <p:sp>
        <p:nvSpPr>
          <p:cNvPr id="32" name="Text 27"/>
          <p:cNvSpPr txBox="1"/>
          <p:nvPr/>
        </p:nvSpPr>
        <p:spPr>
          <a:xfrm>
            <a:off x="594360" y="3127248"/>
            <a:ext cx="2377440" cy="384048"/>
          </a:xfrm>
          <a:prstGeom prst="rect">
            <a:avLst/>
          </a:prstGeom>
          <a:noFill/>
          <a:ln/>
        </p:spPr>
        <p:txBody>
          <a:bodyPr wrap="square" lIns="0" tIns="0" rIns="0" bIns="0" rtlCol="0" anchor="t"/>
          <a:lstStyle/>
          <a:p>
            <a:pPr algn="l" indent="0" marL="0">
              <a:buNone/>
            </a:pPr>
            <a:r>
              <a:rPr lang="en-US" sz="1200" dirty="0">
                <a:solidFill>
                  <a:srgbClr val="1F2430"/>
                </a:solidFill>
              </a:rPr>
              <a:t>tables from 26 photographed register pages</a:t>
            </a:r>
            <a:endParaRPr lang="en-US" sz="1200" dirty="0"/>
          </a:p>
        </p:txBody>
      </p:sp>
      <p:sp>
        <p:nvSpPr>
          <p:cNvPr id="33" name="Shape 28"/>
          <p:cNvSpPr/>
          <p:nvPr/>
        </p:nvSpPr>
        <p:spPr>
          <a:xfrm>
            <a:off x="2468880" y="2633472"/>
            <a:ext cx="365760" cy="365760"/>
          </a:xfrm>
          <a:prstGeom prst="ellipse">
            <a:avLst/>
          </a:prstGeom>
          <a:solidFill>
            <a:srgbClr val="6A1B9A"/>
          </a:solidFill>
          <a:ln/>
        </p:spPr>
      </p:sp>
      <p:pic>
        <p:nvPicPr>
          <p:cNvPr id="34" name="Image 3" descr="MenuBook">    </p:cNvPr>
          <p:cNvPicPr>
            <a:picLocks noChangeAspect="1"/>
          </p:cNvPicPr>
          <p:nvPr/>
        </p:nvPicPr>
        <p:blipFill>
          <a:blip r:embed="rId4"/>
          <a:stretch>
            <a:fillRect/>
          </a:stretch>
        </p:blipFill>
        <p:spPr>
          <a:xfrm>
            <a:off x="2542032" y="2706624"/>
            <a:ext cx="219456" cy="219456"/>
          </a:xfrm>
          <a:prstGeom prst="rect">
            <a:avLst/>
          </a:prstGeom>
        </p:spPr>
      </p:pic>
      <p:sp>
        <p:nvSpPr>
          <p:cNvPr id="35" name="Shape 29"/>
          <p:cNvSpPr/>
          <p:nvPr/>
        </p:nvSpPr>
        <p:spPr>
          <a:xfrm>
            <a:off x="3246120" y="2468880"/>
            <a:ext cx="2651760" cy="1078992"/>
          </a:xfrm>
          <a:prstGeom prst="roundRect">
            <a:avLst>
              <a:gd name="adj" fmla="val 6780"/>
            </a:avLst>
          </a:prstGeom>
          <a:solidFill>
            <a:srgbClr val="F3E5F5"/>
          </a:solidFill>
          <a:ln w="12700">
            <a:solidFill>
              <a:srgbClr val="6A1B9A"/>
            </a:solidFill>
            <a:prstDash val="solid"/>
          </a:ln>
        </p:spPr>
      </p:sp>
      <p:sp>
        <p:nvSpPr>
          <p:cNvPr id="36" name="Text 30"/>
          <p:cNvSpPr txBox="1"/>
          <p:nvPr/>
        </p:nvSpPr>
        <p:spPr>
          <a:xfrm>
            <a:off x="3383280" y="2514600"/>
            <a:ext cx="1188720" cy="640080"/>
          </a:xfrm>
          <a:prstGeom prst="rect">
            <a:avLst/>
          </a:prstGeom>
          <a:noFill/>
          <a:ln/>
        </p:spPr>
        <p:txBody>
          <a:bodyPr wrap="square" lIns="0" tIns="0" rIns="0" bIns="0" rtlCol="0" anchor="ctr"/>
          <a:lstStyle/>
          <a:p>
            <a:pPr algn="l" indent="0" marL="0">
              <a:buNone/>
            </a:pPr>
            <a:r>
              <a:rPr lang="en-US" sz="2800" b="1" dirty="0">
                <a:solidFill>
                  <a:srgbClr val="6A1B9A"/>
                </a:solidFill>
                <a:latin typeface="Cambria" pitchFamily="34" charset="0"/>
                <a:ea typeface="Cambria" pitchFamily="34" charset="-122"/>
                <a:cs typeface="Cambria" pitchFamily="34" charset="-120"/>
              </a:rPr>
              <a:t>32,162</a:t>
            </a:r>
            <a:endParaRPr lang="en-US" sz="2800" dirty="0"/>
          </a:p>
        </p:txBody>
      </p:sp>
      <p:sp>
        <p:nvSpPr>
          <p:cNvPr id="37" name="Text 31"/>
          <p:cNvSpPr txBox="1"/>
          <p:nvPr/>
        </p:nvSpPr>
        <p:spPr>
          <a:xfrm>
            <a:off x="3383280" y="3127248"/>
            <a:ext cx="2377440" cy="384048"/>
          </a:xfrm>
          <a:prstGeom prst="rect">
            <a:avLst/>
          </a:prstGeom>
          <a:noFill/>
          <a:ln/>
        </p:spPr>
        <p:txBody>
          <a:bodyPr wrap="square" lIns="0" tIns="0" rIns="0" bIns="0" rtlCol="0" anchor="t"/>
          <a:lstStyle/>
          <a:p>
            <a:pPr algn="l" indent="0" marL="0">
              <a:buNone/>
            </a:pPr>
            <a:r>
              <a:rPr lang="en-US" sz="1200" dirty="0">
                <a:solidFill>
                  <a:srgbClr val="1F2430"/>
                </a:solidFill>
              </a:rPr>
              <a:t>Kadamba registrations with scan times</a:t>
            </a:r>
            <a:endParaRPr lang="en-US" sz="1200" dirty="0"/>
          </a:p>
        </p:txBody>
      </p:sp>
      <p:sp>
        <p:nvSpPr>
          <p:cNvPr id="38" name="Shape 32"/>
          <p:cNvSpPr/>
          <p:nvPr/>
        </p:nvSpPr>
        <p:spPr>
          <a:xfrm>
            <a:off x="5257800" y="2633472"/>
            <a:ext cx="365760" cy="365760"/>
          </a:xfrm>
          <a:prstGeom prst="ellipse">
            <a:avLst/>
          </a:prstGeom>
          <a:solidFill>
            <a:srgbClr val="6A1B9A"/>
          </a:solidFill>
          <a:ln/>
        </p:spPr>
      </p:sp>
      <p:pic>
        <p:nvPicPr>
          <p:cNvPr id="39" name="Image 4" descr="QrCodeScanner">    </p:cNvPr>
          <p:cNvPicPr>
            <a:picLocks noChangeAspect="1"/>
          </p:cNvPicPr>
          <p:nvPr/>
        </p:nvPicPr>
        <p:blipFill>
          <a:blip r:embed="rId5"/>
          <a:stretch>
            <a:fillRect/>
          </a:stretch>
        </p:blipFill>
        <p:spPr>
          <a:xfrm>
            <a:off x="5330952" y="2706624"/>
            <a:ext cx="219456" cy="219456"/>
          </a:xfrm>
          <a:prstGeom prst="rect">
            <a:avLst/>
          </a:prstGeom>
        </p:spPr>
      </p:pic>
      <p:sp>
        <p:nvSpPr>
          <p:cNvPr id="40" name="Shape 33"/>
          <p:cNvSpPr/>
          <p:nvPr/>
        </p:nvSpPr>
        <p:spPr>
          <a:xfrm>
            <a:off x="6035040" y="2468880"/>
            <a:ext cx="2651760" cy="1078992"/>
          </a:xfrm>
          <a:prstGeom prst="roundRect">
            <a:avLst>
              <a:gd name="adj" fmla="val 6780"/>
            </a:avLst>
          </a:prstGeom>
          <a:solidFill>
            <a:srgbClr val="E3F2FD"/>
          </a:solidFill>
          <a:ln w="12700">
            <a:solidFill>
              <a:srgbClr val="1565C0"/>
            </a:solidFill>
            <a:prstDash val="solid"/>
          </a:ln>
        </p:spPr>
      </p:sp>
      <p:sp>
        <p:nvSpPr>
          <p:cNvPr id="41" name="Text 34"/>
          <p:cNvSpPr txBox="1"/>
          <p:nvPr/>
        </p:nvSpPr>
        <p:spPr>
          <a:xfrm>
            <a:off x="6172200" y="2514600"/>
            <a:ext cx="1188720" cy="640080"/>
          </a:xfrm>
          <a:prstGeom prst="rect">
            <a:avLst/>
          </a:prstGeom>
          <a:noFill/>
          <a:ln/>
        </p:spPr>
        <p:txBody>
          <a:bodyPr wrap="square" lIns="0" tIns="0" rIns="0" bIns="0" rtlCol="0" anchor="ctr"/>
          <a:lstStyle/>
          <a:p>
            <a:pPr algn="l" indent="0" marL="0">
              <a:buNone/>
            </a:pPr>
            <a:r>
              <a:rPr lang="en-US" sz="4000" b="1" dirty="0">
                <a:solidFill>
                  <a:srgbClr val="1565C0"/>
                </a:solidFill>
                <a:latin typeface="Cambria" pitchFamily="34" charset="0"/>
                <a:ea typeface="Cambria" pitchFamily="34" charset="-122"/>
                <a:cs typeface="Cambria" pitchFamily="34" charset="-120"/>
              </a:rPr>
              <a:t>9</a:t>
            </a:r>
            <a:endParaRPr lang="en-US" sz="4000" dirty="0"/>
          </a:p>
        </p:txBody>
      </p:sp>
      <p:sp>
        <p:nvSpPr>
          <p:cNvPr id="42" name="Text 35"/>
          <p:cNvSpPr txBox="1"/>
          <p:nvPr/>
        </p:nvSpPr>
        <p:spPr>
          <a:xfrm>
            <a:off x="6172200" y="3127248"/>
            <a:ext cx="2377440" cy="384048"/>
          </a:xfrm>
          <a:prstGeom prst="rect">
            <a:avLst/>
          </a:prstGeom>
          <a:noFill/>
          <a:ln/>
        </p:spPr>
        <p:txBody>
          <a:bodyPr wrap="square" lIns="0" tIns="0" rIns="0" bIns="0" rtlCol="0" anchor="t"/>
          <a:lstStyle/>
          <a:p>
            <a:pPr algn="l" indent="0" marL="0">
              <a:buNone/>
            </a:pPr>
            <a:r>
              <a:rPr lang="en-US" sz="1200" dirty="0">
                <a:solidFill>
                  <a:srgbClr val="1F2430"/>
                </a:solidFill>
              </a:rPr>
              <a:t>portal screens</a:t>
            </a:r>
            <a:endParaRPr lang="en-US" sz="1200" dirty="0"/>
          </a:p>
        </p:txBody>
      </p:sp>
      <p:sp>
        <p:nvSpPr>
          <p:cNvPr id="43" name="Shape 36"/>
          <p:cNvSpPr/>
          <p:nvPr/>
        </p:nvSpPr>
        <p:spPr>
          <a:xfrm>
            <a:off x="8046720" y="2633472"/>
            <a:ext cx="365760" cy="365760"/>
          </a:xfrm>
          <a:prstGeom prst="ellipse">
            <a:avLst/>
          </a:prstGeom>
          <a:solidFill>
            <a:srgbClr val="1565C0"/>
          </a:solidFill>
          <a:ln/>
        </p:spPr>
      </p:sp>
      <p:pic>
        <p:nvPicPr>
          <p:cNvPr id="44" name="Image 5" descr="HowToReg">    </p:cNvPr>
          <p:cNvPicPr>
            <a:picLocks noChangeAspect="1"/>
          </p:cNvPicPr>
          <p:nvPr/>
        </p:nvPicPr>
        <p:blipFill>
          <a:blip r:embed="rId6"/>
          <a:stretch>
            <a:fillRect/>
          </a:stretch>
        </p:blipFill>
        <p:spPr>
          <a:xfrm>
            <a:off x="8119872" y="2706624"/>
            <a:ext cx="219456" cy="219456"/>
          </a:xfrm>
          <a:prstGeom prst="rect">
            <a:avLst/>
          </a:prstGeom>
        </p:spPr>
      </p:pic>
      <p:sp>
        <p:nvSpPr>
          <p:cNvPr id="45" name="Shape 37"/>
          <p:cNvSpPr/>
          <p:nvPr/>
        </p:nvSpPr>
        <p:spPr>
          <a:xfrm>
            <a:off x="457200" y="3749040"/>
            <a:ext cx="1993392" cy="457200"/>
          </a:xfrm>
          <a:prstGeom prst="roundRect">
            <a:avLst>
              <a:gd name="adj" fmla="val 12000"/>
            </a:avLst>
          </a:prstGeom>
          <a:solidFill>
            <a:srgbClr val="E8F5E9"/>
          </a:solidFill>
          <a:ln w="12700">
            <a:solidFill>
              <a:srgbClr val="2E7D32"/>
            </a:solidFill>
            <a:prstDash val="solid"/>
          </a:ln>
        </p:spPr>
      </p:sp>
      <p:sp>
        <p:nvSpPr>
          <p:cNvPr id="46" name="Text 38"/>
          <p:cNvSpPr txBox="1"/>
          <p:nvPr/>
        </p:nvSpPr>
        <p:spPr>
          <a:xfrm>
            <a:off x="521208" y="3749040"/>
            <a:ext cx="1865376" cy="457200"/>
          </a:xfrm>
          <a:prstGeom prst="rect">
            <a:avLst/>
          </a:prstGeom>
          <a:noFill/>
          <a:ln/>
        </p:spPr>
        <p:txBody>
          <a:bodyPr wrap="square" lIns="0" tIns="0" rIns="0" bIns="0" rtlCol="0" anchor="ctr"/>
          <a:lstStyle/>
          <a:p>
            <a:pPr algn="ctr" indent="0" marL="0">
              <a:buNone/>
            </a:pPr>
            <a:r>
              <a:rPr lang="en-US" sz="1200" dirty="0">
                <a:solidFill>
                  <a:srgbClr val="1F2430"/>
                </a:solidFill>
              </a:rPr>
              <a:t>Kadamba: scan records</a:t>
            </a:r>
            <a:endParaRPr lang="en-US" sz="1200" dirty="0"/>
          </a:p>
        </p:txBody>
      </p:sp>
      <p:sp>
        <p:nvSpPr>
          <p:cNvPr id="47" name="Shape 39"/>
          <p:cNvSpPr/>
          <p:nvPr/>
        </p:nvSpPr>
        <p:spPr>
          <a:xfrm>
            <a:off x="2542032" y="3749040"/>
            <a:ext cx="1993392" cy="457200"/>
          </a:xfrm>
          <a:prstGeom prst="roundRect">
            <a:avLst>
              <a:gd name="adj" fmla="val 12000"/>
            </a:avLst>
          </a:prstGeom>
          <a:solidFill>
            <a:srgbClr val="E8F5E9"/>
          </a:solidFill>
          <a:ln w="12700">
            <a:solidFill>
              <a:srgbClr val="2E7D32"/>
            </a:solidFill>
            <a:prstDash val="solid"/>
          </a:ln>
        </p:spPr>
      </p:sp>
      <p:sp>
        <p:nvSpPr>
          <p:cNvPr id="48" name="Text 40"/>
          <p:cNvSpPr txBox="1"/>
          <p:nvPr/>
        </p:nvSpPr>
        <p:spPr>
          <a:xfrm>
            <a:off x="2606040" y="3749040"/>
            <a:ext cx="1865376" cy="457200"/>
          </a:xfrm>
          <a:prstGeom prst="rect">
            <a:avLst/>
          </a:prstGeom>
          <a:noFill/>
          <a:ln/>
        </p:spPr>
        <p:txBody>
          <a:bodyPr wrap="square" lIns="0" tIns="0" rIns="0" bIns="0" rtlCol="0" anchor="ctr"/>
          <a:lstStyle/>
          <a:p>
            <a:pPr algn="ctr" indent="0" marL="0">
              <a:buNone/>
            </a:pPr>
            <a:r>
              <a:rPr lang="en-US" sz="1200" dirty="0">
                <a:solidFill>
                  <a:srgbClr val="1F2430"/>
                </a:solidFill>
              </a:rPr>
              <a:t>Yuktāhār: registers</a:t>
            </a:r>
            <a:endParaRPr lang="en-US" sz="1200" dirty="0"/>
          </a:p>
        </p:txBody>
      </p:sp>
      <p:sp>
        <p:nvSpPr>
          <p:cNvPr id="49" name="Shape 41"/>
          <p:cNvSpPr/>
          <p:nvPr/>
        </p:nvSpPr>
        <p:spPr>
          <a:xfrm>
            <a:off x="4626864" y="3749040"/>
            <a:ext cx="1993392" cy="457200"/>
          </a:xfrm>
          <a:prstGeom prst="roundRect">
            <a:avLst>
              <a:gd name="adj" fmla="val 12000"/>
            </a:avLst>
          </a:prstGeom>
          <a:solidFill>
            <a:srgbClr val="F2F2F2"/>
          </a:solidFill>
          <a:ln w="12700">
            <a:solidFill>
              <a:srgbClr val="616161"/>
            </a:solidFill>
            <a:prstDash val="solid"/>
          </a:ln>
        </p:spPr>
      </p:sp>
      <p:sp>
        <p:nvSpPr>
          <p:cNvPr id="50" name="Text 42"/>
          <p:cNvSpPr txBox="1"/>
          <p:nvPr/>
        </p:nvSpPr>
        <p:spPr>
          <a:xfrm>
            <a:off x="4690872" y="3749040"/>
            <a:ext cx="1865376" cy="457200"/>
          </a:xfrm>
          <a:prstGeom prst="rect">
            <a:avLst/>
          </a:prstGeom>
          <a:noFill/>
          <a:ln/>
        </p:spPr>
        <p:txBody>
          <a:bodyPr wrap="square" lIns="0" tIns="0" rIns="0" bIns="0" rtlCol="0" anchor="ctr"/>
          <a:lstStyle/>
          <a:p>
            <a:pPr algn="ctr" indent="0" marL="0">
              <a:buNone/>
            </a:pPr>
            <a:r>
              <a:rPr lang="en-US" sz="1200" dirty="0">
                <a:solidFill>
                  <a:srgbClr val="1F2430"/>
                </a:solidFill>
              </a:rPr>
              <a:t>Bakul: interview only</a:t>
            </a:r>
            <a:endParaRPr lang="en-US" sz="1200" dirty="0"/>
          </a:p>
        </p:txBody>
      </p:sp>
      <p:sp>
        <p:nvSpPr>
          <p:cNvPr id="51" name="Shape 43"/>
          <p:cNvSpPr/>
          <p:nvPr/>
        </p:nvSpPr>
        <p:spPr>
          <a:xfrm>
            <a:off x="6711696" y="3749040"/>
            <a:ext cx="1993392" cy="640080"/>
          </a:xfrm>
          <a:prstGeom prst="roundRect">
            <a:avLst>
              <a:gd name="adj" fmla="val 8571"/>
            </a:avLst>
          </a:prstGeom>
          <a:solidFill>
            <a:srgbClr val="F2F2F2"/>
          </a:solidFill>
          <a:ln w="12700">
            <a:solidFill>
              <a:srgbClr val="616161"/>
            </a:solidFill>
            <a:prstDash val="dash"/>
          </a:ln>
        </p:spPr>
      </p:sp>
      <p:sp>
        <p:nvSpPr>
          <p:cNvPr id="52" name="Text 44"/>
          <p:cNvSpPr txBox="1"/>
          <p:nvPr/>
        </p:nvSpPr>
        <p:spPr>
          <a:xfrm>
            <a:off x="6775704" y="3749040"/>
            <a:ext cx="1865376" cy="640080"/>
          </a:xfrm>
          <a:prstGeom prst="rect">
            <a:avLst/>
          </a:prstGeom>
          <a:noFill/>
          <a:ln/>
        </p:spPr>
        <p:txBody>
          <a:bodyPr wrap="square" lIns="0" tIns="0" rIns="0" bIns="0" rtlCol="0" anchor="ctr"/>
          <a:lstStyle/>
          <a:p>
            <a:pPr algn="ctr" indent="0" marL="0">
              <a:buNone/>
            </a:pPr>
            <a:r>
              <a:rPr lang="en-US" sz="1200" dirty="0">
                <a:solidFill>
                  <a:srgbClr val="1F2430"/>
                </a:solidFill>
              </a:rPr>
              <a:t>Palash: candidate, shares Bakul’s off-site kitchen, unconfirmed</a:t>
            </a:r>
            <a:endParaRPr lang="en-US" sz="1200" dirty="0"/>
          </a:p>
        </p:txBody>
      </p:sp>
      <p:sp>
        <p:nvSpPr>
          <p:cNvPr id="53" name="Text 45"/>
          <p:cNvSpPr txBox="1"/>
          <p:nvPr/>
        </p:nvSpPr>
        <p:spPr>
          <a:xfrm>
            <a:off x="457200" y="4526280"/>
            <a:ext cx="4572000" cy="201168"/>
          </a:xfrm>
          <a:prstGeom prst="rect">
            <a:avLst/>
          </a:prstGeom>
          <a:noFill/>
          <a:ln/>
        </p:spPr>
        <p:txBody>
          <a:bodyPr wrap="square" lIns="0" tIns="0" rIns="0" bIns="0" rtlCol="0" anchor="t"/>
          <a:lstStyle/>
          <a:p>
            <a:pPr algn="l" indent="0" marL="0">
              <a:buNone/>
            </a:pPr>
            <a:r>
              <a:rPr lang="en-US" sz="1200" i="1" dirty="0">
                <a:solidFill>
                  <a:srgbClr val="616161"/>
                </a:solidFill>
              </a:rPr>
              <a:t>Sampling followed access, not chance.</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team used interviews to explain the mechanism and records to count it</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17220" y="4841748"/>
            <a:ext cx="146304" cy="146304"/>
          </a:xfrm>
          <a:prstGeom prst="ellipse">
            <a:avLst/>
          </a:prstGeom>
          <a:solidFill>
            <a:srgbClr val="1A237E"/>
          </a:solidFill>
          <a:ln/>
        </p:spPr>
      </p:sp>
      <p:sp>
        <p:nvSpPr>
          <p:cNvPr id="5" name="Shape 3"/>
          <p:cNvSpPr/>
          <p:nvPr/>
        </p:nvSpPr>
        <p:spPr>
          <a:xfrm>
            <a:off x="580644" y="4805172"/>
            <a:ext cx="219456" cy="219456"/>
          </a:xfrm>
          <a:prstGeom prst="ellipse">
            <a:avLst/>
          </a:prstGeom>
          <a:ln w="9525">
            <a:solidFill>
              <a:srgbClr val="1A237E"/>
            </a:solidFill>
            <a:prstDash val="solid"/>
          </a:ln>
        </p:spPr>
      </p:sp>
      <p:sp>
        <p:nvSpPr>
          <p:cNvPr id="6" name="Shape 4"/>
          <p:cNvSpPr/>
          <p:nvPr/>
        </p:nvSpPr>
        <p:spPr>
          <a:xfrm>
            <a:off x="822960" y="4864608"/>
            <a:ext cx="100584" cy="100584"/>
          </a:xfrm>
          <a:prstGeom prst="ellipse">
            <a:avLst/>
          </a:prstGeom>
          <a:ln w="9525">
            <a:solidFill>
              <a:srgbClr val="9AA3B5"/>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2 Approach</a:t>
            </a:r>
            <a:endParaRPr lang="en-US" sz="1000" dirty="0"/>
          </a:p>
        </p:txBody>
      </p:sp>
      <p:sp>
        <p:nvSpPr>
          <p:cNvPr id="15" name="Shape 13"/>
          <p:cNvSpPr/>
          <p:nvPr/>
        </p:nvSpPr>
        <p:spPr>
          <a:xfrm>
            <a:off x="6839712" y="109728"/>
            <a:ext cx="91440" cy="91440"/>
          </a:xfrm>
          <a:prstGeom prst="ellipse">
            <a:avLst/>
          </a:prstGeom>
          <a:ln w="9525">
            <a:solidFill>
              <a:srgbClr val="1A237E"/>
            </a:solidFill>
            <a:prstDash val="solid"/>
          </a:ln>
        </p:spPr>
      </p:sp>
      <p:sp>
        <p:nvSpPr>
          <p:cNvPr id="16" name="Shape 14"/>
          <p:cNvSpPr/>
          <p:nvPr/>
        </p:nvSpPr>
        <p:spPr>
          <a:xfrm>
            <a:off x="6986016" y="109728"/>
            <a:ext cx="91440" cy="91440"/>
          </a:xfrm>
          <a:prstGeom prst="ellipse">
            <a:avLst/>
          </a:prstGeom>
          <a:solidFill>
            <a:srgbClr val="1A237E"/>
          </a:solidFill>
          <a:ln w="9525">
            <a:solidFill>
              <a:srgbClr val="1A237E"/>
            </a:solidFill>
            <a:prstDash val="solid"/>
          </a:ln>
        </p:spPr>
      </p:sp>
      <p:sp>
        <p:nvSpPr>
          <p:cNvPr id="17" name="Shape 15"/>
          <p:cNvSpPr/>
          <p:nvPr/>
        </p:nvSpPr>
        <p:spPr>
          <a:xfrm>
            <a:off x="7132320" y="109728"/>
            <a:ext cx="91440" cy="91440"/>
          </a:xfrm>
          <a:prstGeom prst="ellipse">
            <a:avLst/>
          </a:prstGeom>
          <a:ln w="9525">
            <a:solidFill>
              <a:srgbClr val="1A237E"/>
            </a:solidFill>
            <a:prstDash val="solid"/>
          </a:ln>
        </p:spPr>
      </p:sp>
      <p:sp>
        <p:nvSpPr>
          <p:cNvPr id="18" name="Shape 16"/>
          <p:cNvSpPr/>
          <p:nvPr/>
        </p:nvSpPr>
        <p:spPr>
          <a:xfrm>
            <a:off x="7278624" y="109728"/>
            <a:ext cx="91440" cy="91440"/>
          </a:xfrm>
          <a:prstGeom prst="ellipse">
            <a:avLst/>
          </a:prstGeom>
          <a:ln w="9525">
            <a:solidFill>
              <a:srgbClr val="1A237E"/>
            </a:solidFill>
            <a:prstDash val="solid"/>
          </a:ln>
        </p:spPr>
      </p:sp>
      <p:sp>
        <p:nvSpPr>
          <p:cNvPr id="19" name="Shape 17"/>
          <p:cNvSpPr/>
          <p:nvPr/>
        </p:nvSpPr>
        <p:spPr>
          <a:xfrm>
            <a:off x="7424928" y="109728"/>
            <a:ext cx="91440" cy="91440"/>
          </a:xfrm>
          <a:prstGeom prst="ellipse">
            <a:avLst/>
          </a:prstGeom>
          <a:ln w="9525">
            <a:solidFill>
              <a:srgbClr val="1A237E"/>
            </a:solidFill>
            <a:prstDash val="solid"/>
          </a:ln>
        </p:spPr>
      </p:sp>
      <p:sp>
        <p:nvSpPr>
          <p:cNvPr id="20" name="Shape 18"/>
          <p:cNvSpPr/>
          <p:nvPr/>
        </p:nvSpPr>
        <p:spPr>
          <a:xfrm>
            <a:off x="7571232" y="109728"/>
            <a:ext cx="91440" cy="91440"/>
          </a:xfrm>
          <a:prstGeom prst="ellipse">
            <a:avLst/>
          </a:prstGeom>
          <a:ln w="9525">
            <a:solidFill>
              <a:srgbClr val="1A237E"/>
            </a:solidFill>
            <a:prstDash val="solid"/>
          </a:ln>
        </p:spPr>
      </p:sp>
      <p:sp>
        <p:nvSpPr>
          <p:cNvPr id="21" name="Shape 19"/>
          <p:cNvSpPr/>
          <p:nvPr/>
        </p:nvSpPr>
        <p:spPr>
          <a:xfrm>
            <a:off x="7717536" y="109728"/>
            <a:ext cx="91440" cy="91440"/>
          </a:xfrm>
          <a:prstGeom prst="ellipse">
            <a:avLst/>
          </a:prstGeom>
          <a:ln w="9525">
            <a:solidFill>
              <a:srgbClr val="1A237E"/>
            </a:solidFill>
            <a:prstDash val="solid"/>
          </a:ln>
        </p:spPr>
      </p:sp>
      <p:sp>
        <p:nvSpPr>
          <p:cNvPr id="22" name="Shape 20"/>
          <p:cNvSpPr/>
          <p:nvPr/>
        </p:nvSpPr>
        <p:spPr>
          <a:xfrm>
            <a:off x="7863840" y="109728"/>
            <a:ext cx="91440" cy="91440"/>
          </a:xfrm>
          <a:prstGeom prst="ellipse">
            <a:avLst/>
          </a:prstGeom>
          <a:ln w="9525">
            <a:solidFill>
              <a:srgbClr val="1A237E"/>
            </a:solidFill>
            <a:prstDash val="solid"/>
          </a:ln>
        </p:spPr>
      </p:sp>
      <p:sp>
        <p:nvSpPr>
          <p:cNvPr id="23" name="Shape 21"/>
          <p:cNvSpPr/>
          <p:nvPr/>
        </p:nvSpPr>
        <p:spPr>
          <a:xfrm>
            <a:off x="8010144" y="109728"/>
            <a:ext cx="91440" cy="91440"/>
          </a:xfrm>
          <a:prstGeom prst="ellipse">
            <a:avLst/>
          </a:prstGeom>
          <a:ln w="9525">
            <a:solidFill>
              <a:srgbClr val="1A237E"/>
            </a:solidFill>
            <a:prstDash val="solid"/>
          </a:ln>
        </p:spPr>
      </p:sp>
      <p:sp>
        <p:nvSpPr>
          <p:cNvPr id="24" name="Shape 22"/>
          <p:cNvSpPr/>
          <p:nvPr/>
        </p:nvSpPr>
        <p:spPr>
          <a:xfrm>
            <a:off x="8156448" y="109728"/>
            <a:ext cx="91440" cy="91440"/>
          </a:xfrm>
          <a:prstGeom prst="ellipse">
            <a:avLst/>
          </a:prstGeom>
          <a:ln w="9525">
            <a:solidFill>
              <a:srgbClr val="1A237E"/>
            </a:solidFill>
            <a:prstDash val="solid"/>
          </a:ln>
        </p:spPr>
      </p:sp>
      <p:sp>
        <p:nvSpPr>
          <p:cNvPr id="25" name="Shape 23"/>
          <p:cNvSpPr/>
          <p:nvPr/>
        </p:nvSpPr>
        <p:spPr>
          <a:xfrm>
            <a:off x="8302752" y="109728"/>
            <a:ext cx="91440" cy="91440"/>
          </a:xfrm>
          <a:prstGeom prst="ellipse">
            <a:avLst/>
          </a:prstGeom>
          <a:ln w="9525">
            <a:solidFill>
              <a:srgbClr val="1A237E"/>
            </a:solidFill>
            <a:prstDash val="solid"/>
          </a:ln>
        </p:spPr>
      </p:sp>
      <p:sp>
        <p:nvSpPr>
          <p:cNvPr id="26" name="Shape 24"/>
          <p:cNvSpPr/>
          <p:nvPr/>
        </p:nvSpPr>
        <p:spPr>
          <a:xfrm>
            <a:off x="8449056" y="109728"/>
            <a:ext cx="91440" cy="91440"/>
          </a:xfrm>
          <a:prstGeom prst="ellipse">
            <a:avLst/>
          </a:prstGeom>
          <a:ln w="9525">
            <a:solidFill>
              <a:srgbClr val="1A237E"/>
            </a:solidFill>
            <a:prstDash val="solid"/>
          </a:ln>
        </p:spPr>
      </p:sp>
      <p:sp>
        <p:nvSpPr>
          <p:cNvPr id="27" name="Shape 25"/>
          <p:cNvSpPr/>
          <p:nvPr/>
        </p:nvSpPr>
        <p:spPr>
          <a:xfrm>
            <a:off x="8595360" y="109728"/>
            <a:ext cx="91440" cy="91440"/>
          </a:xfrm>
          <a:prstGeom prst="ellipse">
            <a:avLst/>
          </a:prstGeom>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2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Use a few interviews to understand the mechanism and records to measure frequency</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2</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A questionnaire to a larger sample of students</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Many students did not know the rules a survey would ask about</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Prevalence rests on records for two halls in two different months</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Four leading questions found and rewritten before any real interview</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Every claim carries a label that says how it is known</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17220" y="4841748"/>
            <a:ext cx="146304" cy="146304"/>
          </a:xfrm>
          <a:prstGeom prst="ellipse">
            <a:avLst/>
          </a:prstGeom>
          <a:solidFill>
            <a:srgbClr val="1A237E"/>
          </a:solidFill>
          <a:ln/>
        </p:spPr>
      </p:sp>
      <p:sp>
        <p:nvSpPr>
          <p:cNvPr id="5" name="Shape 3"/>
          <p:cNvSpPr/>
          <p:nvPr/>
        </p:nvSpPr>
        <p:spPr>
          <a:xfrm>
            <a:off x="580644" y="4805172"/>
            <a:ext cx="219456" cy="219456"/>
          </a:xfrm>
          <a:prstGeom prst="ellipse">
            <a:avLst/>
          </a:prstGeom>
          <a:ln w="9525">
            <a:solidFill>
              <a:srgbClr val="1A237E"/>
            </a:solidFill>
            <a:prstDash val="solid"/>
          </a:ln>
        </p:spPr>
      </p:sp>
      <p:sp>
        <p:nvSpPr>
          <p:cNvPr id="6" name="Shape 4"/>
          <p:cNvSpPr/>
          <p:nvPr/>
        </p:nvSpPr>
        <p:spPr>
          <a:xfrm>
            <a:off x="822960" y="4864608"/>
            <a:ext cx="100584" cy="100584"/>
          </a:xfrm>
          <a:prstGeom prst="ellipse">
            <a:avLst/>
          </a:prstGeom>
          <a:ln w="9525">
            <a:solidFill>
              <a:srgbClr val="9AA3B5"/>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2 Approach</a:t>
            </a:r>
            <a:endParaRPr lang="en-US" sz="1000" dirty="0"/>
          </a:p>
        </p:txBody>
      </p:sp>
      <p:sp>
        <p:nvSpPr>
          <p:cNvPr id="15" name="Shape 13"/>
          <p:cNvSpPr/>
          <p:nvPr/>
        </p:nvSpPr>
        <p:spPr>
          <a:xfrm>
            <a:off x="457200" y="1325880"/>
            <a:ext cx="1965960" cy="274320"/>
          </a:xfrm>
          <a:prstGeom prst="roundRect">
            <a:avLst>
              <a:gd name="adj" fmla="val 20000"/>
            </a:avLst>
          </a:prstGeom>
          <a:solidFill>
            <a:srgbClr val="2E7D32"/>
          </a:solidFill>
          <a:ln w="12700">
            <a:solidFill>
              <a:srgbClr val="2E7D32"/>
            </a:solidFill>
            <a:prstDash val="solid"/>
          </a:ln>
        </p:spPr>
      </p:sp>
      <p:sp>
        <p:nvSpPr>
          <p:cNvPr id="16" name="Text 14"/>
          <p:cNvSpPr txBox="1"/>
          <p:nvPr/>
        </p:nvSpPr>
        <p:spPr>
          <a:xfrm>
            <a:off x="457200" y="1325880"/>
            <a:ext cx="1965960"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rPr>
              <a:t>CONFIRMED</a:t>
            </a:r>
            <a:endParaRPr lang="en-US" sz="1100" dirty="0"/>
          </a:p>
        </p:txBody>
      </p:sp>
      <p:sp>
        <p:nvSpPr>
          <p:cNvPr id="17" name="Text 15"/>
          <p:cNvSpPr txBox="1"/>
          <p:nvPr/>
        </p:nvSpPr>
        <p:spPr>
          <a:xfrm>
            <a:off x="457200" y="1655064"/>
            <a:ext cx="1965960" cy="640080"/>
          </a:xfrm>
          <a:prstGeom prst="rect">
            <a:avLst/>
          </a:prstGeom>
          <a:noFill/>
          <a:ln/>
        </p:spPr>
        <p:txBody>
          <a:bodyPr wrap="square" lIns="0" tIns="0" rIns="0" bIns="0" rtlCol="0" anchor="t"/>
          <a:lstStyle/>
          <a:p>
            <a:pPr algn="l" indent="0" marL="0">
              <a:buNone/>
            </a:pPr>
            <a:r>
              <a:rPr lang="en-US" sz="1200" dirty="0">
                <a:solidFill>
                  <a:srgbClr val="1F2430"/>
                </a:solidFill>
              </a:rPr>
              <a:t>read off a record, seen on site, or stated alike by independent sources</a:t>
            </a:r>
            <a:endParaRPr lang="en-US" sz="1200" dirty="0"/>
          </a:p>
        </p:txBody>
      </p:sp>
      <p:sp>
        <p:nvSpPr>
          <p:cNvPr id="18" name="Shape 16"/>
          <p:cNvSpPr/>
          <p:nvPr/>
        </p:nvSpPr>
        <p:spPr>
          <a:xfrm>
            <a:off x="2542032" y="1325880"/>
            <a:ext cx="1965960" cy="274320"/>
          </a:xfrm>
          <a:prstGeom prst="roundRect">
            <a:avLst>
              <a:gd name="adj" fmla="val 20000"/>
            </a:avLst>
          </a:prstGeom>
          <a:solidFill>
            <a:srgbClr val="616161"/>
          </a:solidFill>
          <a:ln w="12700">
            <a:solidFill>
              <a:srgbClr val="616161"/>
            </a:solidFill>
            <a:prstDash val="solid"/>
          </a:ln>
        </p:spPr>
      </p:sp>
      <p:sp>
        <p:nvSpPr>
          <p:cNvPr id="19" name="Text 17"/>
          <p:cNvSpPr txBox="1"/>
          <p:nvPr/>
        </p:nvSpPr>
        <p:spPr>
          <a:xfrm>
            <a:off x="2542032" y="1325880"/>
            <a:ext cx="1965960"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rPr>
              <a:t>SINGLE-SOURCED</a:t>
            </a:r>
            <a:endParaRPr lang="en-US" sz="1100" dirty="0"/>
          </a:p>
        </p:txBody>
      </p:sp>
      <p:sp>
        <p:nvSpPr>
          <p:cNvPr id="20" name="Text 18"/>
          <p:cNvSpPr txBox="1"/>
          <p:nvPr/>
        </p:nvSpPr>
        <p:spPr>
          <a:xfrm>
            <a:off x="2542032" y="1655064"/>
            <a:ext cx="1965960" cy="640080"/>
          </a:xfrm>
          <a:prstGeom prst="rect">
            <a:avLst/>
          </a:prstGeom>
          <a:noFill/>
          <a:ln/>
        </p:spPr>
        <p:txBody>
          <a:bodyPr wrap="square" lIns="0" tIns="0" rIns="0" bIns="0" rtlCol="0" anchor="t"/>
          <a:lstStyle/>
          <a:p>
            <a:pPr algn="l" indent="0" marL="0">
              <a:buNone/>
            </a:pPr>
            <a:r>
              <a:rPr lang="en-US" sz="1200" dirty="0">
                <a:solidFill>
                  <a:srgbClr val="1F2430"/>
                </a:solidFill>
              </a:rPr>
              <a:t>one person or document, not checked</a:t>
            </a:r>
            <a:endParaRPr lang="en-US" sz="1200" dirty="0"/>
          </a:p>
        </p:txBody>
      </p:sp>
      <p:sp>
        <p:nvSpPr>
          <p:cNvPr id="21" name="Shape 19"/>
          <p:cNvSpPr/>
          <p:nvPr/>
        </p:nvSpPr>
        <p:spPr>
          <a:xfrm>
            <a:off x="4626864" y="1325880"/>
            <a:ext cx="1965960" cy="274320"/>
          </a:xfrm>
          <a:prstGeom prst="roundRect">
            <a:avLst>
              <a:gd name="adj" fmla="val 20000"/>
            </a:avLst>
          </a:prstGeom>
          <a:solidFill>
            <a:srgbClr val="FFF8E1"/>
          </a:solidFill>
          <a:ln w="12700">
            <a:solidFill>
              <a:srgbClr val="F57F17"/>
            </a:solidFill>
            <a:prstDash val="solid"/>
          </a:ln>
        </p:spPr>
      </p:sp>
      <p:sp>
        <p:nvSpPr>
          <p:cNvPr id="22" name="Text 20"/>
          <p:cNvSpPr txBox="1"/>
          <p:nvPr/>
        </p:nvSpPr>
        <p:spPr>
          <a:xfrm>
            <a:off x="4626864" y="1325880"/>
            <a:ext cx="1965960" cy="274320"/>
          </a:xfrm>
          <a:prstGeom prst="rect">
            <a:avLst/>
          </a:prstGeom>
          <a:noFill/>
          <a:ln/>
        </p:spPr>
        <p:txBody>
          <a:bodyPr wrap="square" lIns="0" tIns="0" rIns="0" bIns="0" rtlCol="0" anchor="ctr"/>
          <a:lstStyle/>
          <a:p>
            <a:pPr algn="ctr" indent="0" marL="0">
              <a:buNone/>
            </a:pPr>
            <a:r>
              <a:rPr lang="en-US" sz="1100" b="1" spc="100" kern="0" dirty="0">
                <a:solidFill>
                  <a:srgbClr val="8D4A00"/>
                </a:solidFill>
              </a:rPr>
              <a:t>CANDIDATE</a:t>
            </a:r>
            <a:endParaRPr lang="en-US" sz="1100" dirty="0"/>
          </a:p>
        </p:txBody>
      </p:sp>
      <p:sp>
        <p:nvSpPr>
          <p:cNvPr id="23" name="Text 21"/>
          <p:cNvSpPr txBox="1"/>
          <p:nvPr/>
        </p:nvSpPr>
        <p:spPr>
          <a:xfrm>
            <a:off x="4626864" y="1655064"/>
            <a:ext cx="1965960" cy="640080"/>
          </a:xfrm>
          <a:prstGeom prst="rect">
            <a:avLst/>
          </a:prstGeom>
          <a:noFill/>
          <a:ln/>
        </p:spPr>
        <p:txBody>
          <a:bodyPr wrap="square" lIns="0" tIns="0" rIns="0" bIns="0" rtlCol="0" anchor="t"/>
          <a:lstStyle/>
          <a:p>
            <a:pPr algn="l" indent="0" marL="0">
              <a:buNone/>
            </a:pPr>
            <a:r>
              <a:rPr lang="en-US" sz="1200" dirty="0">
                <a:solidFill>
                  <a:srgbClr val="1F2430"/>
                </a:solidFill>
              </a:rPr>
              <a:t>an inference combining sources</a:t>
            </a:r>
            <a:endParaRPr lang="en-US" sz="1200" dirty="0"/>
          </a:p>
        </p:txBody>
      </p:sp>
      <p:sp>
        <p:nvSpPr>
          <p:cNvPr id="24" name="Shape 22"/>
          <p:cNvSpPr/>
          <p:nvPr/>
        </p:nvSpPr>
        <p:spPr>
          <a:xfrm>
            <a:off x="6711696" y="1325880"/>
            <a:ext cx="1965960" cy="274320"/>
          </a:xfrm>
          <a:prstGeom prst="roundRect">
            <a:avLst>
              <a:gd name="adj" fmla="val 20000"/>
            </a:avLst>
          </a:prstGeom>
          <a:solidFill>
            <a:srgbClr val="FFF8E1"/>
          </a:solidFill>
          <a:ln w="12700">
            <a:solidFill>
              <a:srgbClr val="F57F17"/>
            </a:solidFill>
            <a:prstDash val="solid"/>
          </a:ln>
        </p:spPr>
      </p:sp>
      <p:sp>
        <p:nvSpPr>
          <p:cNvPr id="25" name="Text 23"/>
          <p:cNvSpPr txBox="1"/>
          <p:nvPr/>
        </p:nvSpPr>
        <p:spPr>
          <a:xfrm>
            <a:off x="6711696" y="1325880"/>
            <a:ext cx="1965960" cy="274320"/>
          </a:xfrm>
          <a:prstGeom prst="rect">
            <a:avLst/>
          </a:prstGeom>
          <a:noFill/>
          <a:ln/>
        </p:spPr>
        <p:txBody>
          <a:bodyPr wrap="square" lIns="0" tIns="0" rIns="0" bIns="0" rtlCol="0" anchor="ctr"/>
          <a:lstStyle/>
          <a:p>
            <a:pPr algn="ctr" indent="0" marL="0">
              <a:buNone/>
            </a:pPr>
            <a:r>
              <a:rPr lang="en-US" sz="1100" b="1" spc="100" kern="0" dirty="0">
                <a:solidFill>
                  <a:srgbClr val="8D4A00"/>
                </a:solidFill>
              </a:rPr>
              <a:t>ASSUMED</a:t>
            </a:r>
            <a:endParaRPr lang="en-US" sz="1100" dirty="0"/>
          </a:p>
        </p:txBody>
      </p:sp>
      <p:sp>
        <p:nvSpPr>
          <p:cNvPr id="26" name="Text 24"/>
          <p:cNvSpPr txBox="1"/>
          <p:nvPr/>
        </p:nvSpPr>
        <p:spPr>
          <a:xfrm>
            <a:off x="6711696" y="1655064"/>
            <a:ext cx="1965960" cy="640080"/>
          </a:xfrm>
          <a:prstGeom prst="rect">
            <a:avLst/>
          </a:prstGeom>
          <a:noFill/>
          <a:ln/>
        </p:spPr>
        <p:txBody>
          <a:bodyPr wrap="square" lIns="0" tIns="0" rIns="0" bIns="0" rtlCol="0" anchor="t"/>
          <a:lstStyle/>
          <a:p>
            <a:pPr algn="l" indent="0" marL="0">
              <a:buNone/>
            </a:pPr>
            <a:r>
              <a:rPr lang="en-US" sz="1200" dirty="0">
                <a:solidFill>
                  <a:srgbClr val="1F2430"/>
                </a:solidFill>
              </a:rPr>
              <a:t>a judgement made to go on</a:t>
            </a:r>
            <a:endParaRPr lang="en-US" sz="1200" dirty="0"/>
          </a:p>
        </p:txBody>
      </p:sp>
      <p:sp>
        <p:nvSpPr>
          <p:cNvPr id="27" name="Shape 25"/>
          <p:cNvSpPr/>
          <p:nvPr/>
        </p:nvSpPr>
        <p:spPr>
          <a:xfrm>
            <a:off x="457200" y="2423160"/>
            <a:ext cx="2651760" cy="274320"/>
          </a:xfrm>
          <a:prstGeom prst="roundRect">
            <a:avLst>
              <a:gd name="adj" fmla="val 20000"/>
            </a:avLst>
          </a:prstGeom>
          <a:solidFill>
            <a:srgbClr val="1A237E"/>
          </a:solidFill>
          <a:ln w="12700">
            <a:solidFill>
              <a:srgbClr val="1A237E"/>
            </a:solidFill>
            <a:prstDash val="solid"/>
          </a:ln>
        </p:spPr>
      </p:sp>
      <p:sp>
        <p:nvSpPr>
          <p:cNvPr id="28" name="Text 26"/>
          <p:cNvSpPr txBox="1"/>
          <p:nvPr/>
        </p:nvSpPr>
        <p:spPr>
          <a:xfrm>
            <a:off x="457200" y="2423160"/>
            <a:ext cx="2651760"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rPr>
              <a:t>PROJECTED</a:t>
            </a:r>
            <a:endParaRPr lang="en-US" sz="1100" dirty="0"/>
          </a:p>
        </p:txBody>
      </p:sp>
      <p:sp>
        <p:nvSpPr>
          <p:cNvPr id="29" name="Text 27"/>
          <p:cNvSpPr txBox="1"/>
          <p:nvPr/>
        </p:nvSpPr>
        <p:spPr>
          <a:xfrm>
            <a:off x="457200" y="2752344"/>
            <a:ext cx="2651760" cy="640080"/>
          </a:xfrm>
          <a:prstGeom prst="rect">
            <a:avLst/>
          </a:prstGeom>
          <a:noFill/>
          <a:ln/>
        </p:spPr>
        <p:txBody>
          <a:bodyPr wrap="square" lIns="0" tIns="0" rIns="0" bIns="0" rtlCol="0" anchor="t"/>
          <a:lstStyle/>
          <a:p>
            <a:pPr algn="l" indent="0" marL="0">
              <a:buNone/>
            </a:pPr>
            <a:r>
              <a:rPr lang="en-US" sz="1200" dirty="0">
                <a:solidFill>
                  <a:srgbClr val="1F2430"/>
                </a:solidFill>
              </a:rPr>
              <a:t>arithmetic on real records</a:t>
            </a:r>
            <a:endParaRPr lang="en-US" sz="1200" dirty="0"/>
          </a:p>
        </p:txBody>
      </p:sp>
      <p:sp>
        <p:nvSpPr>
          <p:cNvPr id="30" name="Shape 28"/>
          <p:cNvSpPr/>
          <p:nvPr/>
        </p:nvSpPr>
        <p:spPr>
          <a:xfrm>
            <a:off x="3227832" y="2423160"/>
            <a:ext cx="2651760" cy="274320"/>
          </a:xfrm>
          <a:prstGeom prst="roundRect">
            <a:avLst>
              <a:gd name="adj" fmla="val 20000"/>
            </a:avLst>
          </a:prstGeom>
          <a:solidFill>
            <a:srgbClr val="6A1B9A"/>
          </a:solidFill>
          <a:ln w="12700">
            <a:solidFill>
              <a:srgbClr val="6A1B9A"/>
            </a:solidFill>
            <a:prstDash val="solid"/>
          </a:ln>
        </p:spPr>
      </p:sp>
      <p:sp>
        <p:nvSpPr>
          <p:cNvPr id="31" name="Text 29"/>
          <p:cNvSpPr txBox="1"/>
          <p:nvPr/>
        </p:nvSpPr>
        <p:spPr>
          <a:xfrm>
            <a:off x="3227832" y="2423160"/>
            <a:ext cx="2651760"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rPr>
              <a:t>REASONED</a:t>
            </a:r>
            <a:endParaRPr lang="en-US" sz="1100" dirty="0"/>
          </a:p>
        </p:txBody>
      </p:sp>
      <p:sp>
        <p:nvSpPr>
          <p:cNvPr id="32" name="Text 30"/>
          <p:cNvSpPr txBox="1"/>
          <p:nvPr/>
        </p:nvSpPr>
        <p:spPr>
          <a:xfrm>
            <a:off x="3227832" y="2752344"/>
            <a:ext cx="2651760" cy="640080"/>
          </a:xfrm>
          <a:prstGeom prst="rect">
            <a:avLst/>
          </a:prstGeom>
          <a:noFill/>
          <a:ln/>
        </p:spPr>
        <p:txBody>
          <a:bodyPr wrap="square" lIns="0" tIns="0" rIns="0" bIns="0" rtlCol="0" anchor="t"/>
          <a:lstStyle/>
          <a:p>
            <a:pPr algn="l" indent="0" marL="0">
              <a:buNone/>
            </a:pPr>
            <a:r>
              <a:rPr lang="en-US" sz="1200" dirty="0">
                <a:solidFill>
                  <a:srgbClr val="1F2430"/>
                </a:solidFill>
              </a:rPr>
              <a:t>the team’s expectation of how a group would respond, never their feedback</a:t>
            </a:r>
            <a:endParaRPr lang="en-US" sz="1200" dirty="0"/>
          </a:p>
        </p:txBody>
      </p:sp>
      <p:sp>
        <p:nvSpPr>
          <p:cNvPr id="33" name="Shape 31"/>
          <p:cNvSpPr/>
          <p:nvPr/>
        </p:nvSpPr>
        <p:spPr>
          <a:xfrm>
            <a:off x="5998464" y="2423160"/>
            <a:ext cx="2651760" cy="274320"/>
          </a:xfrm>
          <a:prstGeom prst="roundRect">
            <a:avLst>
              <a:gd name="adj" fmla="val 20000"/>
            </a:avLst>
          </a:prstGeom>
          <a:solidFill>
            <a:srgbClr val="00695C"/>
          </a:solidFill>
          <a:ln w="12700">
            <a:solidFill>
              <a:srgbClr val="00695C"/>
            </a:solidFill>
            <a:prstDash val="solid"/>
          </a:ln>
        </p:spPr>
      </p:sp>
      <p:sp>
        <p:nvSpPr>
          <p:cNvPr id="34" name="Text 32"/>
          <p:cNvSpPr txBox="1"/>
          <p:nvPr/>
        </p:nvSpPr>
        <p:spPr>
          <a:xfrm>
            <a:off x="5998464" y="2423160"/>
            <a:ext cx="2651760"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rPr>
              <a:t>PLANNED</a:t>
            </a:r>
            <a:endParaRPr lang="en-US" sz="1100" dirty="0"/>
          </a:p>
        </p:txBody>
      </p:sp>
      <p:sp>
        <p:nvSpPr>
          <p:cNvPr id="35" name="Text 33"/>
          <p:cNvSpPr txBox="1"/>
          <p:nvPr/>
        </p:nvSpPr>
        <p:spPr>
          <a:xfrm>
            <a:off x="5998464" y="2752344"/>
            <a:ext cx="2651760" cy="640080"/>
          </a:xfrm>
          <a:prstGeom prst="rect">
            <a:avLst/>
          </a:prstGeom>
          <a:noFill/>
          <a:ln/>
        </p:spPr>
        <p:txBody>
          <a:bodyPr wrap="square" lIns="0" tIns="0" rIns="0" bIns="0" rtlCol="0" anchor="t"/>
          <a:lstStyle/>
          <a:p>
            <a:pPr algn="l" indent="0" marL="0">
              <a:buNone/>
            </a:pPr>
            <a:r>
              <a:rPr lang="en-US" sz="1200" dirty="0">
                <a:solidFill>
                  <a:srgbClr val="1F2430"/>
                </a:solidFill>
              </a:rPr>
              <a:t>designed and not carried out</a:t>
            </a:r>
            <a:endParaRPr lang="en-US" sz="1200" dirty="0"/>
          </a:p>
        </p:txBody>
      </p:sp>
      <p:sp>
        <p:nvSpPr>
          <p:cNvPr id="36" name="Text 34"/>
          <p:cNvSpPr txBox="1"/>
          <p:nvPr/>
        </p:nvSpPr>
        <p:spPr>
          <a:xfrm>
            <a:off x="457200" y="3364992"/>
            <a:ext cx="4754880" cy="201168"/>
          </a:xfrm>
          <a:prstGeom prst="rect">
            <a:avLst/>
          </a:prstGeom>
          <a:noFill/>
          <a:ln/>
        </p:spPr>
        <p:txBody>
          <a:bodyPr wrap="square" lIns="0" tIns="0" rIns="0" bIns="0" rtlCol="0" anchor="t"/>
          <a:lstStyle/>
          <a:p>
            <a:pPr algn="l" indent="0" marL="0">
              <a:buNone/>
            </a:pPr>
            <a:r>
              <a:rPr lang="en-US" sz="1200" b="1" dirty="0">
                <a:solidFill>
                  <a:srgbClr val="1F2430"/>
                </a:solidFill>
              </a:rPr>
              <a:t>Loops are drawn closed only when every link is evidenced</a:t>
            </a:r>
            <a:endParaRPr lang="en-US" sz="1200" dirty="0"/>
          </a:p>
        </p:txBody>
      </p:sp>
      <p:sp>
        <p:nvSpPr>
          <p:cNvPr id="37" name="Shape 35"/>
          <p:cNvSpPr/>
          <p:nvPr/>
        </p:nvSpPr>
        <p:spPr>
          <a:xfrm>
            <a:off x="914400" y="4114800"/>
            <a:ext cx="822960" cy="0"/>
          </a:xfrm>
          <a:prstGeom prst="line">
            <a:avLst/>
          </a:prstGeom>
          <a:noFill/>
          <a:ln w="25400">
            <a:solidFill>
              <a:srgbClr val="2E7D32"/>
            </a:solidFill>
            <a:prstDash val="solid"/>
            <a:tailEnd type="triangle"/>
          </a:ln>
        </p:spPr>
      </p:sp>
      <p:sp>
        <p:nvSpPr>
          <p:cNvPr id="38" name="Shape 36"/>
          <p:cNvSpPr/>
          <p:nvPr/>
        </p:nvSpPr>
        <p:spPr>
          <a:xfrm flipH="1" flipV="1">
            <a:off x="1325880" y="3657600"/>
            <a:ext cx="411480" cy="457200"/>
          </a:xfrm>
          <a:prstGeom prst="line">
            <a:avLst/>
          </a:prstGeom>
          <a:noFill/>
          <a:ln w="25400">
            <a:solidFill>
              <a:srgbClr val="2E7D32"/>
            </a:solidFill>
            <a:prstDash val="solid"/>
            <a:tailEnd type="triangle"/>
          </a:ln>
        </p:spPr>
      </p:sp>
      <p:sp>
        <p:nvSpPr>
          <p:cNvPr id="39" name="Shape 37"/>
          <p:cNvSpPr/>
          <p:nvPr/>
        </p:nvSpPr>
        <p:spPr>
          <a:xfrm flipH="1">
            <a:off x="914400" y="3657600"/>
            <a:ext cx="411480" cy="457200"/>
          </a:xfrm>
          <a:prstGeom prst="line">
            <a:avLst/>
          </a:prstGeom>
          <a:noFill/>
          <a:ln w="25400">
            <a:solidFill>
              <a:srgbClr val="2E7D32"/>
            </a:solidFill>
            <a:prstDash val="solid"/>
            <a:tailEnd type="triangle"/>
          </a:ln>
        </p:spPr>
      </p:sp>
      <p:sp>
        <p:nvSpPr>
          <p:cNvPr id="40" name="Shape 38"/>
          <p:cNvSpPr/>
          <p:nvPr/>
        </p:nvSpPr>
        <p:spPr>
          <a:xfrm>
            <a:off x="841248" y="4041648"/>
            <a:ext cx="146304" cy="146304"/>
          </a:xfrm>
          <a:prstGeom prst="ellipse">
            <a:avLst/>
          </a:prstGeom>
          <a:solidFill>
            <a:srgbClr val="2E7D32"/>
          </a:solidFill>
          <a:ln/>
        </p:spPr>
      </p:sp>
      <p:sp>
        <p:nvSpPr>
          <p:cNvPr id="41" name="Shape 39"/>
          <p:cNvSpPr/>
          <p:nvPr/>
        </p:nvSpPr>
        <p:spPr>
          <a:xfrm>
            <a:off x="1664208" y="4041648"/>
            <a:ext cx="146304" cy="146304"/>
          </a:xfrm>
          <a:prstGeom prst="ellipse">
            <a:avLst/>
          </a:prstGeom>
          <a:solidFill>
            <a:srgbClr val="2E7D32"/>
          </a:solidFill>
          <a:ln/>
        </p:spPr>
      </p:sp>
      <p:sp>
        <p:nvSpPr>
          <p:cNvPr id="42" name="Shape 40"/>
          <p:cNvSpPr/>
          <p:nvPr/>
        </p:nvSpPr>
        <p:spPr>
          <a:xfrm>
            <a:off x="1252728" y="3584448"/>
            <a:ext cx="146304" cy="146304"/>
          </a:xfrm>
          <a:prstGeom prst="ellipse">
            <a:avLst/>
          </a:prstGeom>
          <a:solidFill>
            <a:srgbClr val="2E7D32"/>
          </a:solidFill>
          <a:ln/>
        </p:spPr>
      </p:sp>
      <p:sp>
        <p:nvSpPr>
          <p:cNvPr id="43" name="Text 41"/>
          <p:cNvSpPr txBox="1"/>
          <p:nvPr/>
        </p:nvSpPr>
        <p:spPr>
          <a:xfrm>
            <a:off x="1920240" y="3794760"/>
            <a:ext cx="1280160" cy="365760"/>
          </a:xfrm>
          <a:prstGeom prst="rect">
            <a:avLst/>
          </a:prstGeom>
          <a:noFill/>
          <a:ln/>
        </p:spPr>
        <p:txBody>
          <a:bodyPr wrap="square" lIns="0" tIns="0" rIns="0" bIns="0" rtlCol="0" anchor="t"/>
          <a:lstStyle/>
          <a:p>
            <a:pPr algn="l" indent="0" marL="0">
              <a:buNone/>
            </a:pPr>
            <a:r>
              <a:rPr lang="en-US" sz="1100" dirty="0">
                <a:solidFill>
                  <a:srgbClr val="2E7D32"/>
                </a:solidFill>
              </a:rPr>
              <a:t>every link evidenced</a:t>
            </a:r>
            <a:endParaRPr lang="en-US" sz="1100" dirty="0"/>
          </a:p>
        </p:txBody>
      </p:sp>
      <p:sp>
        <p:nvSpPr>
          <p:cNvPr id="44" name="Shape 42"/>
          <p:cNvSpPr/>
          <p:nvPr/>
        </p:nvSpPr>
        <p:spPr>
          <a:xfrm flipV="1">
            <a:off x="3566160" y="3840480"/>
            <a:ext cx="640080" cy="274320"/>
          </a:xfrm>
          <a:prstGeom prst="line">
            <a:avLst/>
          </a:prstGeom>
          <a:noFill/>
          <a:ln w="25400">
            <a:solidFill>
              <a:srgbClr val="F57F17"/>
            </a:solidFill>
            <a:prstDash val="solid"/>
            <a:tailEnd type="triangle"/>
          </a:ln>
        </p:spPr>
      </p:sp>
      <p:sp>
        <p:nvSpPr>
          <p:cNvPr id="45" name="Shape 43"/>
          <p:cNvSpPr/>
          <p:nvPr/>
        </p:nvSpPr>
        <p:spPr>
          <a:xfrm>
            <a:off x="4206240" y="3840480"/>
            <a:ext cx="640080" cy="274320"/>
          </a:xfrm>
          <a:prstGeom prst="line">
            <a:avLst/>
          </a:prstGeom>
          <a:noFill/>
          <a:ln w="25400">
            <a:solidFill>
              <a:srgbClr val="F57F17"/>
            </a:solidFill>
            <a:prstDash val="solid"/>
            <a:tailEnd type="triangle"/>
          </a:ln>
        </p:spPr>
      </p:sp>
      <p:sp>
        <p:nvSpPr>
          <p:cNvPr id="46" name="Shape 44"/>
          <p:cNvSpPr/>
          <p:nvPr/>
        </p:nvSpPr>
        <p:spPr>
          <a:xfrm flipH="1">
            <a:off x="3566160" y="4224528"/>
            <a:ext cx="1280160" cy="0"/>
          </a:xfrm>
          <a:prstGeom prst="line">
            <a:avLst/>
          </a:prstGeom>
          <a:noFill/>
          <a:ln w="25400">
            <a:solidFill>
              <a:srgbClr val="F57F17"/>
            </a:solidFill>
            <a:prstDash val="dash"/>
            <a:tailEnd type="triangle"/>
          </a:ln>
        </p:spPr>
      </p:sp>
      <p:sp>
        <p:nvSpPr>
          <p:cNvPr id="47" name="Shape 45"/>
          <p:cNvSpPr/>
          <p:nvPr/>
        </p:nvSpPr>
        <p:spPr>
          <a:xfrm>
            <a:off x="3493008" y="4041648"/>
            <a:ext cx="146304" cy="146304"/>
          </a:xfrm>
          <a:prstGeom prst="ellipse">
            <a:avLst/>
          </a:prstGeom>
          <a:solidFill>
            <a:srgbClr val="F57F17"/>
          </a:solidFill>
          <a:ln/>
        </p:spPr>
      </p:sp>
      <p:sp>
        <p:nvSpPr>
          <p:cNvPr id="48" name="Shape 46"/>
          <p:cNvSpPr/>
          <p:nvPr/>
        </p:nvSpPr>
        <p:spPr>
          <a:xfrm>
            <a:off x="4133088" y="3767328"/>
            <a:ext cx="146304" cy="146304"/>
          </a:xfrm>
          <a:prstGeom prst="ellipse">
            <a:avLst/>
          </a:prstGeom>
          <a:solidFill>
            <a:srgbClr val="F57F17"/>
          </a:solidFill>
          <a:ln/>
        </p:spPr>
      </p:sp>
      <p:sp>
        <p:nvSpPr>
          <p:cNvPr id="49" name="Shape 47"/>
          <p:cNvSpPr/>
          <p:nvPr/>
        </p:nvSpPr>
        <p:spPr>
          <a:xfrm>
            <a:off x="4773168" y="4041648"/>
            <a:ext cx="146304" cy="146304"/>
          </a:xfrm>
          <a:prstGeom prst="ellipse">
            <a:avLst/>
          </a:prstGeom>
          <a:solidFill>
            <a:srgbClr val="F57F17"/>
          </a:solidFill>
          <a:ln/>
        </p:spPr>
      </p:sp>
      <p:sp>
        <p:nvSpPr>
          <p:cNvPr id="50" name="Text 48"/>
          <p:cNvSpPr txBox="1"/>
          <p:nvPr/>
        </p:nvSpPr>
        <p:spPr>
          <a:xfrm>
            <a:off x="5029200" y="3886200"/>
            <a:ext cx="1371600" cy="365760"/>
          </a:xfrm>
          <a:prstGeom prst="rect">
            <a:avLst/>
          </a:prstGeom>
          <a:noFill/>
          <a:ln/>
        </p:spPr>
        <p:txBody>
          <a:bodyPr wrap="square" lIns="0" tIns="0" rIns="0" bIns="0" rtlCol="0" anchor="t"/>
          <a:lstStyle/>
          <a:p>
            <a:pPr algn="l" indent="0" marL="0">
              <a:buNone/>
            </a:pPr>
            <a:r>
              <a:rPr lang="en-US" sz="1100" dirty="0">
                <a:solidFill>
                  <a:srgbClr val="8D4A00"/>
                </a:solidFill>
              </a:rPr>
              <a:t>inferred link: dashed</a:t>
            </a:r>
            <a:endParaRPr lang="en-US" sz="1100" dirty="0"/>
          </a:p>
        </p:txBody>
      </p:sp>
      <p:sp>
        <p:nvSpPr>
          <p:cNvPr id="51" name="Shape 49"/>
          <p:cNvSpPr/>
          <p:nvPr/>
        </p:nvSpPr>
        <p:spPr>
          <a:xfrm>
            <a:off x="6309360" y="3566160"/>
            <a:ext cx="2377440" cy="868680"/>
          </a:xfrm>
          <a:prstGeom prst="roundRect">
            <a:avLst>
              <a:gd name="adj" fmla="val 6316"/>
            </a:avLst>
          </a:prstGeom>
          <a:solidFill>
            <a:srgbClr val="E8EAF6"/>
          </a:solidFill>
          <a:ln w="12700">
            <a:solidFill>
              <a:srgbClr val="1A237E"/>
            </a:solidFill>
            <a:prstDash val="solid"/>
          </a:ln>
        </p:spPr>
      </p:sp>
      <p:sp>
        <p:nvSpPr>
          <p:cNvPr id="52" name="Text 50"/>
          <p:cNvSpPr txBox="1"/>
          <p:nvPr/>
        </p:nvSpPr>
        <p:spPr>
          <a:xfrm>
            <a:off x="6373368" y="3566160"/>
            <a:ext cx="2249424" cy="868680"/>
          </a:xfrm>
          <a:prstGeom prst="rect">
            <a:avLst/>
          </a:prstGeom>
          <a:noFill/>
          <a:ln/>
        </p:spPr>
        <p:txBody>
          <a:bodyPr wrap="square" lIns="0" tIns="0" rIns="0" bIns="0" rtlCol="0" anchor="ctr"/>
          <a:lstStyle/>
          <a:p>
            <a:pPr algn="ctr" indent="0" marL="0">
              <a:buNone/>
            </a:pPr>
            <a:r>
              <a:rPr lang="en-US" sz="1200" dirty="0">
                <a:solidFill>
                  <a:srgbClr val="1F2430"/>
                </a:solidFill>
              </a:rPr>
              <a:t>Scenario replay: 23 days, 8 to 30 April, forecasting from earlier days of the same weekday</a:t>
            </a:r>
            <a:endParaRPr lang="en-US" sz="1200" dirty="0"/>
          </a:p>
        </p:txBody>
      </p:sp>
      <p:sp>
        <p:nvSpPr>
          <p:cNvPr id="53" name="Text 51"/>
          <p:cNvSpPr txBox="1"/>
          <p:nvPr/>
        </p:nvSpPr>
        <p:spPr>
          <a:xfrm>
            <a:off x="457200" y="4526280"/>
            <a:ext cx="4572000" cy="201168"/>
          </a:xfrm>
          <a:prstGeom prst="rect">
            <a:avLst/>
          </a:prstGeom>
          <a:noFill/>
          <a:ln/>
        </p:spPr>
        <p:txBody>
          <a:bodyPr wrap="square" lIns="0" tIns="0" rIns="0" bIns="0" rtlCol="0" anchor="t"/>
          <a:lstStyle/>
          <a:p>
            <a:pPr algn="l" indent="0" marL="0">
              <a:buNone/>
            </a:pPr>
            <a:r>
              <a:rPr lang="en-US" sz="1200" i="1" dirty="0">
                <a:solidFill>
                  <a:srgbClr val="616161"/>
                </a:solidFill>
              </a:rPr>
              <a:t>These labels appear as tags on later slides.</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Where recall and records disagreed, the records won</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17220" y="4841748"/>
            <a:ext cx="146304" cy="146304"/>
          </a:xfrm>
          <a:prstGeom prst="ellipse">
            <a:avLst/>
          </a:prstGeom>
          <a:solidFill>
            <a:srgbClr val="1A237E"/>
          </a:solidFill>
          <a:ln/>
        </p:spPr>
      </p:sp>
      <p:sp>
        <p:nvSpPr>
          <p:cNvPr id="5" name="Shape 3"/>
          <p:cNvSpPr/>
          <p:nvPr/>
        </p:nvSpPr>
        <p:spPr>
          <a:xfrm>
            <a:off x="580644" y="4805172"/>
            <a:ext cx="219456" cy="219456"/>
          </a:xfrm>
          <a:prstGeom prst="ellipse">
            <a:avLst/>
          </a:prstGeom>
          <a:ln w="9525">
            <a:solidFill>
              <a:srgbClr val="1A237E"/>
            </a:solidFill>
            <a:prstDash val="solid"/>
          </a:ln>
        </p:spPr>
      </p:sp>
      <p:sp>
        <p:nvSpPr>
          <p:cNvPr id="6" name="Shape 4"/>
          <p:cNvSpPr/>
          <p:nvPr/>
        </p:nvSpPr>
        <p:spPr>
          <a:xfrm>
            <a:off x="822960" y="4864608"/>
            <a:ext cx="100584" cy="100584"/>
          </a:xfrm>
          <a:prstGeom prst="ellipse">
            <a:avLst/>
          </a:prstGeom>
          <a:ln w="9525">
            <a:solidFill>
              <a:srgbClr val="9AA3B5"/>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2 Approach</a:t>
            </a:r>
            <a:endParaRPr lang="en-US" sz="1000" dirty="0"/>
          </a:p>
        </p:txBody>
      </p:sp>
      <p:sp>
        <p:nvSpPr>
          <p:cNvPr id="15" name="Shape 13"/>
          <p:cNvSpPr/>
          <p:nvPr/>
        </p:nvSpPr>
        <p:spPr>
          <a:xfrm>
            <a:off x="6839712" y="109728"/>
            <a:ext cx="91440" cy="91440"/>
          </a:xfrm>
          <a:prstGeom prst="ellipse">
            <a:avLst/>
          </a:prstGeom>
          <a:ln w="9525">
            <a:solidFill>
              <a:srgbClr val="1A237E"/>
            </a:solidFill>
            <a:prstDash val="solid"/>
          </a:ln>
        </p:spPr>
      </p:sp>
      <p:sp>
        <p:nvSpPr>
          <p:cNvPr id="16" name="Shape 14"/>
          <p:cNvSpPr/>
          <p:nvPr/>
        </p:nvSpPr>
        <p:spPr>
          <a:xfrm>
            <a:off x="6986016" y="109728"/>
            <a:ext cx="91440" cy="91440"/>
          </a:xfrm>
          <a:prstGeom prst="ellipse">
            <a:avLst/>
          </a:prstGeom>
          <a:ln w="9525">
            <a:solidFill>
              <a:srgbClr val="1A237E"/>
            </a:solidFill>
            <a:prstDash val="solid"/>
          </a:ln>
        </p:spPr>
      </p:sp>
      <p:sp>
        <p:nvSpPr>
          <p:cNvPr id="17" name="Shape 15"/>
          <p:cNvSpPr/>
          <p:nvPr/>
        </p:nvSpPr>
        <p:spPr>
          <a:xfrm>
            <a:off x="7132320" y="109728"/>
            <a:ext cx="91440" cy="91440"/>
          </a:xfrm>
          <a:prstGeom prst="ellipse">
            <a:avLst/>
          </a:prstGeom>
          <a:solidFill>
            <a:srgbClr val="1A237E"/>
          </a:solidFill>
          <a:ln w="9525">
            <a:solidFill>
              <a:srgbClr val="1A237E"/>
            </a:solidFill>
            <a:prstDash val="solid"/>
          </a:ln>
        </p:spPr>
      </p:sp>
      <p:sp>
        <p:nvSpPr>
          <p:cNvPr id="18" name="Shape 16"/>
          <p:cNvSpPr/>
          <p:nvPr/>
        </p:nvSpPr>
        <p:spPr>
          <a:xfrm>
            <a:off x="7278624" y="109728"/>
            <a:ext cx="91440" cy="91440"/>
          </a:xfrm>
          <a:prstGeom prst="ellipse">
            <a:avLst/>
          </a:prstGeom>
          <a:ln w="9525">
            <a:solidFill>
              <a:srgbClr val="1A237E"/>
            </a:solidFill>
            <a:prstDash val="solid"/>
          </a:ln>
        </p:spPr>
      </p:sp>
      <p:sp>
        <p:nvSpPr>
          <p:cNvPr id="19" name="Shape 17"/>
          <p:cNvSpPr/>
          <p:nvPr/>
        </p:nvSpPr>
        <p:spPr>
          <a:xfrm>
            <a:off x="7424928" y="109728"/>
            <a:ext cx="91440" cy="91440"/>
          </a:xfrm>
          <a:prstGeom prst="ellipse">
            <a:avLst/>
          </a:prstGeom>
          <a:ln w="9525">
            <a:solidFill>
              <a:srgbClr val="1A237E"/>
            </a:solidFill>
            <a:prstDash val="solid"/>
          </a:ln>
        </p:spPr>
      </p:sp>
      <p:sp>
        <p:nvSpPr>
          <p:cNvPr id="20" name="Shape 18"/>
          <p:cNvSpPr/>
          <p:nvPr/>
        </p:nvSpPr>
        <p:spPr>
          <a:xfrm>
            <a:off x="7571232" y="109728"/>
            <a:ext cx="91440" cy="91440"/>
          </a:xfrm>
          <a:prstGeom prst="ellipse">
            <a:avLst/>
          </a:prstGeom>
          <a:ln w="9525">
            <a:solidFill>
              <a:srgbClr val="1A237E"/>
            </a:solidFill>
            <a:prstDash val="solid"/>
          </a:ln>
        </p:spPr>
      </p:sp>
      <p:sp>
        <p:nvSpPr>
          <p:cNvPr id="21" name="Shape 19"/>
          <p:cNvSpPr/>
          <p:nvPr/>
        </p:nvSpPr>
        <p:spPr>
          <a:xfrm>
            <a:off x="7717536" y="109728"/>
            <a:ext cx="91440" cy="91440"/>
          </a:xfrm>
          <a:prstGeom prst="ellipse">
            <a:avLst/>
          </a:prstGeom>
          <a:ln w="9525">
            <a:solidFill>
              <a:srgbClr val="1A237E"/>
            </a:solidFill>
            <a:prstDash val="solid"/>
          </a:ln>
        </p:spPr>
      </p:sp>
      <p:sp>
        <p:nvSpPr>
          <p:cNvPr id="22" name="Shape 20"/>
          <p:cNvSpPr/>
          <p:nvPr/>
        </p:nvSpPr>
        <p:spPr>
          <a:xfrm>
            <a:off x="7863840" y="109728"/>
            <a:ext cx="91440" cy="91440"/>
          </a:xfrm>
          <a:prstGeom prst="ellipse">
            <a:avLst/>
          </a:prstGeom>
          <a:ln w="9525">
            <a:solidFill>
              <a:srgbClr val="1A237E"/>
            </a:solidFill>
            <a:prstDash val="solid"/>
          </a:ln>
        </p:spPr>
      </p:sp>
      <p:sp>
        <p:nvSpPr>
          <p:cNvPr id="23" name="Shape 21"/>
          <p:cNvSpPr/>
          <p:nvPr/>
        </p:nvSpPr>
        <p:spPr>
          <a:xfrm>
            <a:off x="8010144" y="109728"/>
            <a:ext cx="91440" cy="91440"/>
          </a:xfrm>
          <a:prstGeom prst="ellipse">
            <a:avLst/>
          </a:prstGeom>
          <a:ln w="9525">
            <a:solidFill>
              <a:srgbClr val="1A237E"/>
            </a:solidFill>
            <a:prstDash val="solid"/>
          </a:ln>
        </p:spPr>
      </p:sp>
      <p:sp>
        <p:nvSpPr>
          <p:cNvPr id="24" name="Shape 22"/>
          <p:cNvSpPr/>
          <p:nvPr/>
        </p:nvSpPr>
        <p:spPr>
          <a:xfrm>
            <a:off x="8156448" y="109728"/>
            <a:ext cx="91440" cy="91440"/>
          </a:xfrm>
          <a:prstGeom prst="ellipse">
            <a:avLst/>
          </a:prstGeom>
          <a:ln w="9525">
            <a:solidFill>
              <a:srgbClr val="1A237E"/>
            </a:solidFill>
            <a:prstDash val="solid"/>
          </a:ln>
        </p:spPr>
      </p:sp>
      <p:sp>
        <p:nvSpPr>
          <p:cNvPr id="25" name="Shape 23"/>
          <p:cNvSpPr/>
          <p:nvPr/>
        </p:nvSpPr>
        <p:spPr>
          <a:xfrm>
            <a:off x="8302752" y="109728"/>
            <a:ext cx="91440" cy="91440"/>
          </a:xfrm>
          <a:prstGeom prst="ellipse">
            <a:avLst/>
          </a:prstGeom>
          <a:ln w="9525">
            <a:solidFill>
              <a:srgbClr val="1A237E"/>
            </a:solidFill>
            <a:prstDash val="solid"/>
          </a:ln>
        </p:spPr>
      </p:sp>
      <p:sp>
        <p:nvSpPr>
          <p:cNvPr id="26" name="Shape 24"/>
          <p:cNvSpPr/>
          <p:nvPr/>
        </p:nvSpPr>
        <p:spPr>
          <a:xfrm>
            <a:off x="8449056" y="109728"/>
            <a:ext cx="91440" cy="91440"/>
          </a:xfrm>
          <a:prstGeom prst="ellipse">
            <a:avLst/>
          </a:prstGeom>
          <a:ln w="9525">
            <a:solidFill>
              <a:srgbClr val="1A237E"/>
            </a:solidFill>
            <a:prstDash val="solid"/>
          </a:ln>
        </p:spPr>
      </p:sp>
      <p:sp>
        <p:nvSpPr>
          <p:cNvPr id="27" name="Shape 25"/>
          <p:cNvSpPr/>
          <p:nvPr/>
        </p:nvSpPr>
        <p:spPr>
          <a:xfrm>
            <a:off x="8595360" y="109728"/>
            <a:ext cx="91440" cy="91440"/>
          </a:xfrm>
          <a:prstGeom prst="ellipse">
            <a:avLst/>
          </a:prstGeom>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3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Trust records over recall, and label how sure each finding is</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3</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Hedged wording throughout, or waiting for more records</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A reader needs each finding and how sure the team is of it</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More qualifications; some findings stayed candidates for want of one link</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First working figure 30% unused, replaced by measured 63% and 72%</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The system is breakfast from registration to bin, with three layers inside the boundary</a:t>
            </a:r>
            <a:endParaRPr lang="en-US" sz="2400" dirty="0"/>
          </a:p>
        </p:txBody>
      </p:sp>
      <p:sp>
        <p:nvSpPr>
          <p:cNvPr id="3" name="Shape 1"/>
          <p:cNvSpPr/>
          <p:nvPr/>
        </p:nvSpPr>
        <p:spPr>
          <a:xfrm>
            <a:off x="457200" y="4864608"/>
            <a:ext cx="100584" cy="100584"/>
          </a:xfrm>
          <a:prstGeom prst="ellipse">
            <a:avLst/>
          </a:prstGeom>
          <a:solidFill>
            <a:srgbClr val="FFFFFF"/>
          </a:solidFill>
          <a:ln/>
        </p:spPr>
      </p:sp>
      <p:sp>
        <p:nvSpPr>
          <p:cNvPr id="4" name="Shape 2"/>
          <p:cNvSpPr/>
          <p:nvPr/>
        </p:nvSpPr>
        <p:spPr>
          <a:xfrm>
            <a:off x="640080" y="4864608"/>
            <a:ext cx="100584" cy="100584"/>
          </a:xfrm>
          <a:prstGeom prst="ellipse">
            <a:avLst/>
          </a:prstGeom>
          <a:solidFill>
            <a:srgbClr val="FFFFFF"/>
          </a:solidFill>
          <a:ln/>
        </p:spPr>
      </p:sp>
      <p:sp>
        <p:nvSpPr>
          <p:cNvPr id="5" name="Shape 3"/>
          <p:cNvSpPr/>
          <p:nvPr/>
        </p:nvSpPr>
        <p:spPr>
          <a:xfrm>
            <a:off x="800100" y="4841748"/>
            <a:ext cx="146304" cy="146304"/>
          </a:xfrm>
          <a:prstGeom prst="ellipse">
            <a:avLst/>
          </a:prstGeom>
          <a:solidFill>
            <a:srgbClr val="FFFFFF"/>
          </a:solidFill>
          <a:ln/>
        </p:spPr>
      </p:sp>
      <p:sp>
        <p:nvSpPr>
          <p:cNvPr id="6" name="Shape 4"/>
          <p:cNvSpPr/>
          <p:nvPr/>
        </p:nvSpPr>
        <p:spPr>
          <a:xfrm>
            <a:off x="763524" y="4805172"/>
            <a:ext cx="219456" cy="219456"/>
          </a:xfrm>
          <a:prstGeom prst="ellipse">
            <a:avLst/>
          </a:prstGeom>
          <a:ln w="9525">
            <a:solidFill>
              <a:srgbClr val="FFFFFF"/>
            </a:solidFill>
            <a:prstDash val="solid"/>
          </a:ln>
        </p:spPr>
      </p:sp>
      <p:sp>
        <p:nvSpPr>
          <p:cNvPr id="7" name="Shape 5"/>
          <p:cNvSpPr/>
          <p:nvPr/>
        </p:nvSpPr>
        <p:spPr>
          <a:xfrm>
            <a:off x="1005840" y="4864608"/>
            <a:ext cx="100584" cy="100584"/>
          </a:xfrm>
          <a:prstGeom prst="ellipse">
            <a:avLst/>
          </a:prstGeom>
          <a:ln w="9525">
            <a:solidFill>
              <a:srgbClr val="6B74A8"/>
            </a:solidFill>
            <a:prstDash val="solid"/>
          </a:ln>
        </p:spPr>
      </p:sp>
      <p:sp>
        <p:nvSpPr>
          <p:cNvPr id="8" name="Shape 6"/>
          <p:cNvSpPr/>
          <p:nvPr/>
        </p:nvSpPr>
        <p:spPr>
          <a:xfrm>
            <a:off x="1188720" y="4864608"/>
            <a:ext cx="100584" cy="100584"/>
          </a:xfrm>
          <a:prstGeom prst="ellipse">
            <a:avLst/>
          </a:prstGeom>
          <a:ln w="9525">
            <a:solidFill>
              <a:srgbClr val="6B74A8"/>
            </a:solidFill>
            <a:prstDash val="solid"/>
          </a:ln>
        </p:spPr>
      </p:sp>
      <p:sp>
        <p:nvSpPr>
          <p:cNvPr id="9" name="Shape 7"/>
          <p:cNvSpPr/>
          <p:nvPr/>
        </p:nvSpPr>
        <p:spPr>
          <a:xfrm>
            <a:off x="1371600" y="4864608"/>
            <a:ext cx="100584" cy="100584"/>
          </a:xfrm>
          <a:prstGeom prst="ellipse">
            <a:avLst/>
          </a:prstGeom>
          <a:ln w="9525">
            <a:solidFill>
              <a:srgbClr val="6B74A8"/>
            </a:solidFill>
            <a:prstDash val="solid"/>
          </a:ln>
        </p:spPr>
      </p:sp>
      <p:sp>
        <p:nvSpPr>
          <p:cNvPr id="10" name="Shape 8"/>
          <p:cNvSpPr/>
          <p:nvPr/>
        </p:nvSpPr>
        <p:spPr>
          <a:xfrm>
            <a:off x="1554480" y="4864608"/>
            <a:ext cx="100584" cy="100584"/>
          </a:xfrm>
          <a:prstGeom prst="ellipse">
            <a:avLst/>
          </a:prstGeom>
          <a:ln w="9525">
            <a:solidFill>
              <a:srgbClr val="6B74A8"/>
            </a:solidFill>
            <a:prstDash val="solid"/>
          </a:ln>
        </p:spPr>
      </p:sp>
      <p:sp>
        <p:nvSpPr>
          <p:cNvPr id="11" name="Shape 9"/>
          <p:cNvSpPr/>
          <p:nvPr/>
        </p:nvSpPr>
        <p:spPr>
          <a:xfrm>
            <a:off x="1737360" y="4864608"/>
            <a:ext cx="100584" cy="100584"/>
          </a:xfrm>
          <a:prstGeom prst="ellipse">
            <a:avLst/>
          </a:prstGeom>
          <a:ln w="9525">
            <a:solidFill>
              <a:srgbClr val="6B74A8"/>
            </a:solidFill>
            <a:prstDash val="solid"/>
          </a:ln>
        </p:spPr>
      </p:sp>
      <p:sp>
        <p:nvSpPr>
          <p:cNvPr id="12" name="Shape 10"/>
          <p:cNvSpPr/>
          <p:nvPr/>
        </p:nvSpPr>
        <p:spPr>
          <a:xfrm>
            <a:off x="1920240" y="4864608"/>
            <a:ext cx="100584" cy="100584"/>
          </a:xfrm>
          <a:prstGeom prst="ellipse">
            <a:avLst/>
          </a:prstGeom>
          <a:ln w="9525">
            <a:solidFill>
              <a:srgbClr val="6B74A8"/>
            </a:solidFill>
            <a:prstDash val="solid"/>
          </a:ln>
        </p:spPr>
      </p:sp>
      <p:sp>
        <p:nvSpPr>
          <p:cNvPr id="13" name="Shape 11"/>
          <p:cNvSpPr/>
          <p:nvPr/>
        </p:nvSpPr>
        <p:spPr>
          <a:xfrm>
            <a:off x="2103120" y="4864608"/>
            <a:ext cx="100584" cy="100584"/>
          </a:xfrm>
          <a:prstGeom prst="ellipse">
            <a:avLst/>
          </a:prstGeom>
          <a:ln w="9525">
            <a:solidFill>
              <a:srgbClr val="6B74A8"/>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B8BFE6"/>
                </a:solidFill>
              </a:rPr>
              <a:t>3 Understanding the system</a:t>
            </a:r>
            <a:endParaRPr lang="en-US" sz="1000" dirty="0"/>
          </a:p>
        </p:txBody>
      </p:sp>
      <p:sp>
        <p:nvSpPr>
          <p:cNvPr id="15" name="Shape 13"/>
          <p:cNvSpPr/>
          <p:nvPr/>
        </p:nvSpPr>
        <p:spPr>
          <a:xfrm>
            <a:off x="822960" y="1828800"/>
            <a:ext cx="7498080" cy="2395728"/>
          </a:xfrm>
          <a:prstGeom prst="roundRect">
            <a:avLst>
              <a:gd name="adj" fmla="val 11450"/>
            </a:avLst>
          </a:prstGeom>
          <a:ln w="19050">
            <a:solidFill>
              <a:srgbClr val="B8BFE6"/>
            </a:solidFill>
            <a:prstDash val="dash"/>
          </a:ln>
        </p:spPr>
      </p:sp>
      <p:sp>
        <p:nvSpPr>
          <p:cNvPr id="16" name="Text 14"/>
          <p:cNvSpPr txBox="1"/>
          <p:nvPr/>
        </p:nvSpPr>
        <p:spPr>
          <a:xfrm>
            <a:off x="1051560" y="1920240"/>
            <a:ext cx="2743200" cy="182880"/>
          </a:xfrm>
          <a:prstGeom prst="rect">
            <a:avLst/>
          </a:prstGeom>
          <a:noFill/>
          <a:ln/>
        </p:spPr>
        <p:txBody>
          <a:bodyPr wrap="square" lIns="0" tIns="0" rIns="0" bIns="0" rtlCol="0" anchor="t"/>
          <a:lstStyle/>
          <a:p>
            <a:pPr algn="l" indent="0" marL="0">
              <a:buNone/>
            </a:pPr>
            <a:r>
              <a:rPr lang="en-US" sz="1000" b="1" spc="300" kern="0" dirty="0">
                <a:solidFill>
                  <a:srgbClr val="B8BFE6"/>
                </a:solidFill>
              </a:rPr>
              <a:t>THE BOUNDARY</a:t>
            </a:r>
            <a:endParaRPr lang="en-US" sz="1000" dirty="0"/>
          </a:p>
        </p:txBody>
      </p:sp>
      <p:sp>
        <p:nvSpPr>
          <p:cNvPr id="17" name="Shape 15"/>
          <p:cNvSpPr/>
          <p:nvPr/>
        </p:nvSpPr>
        <p:spPr>
          <a:xfrm>
            <a:off x="1188720" y="2240280"/>
            <a:ext cx="2286000" cy="1051560"/>
          </a:xfrm>
          <a:prstGeom prst="roundRect">
            <a:avLst>
              <a:gd name="adj" fmla="val 6957"/>
            </a:avLst>
          </a:prstGeom>
          <a:solidFill>
            <a:srgbClr val="E3F2FD"/>
          </a:solidFill>
          <a:ln w="12700">
            <a:solidFill>
              <a:srgbClr val="1565C0"/>
            </a:solidFill>
            <a:prstDash val="solid"/>
          </a:ln>
        </p:spPr>
      </p:sp>
      <p:sp>
        <p:nvSpPr>
          <p:cNvPr id="18" name="Shape 16"/>
          <p:cNvSpPr/>
          <p:nvPr/>
        </p:nvSpPr>
        <p:spPr>
          <a:xfrm>
            <a:off x="1348740" y="2555748"/>
            <a:ext cx="411480" cy="411480"/>
          </a:xfrm>
          <a:prstGeom prst="ellipse">
            <a:avLst/>
          </a:prstGeom>
          <a:solidFill>
            <a:srgbClr val="1565C0"/>
          </a:solidFill>
          <a:ln/>
        </p:spPr>
      </p:sp>
      <p:pic>
        <p:nvPicPr>
          <p:cNvPr id="19" name="Image 0" descr="HowToReg">    </p:cNvPr>
          <p:cNvPicPr>
            <a:picLocks noChangeAspect="1"/>
          </p:cNvPicPr>
          <p:nvPr/>
        </p:nvPicPr>
        <p:blipFill>
          <a:blip r:embed="rId1"/>
          <a:stretch>
            <a:fillRect/>
          </a:stretch>
        </p:blipFill>
        <p:spPr>
          <a:xfrm>
            <a:off x="1431036" y="2638044"/>
            <a:ext cx="246888" cy="246888"/>
          </a:xfrm>
          <a:prstGeom prst="rect">
            <a:avLst/>
          </a:prstGeom>
        </p:spPr>
      </p:pic>
      <p:sp>
        <p:nvSpPr>
          <p:cNvPr id="20" name="Text 17"/>
          <p:cNvSpPr txBox="1"/>
          <p:nvPr/>
        </p:nvSpPr>
        <p:spPr>
          <a:xfrm>
            <a:off x="1901952" y="2331720"/>
            <a:ext cx="1508760" cy="411480"/>
          </a:xfrm>
          <a:prstGeom prst="rect">
            <a:avLst/>
          </a:prstGeom>
          <a:noFill/>
          <a:ln/>
        </p:spPr>
        <p:txBody>
          <a:bodyPr wrap="square" lIns="0" tIns="0" rIns="0" bIns="0" rtlCol="0" anchor="t"/>
          <a:lstStyle/>
          <a:p>
            <a:pPr algn="l" indent="0" marL="0">
              <a:buNone/>
            </a:pPr>
            <a:r>
              <a:rPr lang="en-US" sz="1300" b="1" dirty="0">
                <a:solidFill>
                  <a:srgbClr val="1F2430"/>
                </a:solidFill>
              </a:rPr>
              <a:t>Registration and billing</a:t>
            </a:r>
            <a:endParaRPr lang="en-US" sz="1300" dirty="0"/>
          </a:p>
        </p:txBody>
      </p:sp>
      <p:sp>
        <p:nvSpPr>
          <p:cNvPr id="21" name="Text 18"/>
          <p:cNvSpPr txBox="1"/>
          <p:nvPr/>
        </p:nvSpPr>
        <p:spPr>
          <a:xfrm>
            <a:off x="1901952" y="2743200"/>
            <a:ext cx="1508760" cy="502920"/>
          </a:xfrm>
          <a:prstGeom prst="rect">
            <a:avLst/>
          </a:prstGeom>
          <a:noFill/>
          <a:ln/>
        </p:spPr>
        <p:txBody>
          <a:bodyPr wrap="square" lIns="0" tIns="0" rIns="0" bIns="0" rtlCol="0" anchor="t"/>
          <a:lstStyle/>
          <a:p>
            <a:pPr algn="l" indent="0" marL="0">
              <a:buNone/>
            </a:pPr>
            <a:r>
              <a:rPr lang="en-US" sz="1100" dirty="0">
                <a:solidFill>
                  <a:srgbClr val="616161"/>
                </a:solidFill>
              </a:rPr>
              <a:t>The portal and the counter scan</a:t>
            </a:r>
            <a:endParaRPr lang="en-US" sz="1100" dirty="0"/>
          </a:p>
        </p:txBody>
      </p:sp>
      <p:sp>
        <p:nvSpPr>
          <p:cNvPr id="22" name="Shape 19"/>
          <p:cNvSpPr/>
          <p:nvPr/>
        </p:nvSpPr>
        <p:spPr>
          <a:xfrm>
            <a:off x="3657600" y="2240280"/>
            <a:ext cx="2286000" cy="1051560"/>
          </a:xfrm>
          <a:prstGeom prst="roundRect">
            <a:avLst>
              <a:gd name="adj" fmla="val 6957"/>
            </a:avLst>
          </a:prstGeom>
          <a:solidFill>
            <a:srgbClr val="E3F2FD"/>
          </a:solidFill>
          <a:ln w="12700">
            <a:solidFill>
              <a:srgbClr val="1565C0"/>
            </a:solidFill>
            <a:prstDash val="solid"/>
          </a:ln>
        </p:spPr>
      </p:sp>
      <p:sp>
        <p:nvSpPr>
          <p:cNvPr id="23" name="Shape 20"/>
          <p:cNvSpPr/>
          <p:nvPr/>
        </p:nvSpPr>
        <p:spPr>
          <a:xfrm>
            <a:off x="3817620" y="2555748"/>
            <a:ext cx="411480" cy="411480"/>
          </a:xfrm>
          <a:prstGeom prst="ellipse">
            <a:avLst/>
          </a:prstGeom>
          <a:solidFill>
            <a:srgbClr val="1565C0"/>
          </a:solidFill>
          <a:ln/>
        </p:spPr>
      </p:sp>
      <p:pic>
        <p:nvPicPr>
          <p:cNvPr id="24" name="Image 1" descr="Restaurant">    </p:cNvPr>
          <p:cNvPicPr>
            <a:picLocks noChangeAspect="1"/>
          </p:cNvPicPr>
          <p:nvPr/>
        </p:nvPicPr>
        <p:blipFill>
          <a:blip r:embed="rId2"/>
          <a:stretch>
            <a:fillRect/>
          </a:stretch>
        </p:blipFill>
        <p:spPr>
          <a:xfrm>
            <a:off x="3899916" y="2638044"/>
            <a:ext cx="246888" cy="246888"/>
          </a:xfrm>
          <a:prstGeom prst="rect">
            <a:avLst/>
          </a:prstGeom>
        </p:spPr>
      </p:pic>
      <p:sp>
        <p:nvSpPr>
          <p:cNvPr id="25" name="Text 21"/>
          <p:cNvSpPr txBox="1"/>
          <p:nvPr/>
        </p:nvSpPr>
        <p:spPr>
          <a:xfrm>
            <a:off x="4370832" y="2331720"/>
            <a:ext cx="1508760" cy="411480"/>
          </a:xfrm>
          <a:prstGeom prst="rect">
            <a:avLst/>
          </a:prstGeom>
          <a:noFill/>
          <a:ln/>
        </p:spPr>
        <p:txBody>
          <a:bodyPr wrap="square" lIns="0" tIns="0" rIns="0" bIns="0" rtlCol="0" anchor="t"/>
          <a:lstStyle/>
          <a:p>
            <a:pPr algn="l" indent="0" marL="0">
              <a:buNone/>
            </a:pPr>
            <a:r>
              <a:rPr lang="en-US" sz="1300" b="1" dirty="0">
                <a:solidFill>
                  <a:srgbClr val="1F2430"/>
                </a:solidFill>
              </a:rPr>
              <a:t>Kitchens</a:t>
            </a:r>
            <a:endParaRPr lang="en-US" sz="1300" dirty="0"/>
          </a:p>
        </p:txBody>
      </p:sp>
      <p:sp>
        <p:nvSpPr>
          <p:cNvPr id="26" name="Text 22"/>
          <p:cNvSpPr txBox="1"/>
          <p:nvPr/>
        </p:nvSpPr>
        <p:spPr>
          <a:xfrm>
            <a:off x="4370832" y="2743200"/>
            <a:ext cx="1508760" cy="502920"/>
          </a:xfrm>
          <a:prstGeom prst="rect">
            <a:avLst/>
          </a:prstGeom>
          <a:noFill/>
          <a:ln/>
        </p:spPr>
        <p:txBody>
          <a:bodyPr wrap="square" lIns="0" tIns="0" rIns="0" bIns="0" rtlCol="0" anchor="t"/>
          <a:lstStyle/>
          <a:p>
            <a:pPr algn="l" indent="0" marL="0">
              <a:buNone/>
            </a:pPr>
            <a:r>
              <a:rPr lang="en-US" sz="1100" dirty="0">
                <a:solidFill>
                  <a:srgbClr val="616161"/>
                </a:solidFill>
              </a:rPr>
              <a:t>One caterer per hall</a:t>
            </a:r>
            <a:endParaRPr lang="en-US" sz="1100" dirty="0"/>
          </a:p>
        </p:txBody>
      </p:sp>
      <p:sp>
        <p:nvSpPr>
          <p:cNvPr id="27" name="Shape 23"/>
          <p:cNvSpPr/>
          <p:nvPr/>
        </p:nvSpPr>
        <p:spPr>
          <a:xfrm>
            <a:off x="6126480" y="2240280"/>
            <a:ext cx="2286000" cy="1051560"/>
          </a:xfrm>
          <a:prstGeom prst="roundRect">
            <a:avLst>
              <a:gd name="adj" fmla="val 6957"/>
            </a:avLst>
          </a:prstGeom>
          <a:solidFill>
            <a:srgbClr val="E0F2F1"/>
          </a:solidFill>
          <a:ln w="12700">
            <a:solidFill>
              <a:srgbClr val="00695C"/>
            </a:solidFill>
            <a:prstDash val="solid"/>
          </a:ln>
        </p:spPr>
      </p:sp>
      <p:sp>
        <p:nvSpPr>
          <p:cNvPr id="28" name="Shape 24"/>
          <p:cNvSpPr/>
          <p:nvPr/>
        </p:nvSpPr>
        <p:spPr>
          <a:xfrm>
            <a:off x="6286500" y="2555748"/>
            <a:ext cx="411480" cy="411480"/>
          </a:xfrm>
          <a:prstGeom prst="ellipse">
            <a:avLst/>
          </a:prstGeom>
          <a:solidFill>
            <a:srgbClr val="00695C"/>
          </a:solidFill>
          <a:ln/>
        </p:spPr>
      </p:sp>
      <p:pic>
        <p:nvPicPr>
          <p:cNvPr id="29" name="Image 2" descr="AccountBalance">    </p:cNvPr>
          <p:cNvPicPr>
            <a:picLocks noChangeAspect="1"/>
          </p:cNvPicPr>
          <p:nvPr/>
        </p:nvPicPr>
        <p:blipFill>
          <a:blip r:embed="rId3"/>
          <a:stretch>
            <a:fillRect/>
          </a:stretch>
        </p:blipFill>
        <p:spPr>
          <a:xfrm>
            <a:off x="6368796" y="2638044"/>
            <a:ext cx="246888" cy="246888"/>
          </a:xfrm>
          <a:prstGeom prst="rect">
            <a:avLst/>
          </a:prstGeom>
        </p:spPr>
      </p:pic>
      <p:sp>
        <p:nvSpPr>
          <p:cNvPr id="30" name="Text 25"/>
          <p:cNvSpPr txBox="1"/>
          <p:nvPr/>
        </p:nvSpPr>
        <p:spPr>
          <a:xfrm>
            <a:off x="6839712" y="2331720"/>
            <a:ext cx="1508760" cy="411480"/>
          </a:xfrm>
          <a:prstGeom prst="rect">
            <a:avLst/>
          </a:prstGeom>
          <a:noFill/>
          <a:ln/>
        </p:spPr>
        <p:txBody>
          <a:bodyPr wrap="square" lIns="0" tIns="0" rIns="0" bIns="0" rtlCol="0" anchor="t"/>
          <a:lstStyle/>
          <a:p>
            <a:pPr algn="l" indent="0" marL="0">
              <a:buNone/>
            </a:pPr>
            <a:r>
              <a:rPr lang="en-US" sz="1300" b="1" dirty="0">
                <a:solidFill>
                  <a:srgbClr val="1F2430"/>
                </a:solidFill>
              </a:rPr>
              <a:t>Governance</a:t>
            </a:r>
            <a:endParaRPr lang="en-US" sz="1300" dirty="0"/>
          </a:p>
        </p:txBody>
      </p:sp>
      <p:sp>
        <p:nvSpPr>
          <p:cNvPr id="31" name="Text 26"/>
          <p:cNvSpPr txBox="1"/>
          <p:nvPr/>
        </p:nvSpPr>
        <p:spPr>
          <a:xfrm>
            <a:off x="6839712" y="2743200"/>
            <a:ext cx="1508760" cy="502920"/>
          </a:xfrm>
          <a:prstGeom prst="rect">
            <a:avLst/>
          </a:prstGeom>
          <a:noFill/>
          <a:ln/>
        </p:spPr>
        <p:txBody>
          <a:bodyPr wrap="square" lIns="0" tIns="0" rIns="0" bIns="0" rtlCol="0" anchor="t"/>
          <a:lstStyle/>
          <a:p>
            <a:pPr algn="l" indent="0" marL="0">
              <a:buNone/>
            </a:pPr>
            <a:r>
              <a:rPr lang="en-US" sz="1100" dirty="0">
                <a:solidFill>
                  <a:srgbClr val="616161"/>
                </a:solidFill>
              </a:rPr>
              <a:t>Rule owners and committees</a:t>
            </a:r>
            <a:endParaRPr lang="en-US" sz="1100" dirty="0"/>
          </a:p>
        </p:txBody>
      </p:sp>
      <p:sp>
        <p:nvSpPr>
          <p:cNvPr id="32" name="Shape 27"/>
          <p:cNvSpPr/>
          <p:nvPr/>
        </p:nvSpPr>
        <p:spPr>
          <a:xfrm>
            <a:off x="2011680" y="3520440"/>
            <a:ext cx="5120640" cy="457200"/>
          </a:xfrm>
          <a:prstGeom prst="roundRect">
            <a:avLst>
              <a:gd name="adj" fmla="val 12000"/>
            </a:avLst>
          </a:prstGeom>
          <a:solidFill>
            <a:srgbClr val="E8F5E9"/>
          </a:solidFill>
          <a:ln w="12700">
            <a:solidFill>
              <a:srgbClr val="2E7D32"/>
            </a:solidFill>
            <a:prstDash val="solid"/>
          </a:ln>
        </p:spPr>
      </p:sp>
      <p:sp>
        <p:nvSpPr>
          <p:cNvPr id="33" name="Text 28"/>
          <p:cNvSpPr txBox="1"/>
          <p:nvPr/>
        </p:nvSpPr>
        <p:spPr>
          <a:xfrm>
            <a:off x="2075688" y="3520440"/>
            <a:ext cx="4992624" cy="457200"/>
          </a:xfrm>
          <a:prstGeom prst="rect">
            <a:avLst/>
          </a:prstGeom>
          <a:noFill/>
          <a:ln/>
        </p:spPr>
        <p:txBody>
          <a:bodyPr wrap="square" lIns="0" tIns="0" rIns="0" bIns="0" rtlCol="0" anchor="ctr"/>
          <a:lstStyle/>
          <a:p>
            <a:pPr algn="ctr" indent="0" marL="0">
              <a:buNone/>
            </a:pPr>
            <a:r>
              <a:rPr lang="en-US" sz="1200" dirty="0">
                <a:solidFill>
                  <a:srgbClr val="1F2430"/>
                </a:solidFill>
              </a:rPr>
              <a:t>30 to 50 outsiders and about half the operator’s staff eat from the same pots</a:t>
            </a:r>
            <a:endParaRPr lang="en-US" sz="1200" dirty="0"/>
          </a:p>
        </p:txBody>
      </p:sp>
      <p:sp>
        <p:nvSpPr>
          <p:cNvPr id="34" name="Shape 29"/>
          <p:cNvSpPr/>
          <p:nvPr/>
        </p:nvSpPr>
        <p:spPr>
          <a:xfrm>
            <a:off x="457200" y="1261872"/>
            <a:ext cx="2011680" cy="384048"/>
          </a:xfrm>
          <a:prstGeom prst="roundRect">
            <a:avLst>
              <a:gd name="adj" fmla="val 14286"/>
            </a:avLst>
          </a:prstGeom>
          <a:solidFill>
            <a:srgbClr val="F2F2F2"/>
          </a:solidFill>
          <a:ln w="12700">
            <a:solidFill>
              <a:srgbClr val="616161"/>
            </a:solidFill>
            <a:prstDash val="dash"/>
          </a:ln>
        </p:spPr>
      </p:sp>
      <p:sp>
        <p:nvSpPr>
          <p:cNvPr id="35" name="Text 30"/>
          <p:cNvSpPr txBox="1"/>
          <p:nvPr/>
        </p:nvSpPr>
        <p:spPr>
          <a:xfrm>
            <a:off x="521208" y="1261872"/>
            <a:ext cx="1883664" cy="384048"/>
          </a:xfrm>
          <a:prstGeom prst="rect">
            <a:avLst/>
          </a:prstGeom>
          <a:noFill/>
          <a:ln/>
        </p:spPr>
        <p:txBody>
          <a:bodyPr wrap="square" lIns="0" tIns="0" rIns="0" bIns="0" rtlCol="0" anchor="ctr"/>
          <a:lstStyle/>
          <a:p>
            <a:pPr algn="ctr" indent="0" marL="0">
              <a:buNone/>
            </a:pPr>
            <a:r>
              <a:rPr lang="en-US" sz="1200" dirty="0">
                <a:solidFill>
                  <a:srgbClr val="1F2430"/>
                </a:solidFill>
              </a:rPr>
              <a:t>Class schedule</a:t>
            </a:r>
            <a:endParaRPr lang="en-US" sz="1200" dirty="0"/>
          </a:p>
        </p:txBody>
      </p:sp>
      <p:sp>
        <p:nvSpPr>
          <p:cNvPr id="36" name="Shape 31"/>
          <p:cNvSpPr/>
          <p:nvPr/>
        </p:nvSpPr>
        <p:spPr>
          <a:xfrm>
            <a:off x="6675120" y="1261872"/>
            <a:ext cx="2011680" cy="384048"/>
          </a:xfrm>
          <a:prstGeom prst="roundRect">
            <a:avLst>
              <a:gd name="adj" fmla="val 14286"/>
            </a:avLst>
          </a:prstGeom>
          <a:solidFill>
            <a:srgbClr val="F2F2F2"/>
          </a:solidFill>
          <a:ln w="12700">
            <a:solidFill>
              <a:srgbClr val="616161"/>
            </a:solidFill>
            <a:prstDash val="dash"/>
          </a:ln>
        </p:spPr>
      </p:sp>
      <p:sp>
        <p:nvSpPr>
          <p:cNvPr id="37" name="Text 32"/>
          <p:cNvSpPr txBox="1"/>
          <p:nvPr/>
        </p:nvSpPr>
        <p:spPr>
          <a:xfrm>
            <a:off x="6739128" y="1261872"/>
            <a:ext cx="1883664" cy="384048"/>
          </a:xfrm>
          <a:prstGeom prst="rect">
            <a:avLst/>
          </a:prstGeom>
          <a:noFill/>
          <a:ln/>
        </p:spPr>
        <p:txBody>
          <a:bodyPr wrap="square" lIns="0" tIns="0" rIns="0" bIns="0" rtlCol="0" anchor="ctr"/>
          <a:lstStyle/>
          <a:p>
            <a:pPr algn="ctr" indent="0" marL="0">
              <a:buNone/>
            </a:pPr>
            <a:r>
              <a:rPr lang="en-US" sz="1200" dirty="0">
                <a:solidFill>
                  <a:srgbClr val="1F2430"/>
                </a:solidFill>
              </a:rPr>
              <a:t>Alternatives: outside venues</a:t>
            </a:r>
            <a:endParaRPr lang="en-US" sz="1200" dirty="0"/>
          </a:p>
        </p:txBody>
      </p:sp>
      <p:sp>
        <p:nvSpPr>
          <p:cNvPr id="38" name="Text 33"/>
          <p:cNvSpPr txBox="1"/>
          <p:nvPr/>
        </p:nvSpPr>
        <p:spPr>
          <a:xfrm>
            <a:off x="457200" y="4389120"/>
            <a:ext cx="7315200" cy="274320"/>
          </a:xfrm>
          <a:prstGeom prst="rect">
            <a:avLst/>
          </a:prstGeom>
          <a:noFill/>
          <a:ln/>
        </p:spPr>
        <p:txBody>
          <a:bodyPr wrap="square" lIns="0" tIns="0" rIns="0" bIns="0" rtlCol="0" anchor="t"/>
          <a:lstStyle/>
          <a:p>
            <a:pPr algn="l" indent="0" marL="0">
              <a:buNone/>
            </a:pPr>
            <a:r>
              <a:rPr lang="en-US" sz="1400" dirty="0">
                <a:solidFill>
                  <a:srgbClr val="B8BFE6"/>
                </a:solidFill>
              </a:rPr>
              <a:t>Lunch and dinner sit outside and serve as the comparison.</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stated design plans from demand, and the actual mechanism plans from a default</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Text 13"/>
          <p:cNvSpPr txBox="1"/>
          <p:nvPr/>
        </p:nvSpPr>
        <p:spPr>
          <a:xfrm>
            <a:off x="2103120" y="1188720"/>
            <a:ext cx="274320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STATED DESIGN</a:t>
            </a:r>
            <a:endParaRPr lang="en-US" sz="1000" dirty="0"/>
          </a:p>
        </p:txBody>
      </p:sp>
      <p:sp>
        <p:nvSpPr>
          <p:cNvPr id="16" name="Text 14"/>
          <p:cNvSpPr txBox="1"/>
          <p:nvPr/>
        </p:nvSpPr>
        <p:spPr>
          <a:xfrm>
            <a:off x="5577840" y="1188720"/>
            <a:ext cx="2743200" cy="182880"/>
          </a:xfrm>
          <a:prstGeom prst="rect">
            <a:avLst/>
          </a:prstGeom>
          <a:noFill/>
          <a:ln/>
        </p:spPr>
        <p:txBody>
          <a:bodyPr wrap="square" lIns="0" tIns="0" rIns="0" bIns="0" rtlCol="0" anchor="t"/>
          <a:lstStyle/>
          <a:p>
            <a:pPr algn="l" indent="0" marL="0">
              <a:buNone/>
            </a:pPr>
            <a:r>
              <a:rPr lang="en-US" sz="1000" b="1" spc="200" kern="0" dirty="0">
                <a:solidFill>
                  <a:srgbClr val="C62828"/>
                </a:solidFill>
              </a:rPr>
              <a:t>ACTUAL MECHANISM</a:t>
            </a:r>
            <a:endParaRPr lang="en-US" sz="1000" dirty="0"/>
          </a:p>
        </p:txBody>
      </p:sp>
      <p:sp>
        <p:nvSpPr>
          <p:cNvPr id="17" name="Shape 15"/>
          <p:cNvSpPr/>
          <p:nvPr/>
        </p:nvSpPr>
        <p:spPr>
          <a:xfrm>
            <a:off x="484632" y="1691640"/>
            <a:ext cx="457200" cy="457200"/>
          </a:xfrm>
          <a:prstGeom prst="ellipse">
            <a:avLst/>
          </a:prstGeom>
          <a:solidFill>
            <a:srgbClr val="1A237E"/>
          </a:solidFill>
          <a:ln/>
        </p:spPr>
      </p:sp>
      <p:pic>
        <p:nvPicPr>
          <p:cNvPr id="18" name="Image 0" descr="HowToReg">    </p:cNvPr>
          <p:cNvPicPr>
            <a:picLocks noChangeAspect="1"/>
          </p:cNvPicPr>
          <p:nvPr/>
        </p:nvPicPr>
        <p:blipFill>
          <a:blip r:embed="rId1"/>
          <a:stretch>
            <a:fillRect/>
          </a:stretch>
        </p:blipFill>
        <p:spPr>
          <a:xfrm>
            <a:off x="576072" y="1783080"/>
            <a:ext cx="274320" cy="274320"/>
          </a:xfrm>
          <a:prstGeom prst="rect">
            <a:avLst/>
          </a:prstGeom>
        </p:spPr>
      </p:pic>
      <p:sp>
        <p:nvSpPr>
          <p:cNvPr id="19" name="Text 16"/>
          <p:cNvSpPr txBox="1"/>
          <p:nvPr/>
        </p:nvSpPr>
        <p:spPr>
          <a:xfrm>
            <a:off x="1051560" y="1463040"/>
            <a:ext cx="1005840" cy="914400"/>
          </a:xfrm>
          <a:prstGeom prst="rect">
            <a:avLst/>
          </a:prstGeom>
          <a:noFill/>
          <a:ln/>
        </p:spPr>
        <p:txBody>
          <a:bodyPr wrap="square" lIns="0" tIns="0" rIns="0" bIns="0" rtlCol="0" anchor="ctr"/>
          <a:lstStyle/>
          <a:p>
            <a:pPr algn="l" indent="0" marL="0">
              <a:buNone/>
            </a:pPr>
            <a:r>
              <a:rPr lang="en-US" sz="1200" b="1" dirty="0">
                <a:solidFill>
                  <a:srgbClr val="1F2430"/>
                </a:solidFill>
              </a:rPr>
              <a:t>What registration records</a:t>
            </a:r>
            <a:endParaRPr lang="en-US" sz="1200" dirty="0"/>
          </a:p>
        </p:txBody>
      </p:sp>
      <p:sp>
        <p:nvSpPr>
          <p:cNvPr id="20" name="Shape 17"/>
          <p:cNvSpPr/>
          <p:nvPr/>
        </p:nvSpPr>
        <p:spPr>
          <a:xfrm>
            <a:off x="2103120" y="1463040"/>
            <a:ext cx="3017520" cy="914400"/>
          </a:xfrm>
          <a:prstGeom prst="roundRect">
            <a:avLst>
              <a:gd name="adj" fmla="val 8000"/>
            </a:avLst>
          </a:prstGeom>
          <a:solidFill>
            <a:srgbClr val="F2F2F2"/>
          </a:solidFill>
          <a:ln/>
        </p:spPr>
      </p:sp>
      <p:sp>
        <p:nvSpPr>
          <p:cNvPr id="21" name="Text 18"/>
          <p:cNvSpPr txBox="1"/>
          <p:nvPr/>
        </p:nvSpPr>
        <p:spPr>
          <a:xfrm>
            <a:off x="2240280" y="1463040"/>
            <a:ext cx="2743200" cy="914400"/>
          </a:xfrm>
          <a:prstGeom prst="rect">
            <a:avLst/>
          </a:prstGeom>
          <a:noFill/>
          <a:ln/>
        </p:spPr>
        <p:txBody>
          <a:bodyPr wrap="square" lIns="0" tIns="0" rIns="0" bIns="0" rtlCol="0" anchor="ctr"/>
          <a:lstStyle/>
          <a:p>
            <a:pPr algn="l" indent="0" marL="0">
              <a:buNone/>
            </a:pPr>
            <a:r>
              <a:rPr lang="en-US" sz="1400" dirty="0">
                <a:solidFill>
                  <a:srgbClr val="616161"/>
                </a:solidFill>
              </a:rPr>
              <a:t>Demand, estimated in advance</a:t>
            </a:r>
            <a:endParaRPr lang="en-US" sz="1400" dirty="0"/>
          </a:p>
        </p:txBody>
      </p:sp>
      <p:sp>
        <p:nvSpPr>
          <p:cNvPr id="22" name="Shape 19"/>
          <p:cNvSpPr/>
          <p:nvPr/>
        </p:nvSpPr>
        <p:spPr>
          <a:xfrm>
            <a:off x="5166360" y="1920240"/>
            <a:ext cx="274320" cy="0"/>
          </a:xfrm>
          <a:prstGeom prst="line">
            <a:avLst/>
          </a:prstGeom>
          <a:noFill/>
          <a:ln w="31750">
            <a:solidFill>
              <a:srgbClr val="1A237E"/>
            </a:solidFill>
            <a:prstDash val="solid"/>
            <a:tailEnd type="triangle"/>
          </a:ln>
        </p:spPr>
      </p:sp>
      <p:sp>
        <p:nvSpPr>
          <p:cNvPr id="23" name="Shape 20"/>
          <p:cNvSpPr/>
          <p:nvPr/>
        </p:nvSpPr>
        <p:spPr>
          <a:xfrm>
            <a:off x="5577840" y="1463040"/>
            <a:ext cx="3108960" cy="914400"/>
          </a:xfrm>
          <a:prstGeom prst="roundRect">
            <a:avLst>
              <a:gd name="adj" fmla="val 8000"/>
            </a:avLst>
          </a:prstGeom>
          <a:solidFill>
            <a:srgbClr val="FDECEA"/>
          </a:solidFill>
          <a:ln w="12700">
            <a:solidFill>
              <a:srgbClr val="C62828"/>
            </a:solidFill>
            <a:prstDash val="solid"/>
          </a:ln>
        </p:spPr>
      </p:sp>
      <p:sp>
        <p:nvSpPr>
          <p:cNvPr id="24" name="Text 21"/>
          <p:cNvSpPr txBox="1"/>
          <p:nvPr/>
        </p:nvSpPr>
        <p:spPr>
          <a:xfrm>
            <a:off x="5715000" y="1463040"/>
            <a:ext cx="2834640" cy="914400"/>
          </a:xfrm>
          <a:prstGeom prst="rect">
            <a:avLst/>
          </a:prstGeom>
          <a:noFill/>
          <a:ln/>
        </p:spPr>
        <p:txBody>
          <a:bodyPr wrap="square" lIns="0" tIns="0" rIns="0" bIns="0" rtlCol="0" anchor="ctr"/>
          <a:lstStyle/>
          <a:p>
            <a:pPr algn="l" indent="0" marL="0">
              <a:buNone/>
            </a:pPr>
            <a:r>
              <a:rPr lang="en-US" sz="1400" dirty="0">
                <a:solidFill>
                  <a:srgbClr val="1F2430"/>
                </a:solidFill>
              </a:rPr>
              <a:t>A default students do not choose, flat across the week</a:t>
            </a:r>
            <a:endParaRPr lang="en-US" sz="1400" dirty="0"/>
          </a:p>
        </p:txBody>
      </p:sp>
      <p:sp>
        <p:nvSpPr>
          <p:cNvPr id="25" name="Shape 22"/>
          <p:cNvSpPr/>
          <p:nvPr/>
        </p:nvSpPr>
        <p:spPr>
          <a:xfrm>
            <a:off x="484632" y="2715768"/>
            <a:ext cx="457200" cy="457200"/>
          </a:xfrm>
          <a:prstGeom prst="ellipse">
            <a:avLst/>
          </a:prstGeom>
          <a:solidFill>
            <a:srgbClr val="1A237E"/>
          </a:solidFill>
          <a:ln/>
        </p:spPr>
      </p:sp>
      <p:pic>
        <p:nvPicPr>
          <p:cNvPr id="26" name="Image 1" descr="Restaurant">    </p:cNvPr>
          <p:cNvPicPr>
            <a:picLocks noChangeAspect="1"/>
          </p:cNvPicPr>
          <p:nvPr/>
        </p:nvPicPr>
        <p:blipFill>
          <a:blip r:embed="rId2"/>
          <a:stretch>
            <a:fillRect/>
          </a:stretch>
        </p:blipFill>
        <p:spPr>
          <a:xfrm>
            <a:off x="576072" y="2807208"/>
            <a:ext cx="274320" cy="274320"/>
          </a:xfrm>
          <a:prstGeom prst="rect">
            <a:avLst/>
          </a:prstGeom>
        </p:spPr>
      </p:pic>
      <p:sp>
        <p:nvSpPr>
          <p:cNvPr id="27" name="Text 23"/>
          <p:cNvSpPr txBox="1"/>
          <p:nvPr/>
        </p:nvSpPr>
        <p:spPr>
          <a:xfrm>
            <a:off x="1051560" y="2487168"/>
            <a:ext cx="1005840" cy="914400"/>
          </a:xfrm>
          <a:prstGeom prst="rect">
            <a:avLst/>
          </a:prstGeom>
          <a:noFill/>
          <a:ln/>
        </p:spPr>
        <p:txBody>
          <a:bodyPr wrap="square" lIns="0" tIns="0" rIns="0" bIns="0" rtlCol="0" anchor="ctr"/>
          <a:lstStyle/>
          <a:p>
            <a:pPr algn="l" indent="0" marL="0">
              <a:buNone/>
            </a:pPr>
            <a:r>
              <a:rPr lang="en-US" sz="1200" b="1" dirty="0">
                <a:solidFill>
                  <a:srgbClr val="1F2430"/>
                </a:solidFill>
              </a:rPr>
              <a:t>How kitchens plan</a:t>
            </a:r>
            <a:endParaRPr lang="en-US" sz="1200" dirty="0"/>
          </a:p>
        </p:txBody>
      </p:sp>
      <p:sp>
        <p:nvSpPr>
          <p:cNvPr id="28" name="Shape 24"/>
          <p:cNvSpPr/>
          <p:nvPr/>
        </p:nvSpPr>
        <p:spPr>
          <a:xfrm>
            <a:off x="2103120" y="2487168"/>
            <a:ext cx="3017520" cy="914400"/>
          </a:xfrm>
          <a:prstGeom prst="roundRect">
            <a:avLst>
              <a:gd name="adj" fmla="val 8000"/>
            </a:avLst>
          </a:prstGeom>
          <a:solidFill>
            <a:srgbClr val="F2F2F2"/>
          </a:solidFill>
          <a:ln/>
        </p:spPr>
      </p:sp>
      <p:sp>
        <p:nvSpPr>
          <p:cNvPr id="29" name="Text 25"/>
          <p:cNvSpPr txBox="1"/>
          <p:nvPr/>
        </p:nvSpPr>
        <p:spPr>
          <a:xfrm>
            <a:off x="2240280" y="2487168"/>
            <a:ext cx="2743200" cy="914400"/>
          </a:xfrm>
          <a:prstGeom prst="rect">
            <a:avLst/>
          </a:prstGeom>
          <a:noFill/>
          <a:ln/>
        </p:spPr>
        <p:txBody>
          <a:bodyPr wrap="square" lIns="0" tIns="0" rIns="0" bIns="0" rtlCol="0" anchor="ctr"/>
          <a:lstStyle/>
          <a:p>
            <a:pPr algn="l" indent="0" marL="0">
              <a:buNone/>
            </a:pPr>
            <a:r>
              <a:rPr lang="en-US" sz="1400" dirty="0">
                <a:solidFill>
                  <a:srgbClr val="616161"/>
                </a:solidFill>
              </a:rPr>
              <a:t>From the advance count</a:t>
            </a:r>
            <a:endParaRPr lang="en-US" sz="1400" dirty="0"/>
          </a:p>
        </p:txBody>
      </p:sp>
      <p:sp>
        <p:nvSpPr>
          <p:cNvPr id="30" name="Shape 26"/>
          <p:cNvSpPr/>
          <p:nvPr/>
        </p:nvSpPr>
        <p:spPr>
          <a:xfrm>
            <a:off x="5166360" y="2944368"/>
            <a:ext cx="274320" cy="0"/>
          </a:xfrm>
          <a:prstGeom prst="line">
            <a:avLst/>
          </a:prstGeom>
          <a:noFill/>
          <a:ln w="31750">
            <a:solidFill>
              <a:srgbClr val="1A237E"/>
            </a:solidFill>
            <a:prstDash val="solid"/>
            <a:tailEnd type="triangle"/>
          </a:ln>
        </p:spPr>
      </p:sp>
      <p:sp>
        <p:nvSpPr>
          <p:cNvPr id="31" name="Shape 27"/>
          <p:cNvSpPr/>
          <p:nvPr/>
        </p:nvSpPr>
        <p:spPr>
          <a:xfrm>
            <a:off x="5577840" y="2487168"/>
            <a:ext cx="3108960" cy="914400"/>
          </a:xfrm>
          <a:prstGeom prst="roundRect">
            <a:avLst>
              <a:gd name="adj" fmla="val 8000"/>
            </a:avLst>
          </a:prstGeom>
          <a:solidFill>
            <a:srgbClr val="FDECEA"/>
          </a:solidFill>
          <a:ln w="12700">
            <a:solidFill>
              <a:srgbClr val="C62828"/>
            </a:solidFill>
            <a:prstDash val="solid"/>
          </a:ln>
        </p:spPr>
      </p:sp>
      <p:sp>
        <p:nvSpPr>
          <p:cNvPr id="32" name="Text 28"/>
          <p:cNvSpPr txBox="1"/>
          <p:nvPr/>
        </p:nvSpPr>
        <p:spPr>
          <a:xfrm>
            <a:off x="5715000" y="2487168"/>
            <a:ext cx="2834640" cy="914400"/>
          </a:xfrm>
          <a:prstGeom prst="rect">
            <a:avLst/>
          </a:prstGeom>
          <a:noFill/>
          <a:ln/>
        </p:spPr>
        <p:txBody>
          <a:bodyPr wrap="square" lIns="0" tIns="0" rIns="0" bIns="0" rtlCol="0" anchor="ctr"/>
          <a:lstStyle/>
          <a:p>
            <a:pPr algn="l" indent="0" marL="0">
              <a:buNone/>
            </a:pPr>
            <a:r>
              <a:rPr lang="en-US" sz="1400" dirty="0">
                <a:solidFill>
                  <a:srgbClr val="1F2430"/>
                </a:solidFill>
              </a:rPr>
              <a:t>Each operator’s own conversion of the day-before count</a:t>
            </a:r>
            <a:endParaRPr lang="en-US" sz="1400" dirty="0"/>
          </a:p>
        </p:txBody>
      </p:sp>
      <p:sp>
        <p:nvSpPr>
          <p:cNvPr id="33" name="Shape 29"/>
          <p:cNvSpPr/>
          <p:nvPr/>
        </p:nvSpPr>
        <p:spPr>
          <a:xfrm>
            <a:off x="484632" y="3739896"/>
            <a:ext cx="457200" cy="457200"/>
          </a:xfrm>
          <a:prstGeom prst="ellipse">
            <a:avLst/>
          </a:prstGeom>
          <a:solidFill>
            <a:srgbClr val="1A237E"/>
          </a:solidFill>
          <a:ln/>
        </p:spPr>
      </p:sp>
      <p:pic>
        <p:nvPicPr>
          <p:cNvPr id="34" name="Image 2" descr="Delete">    </p:cNvPr>
          <p:cNvPicPr>
            <a:picLocks noChangeAspect="1"/>
          </p:cNvPicPr>
          <p:nvPr/>
        </p:nvPicPr>
        <p:blipFill>
          <a:blip r:embed="rId3"/>
          <a:stretch>
            <a:fillRect/>
          </a:stretch>
        </p:blipFill>
        <p:spPr>
          <a:xfrm>
            <a:off x="576072" y="3831336"/>
            <a:ext cx="274320" cy="274320"/>
          </a:xfrm>
          <a:prstGeom prst="rect">
            <a:avLst/>
          </a:prstGeom>
        </p:spPr>
      </p:pic>
      <p:sp>
        <p:nvSpPr>
          <p:cNvPr id="35" name="Text 30"/>
          <p:cNvSpPr txBox="1"/>
          <p:nvPr/>
        </p:nvSpPr>
        <p:spPr>
          <a:xfrm>
            <a:off x="1051560" y="3511296"/>
            <a:ext cx="1005840" cy="914400"/>
          </a:xfrm>
          <a:prstGeom prst="rect">
            <a:avLst/>
          </a:prstGeom>
          <a:noFill/>
          <a:ln/>
        </p:spPr>
        <p:txBody>
          <a:bodyPr wrap="square" lIns="0" tIns="0" rIns="0" bIns="0" rtlCol="0" anchor="ctr"/>
          <a:lstStyle/>
          <a:p>
            <a:pPr algn="l" indent="0" marL="0">
              <a:buNone/>
            </a:pPr>
            <a:r>
              <a:rPr lang="en-US" sz="1200" b="1" dirty="0">
                <a:solidFill>
                  <a:srgbClr val="1F2430"/>
                </a:solidFill>
              </a:rPr>
              <a:t>Where surplus goes</a:t>
            </a:r>
            <a:endParaRPr lang="en-US" sz="1200" dirty="0"/>
          </a:p>
        </p:txBody>
      </p:sp>
      <p:sp>
        <p:nvSpPr>
          <p:cNvPr id="36" name="Shape 31"/>
          <p:cNvSpPr/>
          <p:nvPr/>
        </p:nvSpPr>
        <p:spPr>
          <a:xfrm>
            <a:off x="2103120" y="3511296"/>
            <a:ext cx="3017520" cy="914400"/>
          </a:xfrm>
          <a:prstGeom prst="roundRect">
            <a:avLst>
              <a:gd name="adj" fmla="val 8000"/>
            </a:avLst>
          </a:prstGeom>
          <a:solidFill>
            <a:srgbClr val="F2F2F2"/>
          </a:solidFill>
          <a:ln/>
        </p:spPr>
      </p:sp>
      <p:sp>
        <p:nvSpPr>
          <p:cNvPr id="37" name="Text 32"/>
          <p:cNvSpPr txBox="1"/>
          <p:nvPr/>
        </p:nvSpPr>
        <p:spPr>
          <a:xfrm>
            <a:off x="2240280" y="3511296"/>
            <a:ext cx="2743200" cy="914400"/>
          </a:xfrm>
          <a:prstGeom prst="rect">
            <a:avLst/>
          </a:prstGeom>
          <a:noFill/>
          <a:ln/>
        </p:spPr>
        <p:txBody>
          <a:bodyPr wrap="square" lIns="0" tIns="0" rIns="0" bIns="0" rtlCol="0" anchor="ctr"/>
          <a:lstStyle/>
          <a:p>
            <a:pPr algn="l" indent="0" marL="0">
              <a:buNone/>
            </a:pPr>
            <a:r>
              <a:rPr lang="en-US" sz="1400" dirty="0">
                <a:solidFill>
                  <a:srgbClr val="616161"/>
                </a:solidFill>
              </a:rPr>
              <a:t>Minimised by planning</a:t>
            </a:r>
            <a:endParaRPr lang="en-US" sz="1400" dirty="0"/>
          </a:p>
        </p:txBody>
      </p:sp>
      <p:sp>
        <p:nvSpPr>
          <p:cNvPr id="38" name="Shape 33"/>
          <p:cNvSpPr/>
          <p:nvPr/>
        </p:nvSpPr>
        <p:spPr>
          <a:xfrm>
            <a:off x="5166360" y="3968496"/>
            <a:ext cx="274320" cy="0"/>
          </a:xfrm>
          <a:prstGeom prst="line">
            <a:avLst/>
          </a:prstGeom>
          <a:noFill/>
          <a:ln w="31750">
            <a:solidFill>
              <a:srgbClr val="1A237E"/>
            </a:solidFill>
            <a:prstDash val="solid"/>
            <a:tailEnd type="triangle"/>
          </a:ln>
        </p:spPr>
      </p:sp>
      <p:sp>
        <p:nvSpPr>
          <p:cNvPr id="39" name="Shape 34"/>
          <p:cNvSpPr/>
          <p:nvPr/>
        </p:nvSpPr>
        <p:spPr>
          <a:xfrm>
            <a:off x="5577840" y="3511296"/>
            <a:ext cx="3108960" cy="914400"/>
          </a:xfrm>
          <a:prstGeom prst="roundRect">
            <a:avLst>
              <a:gd name="adj" fmla="val 8000"/>
            </a:avLst>
          </a:prstGeom>
          <a:solidFill>
            <a:srgbClr val="FDECEA"/>
          </a:solidFill>
          <a:ln w="12700">
            <a:solidFill>
              <a:srgbClr val="C62828"/>
            </a:solidFill>
            <a:prstDash val="solid"/>
          </a:ln>
        </p:spPr>
      </p:sp>
      <p:sp>
        <p:nvSpPr>
          <p:cNvPr id="40" name="Text 35"/>
          <p:cNvSpPr txBox="1"/>
          <p:nvPr/>
        </p:nvSpPr>
        <p:spPr>
          <a:xfrm>
            <a:off x="5715000" y="3511296"/>
            <a:ext cx="2834640" cy="914400"/>
          </a:xfrm>
          <a:prstGeom prst="rect">
            <a:avLst/>
          </a:prstGeom>
          <a:noFill/>
          <a:ln/>
        </p:spPr>
        <p:txBody>
          <a:bodyPr wrap="square" lIns="0" tIns="0" rIns="0" bIns="0" rtlCol="0" anchor="ctr"/>
          <a:lstStyle/>
          <a:p>
            <a:pPr algn="l" indent="0" marL="0">
              <a:buNone/>
            </a:pPr>
            <a:r>
              <a:rPr lang="en-US" sz="1400" dirty="0">
                <a:solidFill>
                  <a:srgbClr val="1F2430"/>
                </a:solidFill>
              </a:rPr>
              <a:t>Reuse, outside diners and staff, held food, the bin</a:t>
            </a:r>
            <a:endParaRPr lang="en-US" sz="1400" dirty="0"/>
          </a:p>
        </p:txBody>
      </p:sp>
      <p:sp>
        <p:nvSpPr>
          <p:cNvPr id="41" name="Shape 36"/>
          <p:cNvSpPr/>
          <p:nvPr/>
        </p:nvSpPr>
        <p:spPr>
          <a:xfrm>
            <a:off x="5577840" y="4526280"/>
            <a:ext cx="2103120" cy="256032"/>
          </a:xfrm>
          <a:prstGeom prst="roundRect">
            <a:avLst>
              <a:gd name="adj" fmla="val 21429"/>
            </a:avLst>
          </a:prstGeom>
          <a:solidFill>
            <a:srgbClr val="FFF8E1"/>
          </a:solidFill>
          <a:ln w="12700">
            <a:solidFill>
              <a:srgbClr val="F57F17"/>
            </a:solidFill>
            <a:prstDash val="solid"/>
          </a:ln>
        </p:spPr>
      </p:sp>
      <p:sp>
        <p:nvSpPr>
          <p:cNvPr id="42" name="Text 37"/>
          <p:cNvSpPr txBox="1"/>
          <p:nvPr/>
        </p:nvSpPr>
        <p:spPr>
          <a:xfrm>
            <a:off x="5641848" y="4526280"/>
            <a:ext cx="1975104" cy="256032"/>
          </a:xfrm>
          <a:prstGeom prst="rect">
            <a:avLst/>
          </a:prstGeom>
          <a:noFill/>
          <a:ln/>
        </p:spPr>
        <p:txBody>
          <a:bodyPr wrap="square" lIns="0" tIns="0" rIns="0" bIns="0" rtlCol="0" anchor="ctr"/>
          <a:lstStyle/>
          <a:p>
            <a:pPr algn="ctr" indent="0" marL="0">
              <a:buNone/>
            </a:pPr>
            <a:r>
              <a:rPr lang="en-US" sz="1000" dirty="0">
                <a:solidFill>
                  <a:srgbClr val="8D4A00"/>
                </a:solidFill>
              </a:rPr>
              <a:t>Held food is a candidate route</a:t>
            </a:r>
            <a:endParaRPr lang="en-US" sz="1000" dirty="0"/>
          </a:p>
        </p:txBody>
      </p:sp>
      <p:sp>
        <p:nvSpPr>
          <p:cNvPr id="43" name="Shape 38"/>
          <p:cNvSpPr/>
          <p:nvPr/>
        </p:nvSpPr>
        <p:spPr>
          <a:xfrm>
            <a:off x="7758684" y="914400"/>
            <a:ext cx="928116" cy="201168"/>
          </a:xfrm>
          <a:prstGeom prst="roundRect">
            <a:avLst>
              <a:gd name="adj" fmla="val 22727"/>
            </a:avLst>
          </a:prstGeom>
          <a:solidFill>
            <a:srgbClr val="2E7D32"/>
          </a:solidFill>
          <a:ln/>
        </p:spPr>
      </p:sp>
      <p:sp>
        <p:nvSpPr>
          <p:cNvPr id="44" name="Text 39"/>
          <p:cNvSpPr txBox="1"/>
          <p:nvPr/>
        </p:nvSpPr>
        <p:spPr>
          <a:xfrm>
            <a:off x="7758684" y="914400"/>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45" name="Text 40"/>
          <p:cNvSpPr txBox="1"/>
          <p:nvPr/>
        </p:nvSpPr>
        <p:spPr>
          <a:xfrm>
            <a:off x="457200" y="4526280"/>
            <a:ext cx="3657600" cy="228600"/>
          </a:xfrm>
          <a:prstGeom prst="rect">
            <a:avLst/>
          </a:prstGeom>
          <a:noFill/>
          <a:ln/>
        </p:spPr>
        <p:txBody>
          <a:bodyPr wrap="square" lIns="0" tIns="0" rIns="0" bIns="0" rtlCol="0" anchor="t"/>
          <a:lstStyle/>
          <a:p>
            <a:pPr algn="l" indent="0" marL="0">
              <a:buNone/>
            </a:pPr>
            <a:r>
              <a:rPr lang="en-US" sz="1100" dirty="0">
                <a:solidFill>
                  <a:srgbClr val="616161"/>
                </a:solidFill>
              </a:rPr>
              <a:t>The institution’s posters state the aim.</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Registrations overstate who eats by 2.7 times at Kadamba and 3.5 times at Yuktāhār</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Text 13"/>
          <p:cNvSpPr txBox="1"/>
          <p:nvPr/>
        </p:nvSpPr>
        <p:spPr>
          <a:xfrm>
            <a:off x="457200" y="1280160"/>
            <a:ext cx="2651760" cy="685800"/>
          </a:xfrm>
          <a:prstGeom prst="rect">
            <a:avLst/>
          </a:prstGeom>
          <a:noFill/>
          <a:ln/>
        </p:spPr>
        <p:txBody>
          <a:bodyPr wrap="square" lIns="0" tIns="0" rIns="0" bIns="0" rtlCol="0" anchor="ctr"/>
          <a:lstStyle/>
          <a:p>
            <a:pPr algn="l" indent="0" marL="0">
              <a:buNone/>
            </a:pPr>
            <a:r>
              <a:rPr lang="en-US" sz="4000" b="1" dirty="0">
                <a:solidFill>
                  <a:srgbClr val="C62828"/>
                </a:solidFill>
                <a:latin typeface="Cambria" pitchFamily="34" charset="0"/>
                <a:ea typeface="Cambria" pitchFamily="34" charset="-122"/>
                <a:cs typeface="Cambria" pitchFamily="34" charset="-120"/>
              </a:rPr>
              <a:t>2.7 times</a:t>
            </a:r>
            <a:endParaRPr lang="en-US" sz="4000" dirty="0"/>
          </a:p>
        </p:txBody>
      </p:sp>
      <p:sp>
        <p:nvSpPr>
          <p:cNvPr id="16" name="Text 14"/>
          <p:cNvSpPr txBox="1"/>
          <p:nvPr/>
        </p:nvSpPr>
        <p:spPr>
          <a:xfrm>
            <a:off x="457200" y="1965960"/>
            <a:ext cx="2651760" cy="228600"/>
          </a:xfrm>
          <a:prstGeom prst="rect">
            <a:avLst/>
          </a:prstGeom>
          <a:noFill/>
          <a:ln/>
        </p:spPr>
        <p:txBody>
          <a:bodyPr wrap="square" lIns="0" tIns="0" rIns="0" bIns="0" rtlCol="0" anchor="t"/>
          <a:lstStyle/>
          <a:p>
            <a:pPr algn="l" indent="0" marL="0">
              <a:buNone/>
            </a:pPr>
            <a:r>
              <a:rPr lang="en-US" sz="1400" dirty="0">
                <a:solidFill>
                  <a:srgbClr val="616161"/>
                </a:solidFill>
              </a:rPr>
              <a:t>Kadamba</a:t>
            </a:r>
            <a:endParaRPr lang="en-US" sz="1400" dirty="0"/>
          </a:p>
        </p:txBody>
      </p:sp>
      <p:sp>
        <p:nvSpPr>
          <p:cNvPr id="17" name="Text 15"/>
          <p:cNvSpPr txBox="1"/>
          <p:nvPr/>
        </p:nvSpPr>
        <p:spPr>
          <a:xfrm>
            <a:off x="457200" y="2377440"/>
            <a:ext cx="2651760" cy="685800"/>
          </a:xfrm>
          <a:prstGeom prst="rect">
            <a:avLst/>
          </a:prstGeom>
          <a:noFill/>
          <a:ln/>
        </p:spPr>
        <p:txBody>
          <a:bodyPr wrap="square" lIns="0" tIns="0" rIns="0" bIns="0" rtlCol="0" anchor="ctr"/>
          <a:lstStyle/>
          <a:p>
            <a:pPr algn="l" indent="0" marL="0">
              <a:buNone/>
            </a:pPr>
            <a:r>
              <a:rPr lang="en-US" sz="4000" b="1" dirty="0">
                <a:solidFill>
                  <a:srgbClr val="C62828"/>
                </a:solidFill>
                <a:latin typeface="Cambria" pitchFamily="34" charset="0"/>
                <a:ea typeface="Cambria" pitchFamily="34" charset="-122"/>
                <a:cs typeface="Cambria" pitchFamily="34" charset="-120"/>
              </a:rPr>
              <a:t>3.5 times</a:t>
            </a:r>
            <a:endParaRPr lang="en-US" sz="4000" dirty="0"/>
          </a:p>
        </p:txBody>
      </p:sp>
      <p:sp>
        <p:nvSpPr>
          <p:cNvPr id="18" name="Text 16"/>
          <p:cNvSpPr txBox="1"/>
          <p:nvPr/>
        </p:nvSpPr>
        <p:spPr>
          <a:xfrm>
            <a:off x="457200" y="3063240"/>
            <a:ext cx="2651760" cy="228600"/>
          </a:xfrm>
          <a:prstGeom prst="rect">
            <a:avLst/>
          </a:prstGeom>
          <a:noFill/>
          <a:ln/>
        </p:spPr>
        <p:txBody>
          <a:bodyPr wrap="square" lIns="0" tIns="0" rIns="0" bIns="0" rtlCol="0" anchor="t"/>
          <a:lstStyle/>
          <a:p>
            <a:pPr algn="l" indent="0" marL="0">
              <a:buNone/>
            </a:pPr>
            <a:r>
              <a:rPr lang="en-US" sz="1400" dirty="0">
                <a:solidFill>
                  <a:srgbClr val="616161"/>
                </a:solidFill>
              </a:rPr>
              <a:t>Yuktāhār</a:t>
            </a:r>
            <a:endParaRPr lang="en-US" sz="1400" dirty="0"/>
          </a:p>
        </p:txBody>
      </p:sp>
      <p:sp>
        <p:nvSpPr>
          <p:cNvPr id="19" name="Text 17"/>
          <p:cNvSpPr txBox="1"/>
          <p:nvPr/>
        </p:nvSpPr>
        <p:spPr>
          <a:xfrm>
            <a:off x="457200" y="3383280"/>
            <a:ext cx="2651760" cy="228600"/>
          </a:xfrm>
          <a:prstGeom prst="rect">
            <a:avLst/>
          </a:prstGeom>
          <a:noFill/>
          <a:ln/>
        </p:spPr>
        <p:txBody>
          <a:bodyPr wrap="square" lIns="0" tIns="0" rIns="0" bIns="0" rtlCol="0" anchor="t"/>
          <a:lstStyle/>
          <a:p>
            <a:pPr algn="l" indent="0" marL="0">
              <a:buNone/>
            </a:pPr>
            <a:r>
              <a:rPr lang="en-US" sz="1200" dirty="0">
                <a:solidFill>
                  <a:srgbClr val="616161"/>
                </a:solidFill>
              </a:rPr>
              <a:t>registrations against who eats</a:t>
            </a:r>
            <a:endParaRPr lang="en-US" sz="1200" dirty="0"/>
          </a:p>
        </p:txBody>
      </p:sp>
      <p:sp>
        <p:nvSpPr>
          <p:cNvPr id="20" name="Shape 18"/>
          <p:cNvSpPr/>
          <p:nvPr/>
        </p:nvSpPr>
        <p:spPr>
          <a:xfrm>
            <a:off x="3383280" y="1325880"/>
            <a:ext cx="2103120" cy="777240"/>
          </a:xfrm>
          <a:prstGeom prst="roundRect">
            <a:avLst>
              <a:gd name="adj" fmla="val 9412"/>
            </a:avLst>
          </a:prstGeom>
          <a:solidFill>
            <a:srgbClr val="F3E5F5"/>
          </a:solidFill>
          <a:ln w="12700">
            <a:solidFill>
              <a:srgbClr val="6A1B9A"/>
            </a:solidFill>
            <a:prstDash val="solid"/>
          </a:ln>
        </p:spPr>
      </p:sp>
      <p:sp>
        <p:nvSpPr>
          <p:cNvPr id="21" name="Shape 19"/>
          <p:cNvSpPr/>
          <p:nvPr/>
        </p:nvSpPr>
        <p:spPr>
          <a:xfrm>
            <a:off x="3511296" y="1522476"/>
            <a:ext cx="384048" cy="384048"/>
          </a:xfrm>
          <a:prstGeom prst="ellipse">
            <a:avLst/>
          </a:prstGeom>
          <a:solidFill>
            <a:srgbClr val="6A1B9A"/>
          </a:solidFill>
          <a:ln/>
        </p:spPr>
      </p:sp>
      <p:pic>
        <p:nvPicPr>
          <p:cNvPr id="22" name="Image 0" descr="QrCodeScanner">    </p:cNvPr>
          <p:cNvPicPr>
            <a:picLocks noChangeAspect="1"/>
          </p:cNvPicPr>
          <p:nvPr/>
        </p:nvPicPr>
        <p:blipFill>
          <a:blip r:embed="rId1"/>
          <a:stretch>
            <a:fillRect/>
          </a:stretch>
        </p:blipFill>
        <p:spPr>
          <a:xfrm>
            <a:off x="3588106" y="1599286"/>
            <a:ext cx="230429" cy="230429"/>
          </a:xfrm>
          <a:prstGeom prst="rect">
            <a:avLst/>
          </a:prstGeom>
        </p:spPr>
      </p:pic>
      <p:sp>
        <p:nvSpPr>
          <p:cNvPr id="23" name="Text 20"/>
          <p:cNvSpPr txBox="1"/>
          <p:nvPr/>
        </p:nvSpPr>
        <p:spPr>
          <a:xfrm>
            <a:off x="4023360" y="1325880"/>
            <a:ext cx="1417320" cy="777240"/>
          </a:xfrm>
          <a:prstGeom prst="rect">
            <a:avLst/>
          </a:prstGeom>
          <a:noFill/>
          <a:ln/>
        </p:spPr>
        <p:txBody>
          <a:bodyPr wrap="square" lIns="0" tIns="0" rIns="0" bIns="0" rtlCol="0" anchor="ctr"/>
          <a:lstStyle/>
          <a:p>
            <a:pPr algn="l" indent="0" marL="0">
              <a:buNone/>
            </a:pPr>
            <a:r>
              <a:rPr lang="en-US" sz="1200" dirty="0">
                <a:solidFill>
                  <a:srgbClr val="1F2430"/>
                </a:solidFill>
              </a:rPr>
              <a:t>Scan record: who ate and when</a:t>
            </a:r>
            <a:endParaRPr lang="en-US" sz="1200" dirty="0"/>
          </a:p>
        </p:txBody>
      </p:sp>
      <p:sp>
        <p:nvSpPr>
          <p:cNvPr id="24" name="Shape 21"/>
          <p:cNvSpPr/>
          <p:nvPr/>
        </p:nvSpPr>
        <p:spPr>
          <a:xfrm>
            <a:off x="3383280" y="2286000"/>
            <a:ext cx="2103120" cy="777240"/>
          </a:xfrm>
          <a:prstGeom prst="roundRect">
            <a:avLst>
              <a:gd name="adj" fmla="val 9412"/>
            </a:avLst>
          </a:prstGeom>
          <a:solidFill>
            <a:srgbClr val="F3E5F5"/>
          </a:solidFill>
          <a:ln w="12700">
            <a:solidFill>
              <a:srgbClr val="6A1B9A"/>
            </a:solidFill>
            <a:prstDash val="solid"/>
          </a:ln>
        </p:spPr>
      </p:sp>
      <p:sp>
        <p:nvSpPr>
          <p:cNvPr id="25" name="Shape 22"/>
          <p:cNvSpPr/>
          <p:nvPr/>
        </p:nvSpPr>
        <p:spPr>
          <a:xfrm>
            <a:off x="3511296" y="2482596"/>
            <a:ext cx="384048" cy="384048"/>
          </a:xfrm>
          <a:prstGeom prst="ellipse">
            <a:avLst/>
          </a:prstGeom>
          <a:solidFill>
            <a:srgbClr val="6A1B9A"/>
          </a:solidFill>
          <a:ln/>
        </p:spPr>
      </p:sp>
      <p:pic>
        <p:nvPicPr>
          <p:cNvPr id="26" name="Image 1" descr="MenuBook">    </p:cNvPr>
          <p:cNvPicPr>
            <a:picLocks noChangeAspect="1"/>
          </p:cNvPicPr>
          <p:nvPr/>
        </p:nvPicPr>
        <p:blipFill>
          <a:blip r:embed="rId2"/>
          <a:stretch>
            <a:fillRect/>
          </a:stretch>
        </p:blipFill>
        <p:spPr>
          <a:xfrm>
            <a:off x="3588106" y="2559406"/>
            <a:ext cx="230429" cy="230429"/>
          </a:xfrm>
          <a:prstGeom prst="rect">
            <a:avLst/>
          </a:prstGeom>
        </p:spPr>
      </p:pic>
      <p:sp>
        <p:nvSpPr>
          <p:cNvPr id="27" name="Text 23"/>
          <p:cNvSpPr txBox="1"/>
          <p:nvPr/>
        </p:nvSpPr>
        <p:spPr>
          <a:xfrm>
            <a:off x="4023360" y="2286000"/>
            <a:ext cx="1417320" cy="777240"/>
          </a:xfrm>
          <a:prstGeom prst="rect">
            <a:avLst/>
          </a:prstGeom>
          <a:noFill/>
          <a:ln/>
        </p:spPr>
        <p:txBody>
          <a:bodyPr wrap="square" lIns="0" tIns="0" rIns="0" bIns="0" rtlCol="0" anchor="ctr"/>
          <a:lstStyle/>
          <a:p>
            <a:pPr algn="l" indent="0" marL="0">
              <a:buNone/>
            </a:pPr>
            <a:r>
              <a:rPr lang="en-US" sz="1200" dirty="0">
                <a:solidFill>
                  <a:srgbClr val="1F2430"/>
                </a:solidFill>
              </a:rPr>
              <a:t>Operators’ registers</a:t>
            </a:r>
            <a:endParaRPr lang="en-US" sz="1200" dirty="0"/>
          </a:p>
        </p:txBody>
      </p:sp>
      <p:sp>
        <p:nvSpPr>
          <p:cNvPr id="28" name="Shape 24"/>
          <p:cNvSpPr/>
          <p:nvPr/>
        </p:nvSpPr>
        <p:spPr>
          <a:xfrm>
            <a:off x="7040880" y="1691640"/>
            <a:ext cx="1645920" cy="1005840"/>
          </a:xfrm>
          <a:prstGeom prst="roundRect">
            <a:avLst>
              <a:gd name="adj" fmla="val 7273"/>
            </a:avLst>
          </a:prstGeom>
          <a:solidFill>
            <a:srgbClr val="E0F2F1"/>
          </a:solidFill>
          <a:ln w="12700">
            <a:solidFill>
              <a:srgbClr val="00695C"/>
            </a:solidFill>
            <a:prstDash val="solid"/>
          </a:ln>
        </p:spPr>
      </p:sp>
      <p:sp>
        <p:nvSpPr>
          <p:cNvPr id="29" name="Shape 25"/>
          <p:cNvSpPr/>
          <p:nvPr/>
        </p:nvSpPr>
        <p:spPr>
          <a:xfrm>
            <a:off x="7680960" y="1828800"/>
            <a:ext cx="365760" cy="365760"/>
          </a:xfrm>
          <a:prstGeom prst="ellipse">
            <a:avLst/>
          </a:prstGeom>
          <a:solidFill>
            <a:srgbClr val="00695C"/>
          </a:solidFill>
          <a:ln/>
        </p:spPr>
      </p:sp>
      <p:pic>
        <p:nvPicPr>
          <p:cNvPr id="30" name="Image 2" descr="AccountBalance">    </p:cNvPr>
          <p:cNvPicPr>
            <a:picLocks noChangeAspect="1"/>
          </p:cNvPicPr>
          <p:nvPr/>
        </p:nvPicPr>
        <p:blipFill>
          <a:blip r:embed="rId3"/>
          <a:stretch>
            <a:fillRect/>
          </a:stretch>
        </p:blipFill>
        <p:spPr>
          <a:xfrm>
            <a:off x="7754112" y="1901952"/>
            <a:ext cx="219456" cy="219456"/>
          </a:xfrm>
          <a:prstGeom prst="rect">
            <a:avLst/>
          </a:prstGeom>
        </p:spPr>
      </p:pic>
      <p:sp>
        <p:nvSpPr>
          <p:cNvPr id="31" name="Text 26"/>
          <p:cNvSpPr txBox="1"/>
          <p:nvPr/>
        </p:nvSpPr>
        <p:spPr>
          <a:xfrm>
            <a:off x="7132320" y="2240280"/>
            <a:ext cx="1463040" cy="411480"/>
          </a:xfrm>
          <a:prstGeom prst="rect">
            <a:avLst/>
          </a:prstGeom>
          <a:noFill/>
          <a:ln/>
        </p:spPr>
        <p:txBody>
          <a:bodyPr wrap="square" lIns="0" tIns="0" rIns="0" bIns="0" rtlCol="0" anchor="t"/>
          <a:lstStyle/>
          <a:p>
            <a:pPr algn="ctr" indent="0" marL="0">
              <a:buNone/>
            </a:pPr>
            <a:r>
              <a:rPr lang="en-US" sz="1200" b="1" dirty="0">
                <a:solidFill>
                  <a:srgbClr val="1F2430"/>
                </a:solidFill>
              </a:rPr>
              <a:t>Registration and billing rules</a:t>
            </a:r>
            <a:endParaRPr lang="en-US" sz="1200" dirty="0"/>
          </a:p>
        </p:txBody>
      </p:sp>
      <p:sp>
        <p:nvSpPr>
          <p:cNvPr id="32" name="Shape 27"/>
          <p:cNvSpPr/>
          <p:nvPr/>
        </p:nvSpPr>
        <p:spPr>
          <a:xfrm>
            <a:off x="5486400" y="1714500"/>
            <a:ext cx="457200" cy="434340"/>
          </a:xfrm>
          <a:prstGeom prst="line">
            <a:avLst/>
          </a:prstGeom>
          <a:noFill/>
          <a:ln w="19050">
            <a:solidFill>
              <a:srgbClr val="C62828"/>
            </a:solidFill>
            <a:prstDash val="dash"/>
          </a:ln>
        </p:spPr>
      </p:sp>
      <p:sp>
        <p:nvSpPr>
          <p:cNvPr id="33" name="Shape 28"/>
          <p:cNvSpPr/>
          <p:nvPr/>
        </p:nvSpPr>
        <p:spPr>
          <a:xfrm flipV="1">
            <a:off x="5486400" y="2240280"/>
            <a:ext cx="457200" cy="434340"/>
          </a:xfrm>
          <a:prstGeom prst="line">
            <a:avLst/>
          </a:prstGeom>
          <a:noFill/>
          <a:ln w="19050">
            <a:solidFill>
              <a:srgbClr val="C62828"/>
            </a:solidFill>
            <a:prstDash val="dash"/>
          </a:ln>
        </p:spPr>
      </p:sp>
      <p:sp>
        <p:nvSpPr>
          <p:cNvPr id="34" name="Shape 29"/>
          <p:cNvSpPr/>
          <p:nvPr/>
        </p:nvSpPr>
        <p:spPr>
          <a:xfrm>
            <a:off x="5943600" y="2194560"/>
            <a:ext cx="297180" cy="0"/>
          </a:xfrm>
          <a:prstGeom prst="line">
            <a:avLst/>
          </a:prstGeom>
          <a:noFill/>
          <a:ln w="31750">
            <a:solidFill>
              <a:srgbClr val="C62828"/>
            </a:solidFill>
            <a:prstDash val="dash"/>
          </a:ln>
        </p:spPr>
      </p:sp>
      <p:sp>
        <p:nvSpPr>
          <p:cNvPr id="35" name="Shape 30"/>
          <p:cNvSpPr/>
          <p:nvPr/>
        </p:nvSpPr>
        <p:spPr>
          <a:xfrm>
            <a:off x="6697980" y="2194560"/>
            <a:ext cx="297180" cy="0"/>
          </a:xfrm>
          <a:prstGeom prst="line">
            <a:avLst/>
          </a:prstGeom>
          <a:noFill/>
          <a:ln w="31750">
            <a:solidFill>
              <a:srgbClr val="C62828"/>
            </a:solidFill>
            <a:prstDash val="dash"/>
            <a:tailEnd type="triangle"/>
          </a:ln>
        </p:spPr>
      </p:sp>
      <p:sp>
        <p:nvSpPr>
          <p:cNvPr id="36" name="Shape 31"/>
          <p:cNvSpPr/>
          <p:nvPr/>
        </p:nvSpPr>
        <p:spPr>
          <a:xfrm>
            <a:off x="6313932" y="2039112"/>
            <a:ext cx="310896" cy="310896"/>
          </a:xfrm>
          <a:prstGeom prst="ellipse">
            <a:avLst/>
          </a:prstGeom>
          <a:solidFill>
            <a:srgbClr val="C62828"/>
          </a:solidFill>
          <a:ln/>
        </p:spPr>
      </p:sp>
      <p:pic>
        <p:nvPicPr>
          <p:cNvPr id="37" name="Image 3" descr="LinkOff">    </p:cNvPr>
          <p:cNvPicPr>
            <a:picLocks noChangeAspect="1"/>
          </p:cNvPicPr>
          <p:nvPr/>
        </p:nvPicPr>
        <p:blipFill>
          <a:blip r:embed="rId4"/>
          <a:stretch>
            <a:fillRect/>
          </a:stretch>
        </p:blipFill>
        <p:spPr>
          <a:xfrm>
            <a:off x="6376111" y="2101291"/>
            <a:ext cx="186538" cy="186538"/>
          </a:xfrm>
          <a:prstGeom prst="rect">
            <a:avLst/>
          </a:prstGeom>
        </p:spPr>
      </p:pic>
      <p:sp>
        <p:nvSpPr>
          <p:cNvPr id="38" name="Text 32"/>
          <p:cNvSpPr txBox="1"/>
          <p:nvPr/>
        </p:nvSpPr>
        <p:spPr>
          <a:xfrm>
            <a:off x="5646420" y="2414016"/>
            <a:ext cx="1645920" cy="219456"/>
          </a:xfrm>
          <a:prstGeom prst="rect">
            <a:avLst/>
          </a:prstGeom>
          <a:noFill/>
          <a:ln/>
        </p:spPr>
        <p:txBody>
          <a:bodyPr wrap="square" lIns="0" tIns="0" rIns="0" bIns="0" rtlCol="0" anchor="t"/>
          <a:lstStyle/>
          <a:p>
            <a:pPr algn="ctr" indent="0" marL="0">
              <a:buNone/>
            </a:pPr>
            <a:r>
              <a:rPr lang="en-US" sz="1100" b="1" dirty="0">
                <a:solidFill>
                  <a:srgbClr val="C62828"/>
                </a:solidFill>
              </a:rPr>
              <a:t>no route</a:t>
            </a:r>
            <a:endParaRPr lang="en-US" sz="1100" dirty="0"/>
          </a:p>
        </p:txBody>
      </p:sp>
      <p:sp>
        <p:nvSpPr>
          <p:cNvPr id="39" name="Shape 33"/>
          <p:cNvSpPr/>
          <p:nvPr/>
        </p:nvSpPr>
        <p:spPr>
          <a:xfrm>
            <a:off x="3383280" y="3383280"/>
            <a:ext cx="5303520" cy="502920"/>
          </a:xfrm>
          <a:prstGeom prst="roundRect">
            <a:avLst>
              <a:gd name="adj" fmla="val 10909"/>
            </a:avLst>
          </a:prstGeom>
          <a:solidFill>
            <a:srgbClr val="FDECEA"/>
          </a:solidFill>
          <a:ln w="12700">
            <a:solidFill>
              <a:srgbClr val="C62828"/>
            </a:solidFill>
            <a:prstDash val="solid"/>
          </a:ln>
        </p:spPr>
      </p:sp>
      <p:sp>
        <p:nvSpPr>
          <p:cNvPr id="40" name="Text 34"/>
          <p:cNvSpPr txBox="1"/>
          <p:nvPr/>
        </p:nvSpPr>
        <p:spPr>
          <a:xfrm>
            <a:off x="3447288" y="3383280"/>
            <a:ext cx="5175504" cy="502920"/>
          </a:xfrm>
          <a:prstGeom prst="rect">
            <a:avLst/>
          </a:prstGeom>
          <a:noFill/>
          <a:ln/>
        </p:spPr>
        <p:txBody>
          <a:bodyPr wrap="square" lIns="0" tIns="0" rIns="0" bIns="0" rtlCol="0" anchor="ctr"/>
          <a:lstStyle/>
          <a:p>
            <a:pPr algn="ctr" indent="0" marL="0">
              <a:buNone/>
            </a:pPr>
            <a:r>
              <a:rPr lang="en-US" sz="1400" b="1" dirty="0">
                <a:solidFill>
                  <a:srgbClr val="1F2430"/>
                </a:solidFill>
              </a:rPr>
              <a:t>20,221 breakfasts billed and not eaten, Kadamba, April 2026</a:t>
            </a:r>
            <a:endParaRPr lang="en-US" sz="1400" dirty="0"/>
          </a:p>
        </p:txBody>
      </p:sp>
      <p:sp>
        <p:nvSpPr>
          <p:cNvPr id="41" name="Text 35"/>
          <p:cNvSpPr txBox="1"/>
          <p:nvPr/>
        </p:nvSpPr>
        <p:spPr>
          <a:xfrm>
            <a:off x="3383280" y="4069080"/>
            <a:ext cx="5303520" cy="274320"/>
          </a:xfrm>
          <a:prstGeom prst="rect">
            <a:avLst/>
          </a:prstGeom>
          <a:noFill/>
          <a:ln/>
        </p:spPr>
        <p:txBody>
          <a:bodyPr wrap="square" lIns="0" tIns="0" rIns="0" bIns="0" rtlCol="0" anchor="t"/>
          <a:lstStyle/>
          <a:p>
            <a:pPr algn="l" indent="0" marL="0">
              <a:buNone/>
            </a:pPr>
            <a:r>
              <a:rPr lang="en-US" sz="1400" dirty="0">
                <a:solidFill>
                  <a:srgbClr val="616161"/>
                </a:solidFill>
              </a:rPr>
              <a:t>Operators control quantities, never registration, billing or the menu.</a:t>
            </a:r>
            <a:endParaRPr lang="en-US" sz="1400" dirty="0"/>
          </a:p>
        </p:txBody>
      </p:sp>
      <p:sp>
        <p:nvSpPr>
          <p:cNvPr id="42" name="Shape 36"/>
          <p:cNvSpPr/>
          <p:nvPr/>
        </p:nvSpPr>
        <p:spPr>
          <a:xfrm>
            <a:off x="7758684" y="1033272"/>
            <a:ext cx="928116" cy="201168"/>
          </a:xfrm>
          <a:prstGeom prst="roundRect">
            <a:avLst>
              <a:gd name="adj" fmla="val 22727"/>
            </a:avLst>
          </a:prstGeom>
          <a:solidFill>
            <a:srgbClr val="2E7D32"/>
          </a:solidFill>
          <a:ln/>
        </p:spPr>
      </p:sp>
      <p:sp>
        <p:nvSpPr>
          <p:cNvPr id="43" name="Text 37"/>
          <p:cNvSpPr txBox="1"/>
          <p:nvPr/>
        </p:nvSpPr>
        <p:spPr>
          <a:xfrm>
            <a:off x="7758684"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Of 32 candidate stakeholders, 24 survived a test against direct evidence</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Shape 13"/>
          <p:cNvSpPr/>
          <p:nvPr/>
        </p:nvSpPr>
        <p:spPr>
          <a:xfrm>
            <a:off x="457200" y="1417320"/>
            <a:ext cx="2468880" cy="530352"/>
          </a:xfrm>
          <a:prstGeom prst="roundRect">
            <a:avLst>
              <a:gd name="adj" fmla="val 13793"/>
            </a:avLst>
          </a:prstGeom>
          <a:solidFill>
            <a:srgbClr val="E8EAF6"/>
          </a:solidFill>
          <a:ln/>
        </p:spPr>
      </p:sp>
      <p:sp>
        <p:nvSpPr>
          <p:cNvPr id="16" name="Text 14"/>
          <p:cNvSpPr txBox="1"/>
          <p:nvPr/>
        </p:nvSpPr>
        <p:spPr>
          <a:xfrm>
            <a:off x="457200" y="1417320"/>
            <a:ext cx="2468880" cy="530352"/>
          </a:xfrm>
          <a:prstGeom prst="rect">
            <a:avLst/>
          </a:prstGeom>
          <a:noFill/>
          <a:ln/>
        </p:spPr>
        <p:txBody>
          <a:bodyPr wrap="square" lIns="0" tIns="0" rIns="0" bIns="0" rtlCol="0" anchor="ctr"/>
          <a:lstStyle/>
          <a:p>
            <a:pPr algn="ctr" indent="0" marL="0">
              <a:buNone/>
            </a:pPr>
            <a:r>
              <a:rPr lang="en-US" sz="1500" b="1" dirty="0">
                <a:solidFill>
                  <a:srgbClr val="1A237E"/>
                </a:solidFill>
              </a:rPr>
              <a:t>17 lenses</a:t>
            </a:r>
            <a:endParaRPr lang="en-US" sz="1500" dirty="0"/>
          </a:p>
        </p:txBody>
      </p:sp>
      <p:sp>
        <p:nvSpPr>
          <p:cNvPr id="17" name="Shape 15"/>
          <p:cNvSpPr/>
          <p:nvPr/>
        </p:nvSpPr>
        <p:spPr>
          <a:xfrm>
            <a:off x="1691640" y="1947672"/>
            <a:ext cx="0" cy="155448"/>
          </a:xfrm>
          <a:prstGeom prst="line">
            <a:avLst/>
          </a:prstGeom>
          <a:noFill/>
          <a:ln w="19050">
            <a:solidFill>
              <a:srgbClr val="1A237E"/>
            </a:solidFill>
            <a:prstDash val="solid"/>
            <a:tailEnd type="triangle"/>
          </a:ln>
        </p:spPr>
      </p:sp>
      <p:sp>
        <p:nvSpPr>
          <p:cNvPr id="18" name="Shape 16"/>
          <p:cNvSpPr/>
          <p:nvPr/>
        </p:nvSpPr>
        <p:spPr>
          <a:xfrm>
            <a:off x="685800" y="2103120"/>
            <a:ext cx="2011680" cy="530352"/>
          </a:xfrm>
          <a:prstGeom prst="roundRect">
            <a:avLst>
              <a:gd name="adj" fmla="val 13793"/>
            </a:avLst>
          </a:prstGeom>
          <a:solidFill>
            <a:srgbClr val="E8EAF6"/>
          </a:solidFill>
          <a:ln/>
        </p:spPr>
      </p:sp>
      <p:sp>
        <p:nvSpPr>
          <p:cNvPr id="19" name="Text 17"/>
          <p:cNvSpPr txBox="1"/>
          <p:nvPr/>
        </p:nvSpPr>
        <p:spPr>
          <a:xfrm>
            <a:off x="685800" y="2103120"/>
            <a:ext cx="2011680" cy="530352"/>
          </a:xfrm>
          <a:prstGeom prst="rect">
            <a:avLst/>
          </a:prstGeom>
          <a:noFill/>
          <a:ln/>
        </p:spPr>
        <p:txBody>
          <a:bodyPr wrap="square" lIns="0" tIns="0" rIns="0" bIns="0" rtlCol="0" anchor="ctr"/>
          <a:lstStyle/>
          <a:p>
            <a:pPr algn="ctr" indent="0" marL="0">
              <a:buNone/>
            </a:pPr>
            <a:r>
              <a:rPr lang="en-US" sz="1500" b="1" dirty="0">
                <a:solidFill>
                  <a:srgbClr val="1A237E"/>
                </a:solidFill>
              </a:rPr>
              <a:t>32 candidates</a:t>
            </a:r>
            <a:endParaRPr lang="en-US" sz="1500" dirty="0"/>
          </a:p>
        </p:txBody>
      </p:sp>
      <p:sp>
        <p:nvSpPr>
          <p:cNvPr id="20" name="Shape 18"/>
          <p:cNvSpPr/>
          <p:nvPr/>
        </p:nvSpPr>
        <p:spPr>
          <a:xfrm>
            <a:off x="1691640" y="2633472"/>
            <a:ext cx="0" cy="155448"/>
          </a:xfrm>
          <a:prstGeom prst="line">
            <a:avLst/>
          </a:prstGeom>
          <a:noFill/>
          <a:ln w="19050">
            <a:solidFill>
              <a:srgbClr val="1A237E"/>
            </a:solidFill>
            <a:prstDash val="solid"/>
            <a:tailEnd type="triangle"/>
          </a:ln>
        </p:spPr>
      </p:sp>
      <p:sp>
        <p:nvSpPr>
          <p:cNvPr id="21" name="Shape 19"/>
          <p:cNvSpPr/>
          <p:nvPr/>
        </p:nvSpPr>
        <p:spPr>
          <a:xfrm>
            <a:off x="914400" y="2788920"/>
            <a:ext cx="1554480" cy="530352"/>
          </a:xfrm>
          <a:prstGeom prst="roundRect">
            <a:avLst>
              <a:gd name="adj" fmla="val 13793"/>
            </a:avLst>
          </a:prstGeom>
          <a:solidFill>
            <a:srgbClr val="1A237E"/>
          </a:solidFill>
          <a:ln/>
        </p:spPr>
      </p:sp>
      <p:sp>
        <p:nvSpPr>
          <p:cNvPr id="22" name="Text 20"/>
          <p:cNvSpPr txBox="1"/>
          <p:nvPr/>
        </p:nvSpPr>
        <p:spPr>
          <a:xfrm>
            <a:off x="914400" y="2788920"/>
            <a:ext cx="1554480" cy="530352"/>
          </a:xfrm>
          <a:prstGeom prst="rect">
            <a:avLst/>
          </a:prstGeom>
          <a:noFill/>
          <a:ln/>
        </p:spPr>
        <p:txBody>
          <a:bodyPr wrap="square" lIns="0" tIns="0" rIns="0" bIns="0" rtlCol="0" anchor="ctr"/>
          <a:lstStyle/>
          <a:p>
            <a:pPr algn="ctr" indent="0" marL="0">
              <a:buNone/>
            </a:pPr>
            <a:r>
              <a:rPr lang="en-US" sz="1500" b="1" dirty="0">
                <a:solidFill>
                  <a:srgbClr val="FFFFFF"/>
                </a:solidFill>
              </a:rPr>
              <a:t>24 kept</a:t>
            </a:r>
            <a:endParaRPr lang="en-US" sz="1500" dirty="0"/>
          </a:p>
        </p:txBody>
      </p:sp>
      <p:sp>
        <p:nvSpPr>
          <p:cNvPr id="23" name="Shape 21"/>
          <p:cNvSpPr/>
          <p:nvPr/>
        </p:nvSpPr>
        <p:spPr>
          <a:xfrm>
            <a:off x="457200" y="3611880"/>
            <a:ext cx="2468880" cy="731520"/>
          </a:xfrm>
          <a:prstGeom prst="roundRect">
            <a:avLst>
              <a:gd name="adj" fmla="val 7500"/>
            </a:avLst>
          </a:prstGeom>
          <a:solidFill>
            <a:srgbClr val="FFF8E1"/>
          </a:solidFill>
          <a:ln w="12700">
            <a:solidFill>
              <a:srgbClr val="F57F17"/>
            </a:solidFill>
            <a:prstDash val="solid"/>
          </a:ln>
        </p:spPr>
      </p:sp>
      <p:sp>
        <p:nvSpPr>
          <p:cNvPr id="24" name="Text 22"/>
          <p:cNvSpPr txBox="1"/>
          <p:nvPr/>
        </p:nvSpPr>
        <p:spPr>
          <a:xfrm>
            <a:off x="521208" y="3611880"/>
            <a:ext cx="2340864" cy="731520"/>
          </a:xfrm>
          <a:prstGeom prst="rect">
            <a:avLst/>
          </a:prstGeom>
          <a:noFill/>
          <a:ln/>
        </p:spPr>
        <p:txBody>
          <a:bodyPr wrap="square" lIns="0" tIns="0" rIns="0" bIns="0" rtlCol="0" anchor="ctr"/>
          <a:lstStyle/>
          <a:p>
            <a:pPr algn="ctr" indent="0" marL="0">
              <a:buNone/>
            </a:pPr>
            <a:r>
              <a:rPr lang="en-US" sz="1200" dirty="0">
                <a:solidFill>
                  <a:srgbClr val="8D4A00"/>
                </a:solidFill>
              </a:rPr>
              <a:t>Seven appeared only after operator practice was seen</a:t>
            </a:r>
            <a:endParaRPr lang="en-US" sz="1200" dirty="0"/>
          </a:p>
        </p:txBody>
      </p:sp>
      <p:sp>
        <p:nvSpPr>
          <p:cNvPr id="25" name="Shape 23"/>
          <p:cNvSpPr/>
          <p:nvPr/>
        </p:nvSpPr>
        <p:spPr>
          <a:xfrm>
            <a:off x="3246120" y="1234440"/>
            <a:ext cx="3200400" cy="3200400"/>
          </a:xfrm>
          <a:prstGeom prst="ellipse">
            <a:avLst/>
          </a:prstGeom>
          <a:solidFill>
            <a:srgbClr val="F2F2F2"/>
          </a:solidFill>
          <a:ln w="12700">
            <a:solidFill>
              <a:srgbClr val="616161"/>
            </a:solidFill>
            <a:prstDash val="dash"/>
          </a:ln>
        </p:spPr>
      </p:sp>
      <p:sp>
        <p:nvSpPr>
          <p:cNvPr id="26" name="Shape 24"/>
          <p:cNvSpPr/>
          <p:nvPr/>
        </p:nvSpPr>
        <p:spPr>
          <a:xfrm>
            <a:off x="3703320" y="1691640"/>
            <a:ext cx="2286000" cy="2286000"/>
          </a:xfrm>
          <a:prstGeom prst="ellipse">
            <a:avLst/>
          </a:prstGeom>
          <a:solidFill>
            <a:srgbClr val="E0F2F1"/>
          </a:solidFill>
          <a:ln w="12700">
            <a:solidFill>
              <a:srgbClr val="00695C"/>
            </a:solidFill>
            <a:prstDash val="solid"/>
          </a:ln>
        </p:spPr>
      </p:sp>
      <p:sp>
        <p:nvSpPr>
          <p:cNvPr id="27" name="Shape 25"/>
          <p:cNvSpPr/>
          <p:nvPr/>
        </p:nvSpPr>
        <p:spPr>
          <a:xfrm>
            <a:off x="4160520" y="2148840"/>
            <a:ext cx="1371600" cy="1371600"/>
          </a:xfrm>
          <a:prstGeom prst="ellipse">
            <a:avLst/>
          </a:prstGeom>
          <a:solidFill>
            <a:srgbClr val="E3F2FD"/>
          </a:solidFill>
          <a:ln w="12700">
            <a:solidFill>
              <a:srgbClr val="1565C0"/>
            </a:solidFill>
            <a:prstDash val="solid"/>
          </a:ln>
        </p:spPr>
      </p:sp>
      <p:sp>
        <p:nvSpPr>
          <p:cNvPr id="28" name="Shape 26"/>
          <p:cNvSpPr/>
          <p:nvPr/>
        </p:nvSpPr>
        <p:spPr>
          <a:xfrm>
            <a:off x="4562856" y="2551176"/>
            <a:ext cx="566928" cy="566928"/>
          </a:xfrm>
          <a:prstGeom prst="ellipse">
            <a:avLst/>
          </a:prstGeom>
          <a:solidFill>
            <a:srgbClr val="E65100"/>
          </a:solidFill>
          <a:ln/>
        </p:spPr>
      </p:sp>
      <p:sp>
        <p:nvSpPr>
          <p:cNvPr id="29" name="Text 27"/>
          <p:cNvSpPr txBox="1"/>
          <p:nvPr/>
        </p:nvSpPr>
        <p:spPr>
          <a:xfrm>
            <a:off x="4389120" y="2606040"/>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rPr>
              <a:t>Students</a:t>
            </a:r>
            <a:endParaRPr lang="en-US" sz="1000" dirty="0"/>
          </a:p>
        </p:txBody>
      </p:sp>
      <p:sp>
        <p:nvSpPr>
          <p:cNvPr id="30" name="Text 28"/>
          <p:cNvSpPr txBox="1"/>
          <p:nvPr/>
        </p:nvSpPr>
        <p:spPr>
          <a:xfrm>
            <a:off x="4480560" y="1280160"/>
            <a:ext cx="731520" cy="274320"/>
          </a:xfrm>
          <a:prstGeom prst="rect">
            <a:avLst/>
          </a:prstGeom>
          <a:noFill/>
          <a:ln/>
        </p:spPr>
        <p:txBody>
          <a:bodyPr wrap="square" lIns="0" tIns="0" rIns="0" bIns="0" rtlCol="0" anchor="t"/>
          <a:lstStyle/>
          <a:p>
            <a:pPr algn="ctr" indent="0" marL="0">
              <a:buNone/>
            </a:pPr>
            <a:r>
              <a:rPr lang="en-US" sz="1600" b="1" dirty="0">
                <a:solidFill>
                  <a:srgbClr val="616161"/>
                </a:solidFill>
                <a:latin typeface="Cambria" pitchFamily="34" charset="0"/>
                <a:ea typeface="Cambria" pitchFamily="34" charset="-122"/>
                <a:cs typeface="Cambria" pitchFamily="34" charset="-120"/>
              </a:rPr>
              <a:t>12</a:t>
            </a:r>
            <a:endParaRPr lang="en-US" sz="1600" dirty="0"/>
          </a:p>
        </p:txBody>
      </p:sp>
      <p:sp>
        <p:nvSpPr>
          <p:cNvPr id="31" name="Text 29"/>
          <p:cNvSpPr txBox="1"/>
          <p:nvPr/>
        </p:nvSpPr>
        <p:spPr>
          <a:xfrm>
            <a:off x="4480560" y="1737360"/>
            <a:ext cx="731520" cy="274320"/>
          </a:xfrm>
          <a:prstGeom prst="rect">
            <a:avLst/>
          </a:prstGeom>
          <a:noFill/>
          <a:ln/>
        </p:spPr>
        <p:txBody>
          <a:bodyPr wrap="square" lIns="0" tIns="0" rIns="0" bIns="0" rtlCol="0" anchor="t"/>
          <a:lstStyle/>
          <a:p>
            <a:pPr algn="ctr" indent="0" marL="0">
              <a:buNone/>
            </a:pPr>
            <a:r>
              <a:rPr lang="en-US" sz="1600" b="1" dirty="0">
                <a:solidFill>
                  <a:srgbClr val="00695C"/>
                </a:solidFill>
                <a:latin typeface="Cambria" pitchFamily="34" charset="0"/>
                <a:ea typeface="Cambria" pitchFamily="34" charset="-122"/>
                <a:cs typeface="Cambria" pitchFamily="34" charset="-120"/>
              </a:rPr>
              <a:t>5</a:t>
            </a:r>
            <a:endParaRPr lang="en-US" sz="1600" dirty="0"/>
          </a:p>
        </p:txBody>
      </p:sp>
      <p:sp>
        <p:nvSpPr>
          <p:cNvPr id="32" name="Text 30"/>
          <p:cNvSpPr txBox="1"/>
          <p:nvPr/>
        </p:nvSpPr>
        <p:spPr>
          <a:xfrm>
            <a:off x="4480560" y="2121408"/>
            <a:ext cx="731520" cy="274320"/>
          </a:xfrm>
          <a:prstGeom prst="rect">
            <a:avLst/>
          </a:prstGeom>
          <a:noFill/>
          <a:ln/>
        </p:spPr>
        <p:txBody>
          <a:bodyPr wrap="square" lIns="0" tIns="0" rIns="0" bIns="0" rtlCol="0" anchor="t"/>
          <a:lstStyle/>
          <a:p>
            <a:pPr algn="ctr" indent="0" marL="0">
              <a:buNone/>
            </a:pPr>
            <a:r>
              <a:rPr lang="en-US" sz="1600" b="1" dirty="0">
                <a:solidFill>
                  <a:srgbClr val="1565C0"/>
                </a:solidFill>
                <a:latin typeface="Cambria" pitchFamily="34" charset="0"/>
                <a:ea typeface="Cambria" pitchFamily="34" charset="-122"/>
                <a:cs typeface="Cambria" pitchFamily="34" charset="-120"/>
              </a:rPr>
              <a:t>7</a:t>
            </a:r>
            <a:endParaRPr lang="en-US" sz="1600" dirty="0"/>
          </a:p>
        </p:txBody>
      </p:sp>
      <p:sp>
        <p:nvSpPr>
          <p:cNvPr id="33" name="Shape 31"/>
          <p:cNvSpPr/>
          <p:nvPr/>
        </p:nvSpPr>
        <p:spPr>
          <a:xfrm>
            <a:off x="6638544" y="1399032"/>
            <a:ext cx="164592" cy="164592"/>
          </a:xfrm>
          <a:prstGeom prst="ellipse">
            <a:avLst/>
          </a:prstGeom>
          <a:solidFill>
            <a:srgbClr val="1565C0"/>
          </a:solidFill>
          <a:ln/>
        </p:spPr>
      </p:sp>
      <p:sp>
        <p:nvSpPr>
          <p:cNvPr id="34" name="Text 32"/>
          <p:cNvSpPr txBox="1"/>
          <p:nvPr/>
        </p:nvSpPr>
        <p:spPr>
          <a:xfrm>
            <a:off x="6903720" y="1371600"/>
            <a:ext cx="1737360" cy="228600"/>
          </a:xfrm>
          <a:prstGeom prst="rect">
            <a:avLst/>
          </a:prstGeom>
          <a:noFill/>
          <a:ln/>
        </p:spPr>
        <p:txBody>
          <a:bodyPr wrap="square" lIns="0" tIns="0" rIns="0" bIns="0" rtlCol="0" anchor="t"/>
          <a:lstStyle/>
          <a:p>
            <a:pPr algn="l" indent="0" marL="0">
              <a:buNone/>
            </a:pPr>
            <a:r>
              <a:rPr lang="en-US" sz="1300" b="1" dirty="0">
                <a:solidFill>
                  <a:srgbClr val="1565C0"/>
                </a:solidFill>
              </a:rPr>
              <a:t>Primary, 7</a:t>
            </a:r>
            <a:endParaRPr lang="en-US" sz="1300" dirty="0"/>
          </a:p>
        </p:txBody>
      </p:sp>
      <p:sp>
        <p:nvSpPr>
          <p:cNvPr id="35" name="Text 33"/>
          <p:cNvSpPr txBox="1"/>
          <p:nvPr/>
        </p:nvSpPr>
        <p:spPr>
          <a:xfrm>
            <a:off x="6903720" y="1627632"/>
            <a:ext cx="1783080" cy="777240"/>
          </a:xfrm>
          <a:prstGeom prst="rect">
            <a:avLst/>
          </a:prstGeom>
          <a:noFill/>
          <a:ln/>
        </p:spPr>
        <p:txBody>
          <a:bodyPr wrap="square" lIns="0" tIns="0" rIns="0" bIns="0" rtlCol="0" anchor="t"/>
          <a:lstStyle/>
          <a:p>
            <a:pPr algn="l" indent="0" marL="0">
              <a:buNone/>
            </a:pPr>
            <a:r>
              <a:rPr lang="en-US" sz="1050" dirty="0">
                <a:solidFill>
                  <a:srgbClr val="1F2430"/>
                </a:solidFill>
              </a:rPr>
              <a:t>Students, three operators, site management, serving and kitchen staff</a:t>
            </a:r>
            <a:endParaRPr lang="en-US" sz="1050" dirty="0"/>
          </a:p>
        </p:txBody>
      </p:sp>
      <p:sp>
        <p:nvSpPr>
          <p:cNvPr id="36" name="Shape 34"/>
          <p:cNvSpPr/>
          <p:nvPr/>
        </p:nvSpPr>
        <p:spPr>
          <a:xfrm>
            <a:off x="6638544" y="2478024"/>
            <a:ext cx="164592" cy="164592"/>
          </a:xfrm>
          <a:prstGeom prst="ellipse">
            <a:avLst/>
          </a:prstGeom>
          <a:solidFill>
            <a:srgbClr val="00695C"/>
          </a:solidFill>
          <a:ln/>
        </p:spPr>
      </p:sp>
      <p:sp>
        <p:nvSpPr>
          <p:cNvPr id="37" name="Text 35"/>
          <p:cNvSpPr txBox="1"/>
          <p:nvPr/>
        </p:nvSpPr>
        <p:spPr>
          <a:xfrm>
            <a:off x="6903720" y="2450592"/>
            <a:ext cx="1737360" cy="228600"/>
          </a:xfrm>
          <a:prstGeom prst="rect">
            <a:avLst/>
          </a:prstGeom>
          <a:noFill/>
          <a:ln/>
        </p:spPr>
        <p:txBody>
          <a:bodyPr wrap="square" lIns="0" tIns="0" rIns="0" bIns="0" rtlCol="0" anchor="t"/>
          <a:lstStyle/>
          <a:p>
            <a:pPr algn="l" indent="0" marL="0">
              <a:buNone/>
            </a:pPr>
            <a:r>
              <a:rPr lang="en-US" sz="1300" b="1" dirty="0">
                <a:solidFill>
                  <a:srgbClr val="00695C"/>
                </a:solidFill>
              </a:rPr>
              <a:t>Secondary, 5</a:t>
            </a:r>
            <a:endParaRPr lang="en-US" sz="1300" dirty="0"/>
          </a:p>
        </p:txBody>
      </p:sp>
      <p:sp>
        <p:nvSpPr>
          <p:cNvPr id="38" name="Text 36"/>
          <p:cNvSpPr txBox="1"/>
          <p:nvPr/>
        </p:nvSpPr>
        <p:spPr>
          <a:xfrm>
            <a:off x="6903720" y="2706624"/>
            <a:ext cx="1783080" cy="777240"/>
          </a:xfrm>
          <a:prstGeom prst="rect">
            <a:avLst/>
          </a:prstGeom>
          <a:noFill/>
          <a:ln/>
        </p:spPr>
        <p:txBody>
          <a:bodyPr wrap="square" lIns="0" tIns="0" rIns="0" bIns="0" rtlCol="0" anchor="t"/>
          <a:lstStyle/>
          <a:p>
            <a:pPr algn="l" indent="0" marL="0">
              <a:buNone/>
            </a:pPr>
            <a:r>
              <a:rPr lang="en-US" sz="1050" dirty="0">
                <a:solidFill>
                  <a:srgbClr val="1F2430"/>
                </a:solidFill>
              </a:rPr>
              <a:t>Mess Committee, Mess Office, dining services team, Warden, Student Parliament mess seats</a:t>
            </a:r>
            <a:endParaRPr lang="en-US" sz="1050" dirty="0"/>
          </a:p>
        </p:txBody>
      </p:sp>
      <p:sp>
        <p:nvSpPr>
          <p:cNvPr id="39" name="Shape 37"/>
          <p:cNvSpPr/>
          <p:nvPr/>
        </p:nvSpPr>
        <p:spPr>
          <a:xfrm>
            <a:off x="6638544" y="3557016"/>
            <a:ext cx="164592" cy="164592"/>
          </a:xfrm>
          <a:prstGeom prst="ellipse">
            <a:avLst/>
          </a:prstGeom>
          <a:solidFill>
            <a:srgbClr val="616161"/>
          </a:solidFill>
          <a:ln/>
        </p:spPr>
      </p:sp>
      <p:sp>
        <p:nvSpPr>
          <p:cNvPr id="40" name="Text 38"/>
          <p:cNvSpPr txBox="1"/>
          <p:nvPr/>
        </p:nvSpPr>
        <p:spPr>
          <a:xfrm>
            <a:off x="6903720" y="3529584"/>
            <a:ext cx="1737360" cy="228600"/>
          </a:xfrm>
          <a:prstGeom prst="rect">
            <a:avLst/>
          </a:prstGeom>
          <a:noFill/>
          <a:ln/>
        </p:spPr>
        <p:txBody>
          <a:bodyPr wrap="square" lIns="0" tIns="0" rIns="0" bIns="0" rtlCol="0" anchor="t"/>
          <a:lstStyle/>
          <a:p>
            <a:pPr algn="l" indent="0" marL="0">
              <a:buNone/>
            </a:pPr>
            <a:r>
              <a:rPr lang="en-US" sz="1300" b="1" dirty="0">
                <a:solidFill>
                  <a:srgbClr val="616161"/>
                </a:solidFill>
              </a:rPr>
              <a:t>Indirect, 12</a:t>
            </a:r>
            <a:endParaRPr lang="en-US" sz="1300" dirty="0"/>
          </a:p>
        </p:txBody>
      </p:sp>
      <p:sp>
        <p:nvSpPr>
          <p:cNvPr id="41" name="Text 39"/>
          <p:cNvSpPr txBox="1"/>
          <p:nvPr/>
        </p:nvSpPr>
        <p:spPr>
          <a:xfrm>
            <a:off x="6903720" y="3785616"/>
            <a:ext cx="1783080" cy="777240"/>
          </a:xfrm>
          <a:prstGeom prst="rect">
            <a:avLst/>
          </a:prstGeom>
          <a:noFill/>
          <a:ln/>
        </p:spPr>
        <p:txBody>
          <a:bodyPr wrap="square" lIns="0" tIns="0" rIns="0" bIns="0" rtlCol="0" anchor="t"/>
          <a:lstStyle/>
          <a:p>
            <a:pPr algn="l" indent="0" marL="0">
              <a:buNone/>
            </a:pPr>
            <a:r>
              <a:rPr lang="en-US" sz="1050" dirty="0">
                <a:solidFill>
                  <a:srgbClr val="1F2430"/>
                </a:solidFill>
              </a:rPr>
              <a:t>Academic administration, suppliers, non-student diners, Mess Cell, garbage contractor and more</a:t>
            </a:r>
            <a:endParaRPr lang="en-US" sz="1050" dirty="0"/>
          </a:p>
        </p:txBody>
      </p:sp>
      <p:sp>
        <p:nvSpPr>
          <p:cNvPr id="42" name="Text 40"/>
          <p:cNvSpPr txBox="1"/>
          <p:nvPr/>
        </p:nvSpPr>
        <p:spPr>
          <a:xfrm>
            <a:off x="3108960" y="4526280"/>
            <a:ext cx="5029200" cy="228600"/>
          </a:xfrm>
          <a:prstGeom prst="rect">
            <a:avLst/>
          </a:prstGeom>
          <a:noFill/>
          <a:ln/>
        </p:spPr>
        <p:txBody>
          <a:bodyPr wrap="square" lIns="0" tIns="0" rIns="0" bIns="0" rtlCol="0" anchor="t"/>
          <a:lstStyle/>
          <a:p>
            <a:pPr algn="l" indent="0" marL="0">
              <a:buNone/>
            </a:pPr>
            <a:r>
              <a:rPr lang="en-US" sz="1100" i="1" dirty="0">
                <a:solidFill>
                  <a:srgbClr val="616161"/>
                </a:solidFill>
              </a:rPr>
              <a:t>Five governance identities remain unconfirmed and apart.</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Governance bodies stay apart until their identities are confirmed</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Shape 13"/>
          <p:cNvSpPr/>
          <p:nvPr/>
        </p:nvSpPr>
        <p:spPr>
          <a:xfrm>
            <a:off x="6839712" y="109728"/>
            <a:ext cx="91440" cy="91440"/>
          </a:xfrm>
          <a:prstGeom prst="ellipse">
            <a:avLst/>
          </a:prstGeom>
          <a:ln w="9525">
            <a:solidFill>
              <a:srgbClr val="1A237E"/>
            </a:solidFill>
            <a:prstDash val="solid"/>
          </a:ln>
        </p:spPr>
      </p:sp>
      <p:sp>
        <p:nvSpPr>
          <p:cNvPr id="16" name="Shape 14"/>
          <p:cNvSpPr/>
          <p:nvPr/>
        </p:nvSpPr>
        <p:spPr>
          <a:xfrm>
            <a:off x="6986016" y="109728"/>
            <a:ext cx="91440" cy="91440"/>
          </a:xfrm>
          <a:prstGeom prst="ellipse">
            <a:avLst/>
          </a:prstGeom>
          <a:ln w="9525">
            <a:solidFill>
              <a:srgbClr val="1A237E"/>
            </a:solidFill>
            <a:prstDash val="solid"/>
          </a:ln>
        </p:spPr>
      </p:sp>
      <p:sp>
        <p:nvSpPr>
          <p:cNvPr id="17" name="Shape 15"/>
          <p:cNvSpPr/>
          <p:nvPr/>
        </p:nvSpPr>
        <p:spPr>
          <a:xfrm>
            <a:off x="7132320" y="109728"/>
            <a:ext cx="91440" cy="91440"/>
          </a:xfrm>
          <a:prstGeom prst="ellipse">
            <a:avLst/>
          </a:prstGeom>
          <a:ln w="9525">
            <a:solidFill>
              <a:srgbClr val="1A237E"/>
            </a:solidFill>
            <a:prstDash val="solid"/>
          </a:ln>
        </p:spPr>
      </p:sp>
      <p:sp>
        <p:nvSpPr>
          <p:cNvPr id="18" name="Shape 16"/>
          <p:cNvSpPr/>
          <p:nvPr/>
        </p:nvSpPr>
        <p:spPr>
          <a:xfrm>
            <a:off x="7278624" y="109728"/>
            <a:ext cx="91440" cy="91440"/>
          </a:xfrm>
          <a:prstGeom prst="ellipse">
            <a:avLst/>
          </a:prstGeom>
          <a:solidFill>
            <a:srgbClr val="1A237E"/>
          </a:solidFill>
          <a:ln w="9525">
            <a:solidFill>
              <a:srgbClr val="1A237E"/>
            </a:solidFill>
            <a:prstDash val="solid"/>
          </a:ln>
        </p:spPr>
      </p:sp>
      <p:sp>
        <p:nvSpPr>
          <p:cNvPr id="19" name="Shape 17"/>
          <p:cNvSpPr/>
          <p:nvPr/>
        </p:nvSpPr>
        <p:spPr>
          <a:xfrm>
            <a:off x="7424928" y="109728"/>
            <a:ext cx="91440" cy="91440"/>
          </a:xfrm>
          <a:prstGeom prst="ellipse">
            <a:avLst/>
          </a:prstGeom>
          <a:ln w="9525">
            <a:solidFill>
              <a:srgbClr val="1A237E"/>
            </a:solidFill>
            <a:prstDash val="solid"/>
          </a:ln>
        </p:spPr>
      </p:sp>
      <p:sp>
        <p:nvSpPr>
          <p:cNvPr id="20" name="Shape 18"/>
          <p:cNvSpPr/>
          <p:nvPr/>
        </p:nvSpPr>
        <p:spPr>
          <a:xfrm>
            <a:off x="7571232" y="109728"/>
            <a:ext cx="91440" cy="91440"/>
          </a:xfrm>
          <a:prstGeom prst="ellipse">
            <a:avLst/>
          </a:prstGeom>
          <a:ln w="9525">
            <a:solidFill>
              <a:srgbClr val="1A237E"/>
            </a:solidFill>
            <a:prstDash val="solid"/>
          </a:ln>
        </p:spPr>
      </p:sp>
      <p:sp>
        <p:nvSpPr>
          <p:cNvPr id="21" name="Shape 19"/>
          <p:cNvSpPr/>
          <p:nvPr/>
        </p:nvSpPr>
        <p:spPr>
          <a:xfrm>
            <a:off x="7717536" y="109728"/>
            <a:ext cx="91440" cy="91440"/>
          </a:xfrm>
          <a:prstGeom prst="ellipse">
            <a:avLst/>
          </a:prstGeom>
          <a:ln w="9525">
            <a:solidFill>
              <a:srgbClr val="1A237E"/>
            </a:solidFill>
            <a:prstDash val="solid"/>
          </a:ln>
        </p:spPr>
      </p:sp>
      <p:sp>
        <p:nvSpPr>
          <p:cNvPr id="22" name="Shape 20"/>
          <p:cNvSpPr/>
          <p:nvPr/>
        </p:nvSpPr>
        <p:spPr>
          <a:xfrm>
            <a:off x="7863840" y="109728"/>
            <a:ext cx="91440" cy="91440"/>
          </a:xfrm>
          <a:prstGeom prst="ellipse">
            <a:avLst/>
          </a:prstGeom>
          <a:ln w="9525">
            <a:solidFill>
              <a:srgbClr val="1A237E"/>
            </a:solidFill>
            <a:prstDash val="solid"/>
          </a:ln>
        </p:spPr>
      </p:sp>
      <p:sp>
        <p:nvSpPr>
          <p:cNvPr id="23" name="Shape 21"/>
          <p:cNvSpPr/>
          <p:nvPr/>
        </p:nvSpPr>
        <p:spPr>
          <a:xfrm>
            <a:off x="8010144" y="109728"/>
            <a:ext cx="91440" cy="91440"/>
          </a:xfrm>
          <a:prstGeom prst="ellipse">
            <a:avLst/>
          </a:prstGeom>
          <a:ln w="9525">
            <a:solidFill>
              <a:srgbClr val="1A237E"/>
            </a:solidFill>
            <a:prstDash val="solid"/>
          </a:ln>
        </p:spPr>
      </p:sp>
      <p:sp>
        <p:nvSpPr>
          <p:cNvPr id="24" name="Shape 22"/>
          <p:cNvSpPr/>
          <p:nvPr/>
        </p:nvSpPr>
        <p:spPr>
          <a:xfrm>
            <a:off x="8156448" y="109728"/>
            <a:ext cx="91440" cy="91440"/>
          </a:xfrm>
          <a:prstGeom prst="ellipse">
            <a:avLst/>
          </a:prstGeom>
          <a:ln w="9525">
            <a:solidFill>
              <a:srgbClr val="1A237E"/>
            </a:solidFill>
            <a:prstDash val="solid"/>
          </a:ln>
        </p:spPr>
      </p:sp>
      <p:sp>
        <p:nvSpPr>
          <p:cNvPr id="25" name="Shape 23"/>
          <p:cNvSpPr/>
          <p:nvPr/>
        </p:nvSpPr>
        <p:spPr>
          <a:xfrm>
            <a:off x="8302752" y="109728"/>
            <a:ext cx="91440" cy="91440"/>
          </a:xfrm>
          <a:prstGeom prst="ellipse">
            <a:avLst/>
          </a:prstGeom>
          <a:ln w="9525">
            <a:solidFill>
              <a:srgbClr val="1A237E"/>
            </a:solidFill>
            <a:prstDash val="solid"/>
          </a:ln>
        </p:spPr>
      </p:sp>
      <p:sp>
        <p:nvSpPr>
          <p:cNvPr id="26" name="Shape 24"/>
          <p:cNvSpPr/>
          <p:nvPr/>
        </p:nvSpPr>
        <p:spPr>
          <a:xfrm>
            <a:off x="8449056" y="109728"/>
            <a:ext cx="91440" cy="91440"/>
          </a:xfrm>
          <a:prstGeom prst="ellipse">
            <a:avLst/>
          </a:prstGeom>
          <a:ln w="9525">
            <a:solidFill>
              <a:srgbClr val="1A237E"/>
            </a:solidFill>
            <a:prstDash val="solid"/>
          </a:ln>
        </p:spPr>
      </p:sp>
      <p:sp>
        <p:nvSpPr>
          <p:cNvPr id="27" name="Shape 25"/>
          <p:cNvSpPr/>
          <p:nvPr/>
        </p:nvSpPr>
        <p:spPr>
          <a:xfrm>
            <a:off x="8595360" y="109728"/>
            <a:ext cx="91440" cy="91440"/>
          </a:xfrm>
          <a:prstGeom prst="ellipse">
            <a:avLst/>
          </a:prstGeom>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4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Keep the Mess Committee and Mess Office, and every unconfirmed body, apart</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4</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Merging bodies with similar names to simplify the maps</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A mislabelled body would send every later claim about authority wrong</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Dashed outlines on the maps; some conclusions about who can open the rules are conditional</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OPEN: two different people are on record as head of the dining services body</a:t>
            </a:r>
            <a:endParaRPr lang="en-US" sz="1200" dirty="0"/>
          </a:p>
        </p:txBody>
      </p:sp>
      <p:sp>
        <p:nvSpPr>
          <p:cNvPr id="51" name="Shape 45"/>
          <p:cNvSpPr/>
          <p:nvPr/>
        </p:nvSpPr>
        <p:spPr>
          <a:xfrm>
            <a:off x="8101584" y="1033272"/>
            <a:ext cx="585216" cy="201168"/>
          </a:xfrm>
          <a:prstGeom prst="roundRect">
            <a:avLst>
              <a:gd name="adj" fmla="val 22727"/>
            </a:avLst>
          </a:prstGeom>
          <a:ln w="12700">
            <a:solidFill>
              <a:srgbClr val="C62828"/>
            </a:solidFill>
            <a:prstDash val="solid"/>
          </a:ln>
        </p:spPr>
      </p:sp>
      <p:sp>
        <p:nvSpPr>
          <p:cNvPr id="52" name="Text 46"/>
          <p:cNvSpPr txBox="1"/>
          <p:nvPr/>
        </p:nvSpPr>
        <p:spPr>
          <a:xfrm>
            <a:off x="8101584" y="1033272"/>
            <a:ext cx="585216" cy="201168"/>
          </a:xfrm>
          <a:prstGeom prst="rect">
            <a:avLst/>
          </a:prstGeom>
          <a:noFill/>
          <a:ln/>
        </p:spPr>
        <p:txBody>
          <a:bodyPr wrap="square" lIns="0" tIns="0" rIns="0" bIns="0" rtlCol="0" anchor="ctr"/>
          <a:lstStyle/>
          <a:p>
            <a:pPr algn="ctr" indent="0" marL="0">
              <a:buNone/>
            </a:pPr>
            <a:r>
              <a:rPr lang="en-US" sz="900" b="1" spc="100" kern="0" dirty="0">
                <a:solidFill>
                  <a:srgbClr val="C62828"/>
                </a:solidFill>
              </a:rPr>
              <a:t>OPEN</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Authority over breakfast is split into pieces that do not touch</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Shape 13"/>
          <p:cNvSpPr/>
          <p:nvPr/>
        </p:nvSpPr>
        <p:spPr>
          <a:xfrm>
            <a:off x="475488" y="1325880"/>
            <a:ext cx="365760" cy="365760"/>
          </a:xfrm>
          <a:prstGeom prst="ellipse">
            <a:avLst/>
          </a:prstGeom>
          <a:solidFill>
            <a:srgbClr val="1A237E"/>
          </a:solidFill>
          <a:ln/>
        </p:spPr>
      </p:sp>
      <p:pic>
        <p:nvPicPr>
          <p:cNvPr id="16" name="Image 0" descr="Schedule">    </p:cNvPr>
          <p:cNvPicPr>
            <a:picLocks noChangeAspect="1"/>
          </p:cNvPicPr>
          <p:nvPr/>
        </p:nvPicPr>
        <p:blipFill>
          <a:blip r:embed="rId1"/>
          <a:stretch>
            <a:fillRect/>
          </a:stretch>
        </p:blipFill>
        <p:spPr>
          <a:xfrm>
            <a:off x="548640" y="1399032"/>
            <a:ext cx="219456" cy="219456"/>
          </a:xfrm>
          <a:prstGeom prst="rect">
            <a:avLst/>
          </a:prstGeom>
        </p:spPr>
      </p:pic>
      <p:sp>
        <p:nvSpPr>
          <p:cNvPr id="17" name="Text 14"/>
          <p:cNvSpPr txBox="1"/>
          <p:nvPr/>
        </p:nvSpPr>
        <p:spPr>
          <a:xfrm>
            <a:off x="960120" y="1280160"/>
            <a:ext cx="2377440" cy="457200"/>
          </a:xfrm>
          <a:prstGeom prst="rect">
            <a:avLst/>
          </a:prstGeom>
          <a:noFill/>
          <a:ln/>
        </p:spPr>
        <p:txBody>
          <a:bodyPr wrap="square" lIns="0" tIns="0" rIns="0" bIns="0" rtlCol="0" anchor="ctr"/>
          <a:lstStyle/>
          <a:p>
            <a:pPr algn="l" indent="0" marL="0">
              <a:buNone/>
            </a:pPr>
            <a:r>
              <a:rPr lang="en-US" sz="1200" b="1" dirty="0">
                <a:solidFill>
                  <a:srgbClr val="1F2430"/>
                </a:solidFill>
              </a:rPr>
              <a:t>Class timing</a:t>
            </a:r>
            <a:endParaRPr lang="en-US" sz="1200" dirty="0"/>
          </a:p>
        </p:txBody>
      </p:sp>
      <p:sp>
        <p:nvSpPr>
          <p:cNvPr id="18" name="Shape 15"/>
          <p:cNvSpPr/>
          <p:nvPr/>
        </p:nvSpPr>
        <p:spPr>
          <a:xfrm>
            <a:off x="3383280" y="1508760"/>
            <a:ext cx="228600" cy="0"/>
          </a:xfrm>
          <a:prstGeom prst="line">
            <a:avLst/>
          </a:prstGeom>
          <a:noFill/>
          <a:ln w="19050">
            <a:solidFill>
              <a:srgbClr val="9AA3B5"/>
            </a:solidFill>
            <a:prstDash val="solid"/>
            <a:tailEnd type="triangle"/>
          </a:ln>
        </p:spPr>
      </p:sp>
      <p:sp>
        <p:nvSpPr>
          <p:cNvPr id="19" name="Shape 16"/>
          <p:cNvSpPr/>
          <p:nvPr/>
        </p:nvSpPr>
        <p:spPr>
          <a:xfrm>
            <a:off x="3657600" y="1298448"/>
            <a:ext cx="2514600" cy="420624"/>
          </a:xfrm>
          <a:prstGeom prst="roundRect">
            <a:avLst>
              <a:gd name="adj" fmla="val 13043"/>
            </a:avLst>
          </a:prstGeom>
          <a:solidFill>
            <a:srgbClr val="E0F2F1"/>
          </a:solidFill>
          <a:ln w="12700">
            <a:solidFill>
              <a:srgbClr val="00695C"/>
            </a:solidFill>
            <a:prstDash val="solid"/>
          </a:ln>
        </p:spPr>
      </p:sp>
      <p:sp>
        <p:nvSpPr>
          <p:cNvPr id="20" name="Text 17"/>
          <p:cNvSpPr txBox="1"/>
          <p:nvPr/>
        </p:nvSpPr>
        <p:spPr>
          <a:xfrm>
            <a:off x="3721608" y="1298448"/>
            <a:ext cx="2386584" cy="420624"/>
          </a:xfrm>
          <a:prstGeom prst="rect">
            <a:avLst/>
          </a:prstGeom>
          <a:noFill/>
          <a:ln/>
        </p:spPr>
        <p:txBody>
          <a:bodyPr wrap="square" lIns="0" tIns="0" rIns="0" bIns="0" rtlCol="0" anchor="ctr"/>
          <a:lstStyle/>
          <a:p>
            <a:pPr algn="ctr" indent="0" marL="0">
              <a:buNone/>
            </a:pPr>
            <a:r>
              <a:rPr lang="en-US" sz="1100" dirty="0">
                <a:solidFill>
                  <a:srgbClr val="1F2430"/>
                </a:solidFill>
              </a:rPr>
              <a:t>Academic administration</a:t>
            </a:r>
            <a:endParaRPr lang="en-US" sz="1100" dirty="0"/>
          </a:p>
        </p:txBody>
      </p:sp>
      <p:sp>
        <p:nvSpPr>
          <p:cNvPr id="21" name="Shape 18"/>
          <p:cNvSpPr/>
          <p:nvPr/>
        </p:nvSpPr>
        <p:spPr>
          <a:xfrm>
            <a:off x="6890004" y="1307592"/>
            <a:ext cx="928116" cy="201168"/>
          </a:xfrm>
          <a:prstGeom prst="roundRect">
            <a:avLst>
              <a:gd name="adj" fmla="val 22727"/>
            </a:avLst>
          </a:prstGeom>
          <a:solidFill>
            <a:srgbClr val="2E7D32"/>
          </a:solidFill>
          <a:ln/>
        </p:spPr>
      </p:sp>
      <p:sp>
        <p:nvSpPr>
          <p:cNvPr id="22" name="Text 19"/>
          <p:cNvSpPr txBox="1"/>
          <p:nvPr/>
        </p:nvSpPr>
        <p:spPr>
          <a:xfrm>
            <a:off x="6890004" y="130759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23" name="Text 20"/>
          <p:cNvSpPr txBox="1"/>
          <p:nvPr/>
        </p:nvSpPr>
        <p:spPr>
          <a:xfrm>
            <a:off x="7863840" y="1280160"/>
            <a:ext cx="868680" cy="457200"/>
          </a:xfrm>
          <a:prstGeom prst="rect">
            <a:avLst/>
          </a:prstGeom>
          <a:noFill/>
          <a:ln/>
        </p:spPr>
        <p:txBody>
          <a:bodyPr wrap="square" lIns="0" tIns="0" rIns="0" bIns="0" rtlCol="0" anchor="ctr"/>
          <a:lstStyle/>
          <a:p>
            <a:pPr algn="l" indent="0" marL="0">
              <a:buNone/>
            </a:pPr>
            <a:r>
              <a:rPr lang="en-US" sz="950" dirty="0">
                <a:solidFill>
                  <a:srgbClr val="616161"/>
                </a:solidFill>
              </a:rPr>
              <a:t>No link to mess governance</a:t>
            </a:r>
            <a:endParaRPr lang="en-US" sz="950" dirty="0"/>
          </a:p>
        </p:txBody>
      </p:sp>
      <p:sp>
        <p:nvSpPr>
          <p:cNvPr id="24" name="Shape 21"/>
          <p:cNvSpPr/>
          <p:nvPr/>
        </p:nvSpPr>
        <p:spPr>
          <a:xfrm>
            <a:off x="475488" y="1856232"/>
            <a:ext cx="365760" cy="365760"/>
          </a:xfrm>
          <a:prstGeom prst="ellipse">
            <a:avLst/>
          </a:prstGeom>
          <a:solidFill>
            <a:srgbClr val="1A237E"/>
          </a:solidFill>
          <a:ln/>
        </p:spPr>
      </p:sp>
      <p:pic>
        <p:nvPicPr>
          <p:cNvPr id="25" name="Image 1" descr="Event">    </p:cNvPr>
          <p:cNvPicPr>
            <a:picLocks noChangeAspect="1"/>
          </p:cNvPicPr>
          <p:nvPr/>
        </p:nvPicPr>
        <p:blipFill>
          <a:blip r:embed="rId2"/>
          <a:stretch>
            <a:fillRect/>
          </a:stretch>
        </p:blipFill>
        <p:spPr>
          <a:xfrm>
            <a:off x="548640" y="1929384"/>
            <a:ext cx="219456" cy="219456"/>
          </a:xfrm>
          <a:prstGeom prst="rect">
            <a:avLst/>
          </a:prstGeom>
        </p:spPr>
      </p:pic>
      <p:sp>
        <p:nvSpPr>
          <p:cNvPr id="26" name="Text 22"/>
          <p:cNvSpPr txBox="1"/>
          <p:nvPr/>
        </p:nvSpPr>
        <p:spPr>
          <a:xfrm>
            <a:off x="960120" y="1810512"/>
            <a:ext cx="2377440" cy="457200"/>
          </a:xfrm>
          <a:prstGeom prst="rect">
            <a:avLst/>
          </a:prstGeom>
          <a:noFill/>
          <a:ln/>
        </p:spPr>
        <p:txBody>
          <a:bodyPr wrap="square" lIns="0" tIns="0" rIns="0" bIns="0" rtlCol="0" anchor="ctr"/>
          <a:lstStyle/>
          <a:p>
            <a:pPr algn="l" indent="0" marL="0">
              <a:buNone/>
            </a:pPr>
            <a:r>
              <a:rPr lang="en-US" sz="1200" b="1" dirty="0">
                <a:solidFill>
                  <a:srgbClr val="1F2430"/>
                </a:solidFill>
              </a:rPr>
              <a:t>Registration cut-off and cancellation limit</a:t>
            </a:r>
            <a:endParaRPr lang="en-US" sz="1200" dirty="0"/>
          </a:p>
        </p:txBody>
      </p:sp>
      <p:sp>
        <p:nvSpPr>
          <p:cNvPr id="27" name="Shape 23"/>
          <p:cNvSpPr/>
          <p:nvPr/>
        </p:nvSpPr>
        <p:spPr>
          <a:xfrm>
            <a:off x="3383280" y="2039112"/>
            <a:ext cx="228600" cy="0"/>
          </a:xfrm>
          <a:prstGeom prst="line">
            <a:avLst/>
          </a:prstGeom>
          <a:noFill/>
          <a:ln w="19050">
            <a:solidFill>
              <a:srgbClr val="9AA3B5"/>
            </a:solidFill>
            <a:prstDash val="solid"/>
            <a:tailEnd type="triangle"/>
          </a:ln>
        </p:spPr>
      </p:sp>
      <p:sp>
        <p:nvSpPr>
          <p:cNvPr id="28" name="Shape 24"/>
          <p:cNvSpPr/>
          <p:nvPr/>
        </p:nvSpPr>
        <p:spPr>
          <a:xfrm>
            <a:off x="3657600" y="1828800"/>
            <a:ext cx="2514600" cy="420624"/>
          </a:xfrm>
          <a:prstGeom prst="roundRect">
            <a:avLst>
              <a:gd name="adj" fmla="val 13043"/>
            </a:avLst>
          </a:prstGeom>
          <a:solidFill>
            <a:srgbClr val="E0F2F1"/>
          </a:solidFill>
          <a:ln w="12700">
            <a:solidFill>
              <a:srgbClr val="00695C"/>
            </a:solidFill>
            <a:prstDash val="solid"/>
          </a:ln>
        </p:spPr>
      </p:sp>
      <p:sp>
        <p:nvSpPr>
          <p:cNvPr id="29" name="Text 25"/>
          <p:cNvSpPr txBox="1"/>
          <p:nvPr/>
        </p:nvSpPr>
        <p:spPr>
          <a:xfrm>
            <a:off x="3721608" y="1828800"/>
            <a:ext cx="2386584" cy="420624"/>
          </a:xfrm>
          <a:prstGeom prst="rect">
            <a:avLst/>
          </a:prstGeom>
          <a:noFill/>
          <a:ln/>
        </p:spPr>
        <p:txBody>
          <a:bodyPr wrap="square" lIns="0" tIns="0" rIns="0" bIns="0" rtlCol="0" anchor="ctr"/>
          <a:lstStyle/>
          <a:p>
            <a:pPr algn="ctr" indent="0" marL="0">
              <a:buNone/>
            </a:pPr>
            <a:r>
              <a:rPr lang="en-US" sz="1100" dirty="0">
                <a:solidFill>
                  <a:srgbClr val="1F2430"/>
                </a:solidFill>
              </a:rPr>
              <a:t>Mess Office; committee sign-off unclear</a:t>
            </a:r>
            <a:endParaRPr lang="en-US" sz="1100" dirty="0"/>
          </a:p>
        </p:txBody>
      </p:sp>
      <p:sp>
        <p:nvSpPr>
          <p:cNvPr id="30" name="Shape 26"/>
          <p:cNvSpPr/>
          <p:nvPr/>
        </p:nvSpPr>
        <p:spPr>
          <a:xfrm>
            <a:off x="6547104" y="1837944"/>
            <a:ext cx="1271016" cy="201168"/>
          </a:xfrm>
          <a:prstGeom prst="roundRect">
            <a:avLst>
              <a:gd name="adj" fmla="val 22727"/>
            </a:avLst>
          </a:prstGeom>
          <a:solidFill>
            <a:srgbClr val="616161"/>
          </a:solidFill>
          <a:ln/>
        </p:spPr>
      </p:sp>
      <p:sp>
        <p:nvSpPr>
          <p:cNvPr id="31" name="Text 27"/>
          <p:cNvSpPr txBox="1"/>
          <p:nvPr/>
        </p:nvSpPr>
        <p:spPr>
          <a:xfrm>
            <a:off x="6547104" y="1837944"/>
            <a:ext cx="12710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SINGLE-SOURCED</a:t>
            </a:r>
            <a:endParaRPr lang="en-US" sz="900" dirty="0"/>
          </a:p>
        </p:txBody>
      </p:sp>
      <p:sp>
        <p:nvSpPr>
          <p:cNvPr id="32" name="Text 28"/>
          <p:cNvSpPr txBox="1"/>
          <p:nvPr/>
        </p:nvSpPr>
        <p:spPr>
          <a:xfrm>
            <a:off x="7863840" y="1810512"/>
            <a:ext cx="868680" cy="457200"/>
          </a:xfrm>
          <a:prstGeom prst="rect">
            <a:avLst/>
          </a:prstGeom>
          <a:noFill/>
          <a:ln/>
        </p:spPr>
        <p:txBody>
          <a:bodyPr wrap="square" lIns="0" tIns="0" rIns="0" bIns="0" rtlCol="0" anchor="ctr"/>
          <a:lstStyle/>
          <a:p>
            <a:pPr algn="l" indent="0" marL="0">
              <a:buNone/>
            </a:pPr>
            <a:r>
              <a:rPr lang="en-US" sz="950" dirty="0">
                <a:solidFill>
                  <a:srgbClr val="616161"/>
                </a:solidFill>
              </a:rPr>
              <a:t>One case, December 2024</a:t>
            </a:r>
            <a:endParaRPr lang="en-US" sz="950" dirty="0"/>
          </a:p>
        </p:txBody>
      </p:sp>
      <p:sp>
        <p:nvSpPr>
          <p:cNvPr id="33" name="Shape 29"/>
          <p:cNvSpPr/>
          <p:nvPr/>
        </p:nvSpPr>
        <p:spPr>
          <a:xfrm>
            <a:off x="475488" y="2386584"/>
            <a:ext cx="365760" cy="365760"/>
          </a:xfrm>
          <a:prstGeom prst="ellipse">
            <a:avLst/>
          </a:prstGeom>
          <a:solidFill>
            <a:srgbClr val="1A237E"/>
          </a:solidFill>
          <a:ln/>
        </p:spPr>
      </p:sp>
      <p:pic>
        <p:nvPicPr>
          <p:cNvPr id="34" name="Image 2" descr="RestaurantMenu">    </p:cNvPr>
          <p:cNvPicPr>
            <a:picLocks noChangeAspect="1"/>
          </p:cNvPicPr>
          <p:nvPr/>
        </p:nvPicPr>
        <p:blipFill>
          <a:blip r:embed="rId3"/>
          <a:stretch>
            <a:fillRect/>
          </a:stretch>
        </p:blipFill>
        <p:spPr>
          <a:xfrm>
            <a:off x="548640" y="2459736"/>
            <a:ext cx="219456" cy="219456"/>
          </a:xfrm>
          <a:prstGeom prst="rect">
            <a:avLst/>
          </a:prstGeom>
        </p:spPr>
      </p:pic>
      <p:sp>
        <p:nvSpPr>
          <p:cNvPr id="35" name="Text 30"/>
          <p:cNvSpPr txBox="1"/>
          <p:nvPr/>
        </p:nvSpPr>
        <p:spPr>
          <a:xfrm>
            <a:off x="960120" y="2340864"/>
            <a:ext cx="2377440" cy="457200"/>
          </a:xfrm>
          <a:prstGeom prst="rect">
            <a:avLst/>
          </a:prstGeom>
          <a:noFill/>
          <a:ln/>
        </p:spPr>
        <p:txBody>
          <a:bodyPr wrap="square" lIns="0" tIns="0" rIns="0" bIns="0" rtlCol="0" anchor="ctr"/>
          <a:lstStyle/>
          <a:p>
            <a:pPr algn="l" indent="0" marL="0">
              <a:buNone/>
            </a:pPr>
            <a:r>
              <a:rPr lang="en-US" sz="1200" b="1" dirty="0">
                <a:solidFill>
                  <a:srgbClr val="1F2430"/>
                </a:solidFill>
              </a:rPr>
              <a:t>Menu</a:t>
            </a:r>
            <a:endParaRPr lang="en-US" sz="1200" dirty="0"/>
          </a:p>
        </p:txBody>
      </p:sp>
      <p:sp>
        <p:nvSpPr>
          <p:cNvPr id="36" name="Shape 31"/>
          <p:cNvSpPr/>
          <p:nvPr/>
        </p:nvSpPr>
        <p:spPr>
          <a:xfrm>
            <a:off x="3383280" y="2569464"/>
            <a:ext cx="228600" cy="0"/>
          </a:xfrm>
          <a:prstGeom prst="line">
            <a:avLst/>
          </a:prstGeom>
          <a:noFill/>
          <a:ln w="19050">
            <a:solidFill>
              <a:srgbClr val="9AA3B5"/>
            </a:solidFill>
            <a:prstDash val="solid"/>
            <a:tailEnd type="triangle"/>
          </a:ln>
        </p:spPr>
      </p:sp>
      <p:sp>
        <p:nvSpPr>
          <p:cNvPr id="37" name="Shape 32"/>
          <p:cNvSpPr/>
          <p:nvPr/>
        </p:nvSpPr>
        <p:spPr>
          <a:xfrm>
            <a:off x="3657600" y="2359152"/>
            <a:ext cx="2514600" cy="420624"/>
          </a:xfrm>
          <a:prstGeom prst="roundRect">
            <a:avLst>
              <a:gd name="adj" fmla="val 13043"/>
            </a:avLst>
          </a:prstGeom>
          <a:solidFill>
            <a:srgbClr val="E0F2F1"/>
          </a:solidFill>
          <a:ln w="12700">
            <a:solidFill>
              <a:srgbClr val="00695C"/>
            </a:solidFill>
            <a:prstDash val="solid"/>
          </a:ln>
        </p:spPr>
      </p:sp>
      <p:sp>
        <p:nvSpPr>
          <p:cNvPr id="38" name="Text 33"/>
          <p:cNvSpPr txBox="1"/>
          <p:nvPr/>
        </p:nvSpPr>
        <p:spPr>
          <a:xfrm>
            <a:off x="3721608" y="2359152"/>
            <a:ext cx="2386584" cy="420624"/>
          </a:xfrm>
          <a:prstGeom prst="rect">
            <a:avLst/>
          </a:prstGeom>
          <a:noFill/>
          <a:ln/>
        </p:spPr>
        <p:txBody>
          <a:bodyPr wrap="square" lIns="0" tIns="0" rIns="0" bIns="0" rtlCol="0" anchor="ctr"/>
          <a:lstStyle/>
          <a:p>
            <a:pPr algn="ctr" indent="0" marL="0">
              <a:buNone/>
            </a:pPr>
            <a:r>
              <a:rPr lang="en-US" sz="1100" dirty="0">
                <a:solidFill>
                  <a:srgbClr val="1F2430"/>
                </a:solidFill>
              </a:rPr>
              <a:t>Student committee, from operator options</a:t>
            </a:r>
            <a:endParaRPr lang="en-US" sz="1100" dirty="0"/>
          </a:p>
        </p:txBody>
      </p:sp>
      <p:sp>
        <p:nvSpPr>
          <p:cNvPr id="39" name="Shape 34"/>
          <p:cNvSpPr/>
          <p:nvPr/>
        </p:nvSpPr>
        <p:spPr>
          <a:xfrm>
            <a:off x="6890004" y="2368296"/>
            <a:ext cx="928116" cy="201168"/>
          </a:xfrm>
          <a:prstGeom prst="roundRect">
            <a:avLst>
              <a:gd name="adj" fmla="val 22727"/>
            </a:avLst>
          </a:prstGeom>
          <a:solidFill>
            <a:srgbClr val="2E7D32"/>
          </a:solidFill>
          <a:ln/>
        </p:spPr>
      </p:sp>
      <p:sp>
        <p:nvSpPr>
          <p:cNvPr id="40" name="Text 35"/>
          <p:cNvSpPr txBox="1"/>
          <p:nvPr/>
        </p:nvSpPr>
        <p:spPr>
          <a:xfrm>
            <a:off x="6890004" y="2368296"/>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41" name="Text 36"/>
          <p:cNvSpPr txBox="1"/>
          <p:nvPr/>
        </p:nvSpPr>
        <p:spPr>
          <a:xfrm>
            <a:off x="7863840" y="2340864"/>
            <a:ext cx="868680" cy="457200"/>
          </a:xfrm>
          <a:prstGeom prst="rect">
            <a:avLst/>
          </a:prstGeom>
          <a:noFill/>
          <a:ln/>
        </p:spPr>
        <p:txBody>
          <a:bodyPr wrap="square" lIns="0" tIns="0" rIns="0" bIns="0" rtlCol="0" anchor="ctr"/>
          <a:lstStyle/>
          <a:p>
            <a:pPr algn="l" indent="0" marL="0">
              <a:buNone/>
            </a:pPr>
            <a:r>
              <a:rPr lang="en-US" sz="950" dirty="0">
                <a:solidFill>
                  <a:srgbClr val="616161"/>
                </a:solidFill>
              </a:rPr>
              <a:t>In outline</a:t>
            </a:r>
            <a:endParaRPr lang="en-US" sz="950" dirty="0"/>
          </a:p>
        </p:txBody>
      </p:sp>
      <p:sp>
        <p:nvSpPr>
          <p:cNvPr id="42" name="Shape 37"/>
          <p:cNvSpPr/>
          <p:nvPr/>
        </p:nvSpPr>
        <p:spPr>
          <a:xfrm>
            <a:off x="475488" y="2916936"/>
            <a:ext cx="365760" cy="365760"/>
          </a:xfrm>
          <a:prstGeom prst="ellipse">
            <a:avLst/>
          </a:prstGeom>
          <a:solidFill>
            <a:srgbClr val="1A237E"/>
          </a:solidFill>
          <a:ln/>
        </p:spPr>
      </p:sp>
      <p:pic>
        <p:nvPicPr>
          <p:cNvPr id="43" name="Image 3" descr="Restaurant">    </p:cNvPr>
          <p:cNvPicPr>
            <a:picLocks noChangeAspect="1"/>
          </p:cNvPicPr>
          <p:nvPr/>
        </p:nvPicPr>
        <p:blipFill>
          <a:blip r:embed="rId4"/>
          <a:stretch>
            <a:fillRect/>
          </a:stretch>
        </p:blipFill>
        <p:spPr>
          <a:xfrm>
            <a:off x="548640" y="2990088"/>
            <a:ext cx="219456" cy="219456"/>
          </a:xfrm>
          <a:prstGeom prst="rect">
            <a:avLst/>
          </a:prstGeom>
        </p:spPr>
      </p:pic>
      <p:sp>
        <p:nvSpPr>
          <p:cNvPr id="44" name="Text 38"/>
          <p:cNvSpPr txBox="1"/>
          <p:nvPr/>
        </p:nvSpPr>
        <p:spPr>
          <a:xfrm>
            <a:off x="960120" y="2871216"/>
            <a:ext cx="2377440" cy="457200"/>
          </a:xfrm>
          <a:prstGeom prst="rect">
            <a:avLst/>
          </a:prstGeom>
          <a:noFill/>
          <a:ln/>
        </p:spPr>
        <p:txBody>
          <a:bodyPr wrap="square" lIns="0" tIns="0" rIns="0" bIns="0" rtlCol="0" anchor="ctr"/>
          <a:lstStyle/>
          <a:p>
            <a:pPr algn="l" indent="0" marL="0">
              <a:buNone/>
            </a:pPr>
            <a:r>
              <a:rPr lang="en-US" sz="1200" b="1" dirty="0">
                <a:solidFill>
                  <a:srgbClr val="1F2430"/>
                </a:solidFill>
              </a:rPr>
              <a:t>Quantity, first batch, reuse</a:t>
            </a:r>
            <a:endParaRPr lang="en-US" sz="1200" dirty="0"/>
          </a:p>
        </p:txBody>
      </p:sp>
      <p:sp>
        <p:nvSpPr>
          <p:cNvPr id="45" name="Shape 39"/>
          <p:cNvSpPr/>
          <p:nvPr/>
        </p:nvSpPr>
        <p:spPr>
          <a:xfrm>
            <a:off x="3383280" y="3099816"/>
            <a:ext cx="228600" cy="0"/>
          </a:xfrm>
          <a:prstGeom prst="line">
            <a:avLst/>
          </a:prstGeom>
          <a:noFill/>
          <a:ln w="19050">
            <a:solidFill>
              <a:srgbClr val="9AA3B5"/>
            </a:solidFill>
            <a:prstDash val="solid"/>
            <a:tailEnd type="triangle"/>
          </a:ln>
        </p:spPr>
      </p:sp>
      <p:sp>
        <p:nvSpPr>
          <p:cNvPr id="46" name="Shape 40"/>
          <p:cNvSpPr/>
          <p:nvPr/>
        </p:nvSpPr>
        <p:spPr>
          <a:xfrm>
            <a:off x="3657600" y="2889504"/>
            <a:ext cx="2514600" cy="420624"/>
          </a:xfrm>
          <a:prstGeom prst="roundRect">
            <a:avLst>
              <a:gd name="adj" fmla="val 13043"/>
            </a:avLst>
          </a:prstGeom>
          <a:solidFill>
            <a:srgbClr val="E0F2F1"/>
          </a:solidFill>
          <a:ln w="12700">
            <a:solidFill>
              <a:srgbClr val="00695C"/>
            </a:solidFill>
            <a:prstDash val="solid"/>
          </a:ln>
        </p:spPr>
      </p:sp>
      <p:sp>
        <p:nvSpPr>
          <p:cNvPr id="47" name="Text 41"/>
          <p:cNvSpPr txBox="1"/>
          <p:nvPr/>
        </p:nvSpPr>
        <p:spPr>
          <a:xfrm>
            <a:off x="3721608" y="2889504"/>
            <a:ext cx="2386584" cy="420624"/>
          </a:xfrm>
          <a:prstGeom prst="rect">
            <a:avLst/>
          </a:prstGeom>
          <a:noFill/>
          <a:ln/>
        </p:spPr>
        <p:txBody>
          <a:bodyPr wrap="square" lIns="0" tIns="0" rIns="0" bIns="0" rtlCol="0" anchor="ctr"/>
          <a:lstStyle/>
          <a:p>
            <a:pPr algn="ctr" indent="0" marL="0">
              <a:buNone/>
            </a:pPr>
            <a:r>
              <a:rPr lang="en-US" sz="1100" dirty="0">
                <a:solidFill>
                  <a:srgbClr val="1F2430"/>
                </a:solidFill>
              </a:rPr>
              <a:t>The operator</a:t>
            </a:r>
            <a:endParaRPr lang="en-US" sz="1100" dirty="0"/>
          </a:p>
        </p:txBody>
      </p:sp>
      <p:sp>
        <p:nvSpPr>
          <p:cNvPr id="48" name="Shape 42"/>
          <p:cNvSpPr/>
          <p:nvPr/>
        </p:nvSpPr>
        <p:spPr>
          <a:xfrm>
            <a:off x="6890004" y="2898648"/>
            <a:ext cx="928116" cy="201168"/>
          </a:xfrm>
          <a:prstGeom prst="roundRect">
            <a:avLst>
              <a:gd name="adj" fmla="val 22727"/>
            </a:avLst>
          </a:prstGeom>
          <a:solidFill>
            <a:srgbClr val="2E7D32"/>
          </a:solidFill>
          <a:ln/>
        </p:spPr>
      </p:sp>
      <p:sp>
        <p:nvSpPr>
          <p:cNvPr id="49" name="Text 43"/>
          <p:cNvSpPr txBox="1"/>
          <p:nvPr/>
        </p:nvSpPr>
        <p:spPr>
          <a:xfrm>
            <a:off x="6890004" y="2898648"/>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50" name="Text 44"/>
          <p:cNvSpPr txBox="1"/>
          <p:nvPr/>
        </p:nvSpPr>
        <p:spPr>
          <a:xfrm>
            <a:off x="7863840" y="2871216"/>
            <a:ext cx="868680" cy="457200"/>
          </a:xfrm>
          <a:prstGeom prst="rect">
            <a:avLst/>
          </a:prstGeom>
          <a:noFill/>
          <a:ln/>
        </p:spPr>
        <p:txBody>
          <a:bodyPr wrap="square" lIns="0" tIns="0" rIns="0" bIns="0" rtlCol="0" anchor="ctr"/>
          <a:lstStyle/>
          <a:p>
            <a:pPr algn="l" indent="0" marL="0">
              <a:buNone/>
            </a:pPr>
            <a:r>
              <a:rPr lang="en-US" sz="950" dirty="0">
                <a:solidFill>
                  <a:srgbClr val="616161"/>
                </a:solidFill>
              </a:rPr>
              <a:t>At Yuktāhār</a:t>
            </a:r>
            <a:endParaRPr lang="en-US" sz="950" dirty="0"/>
          </a:p>
        </p:txBody>
      </p:sp>
      <p:sp>
        <p:nvSpPr>
          <p:cNvPr id="51" name="Shape 45"/>
          <p:cNvSpPr/>
          <p:nvPr/>
        </p:nvSpPr>
        <p:spPr>
          <a:xfrm>
            <a:off x="475488" y="3447288"/>
            <a:ext cx="365760" cy="365760"/>
          </a:xfrm>
          <a:prstGeom prst="ellipse">
            <a:avLst/>
          </a:prstGeom>
          <a:solidFill>
            <a:srgbClr val="1A237E"/>
          </a:solidFill>
          <a:ln/>
        </p:spPr>
      </p:sp>
      <p:pic>
        <p:nvPicPr>
          <p:cNvPr id="52" name="Image 4" descr="AccessTime">    </p:cNvPr>
          <p:cNvPicPr>
            <a:picLocks noChangeAspect="1"/>
          </p:cNvPicPr>
          <p:nvPr/>
        </p:nvPicPr>
        <p:blipFill>
          <a:blip r:embed="rId5"/>
          <a:stretch>
            <a:fillRect/>
          </a:stretch>
        </p:blipFill>
        <p:spPr>
          <a:xfrm>
            <a:off x="548640" y="3520440"/>
            <a:ext cx="219456" cy="219456"/>
          </a:xfrm>
          <a:prstGeom prst="rect">
            <a:avLst/>
          </a:prstGeom>
        </p:spPr>
      </p:pic>
      <p:sp>
        <p:nvSpPr>
          <p:cNvPr id="53" name="Text 46"/>
          <p:cNvSpPr txBox="1"/>
          <p:nvPr/>
        </p:nvSpPr>
        <p:spPr>
          <a:xfrm>
            <a:off x="960120" y="3401568"/>
            <a:ext cx="2377440" cy="457200"/>
          </a:xfrm>
          <a:prstGeom prst="rect">
            <a:avLst/>
          </a:prstGeom>
          <a:noFill/>
          <a:ln/>
        </p:spPr>
        <p:txBody>
          <a:bodyPr wrap="square" lIns="0" tIns="0" rIns="0" bIns="0" rtlCol="0" anchor="ctr"/>
          <a:lstStyle/>
          <a:p>
            <a:pPr algn="l" indent="0" marL="0">
              <a:buNone/>
            </a:pPr>
            <a:r>
              <a:rPr lang="en-US" sz="1200" b="1" dirty="0">
                <a:solidFill>
                  <a:srgbClr val="1F2430"/>
                </a:solidFill>
              </a:rPr>
              <a:t>Breakfast timing</a:t>
            </a:r>
            <a:endParaRPr lang="en-US" sz="1200" dirty="0"/>
          </a:p>
        </p:txBody>
      </p:sp>
      <p:sp>
        <p:nvSpPr>
          <p:cNvPr id="54" name="Shape 47"/>
          <p:cNvSpPr/>
          <p:nvPr/>
        </p:nvSpPr>
        <p:spPr>
          <a:xfrm>
            <a:off x="3383280" y="3630168"/>
            <a:ext cx="228600" cy="0"/>
          </a:xfrm>
          <a:prstGeom prst="line">
            <a:avLst/>
          </a:prstGeom>
          <a:noFill/>
          <a:ln w="19050">
            <a:solidFill>
              <a:srgbClr val="9AA3B5"/>
            </a:solidFill>
            <a:prstDash val="solid"/>
            <a:tailEnd type="triangle"/>
          </a:ln>
        </p:spPr>
      </p:sp>
      <p:sp>
        <p:nvSpPr>
          <p:cNvPr id="55" name="Shape 48"/>
          <p:cNvSpPr/>
          <p:nvPr/>
        </p:nvSpPr>
        <p:spPr>
          <a:xfrm>
            <a:off x="3657600" y="3419856"/>
            <a:ext cx="2514600" cy="420624"/>
          </a:xfrm>
          <a:prstGeom prst="roundRect">
            <a:avLst>
              <a:gd name="adj" fmla="val 13043"/>
            </a:avLst>
          </a:prstGeom>
          <a:solidFill>
            <a:srgbClr val="FDECEA"/>
          </a:solidFill>
          <a:ln w="12700">
            <a:solidFill>
              <a:srgbClr val="C62828"/>
            </a:solidFill>
            <a:prstDash val="dash"/>
          </a:ln>
        </p:spPr>
      </p:sp>
      <p:sp>
        <p:nvSpPr>
          <p:cNvPr id="56" name="Text 49"/>
          <p:cNvSpPr txBox="1"/>
          <p:nvPr/>
        </p:nvSpPr>
        <p:spPr>
          <a:xfrm>
            <a:off x="3721608" y="3419856"/>
            <a:ext cx="2386584" cy="420624"/>
          </a:xfrm>
          <a:prstGeom prst="rect">
            <a:avLst/>
          </a:prstGeom>
          <a:noFill/>
          <a:ln/>
        </p:spPr>
        <p:txBody>
          <a:bodyPr wrap="square" lIns="0" tIns="0" rIns="0" bIns="0" rtlCol="0" anchor="ctr"/>
          <a:lstStyle/>
          <a:p>
            <a:pPr algn="ctr" indent="0" marL="0">
              <a:buNone/>
            </a:pPr>
            <a:r>
              <a:rPr lang="en-US" sz="1100" dirty="0">
                <a:solidFill>
                  <a:srgbClr val="1F2430"/>
                </a:solidFill>
              </a:rPr>
              <a:t>Unknown</a:t>
            </a:r>
            <a:endParaRPr lang="en-US" sz="1100" dirty="0"/>
          </a:p>
        </p:txBody>
      </p:sp>
      <p:sp>
        <p:nvSpPr>
          <p:cNvPr id="57" name="Shape 50"/>
          <p:cNvSpPr/>
          <p:nvPr/>
        </p:nvSpPr>
        <p:spPr>
          <a:xfrm>
            <a:off x="7232904" y="3429000"/>
            <a:ext cx="585216" cy="201168"/>
          </a:xfrm>
          <a:prstGeom prst="roundRect">
            <a:avLst>
              <a:gd name="adj" fmla="val 22727"/>
            </a:avLst>
          </a:prstGeom>
          <a:ln w="12700">
            <a:solidFill>
              <a:srgbClr val="C62828"/>
            </a:solidFill>
            <a:prstDash val="solid"/>
          </a:ln>
        </p:spPr>
      </p:sp>
      <p:sp>
        <p:nvSpPr>
          <p:cNvPr id="58" name="Text 51"/>
          <p:cNvSpPr txBox="1"/>
          <p:nvPr/>
        </p:nvSpPr>
        <p:spPr>
          <a:xfrm>
            <a:off x="7232904" y="3429000"/>
            <a:ext cx="585216" cy="201168"/>
          </a:xfrm>
          <a:prstGeom prst="rect">
            <a:avLst/>
          </a:prstGeom>
          <a:noFill/>
          <a:ln/>
        </p:spPr>
        <p:txBody>
          <a:bodyPr wrap="square" lIns="0" tIns="0" rIns="0" bIns="0" rtlCol="0" anchor="ctr"/>
          <a:lstStyle/>
          <a:p>
            <a:pPr algn="ctr" indent="0" marL="0">
              <a:buNone/>
            </a:pPr>
            <a:r>
              <a:rPr lang="en-US" sz="900" b="1" spc="100" kern="0" dirty="0">
                <a:solidFill>
                  <a:srgbClr val="C62828"/>
                </a:solidFill>
              </a:rPr>
              <a:t>OPEN</a:t>
            </a:r>
            <a:endParaRPr lang="en-US" sz="900" dirty="0"/>
          </a:p>
        </p:txBody>
      </p:sp>
      <p:sp>
        <p:nvSpPr>
          <p:cNvPr id="59" name="Text 52"/>
          <p:cNvSpPr txBox="1"/>
          <p:nvPr/>
        </p:nvSpPr>
        <p:spPr>
          <a:xfrm>
            <a:off x="7863840" y="3401568"/>
            <a:ext cx="868680" cy="457200"/>
          </a:xfrm>
          <a:prstGeom prst="rect">
            <a:avLst/>
          </a:prstGeom>
          <a:noFill/>
          <a:ln/>
        </p:spPr>
        <p:txBody>
          <a:bodyPr wrap="square" lIns="0" tIns="0" rIns="0" bIns="0" rtlCol="0" anchor="ctr"/>
          <a:lstStyle/>
          <a:p>
            <a:pPr algn="l" indent="0" marL="0">
              <a:buNone/>
            </a:pPr>
            <a:r>
              <a:rPr lang="en-US" sz="950" dirty="0">
                <a:solidFill>
                  <a:srgbClr val="616161"/>
                </a:solidFill>
              </a:rPr>
              <a:t>About 37 scans a day at or after 9:30</a:t>
            </a:r>
            <a:endParaRPr lang="en-US" sz="950" dirty="0"/>
          </a:p>
        </p:txBody>
      </p:sp>
      <p:sp>
        <p:nvSpPr>
          <p:cNvPr id="60" name="Shape 53"/>
          <p:cNvSpPr/>
          <p:nvPr/>
        </p:nvSpPr>
        <p:spPr>
          <a:xfrm>
            <a:off x="475488" y="3977640"/>
            <a:ext cx="365760" cy="365760"/>
          </a:xfrm>
          <a:prstGeom prst="ellipse">
            <a:avLst/>
          </a:prstGeom>
          <a:solidFill>
            <a:srgbClr val="1A237E"/>
          </a:solidFill>
          <a:ln/>
        </p:spPr>
      </p:sp>
      <p:pic>
        <p:nvPicPr>
          <p:cNvPr id="61" name="Image 5" descr="Shield">    </p:cNvPr>
          <p:cNvPicPr>
            <a:picLocks noChangeAspect="1"/>
          </p:cNvPicPr>
          <p:nvPr/>
        </p:nvPicPr>
        <p:blipFill>
          <a:blip r:embed="rId6"/>
          <a:stretch>
            <a:fillRect/>
          </a:stretch>
        </p:blipFill>
        <p:spPr>
          <a:xfrm>
            <a:off x="548640" y="4050792"/>
            <a:ext cx="219456" cy="219456"/>
          </a:xfrm>
          <a:prstGeom prst="rect">
            <a:avLst/>
          </a:prstGeom>
        </p:spPr>
      </p:pic>
      <p:sp>
        <p:nvSpPr>
          <p:cNvPr id="62" name="Text 54"/>
          <p:cNvSpPr txBox="1"/>
          <p:nvPr/>
        </p:nvSpPr>
        <p:spPr>
          <a:xfrm>
            <a:off x="960120" y="3931920"/>
            <a:ext cx="2377440" cy="457200"/>
          </a:xfrm>
          <a:prstGeom prst="rect">
            <a:avLst/>
          </a:prstGeom>
          <a:noFill/>
          <a:ln/>
        </p:spPr>
        <p:txBody>
          <a:bodyPr wrap="square" lIns="0" tIns="0" rIns="0" bIns="0" rtlCol="0" anchor="ctr"/>
          <a:lstStyle/>
          <a:p>
            <a:pPr algn="l" indent="0" marL="0">
              <a:buNone/>
            </a:pPr>
            <a:r>
              <a:rPr lang="en-US" sz="1200" b="1" dirty="0">
                <a:solidFill>
                  <a:srgbClr val="1F2430"/>
                </a:solidFill>
              </a:rPr>
              <a:t>Food safety</a:t>
            </a:r>
            <a:endParaRPr lang="en-US" sz="1200" dirty="0"/>
          </a:p>
        </p:txBody>
      </p:sp>
      <p:sp>
        <p:nvSpPr>
          <p:cNvPr id="63" name="Shape 55"/>
          <p:cNvSpPr/>
          <p:nvPr/>
        </p:nvSpPr>
        <p:spPr>
          <a:xfrm>
            <a:off x="3383280" y="4160520"/>
            <a:ext cx="228600" cy="0"/>
          </a:xfrm>
          <a:prstGeom prst="line">
            <a:avLst/>
          </a:prstGeom>
          <a:noFill/>
          <a:ln w="19050">
            <a:solidFill>
              <a:srgbClr val="9AA3B5"/>
            </a:solidFill>
            <a:prstDash val="solid"/>
            <a:tailEnd type="triangle"/>
          </a:ln>
        </p:spPr>
      </p:sp>
      <p:sp>
        <p:nvSpPr>
          <p:cNvPr id="64" name="Shape 56"/>
          <p:cNvSpPr/>
          <p:nvPr/>
        </p:nvSpPr>
        <p:spPr>
          <a:xfrm>
            <a:off x="3657600" y="3950208"/>
            <a:ext cx="2514600" cy="420624"/>
          </a:xfrm>
          <a:prstGeom prst="roundRect">
            <a:avLst>
              <a:gd name="adj" fmla="val 13043"/>
            </a:avLst>
          </a:prstGeom>
          <a:solidFill>
            <a:srgbClr val="E0F2F1"/>
          </a:solidFill>
          <a:ln w="12700">
            <a:solidFill>
              <a:srgbClr val="00695C"/>
            </a:solidFill>
            <a:prstDash val="solid"/>
          </a:ln>
        </p:spPr>
      </p:sp>
      <p:sp>
        <p:nvSpPr>
          <p:cNvPr id="65" name="Text 57"/>
          <p:cNvSpPr txBox="1"/>
          <p:nvPr/>
        </p:nvSpPr>
        <p:spPr>
          <a:xfrm>
            <a:off x="3721608" y="3950208"/>
            <a:ext cx="2386584" cy="420624"/>
          </a:xfrm>
          <a:prstGeom prst="rect">
            <a:avLst/>
          </a:prstGeom>
          <a:noFill/>
          <a:ln/>
        </p:spPr>
        <p:txBody>
          <a:bodyPr wrap="square" lIns="0" tIns="0" rIns="0" bIns="0" rtlCol="0" anchor="ctr"/>
          <a:lstStyle/>
          <a:p>
            <a:pPr algn="ctr" indent="0" marL="0">
              <a:buNone/>
            </a:pPr>
            <a:r>
              <a:rPr lang="en-US" sz="1100" dirty="0">
                <a:solidFill>
                  <a:srgbClr val="1F2430"/>
                </a:solidFill>
              </a:rPr>
              <a:t>Facility team, weekly quality control</a:t>
            </a:r>
            <a:endParaRPr lang="en-US" sz="1100" dirty="0"/>
          </a:p>
        </p:txBody>
      </p:sp>
      <p:sp>
        <p:nvSpPr>
          <p:cNvPr id="66" name="Shape 58"/>
          <p:cNvSpPr/>
          <p:nvPr/>
        </p:nvSpPr>
        <p:spPr>
          <a:xfrm>
            <a:off x="6890004" y="3959352"/>
            <a:ext cx="928116" cy="201168"/>
          </a:xfrm>
          <a:prstGeom prst="roundRect">
            <a:avLst>
              <a:gd name="adj" fmla="val 22727"/>
            </a:avLst>
          </a:prstGeom>
          <a:solidFill>
            <a:srgbClr val="2E7D32"/>
          </a:solidFill>
          <a:ln/>
        </p:spPr>
      </p:sp>
      <p:sp>
        <p:nvSpPr>
          <p:cNvPr id="67" name="Text 59"/>
          <p:cNvSpPr txBox="1"/>
          <p:nvPr/>
        </p:nvSpPr>
        <p:spPr>
          <a:xfrm>
            <a:off x="6890004" y="395935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68" name="Text 60"/>
          <p:cNvSpPr txBox="1"/>
          <p:nvPr/>
        </p:nvSpPr>
        <p:spPr>
          <a:xfrm>
            <a:off x="7863840" y="3931920"/>
            <a:ext cx="868680" cy="457200"/>
          </a:xfrm>
          <a:prstGeom prst="rect">
            <a:avLst/>
          </a:prstGeom>
          <a:noFill/>
          <a:ln/>
        </p:spPr>
        <p:txBody>
          <a:bodyPr wrap="square" lIns="0" tIns="0" rIns="0" bIns="0" rtlCol="0" anchor="ctr"/>
          <a:lstStyle/>
          <a:p>
            <a:pPr algn="l" indent="0" marL="0">
              <a:buNone/>
            </a:pPr>
            <a:r>
              <a:rPr lang="en-US" sz="950" dirty="0">
                <a:solidFill>
                  <a:srgbClr val="616161"/>
                </a:solidFill>
              </a:rPr>
              <a:t>Nothing covers quantity</a:t>
            </a:r>
            <a:endParaRPr lang="en-US" sz="950" dirty="0"/>
          </a:p>
        </p:txBody>
      </p:sp>
      <p:sp>
        <p:nvSpPr>
          <p:cNvPr id="69" name="Text 61"/>
          <p:cNvSpPr txBox="1"/>
          <p:nvPr/>
        </p:nvSpPr>
        <p:spPr>
          <a:xfrm>
            <a:off x="457200" y="4526280"/>
            <a:ext cx="7315200" cy="228600"/>
          </a:xfrm>
          <a:prstGeom prst="rect">
            <a:avLst/>
          </a:prstGeom>
          <a:noFill/>
          <a:ln/>
        </p:spPr>
        <p:txBody>
          <a:bodyPr wrap="square" lIns="0" tIns="0" rIns="0" bIns="0" rtlCol="0" anchor="t"/>
          <a:lstStyle/>
          <a:p>
            <a:pPr algn="l" indent="0" marL="0">
              <a:buNone/>
            </a:pPr>
            <a:r>
              <a:rPr lang="en-US" sz="1200" i="1" dirty="0">
                <a:solidFill>
                  <a:srgbClr val="616161"/>
                </a:solidFill>
              </a:rPr>
              <a:t>Nobody has raised the 8:30 overlap with academic administration.</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Operators hold the most leverage over waste and little power over the rules</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Shape 13"/>
          <p:cNvSpPr/>
          <p:nvPr/>
        </p:nvSpPr>
        <p:spPr>
          <a:xfrm>
            <a:off x="914400" y="1280160"/>
            <a:ext cx="2468880" cy="1508760"/>
          </a:xfrm>
          <a:prstGeom prst="rect">
            <a:avLst/>
          </a:prstGeom>
          <a:solidFill>
            <a:srgbClr val="E8EAF6"/>
          </a:solidFill>
          <a:ln/>
        </p:spPr>
      </p:sp>
      <p:sp>
        <p:nvSpPr>
          <p:cNvPr id="16" name="Shape 14"/>
          <p:cNvSpPr/>
          <p:nvPr/>
        </p:nvSpPr>
        <p:spPr>
          <a:xfrm>
            <a:off x="3383280" y="1280160"/>
            <a:ext cx="2468880" cy="1508760"/>
          </a:xfrm>
          <a:prstGeom prst="rect">
            <a:avLst/>
          </a:prstGeom>
          <a:solidFill>
            <a:srgbClr val="E0F2F1"/>
          </a:solidFill>
          <a:ln/>
        </p:spPr>
      </p:sp>
      <p:sp>
        <p:nvSpPr>
          <p:cNvPr id="17" name="Shape 15"/>
          <p:cNvSpPr/>
          <p:nvPr/>
        </p:nvSpPr>
        <p:spPr>
          <a:xfrm>
            <a:off x="914400" y="2788920"/>
            <a:ext cx="2468880" cy="1508760"/>
          </a:xfrm>
          <a:prstGeom prst="rect">
            <a:avLst/>
          </a:prstGeom>
          <a:solidFill>
            <a:srgbClr val="F2F2F2"/>
          </a:solidFill>
          <a:ln/>
        </p:spPr>
      </p:sp>
      <p:sp>
        <p:nvSpPr>
          <p:cNvPr id="18" name="Shape 16"/>
          <p:cNvSpPr/>
          <p:nvPr/>
        </p:nvSpPr>
        <p:spPr>
          <a:xfrm>
            <a:off x="3383280" y="2788920"/>
            <a:ext cx="2468880" cy="1508760"/>
          </a:xfrm>
          <a:prstGeom prst="rect">
            <a:avLst/>
          </a:prstGeom>
          <a:solidFill>
            <a:srgbClr val="FFF3E0"/>
          </a:solidFill>
          <a:ln/>
        </p:spPr>
      </p:sp>
      <p:sp>
        <p:nvSpPr>
          <p:cNvPr id="19" name="Text 17"/>
          <p:cNvSpPr txBox="1"/>
          <p:nvPr/>
        </p:nvSpPr>
        <p:spPr>
          <a:xfrm>
            <a:off x="914400" y="4343400"/>
            <a:ext cx="4937760" cy="201168"/>
          </a:xfrm>
          <a:prstGeom prst="rect">
            <a:avLst/>
          </a:prstGeom>
          <a:noFill/>
          <a:ln/>
        </p:spPr>
        <p:txBody>
          <a:bodyPr wrap="square" lIns="0" tIns="0" rIns="0" bIns="0" rtlCol="0" anchor="t"/>
          <a:lstStyle/>
          <a:p>
            <a:pPr algn="ctr" indent="0" marL="0">
              <a:buNone/>
            </a:pPr>
            <a:r>
              <a:rPr lang="en-US" sz="1100" b="1" dirty="0">
                <a:solidFill>
                  <a:srgbClr val="616161"/>
                </a:solidFill>
              </a:rPr>
              <a:t>Leverage over breakfast waste</a:t>
            </a:r>
            <a:endParaRPr lang="en-US" sz="1100" dirty="0"/>
          </a:p>
        </p:txBody>
      </p:sp>
      <p:sp>
        <p:nvSpPr>
          <p:cNvPr id="20" name="Text 18"/>
          <p:cNvSpPr txBox="1"/>
          <p:nvPr/>
        </p:nvSpPr>
        <p:spPr>
          <a:xfrm>
            <a:off x="914400" y="4343400"/>
            <a:ext cx="548640" cy="201168"/>
          </a:xfrm>
          <a:prstGeom prst="rect">
            <a:avLst/>
          </a:prstGeom>
          <a:noFill/>
          <a:ln/>
        </p:spPr>
        <p:txBody>
          <a:bodyPr wrap="square" lIns="0" tIns="0" rIns="0" bIns="0" rtlCol="0" anchor="t"/>
          <a:lstStyle/>
          <a:p>
            <a:pPr algn="l" indent="0" marL="0">
              <a:buNone/>
            </a:pPr>
            <a:r>
              <a:rPr lang="en-US" sz="1000" dirty="0">
                <a:solidFill>
                  <a:srgbClr val="616161"/>
                </a:solidFill>
              </a:rPr>
              <a:t>low</a:t>
            </a:r>
            <a:endParaRPr lang="en-US" sz="1000" dirty="0"/>
          </a:p>
        </p:txBody>
      </p:sp>
      <p:sp>
        <p:nvSpPr>
          <p:cNvPr id="21" name="Text 19"/>
          <p:cNvSpPr txBox="1"/>
          <p:nvPr/>
        </p:nvSpPr>
        <p:spPr>
          <a:xfrm>
            <a:off x="5303520" y="4343400"/>
            <a:ext cx="548640" cy="201168"/>
          </a:xfrm>
          <a:prstGeom prst="rect">
            <a:avLst/>
          </a:prstGeom>
          <a:noFill/>
          <a:ln/>
        </p:spPr>
        <p:txBody>
          <a:bodyPr wrap="square" lIns="0" tIns="0" rIns="0" bIns="0" rtlCol="0" anchor="t"/>
          <a:lstStyle/>
          <a:p>
            <a:pPr algn="r" indent="0" marL="0">
              <a:buNone/>
            </a:pPr>
            <a:r>
              <a:rPr lang="en-US" sz="1000" dirty="0">
                <a:solidFill>
                  <a:srgbClr val="616161"/>
                </a:solidFill>
              </a:rPr>
              <a:t>high</a:t>
            </a:r>
            <a:endParaRPr lang="en-US" sz="1000" dirty="0"/>
          </a:p>
        </p:txBody>
      </p:sp>
      <p:sp>
        <p:nvSpPr>
          <p:cNvPr id="22" name="Text 20"/>
          <p:cNvSpPr txBox="1"/>
          <p:nvPr/>
        </p:nvSpPr>
        <p:spPr>
          <a:xfrm rot="16200000">
            <a:off x="-548640" y="2688336"/>
            <a:ext cx="2377440" cy="201168"/>
          </a:xfrm>
          <a:prstGeom prst="rect">
            <a:avLst/>
          </a:prstGeom>
          <a:noFill/>
          <a:ln/>
        </p:spPr>
        <p:txBody>
          <a:bodyPr wrap="square" lIns="0" tIns="0" rIns="0" bIns="0" rtlCol="0" anchor="ctr"/>
          <a:lstStyle/>
          <a:p>
            <a:pPr algn="ctr" indent="0" marL="0">
              <a:buNone/>
            </a:pPr>
            <a:r>
              <a:rPr lang="en-US" sz="1100" b="1" dirty="0">
                <a:solidFill>
                  <a:srgbClr val="616161"/>
                </a:solidFill>
              </a:rPr>
              <a:t>Power over mess decisions</a:t>
            </a:r>
            <a:endParaRPr lang="en-US" sz="1100" dirty="0"/>
          </a:p>
        </p:txBody>
      </p:sp>
      <p:sp>
        <p:nvSpPr>
          <p:cNvPr id="23" name="Shape 21"/>
          <p:cNvSpPr/>
          <p:nvPr/>
        </p:nvSpPr>
        <p:spPr>
          <a:xfrm>
            <a:off x="1128370" y="1499616"/>
            <a:ext cx="164592" cy="164592"/>
          </a:xfrm>
          <a:prstGeom prst="ellipse">
            <a:avLst/>
          </a:prstGeom>
          <a:solidFill>
            <a:srgbClr val="616161"/>
          </a:solidFill>
          <a:ln/>
        </p:spPr>
      </p:sp>
      <p:sp>
        <p:nvSpPr>
          <p:cNvPr id="24" name="Text 22"/>
          <p:cNvSpPr txBox="1"/>
          <p:nvPr/>
        </p:nvSpPr>
        <p:spPr>
          <a:xfrm>
            <a:off x="1347826" y="1472184"/>
            <a:ext cx="1828800" cy="237744"/>
          </a:xfrm>
          <a:prstGeom prst="rect">
            <a:avLst/>
          </a:prstGeom>
          <a:noFill/>
          <a:ln/>
        </p:spPr>
        <p:txBody>
          <a:bodyPr wrap="square" lIns="0" tIns="0" rIns="0" bIns="0" rtlCol="0" anchor="ctr"/>
          <a:lstStyle/>
          <a:p>
            <a:pPr algn="l" indent="0" marL="0">
              <a:buNone/>
            </a:pPr>
            <a:r>
              <a:rPr lang="en-US" sz="1000" dirty="0">
                <a:solidFill>
                  <a:srgbClr val="1F2430"/>
                </a:solidFill>
              </a:rPr>
              <a:t>Academic administration</a:t>
            </a:r>
            <a:endParaRPr lang="en-US" sz="1000" dirty="0"/>
          </a:p>
        </p:txBody>
      </p:sp>
      <p:sp>
        <p:nvSpPr>
          <p:cNvPr id="25" name="Shape 23"/>
          <p:cNvSpPr/>
          <p:nvPr/>
        </p:nvSpPr>
        <p:spPr>
          <a:xfrm>
            <a:off x="1177747" y="1922069"/>
            <a:ext cx="164592" cy="164592"/>
          </a:xfrm>
          <a:prstGeom prst="ellipse">
            <a:avLst/>
          </a:prstGeom>
          <a:solidFill>
            <a:srgbClr val="00695C"/>
          </a:solidFill>
          <a:ln/>
        </p:spPr>
      </p:sp>
      <p:sp>
        <p:nvSpPr>
          <p:cNvPr id="26" name="Text 24"/>
          <p:cNvSpPr txBox="1"/>
          <p:nvPr/>
        </p:nvSpPr>
        <p:spPr>
          <a:xfrm>
            <a:off x="1397203" y="1894637"/>
            <a:ext cx="1828800" cy="237744"/>
          </a:xfrm>
          <a:prstGeom prst="rect">
            <a:avLst/>
          </a:prstGeom>
          <a:noFill/>
          <a:ln/>
        </p:spPr>
        <p:txBody>
          <a:bodyPr wrap="square" lIns="0" tIns="0" rIns="0" bIns="0" rtlCol="0" anchor="ctr"/>
          <a:lstStyle/>
          <a:p>
            <a:pPr algn="l" indent="0" marL="0">
              <a:buNone/>
            </a:pPr>
            <a:r>
              <a:rPr lang="en-US" sz="1000" dirty="0">
                <a:solidFill>
                  <a:srgbClr val="1F2430"/>
                </a:solidFill>
              </a:rPr>
              <a:t>Facility team and quality control</a:t>
            </a:r>
            <a:endParaRPr lang="en-US" sz="1000" dirty="0"/>
          </a:p>
        </p:txBody>
      </p:sp>
      <p:sp>
        <p:nvSpPr>
          <p:cNvPr id="27" name="Shape 25"/>
          <p:cNvSpPr/>
          <p:nvPr/>
        </p:nvSpPr>
        <p:spPr>
          <a:xfrm>
            <a:off x="1918411" y="2465222"/>
            <a:ext cx="164592" cy="164592"/>
          </a:xfrm>
          <a:prstGeom prst="ellipse">
            <a:avLst/>
          </a:prstGeom>
          <a:ln w="15875">
            <a:solidFill>
              <a:srgbClr val="616161"/>
            </a:solidFill>
            <a:prstDash val="dash"/>
          </a:ln>
        </p:spPr>
      </p:sp>
      <p:sp>
        <p:nvSpPr>
          <p:cNvPr id="28" name="Text 26"/>
          <p:cNvSpPr txBox="1"/>
          <p:nvPr/>
        </p:nvSpPr>
        <p:spPr>
          <a:xfrm>
            <a:off x="2137867" y="2437790"/>
            <a:ext cx="1828800" cy="237744"/>
          </a:xfrm>
          <a:prstGeom prst="rect">
            <a:avLst/>
          </a:prstGeom>
          <a:noFill/>
          <a:ln/>
        </p:spPr>
        <p:txBody>
          <a:bodyPr wrap="square" lIns="0" tIns="0" rIns="0" bIns="0" rtlCol="0" anchor="ctr"/>
          <a:lstStyle/>
          <a:p>
            <a:pPr algn="l" indent="0" marL="0">
              <a:buNone/>
            </a:pPr>
            <a:r>
              <a:rPr lang="en-US" sz="1000" dirty="0">
                <a:solidFill>
                  <a:srgbClr val="1F2430"/>
                </a:solidFill>
              </a:rPr>
              <a:t>Heads of the parent and dining services bodies (unconfirmed)</a:t>
            </a:r>
            <a:endParaRPr lang="en-US" sz="1000" dirty="0"/>
          </a:p>
        </p:txBody>
      </p:sp>
      <p:sp>
        <p:nvSpPr>
          <p:cNvPr id="29" name="Shape 27"/>
          <p:cNvSpPr/>
          <p:nvPr/>
        </p:nvSpPr>
        <p:spPr>
          <a:xfrm>
            <a:off x="2214677" y="2193646"/>
            <a:ext cx="164592" cy="164592"/>
          </a:xfrm>
          <a:prstGeom prst="ellipse">
            <a:avLst/>
          </a:prstGeom>
          <a:solidFill>
            <a:srgbClr val="00695C"/>
          </a:solidFill>
          <a:ln/>
        </p:spPr>
      </p:sp>
      <p:sp>
        <p:nvSpPr>
          <p:cNvPr id="30" name="Text 28"/>
          <p:cNvSpPr txBox="1"/>
          <p:nvPr/>
        </p:nvSpPr>
        <p:spPr>
          <a:xfrm>
            <a:off x="2434133" y="2166214"/>
            <a:ext cx="1828800" cy="237744"/>
          </a:xfrm>
          <a:prstGeom prst="rect">
            <a:avLst/>
          </a:prstGeom>
          <a:noFill/>
          <a:ln/>
        </p:spPr>
        <p:txBody>
          <a:bodyPr wrap="square" lIns="0" tIns="0" rIns="0" bIns="0" rtlCol="0" anchor="ctr"/>
          <a:lstStyle/>
          <a:p>
            <a:pPr algn="l" indent="0" marL="0">
              <a:buNone/>
            </a:pPr>
            <a:r>
              <a:rPr lang="en-US" sz="1000" dirty="0">
                <a:solidFill>
                  <a:srgbClr val="1F2430"/>
                </a:solidFill>
              </a:rPr>
              <a:t>Mess Committee, Warden</a:t>
            </a:r>
            <a:endParaRPr lang="en-US" sz="1000" dirty="0"/>
          </a:p>
        </p:txBody>
      </p:sp>
      <p:sp>
        <p:nvSpPr>
          <p:cNvPr id="31" name="Shape 29"/>
          <p:cNvSpPr/>
          <p:nvPr/>
        </p:nvSpPr>
        <p:spPr>
          <a:xfrm>
            <a:off x="3893515" y="1499616"/>
            <a:ext cx="164592" cy="164592"/>
          </a:xfrm>
          <a:prstGeom prst="ellipse">
            <a:avLst/>
          </a:prstGeom>
          <a:solidFill>
            <a:srgbClr val="00695C"/>
          </a:solidFill>
          <a:ln/>
        </p:spPr>
      </p:sp>
      <p:sp>
        <p:nvSpPr>
          <p:cNvPr id="32" name="Text 30"/>
          <p:cNvSpPr txBox="1"/>
          <p:nvPr/>
        </p:nvSpPr>
        <p:spPr>
          <a:xfrm>
            <a:off x="2009851" y="1472184"/>
            <a:ext cx="1828800" cy="237744"/>
          </a:xfrm>
          <a:prstGeom prst="rect">
            <a:avLst/>
          </a:prstGeom>
          <a:noFill/>
          <a:ln/>
        </p:spPr>
        <p:txBody>
          <a:bodyPr wrap="square" lIns="0" tIns="0" rIns="0" bIns="0" rtlCol="0" anchor="ctr"/>
          <a:lstStyle/>
          <a:p>
            <a:pPr algn="r" indent="0" marL="0">
              <a:buNone/>
            </a:pPr>
            <a:r>
              <a:rPr lang="en-US" sz="1000" dirty="0">
                <a:solidFill>
                  <a:srgbClr val="1F2430"/>
                </a:solidFill>
              </a:rPr>
              <a:t>Mess Office</a:t>
            </a:r>
            <a:endParaRPr lang="en-US" sz="1000" dirty="0"/>
          </a:p>
        </p:txBody>
      </p:sp>
      <p:sp>
        <p:nvSpPr>
          <p:cNvPr id="33" name="Shape 31"/>
          <p:cNvSpPr/>
          <p:nvPr/>
        </p:nvSpPr>
        <p:spPr>
          <a:xfrm>
            <a:off x="3893515" y="2103120"/>
            <a:ext cx="164592" cy="164592"/>
          </a:xfrm>
          <a:prstGeom prst="ellipse">
            <a:avLst/>
          </a:prstGeom>
          <a:solidFill>
            <a:srgbClr val="1565C0"/>
          </a:solidFill>
          <a:ln/>
        </p:spPr>
      </p:sp>
      <p:sp>
        <p:nvSpPr>
          <p:cNvPr id="34" name="Text 32"/>
          <p:cNvSpPr txBox="1"/>
          <p:nvPr/>
        </p:nvSpPr>
        <p:spPr>
          <a:xfrm>
            <a:off x="4112971" y="2075688"/>
            <a:ext cx="1828800" cy="237744"/>
          </a:xfrm>
          <a:prstGeom prst="rect">
            <a:avLst/>
          </a:prstGeom>
          <a:noFill/>
          <a:ln/>
        </p:spPr>
        <p:txBody>
          <a:bodyPr wrap="square" lIns="0" tIns="0" rIns="0" bIns="0" rtlCol="0" anchor="ctr"/>
          <a:lstStyle/>
          <a:p>
            <a:pPr algn="l" indent="0" marL="0">
              <a:buNone/>
            </a:pPr>
            <a:r>
              <a:rPr lang="en-US" sz="1000" dirty="0">
                <a:solidFill>
                  <a:srgbClr val="1F2430"/>
                </a:solidFill>
              </a:rPr>
              <a:t>Operator: Yuktāhār</a:t>
            </a:r>
            <a:endParaRPr lang="en-US" sz="1000" dirty="0"/>
          </a:p>
        </p:txBody>
      </p:sp>
      <p:sp>
        <p:nvSpPr>
          <p:cNvPr id="35" name="Shape 33"/>
          <p:cNvSpPr/>
          <p:nvPr/>
        </p:nvSpPr>
        <p:spPr>
          <a:xfrm>
            <a:off x="3622853" y="2935224"/>
            <a:ext cx="310896" cy="310896"/>
          </a:xfrm>
          <a:prstGeom prst="ellipse">
            <a:avLst/>
          </a:prstGeom>
          <a:ln w="25400">
            <a:solidFill>
              <a:srgbClr val="C62828"/>
            </a:solidFill>
            <a:prstDash val="solid"/>
          </a:ln>
        </p:spPr>
      </p:sp>
      <p:sp>
        <p:nvSpPr>
          <p:cNvPr id="36" name="Shape 34"/>
          <p:cNvSpPr/>
          <p:nvPr/>
        </p:nvSpPr>
        <p:spPr>
          <a:xfrm>
            <a:off x="3696005" y="3008376"/>
            <a:ext cx="164592" cy="164592"/>
          </a:xfrm>
          <a:prstGeom prst="ellipse">
            <a:avLst/>
          </a:prstGeom>
          <a:solidFill>
            <a:srgbClr val="1565C0"/>
          </a:solidFill>
          <a:ln/>
        </p:spPr>
      </p:sp>
      <p:sp>
        <p:nvSpPr>
          <p:cNvPr id="37" name="Text 35"/>
          <p:cNvSpPr txBox="1"/>
          <p:nvPr/>
        </p:nvSpPr>
        <p:spPr>
          <a:xfrm>
            <a:off x="3915461" y="2980944"/>
            <a:ext cx="1828800" cy="237744"/>
          </a:xfrm>
          <a:prstGeom prst="rect">
            <a:avLst/>
          </a:prstGeom>
          <a:noFill/>
          <a:ln/>
        </p:spPr>
        <p:txBody>
          <a:bodyPr wrap="square" lIns="0" tIns="0" rIns="0" bIns="0" rtlCol="0" anchor="ctr"/>
          <a:lstStyle/>
          <a:p>
            <a:pPr algn="l" indent="0" marL="0">
              <a:buNone/>
            </a:pPr>
            <a:r>
              <a:rPr lang="en-US" sz="1000" dirty="0">
                <a:solidFill>
                  <a:srgbClr val="1F2430"/>
                </a:solidFill>
              </a:rPr>
              <a:t>Operator: Kadamba</a:t>
            </a:r>
            <a:endParaRPr lang="en-US" sz="1000" dirty="0"/>
          </a:p>
        </p:txBody>
      </p:sp>
      <p:sp>
        <p:nvSpPr>
          <p:cNvPr id="38" name="Shape 36"/>
          <p:cNvSpPr/>
          <p:nvPr/>
        </p:nvSpPr>
        <p:spPr>
          <a:xfrm>
            <a:off x="3524098" y="3236976"/>
            <a:ext cx="310896" cy="310896"/>
          </a:xfrm>
          <a:prstGeom prst="ellipse">
            <a:avLst/>
          </a:prstGeom>
          <a:ln w="25400">
            <a:solidFill>
              <a:srgbClr val="C62828"/>
            </a:solidFill>
            <a:prstDash val="solid"/>
          </a:ln>
        </p:spPr>
      </p:sp>
      <p:sp>
        <p:nvSpPr>
          <p:cNvPr id="39" name="Shape 37"/>
          <p:cNvSpPr/>
          <p:nvPr/>
        </p:nvSpPr>
        <p:spPr>
          <a:xfrm>
            <a:off x="3597250" y="3310128"/>
            <a:ext cx="164592" cy="164592"/>
          </a:xfrm>
          <a:prstGeom prst="ellipse">
            <a:avLst/>
          </a:prstGeom>
          <a:solidFill>
            <a:srgbClr val="1565C0"/>
          </a:solidFill>
          <a:ln/>
        </p:spPr>
      </p:sp>
      <p:sp>
        <p:nvSpPr>
          <p:cNvPr id="40" name="Text 38"/>
          <p:cNvSpPr txBox="1"/>
          <p:nvPr/>
        </p:nvSpPr>
        <p:spPr>
          <a:xfrm>
            <a:off x="3816706" y="3282696"/>
            <a:ext cx="1828800" cy="237744"/>
          </a:xfrm>
          <a:prstGeom prst="rect">
            <a:avLst/>
          </a:prstGeom>
          <a:noFill/>
          <a:ln/>
        </p:spPr>
        <p:txBody>
          <a:bodyPr wrap="square" lIns="0" tIns="0" rIns="0" bIns="0" rtlCol="0" anchor="ctr"/>
          <a:lstStyle/>
          <a:p>
            <a:pPr algn="l" indent="0" marL="0">
              <a:buNone/>
            </a:pPr>
            <a:r>
              <a:rPr lang="en-US" sz="1000" dirty="0">
                <a:solidFill>
                  <a:srgbClr val="1F2430"/>
                </a:solidFill>
              </a:rPr>
              <a:t>Operator: Bakul</a:t>
            </a:r>
            <a:endParaRPr lang="en-US" sz="1000" dirty="0"/>
          </a:p>
        </p:txBody>
      </p:sp>
      <p:sp>
        <p:nvSpPr>
          <p:cNvPr id="41" name="Shape 39"/>
          <p:cNvSpPr/>
          <p:nvPr/>
        </p:nvSpPr>
        <p:spPr>
          <a:xfrm>
            <a:off x="4091026" y="4034333"/>
            <a:ext cx="164592" cy="164592"/>
          </a:xfrm>
          <a:prstGeom prst="ellipse">
            <a:avLst/>
          </a:prstGeom>
          <a:solidFill>
            <a:srgbClr val="E65100"/>
          </a:solidFill>
          <a:ln/>
        </p:spPr>
      </p:sp>
      <p:sp>
        <p:nvSpPr>
          <p:cNvPr id="42" name="Text 40"/>
          <p:cNvSpPr txBox="1"/>
          <p:nvPr/>
        </p:nvSpPr>
        <p:spPr>
          <a:xfrm>
            <a:off x="4310482" y="4006901"/>
            <a:ext cx="1828800" cy="237744"/>
          </a:xfrm>
          <a:prstGeom prst="rect">
            <a:avLst/>
          </a:prstGeom>
          <a:noFill/>
          <a:ln/>
        </p:spPr>
        <p:txBody>
          <a:bodyPr wrap="square" lIns="0" tIns="0" rIns="0" bIns="0" rtlCol="0" anchor="ctr"/>
          <a:lstStyle/>
          <a:p>
            <a:pPr algn="l" indent="0" marL="0">
              <a:buNone/>
            </a:pPr>
            <a:r>
              <a:rPr lang="en-US" sz="1000" dirty="0">
                <a:solidFill>
                  <a:srgbClr val="1F2430"/>
                </a:solidFill>
              </a:rPr>
              <a:t>Mess Cell</a:t>
            </a:r>
            <a:endParaRPr lang="en-US" sz="1000" dirty="0"/>
          </a:p>
        </p:txBody>
      </p:sp>
      <p:sp>
        <p:nvSpPr>
          <p:cNvPr id="43" name="Shape 41"/>
          <p:cNvSpPr/>
          <p:nvPr/>
        </p:nvSpPr>
        <p:spPr>
          <a:xfrm>
            <a:off x="4881067" y="3762756"/>
            <a:ext cx="164592" cy="164592"/>
          </a:xfrm>
          <a:prstGeom prst="ellipse">
            <a:avLst/>
          </a:prstGeom>
          <a:solidFill>
            <a:srgbClr val="E65100"/>
          </a:solidFill>
          <a:ln/>
        </p:spPr>
      </p:sp>
      <p:sp>
        <p:nvSpPr>
          <p:cNvPr id="44" name="Text 42"/>
          <p:cNvSpPr txBox="1"/>
          <p:nvPr/>
        </p:nvSpPr>
        <p:spPr>
          <a:xfrm>
            <a:off x="2997403" y="3735324"/>
            <a:ext cx="1828800" cy="237744"/>
          </a:xfrm>
          <a:prstGeom prst="rect">
            <a:avLst/>
          </a:prstGeom>
          <a:noFill/>
          <a:ln/>
        </p:spPr>
        <p:txBody>
          <a:bodyPr wrap="square" lIns="0" tIns="0" rIns="0" bIns="0" rtlCol="0" anchor="ctr"/>
          <a:lstStyle/>
          <a:p>
            <a:pPr algn="r" indent="0" marL="0">
              <a:buNone/>
            </a:pPr>
            <a:r>
              <a:rPr lang="en-US" sz="1000" dirty="0">
                <a:solidFill>
                  <a:srgbClr val="1F2430"/>
                </a:solidFill>
              </a:rPr>
              <a:t>Students collectively</a:t>
            </a:r>
            <a:endParaRPr lang="en-US" sz="1000" dirty="0"/>
          </a:p>
        </p:txBody>
      </p:sp>
      <p:sp>
        <p:nvSpPr>
          <p:cNvPr id="45" name="Shape 43"/>
          <p:cNvSpPr/>
          <p:nvPr/>
        </p:nvSpPr>
        <p:spPr>
          <a:xfrm>
            <a:off x="1029614" y="3973982"/>
            <a:ext cx="164592" cy="164592"/>
          </a:xfrm>
          <a:prstGeom prst="ellipse">
            <a:avLst/>
          </a:prstGeom>
          <a:solidFill>
            <a:srgbClr val="E65100"/>
          </a:solidFill>
          <a:ln/>
        </p:spPr>
      </p:sp>
      <p:sp>
        <p:nvSpPr>
          <p:cNvPr id="46" name="Text 44"/>
          <p:cNvSpPr txBox="1"/>
          <p:nvPr/>
        </p:nvSpPr>
        <p:spPr>
          <a:xfrm>
            <a:off x="1249070" y="3946550"/>
            <a:ext cx="1828800" cy="237744"/>
          </a:xfrm>
          <a:prstGeom prst="rect">
            <a:avLst/>
          </a:prstGeom>
          <a:noFill/>
          <a:ln/>
        </p:spPr>
        <p:txBody>
          <a:bodyPr wrap="square" lIns="0" tIns="0" rIns="0" bIns="0" rtlCol="0" anchor="ctr"/>
          <a:lstStyle/>
          <a:p>
            <a:pPr algn="l" indent="0" marL="0">
              <a:buNone/>
            </a:pPr>
            <a:r>
              <a:rPr lang="en-US" sz="1000" dirty="0">
                <a:solidFill>
                  <a:srgbClr val="1F2430"/>
                </a:solidFill>
              </a:rPr>
              <a:t>Students individually</a:t>
            </a:r>
            <a:endParaRPr lang="en-US" sz="1000" dirty="0"/>
          </a:p>
        </p:txBody>
      </p:sp>
      <p:sp>
        <p:nvSpPr>
          <p:cNvPr id="47" name="Shape 45"/>
          <p:cNvSpPr/>
          <p:nvPr/>
        </p:nvSpPr>
        <p:spPr>
          <a:xfrm>
            <a:off x="1128370" y="3249778"/>
            <a:ext cx="164592" cy="164592"/>
          </a:xfrm>
          <a:prstGeom prst="ellipse">
            <a:avLst/>
          </a:prstGeom>
          <a:solidFill>
            <a:srgbClr val="2E7D32"/>
          </a:solidFill>
          <a:ln/>
        </p:spPr>
      </p:sp>
      <p:sp>
        <p:nvSpPr>
          <p:cNvPr id="48" name="Text 46"/>
          <p:cNvSpPr txBox="1"/>
          <p:nvPr/>
        </p:nvSpPr>
        <p:spPr>
          <a:xfrm>
            <a:off x="1347826" y="3222346"/>
            <a:ext cx="1828800" cy="237744"/>
          </a:xfrm>
          <a:prstGeom prst="rect">
            <a:avLst/>
          </a:prstGeom>
          <a:noFill/>
          <a:ln/>
        </p:spPr>
        <p:txBody>
          <a:bodyPr wrap="square" lIns="0" tIns="0" rIns="0" bIns="0" rtlCol="0" anchor="ctr"/>
          <a:lstStyle/>
          <a:p>
            <a:pPr algn="l" indent="0" marL="0">
              <a:buNone/>
            </a:pPr>
            <a:r>
              <a:rPr lang="en-US" sz="1000" dirty="0">
                <a:solidFill>
                  <a:srgbClr val="1F2430"/>
                </a:solidFill>
              </a:rPr>
              <a:t>Outside diners, Kadamba staff</a:t>
            </a:r>
            <a:endParaRPr lang="en-US" sz="1000" dirty="0"/>
          </a:p>
        </p:txBody>
      </p:sp>
      <p:sp>
        <p:nvSpPr>
          <p:cNvPr id="49" name="Shape 47"/>
          <p:cNvSpPr/>
          <p:nvPr/>
        </p:nvSpPr>
        <p:spPr>
          <a:xfrm>
            <a:off x="6172200" y="1371600"/>
            <a:ext cx="2514600" cy="1005840"/>
          </a:xfrm>
          <a:prstGeom prst="roundRect">
            <a:avLst>
              <a:gd name="adj" fmla="val 7273"/>
            </a:avLst>
          </a:prstGeom>
          <a:solidFill>
            <a:srgbClr val="FDECEA"/>
          </a:solidFill>
          <a:ln w="12700">
            <a:solidFill>
              <a:srgbClr val="C62828"/>
            </a:solidFill>
            <a:prstDash val="solid"/>
          </a:ln>
        </p:spPr>
      </p:sp>
      <p:sp>
        <p:nvSpPr>
          <p:cNvPr id="50" name="Text 48"/>
          <p:cNvSpPr txBox="1"/>
          <p:nvPr/>
        </p:nvSpPr>
        <p:spPr>
          <a:xfrm>
            <a:off x="6291072" y="1371600"/>
            <a:ext cx="2286000" cy="1005840"/>
          </a:xfrm>
          <a:prstGeom prst="rect">
            <a:avLst/>
          </a:prstGeom>
          <a:noFill/>
          <a:ln/>
        </p:spPr>
        <p:txBody>
          <a:bodyPr wrap="square" lIns="0" tIns="0" rIns="0" bIns="0" rtlCol="0" anchor="ctr"/>
          <a:lstStyle/>
          <a:p>
            <a:pPr algn="l" indent="0" marL="0">
              <a:buNone/>
            </a:pPr>
            <a:r>
              <a:rPr lang="en-US" sz="1400" b="1" dirty="0">
                <a:solidFill>
                  <a:srgbClr val="C62828"/>
                </a:solidFill>
              </a:rPr>
              <a:t>Most leverage over waste, least rule-making power: the operators</a:t>
            </a:r>
            <a:endParaRPr lang="en-US" sz="1400" dirty="0"/>
          </a:p>
        </p:txBody>
      </p:sp>
      <p:sp>
        <p:nvSpPr>
          <p:cNvPr id="51" name="Text 49"/>
          <p:cNvSpPr txBox="1"/>
          <p:nvPr/>
        </p:nvSpPr>
        <p:spPr>
          <a:xfrm>
            <a:off x="6172200" y="2606040"/>
            <a:ext cx="2514600" cy="914400"/>
          </a:xfrm>
          <a:prstGeom prst="rect">
            <a:avLst/>
          </a:prstGeom>
          <a:noFill/>
          <a:ln/>
        </p:spPr>
        <p:txBody>
          <a:bodyPr wrap="square" lIns="0" tIns="0" rIns="0" bIns="0" rtlCol="0" anchor="t"/>
          <a:lstStyle/>
          <a:p>
            <a:pPr algn="l" indent="0" marL="0">
              <a:buNone/>
            </a:pPr>
            <a:r>
              <a:rPr lang="en-US" sz="1400" dirty="0">
                <a:solidFill>
                  <a:srgbClr val="1F2430"/>
                </a:solidFill>
              </a:rPr>
              <a:t>Information-flow leverage, routing records to the rule owner, belongs to nobody.</a:t>
            </a:r>
            <a:endParaRPr lang="en-US" sz="1400" dirty="0"/>
          </a:p>
        </p:txBody>
      </p:sp>
      <p:sp>
        <p:nvSpPr>
          <p:cNvPr id="52" name="Text 50"/>
          <p:cNvSpPr txBox="1"/>
          <p:nvPr/>
        </p:nvSpPr>
        <p:spPr>
          <a:xfrm>
            <a:off x="6172200" y="3749040"/>
            <a:ext cx="2514600" cy="548640"/>
          </a:xfrm>
          <a:prstGeom prst="rect">
            <a:avLst/>
          </a:prstGeom>
          <a:noFill/>
          <a:ln/>
        </p:spPr>
        <p:txBody>
          <a:bodyPr wrap="square" lIns="0" tIns="0" rIns="0" bIns="0" rtlCol="0" anchor="t"/>
          <a:lstStyle/>
          <a:p>
            <a:pPr algn="l" indent="0" marL="0">
              <a:buNone/>
            </a:pPr>
            <a:r>
              <a:rPr lang="en-US" sz="1100" i="1" dirty="0">
                <a:solidFill>
                  <a:srgbClr val="616161"/>
                </a:solidFill>
              </a:rPr>
              <a:t>Placement is ordinal and rests on the team’s judgement.</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Power over a decision is judged separately from leverage over waste</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Shape 13"/>
          <p:cNvSpPr/>
          <p:nvPr/>
        </p:nvSpPr>
        <p:spPr>
          <a:xfrm>
            <a:off x="6839712" y="109728"/>
            <a:ext cx="91440" cy="91440"/>
          </a:xfrm>
          <a:prstGeom prst="ellipse">
            <a:avLst/>
          </a:prstGeom>
          <a:ln w="9525">
            <a:solidFill>
              <a:srgbClr val="1A237E"/>
            </a:solidFill>
            <a:prstDash val="solid"/>
          </a:ln>
        </p:spPr>
      </p:sp>
      <p:sp>
        <p:nvSpPr>
          <p:cNvPr id="16" name="Shape 14"/>
          <p:cNvSpPr/>
          <p:nvPr/>
        </p:nvSpPr>
        <p:spPr>
          <a:xfrm>
            <a:off x="6986016" y="109728"/>
            <a:ext cx="91440" cy="91440"/>
          </a:xfrm>
          <a:prstGeom prst="ellipse">
            <a:avLst/>
          </a:prstGeom>
          <a:ln w="9525">
            <a:solidFill>
              <a:srgbClr val="1A237E"/>
            </a:solidFill>
            <a:prstDash val="solid"/>
          </a:ln>
        </p:spPr>
      </p:sp>
      <p:sp>
        <p:nvSpPr>
          <p:cNvPr id="17" name="Shape 15"/>
          <p:cNvSpPr/>
          <p:nvPr/>
        </p:nvSpPr>
        <p:spPr>
          <a:xfrm>
            <a:off x="7132320" y="109728"/>
            <a:ext cx="91440" cy="91440"/>
          </a:xfrm>
          <a:prstGeom prst="ellipse">
            <a:avLst/>
          </a:prstGeom>
          <a:ln w="9525">
            <a:solidFill>
              <a:srgbClr val="1A237E"/>
            </a:solidFill>
            <a:prstDash val="solid"/>
          </a:ln>
        </p:spPr>
      </p:sp>
      <p:sp>
        <p:nvSpPr>
          <p:cNvPr id="18" name="Shape 16"/>
          <p:cNvSpPr/>
          <p:nvPr/>
        </p:nvSpPr>
        <p:spPr>
          <a:xfrm>
            <a:off x="7278624" y="109728"/>
            <a:ext cx="91440" cy="91440"/>
          </a:xfrm>
          <a:prstGeom prst="ellipse">
            <a:avLst/>
          </a:prstGeom>
          <a:ln w="9525">
            <a:solidFill>
              <a:srgbClr val="1A237E"/>
            </a:solidFill>
            <a:prstDash val="solid"/>
          </a:ln>
        </p:spPr>
      </p:sp>
      <p:sp>
        <p:nvSpPr>
          <p:cNvPr id="19" name="Shape 17"/>
          <p:cNvSpPr/>
          <p:nvPr/>
        </p:nvSpPr>
        <p:spPr>
          <a:xfrm>
            <a:off x="7424928" y="109728"/>
            <a:ext cx="91440" cy="91440"/>
          </a:xfrm>
          <a:prstGeom prst="ellipse">
            <a:avLst/>
          </a:prstGeom>
          <a:solidFill>
            <a:srgbClr val="1A237E"/>
          </a:solidFill>
          <a:ln w="9525">
            <a:solidFill>
              <a:srgbClr val="1A237E"/>
            </a:solidFill>
            <a:prstDash val="solid"/>
          </a:ln>
        </p:spPr>
      </p:sp>
      <p:sp>
        <p:nvSpPr>
          <p:cNvPr id="20" name="Shape 18"/>
          <p:cNvSpPr/>
          <p:nvPr/>
        </p:nvSpPr>
        <p:spPr>
          <a:xfrm>
            <a:off x="7571232" y="109728"/>
            <a:ext cx="91440" cy="91440"/>
          </a:xfrm>
          <a:prstGeom prst="ellipse">
            <a:avLst/>
          </a:prstGeom>
          <a:ln w="9525">
            <a:solidFill>
              <a:srgbClr val="1A237E"/>
            </a:solidFill>
            <a:prstDash val="solid"/>
          </a:ln>
        </p:spPr>
      </p:sp>
      <p:sp>
        <p:nvSpPr>
          <p:cNvPr id="21" name="Shape 19"/>
          <p:cNvSpPr/>
          <p:nvPr/>
        </p:nvSpPr>
        <p:spPr>
          <a:xfrm>
            <a:off x="7717536" y="109728"/>
            <a:ext cx="91440" cy="91440"/>
          </a:xfrm>
          <a:prstGeom prst="ellipse">
            <a:avLst/>
          </a:prstGeom>
          <a:ln w="9525">
            <a:solidFill>
              <a:srgbClr val="1A237E"/>
            </a:solidFill>
            <a:prstDash val="solid"/>
          </a:ln>
        </p:spPr>
      </p:sp>
      <p:sp>
        <p:nvSpPr>
          <p:cNvPr id="22" name="Shape 20"/>
          <p:cNvSpPr/>
          <p:nvPr/>
        </p:nvSpPr>
        <p:spPr>
          <a:xfrm>
            <a:off x="7863840" y="109728"/>
            <a:ext cx="91440" cy="91440"/>
          </a:xfrm>
          <a:prstGeom prst="ellipse">
            <a:avLst/>
          </a:prstGeom>
          <a:ln w="9525">
            <a:solidFill>
              <a:srgbClr val="1A237E"/>
            </a:solidFill>
            <a:prstDash val="solid"/>
          </a:ln>
        </p:spPr>
      </p:sp>
      <p:sp>
        <p:nvSpPr>
          <p:cNvPr id="23" name="Shape 21"/>
          <p:cNvSpPr/>
          <p:nvPr/>
        </p:nvSpPr>
        <p:spPr>
          <a:xfrm>
            <a:off x="8010144" y="109728"/>
            <a:ext cx="91440" cy="91440"/>
          </a:xfrm>
          <a:prstGeom prst="ellipse">
            <a:avLst/>
          </a:prstGeom>
          <a:ln w="9525">
            <a:solidFill>
              <a:srgbClr val="1A237E"/>
            </a:solidFill>
            <a:prstDash val="solid"/>
          </a:ln>
        </p:spPr>
      </p:sp>
      <p:sp>
        <p:nvSpPr>
          <p:cNvPr id="24" name="Shape 22"/>
          <p:cNvSpPr/>
          <p:nvPr/>
        </p:nvSpPr>
        <p:spPr>
          <a:xfrm>
            <a:off x="8156448" y="109728"/>
            <a:ext cx="91440" cy="91440"/>
          </a:xfrm>
          <a:prstGeom prst="ellipse">
            <a:avLst/>
          </a:prstGeom>
          <a:ln w="9525">
            <a:solidFill>
              <a:srgbClr val="1A237E"/>
            </a:solidFill>
            <a:prstDash val="solid"/>
          </a:ln>
        </p:spPr>
      </p:sp>
      <p:sp>
        <p:nvSpPr>
          <p:cNvPr id="25" name="Shape 23"/>
          <p:cNvSpPr/>
          <p:nvPr/>
        </p:nvSpPr>
        <p:spPr>
          <a:xfrm>
            <a:off x="8302752" y="109728"/>
            <a:ext cx="91440" cy="91440"/>
          </a:xfrm>
          <a:prstGeom prst="ellipse">
            <a:avLst/>
          </a:prstGeom>
          <a:ln w="9525">
            <a:solidFill>
              <a:srgbClr val="1A237E"/>
            </a:solidFill>
            <a:prstDash val="solid"/>
          </a:ln>
        </p:spPr>
      </p:sp>
      <p:sp>
        <p:nvSpPr>
          <p:cNvPr id="26" name="Shape 24"/>
          <p:cNvSpPr/>
          <p:nvPr/>
        </p:nvSpPr>
        <p:spPr>
          <a:xfrm>
            <a:off x="8449056" y="109728"/>
            <a:ext cx="91440" cy="91440"/>
          </a:xfrm>
          <a:prstGeom prst="ellipse">
            <a:avLst/>
          </a:prstGeom>
          <a:ln w="9525">
            <a:solidFill>
              <a:srgbClr val="1A237E"/>
            </a:solidFill>
            <a:prstDash val="solid"/>
          </a:ln>
        </p:spPr>
      </p:sp>
      <p:sp>
        <p:nvSpPr>
          <p:cNvPr id="27" name="Shape 25"/>
          <p:cNvSpPr/>
          <p:nvPr/>
        </p:nvSpPr>
        <p:spPr>
          <a:xfrm>
            <a:off x="8595360" y="109728"/>
            <a:ext cx="91440" cy="91440"/>
          </a:xfrm>
          <a:prstGeom prst="ellipse">
            <a:avLst/>
          </a:prstGeom>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5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Judge power one decision at a time, and keep it apart from leverage</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5</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A single power score per actor on one combined grid</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A combined grid hid that the operator has most leverage and no rule power</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Two maps and a table instead of one grid; placement is ordinal judgement</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The first version used one combined grid</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Nothing rewards registering only when you mean to eat, and the payment basis is unknown</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Text 13"/>
          <p:cNvSpPr txBox="1"/>
          <p:nvPr/>
        </p:nvSpPr>
        <p:spPr>
          <a:xfrm>
            <a:off x="457200" y="1234440"/>
            <a:ext cx="365760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WHAT STUDENTS CAN DO</a:t>
            </a:r>
            <a:endParaRPr lang="en-US" sz="1000" dirty="0"/>
          </a:p>
        </p:txBody>
      </p:sp>
      <p:sp>
        <p:nvSpPr>
          <p:cNvPr id="16" name="Shape 14"/>
          <p:cNvSpPr/>
          <p:nvPr/>
        </p:nvSpPr>
        <p:spPr>
          <a:xfrm>
            <a:off x="457200" y="1554480"/>
            <a:ext cx="1371600" cy="502920"/>
          </a:xfrm>
          <a:prstGeom prst="roundRect">
            <a:avLst>
              <a:gd name="adj" fmla="val 10909"/>
            </a:avLst>
          </a:prstGeom>
          <a:solidFill>
            <a:srgbClr val="E3F2FD"/>
          </a:solidFill>
          <a:ln w="12700">
            <a:solidFill>
              <a:srgbClr val="1565C0"/>
            </a:solidFill>
            <a:prstDash val="solid"/>
          </a:ln>
        </p:spPr>
      </p:sp>
      <p:sp>
        <p:nvSpPr>
          <p:cNvPr id="17" name="Text 15"/>
          <p:cNvSpPr txBox="1"/>
          <p:nvPr/>
        </p:nvSpPr>
        <p:spPr>
          <a:xfrm>
            <a:off x="521208" y="1554480"/>
            <a:ext cx="1243584" cy="502920"/>
          </a:xfrm>
          <a:prstGeom prst="rect">
            <a:avLst/>
          </a:prstGeom>
          <a:noFill/>
          <a:ln/>
        </p:spPr>
        <p:txBody>
          <a:bodyPr wrap="square" lIns="0" tIns="0" rIns="0" bIns="0" rtlCol="0" anchor="ctr"/>
          <a:lstStyle/>
          <a:p>
            <a:pPr algn="ctr" indent="0" marL="0">
              <a:buNone/>
            </a:pPr>
            <a:r>
              <a:rPr lang="en-US" sz="1300" b="1" dirty="0">
                <a:solidFill>
                  <a:srgbClr val="1F2430"/>
                </a:solidFill>
              </a:rPr>
              <a:t>Skip Meal</a:t>
            </a:r>
            <a:endParaRPr lang="en-US" sz="1300" dirty="0"/>
          </a:p>
        </p:txBody>
      </p:sp>
      <p:sp>
        <p:nvSpPr>
          <p:cNvPr id="18" name="Shape 16"/>
          <p:cNvSpPr/>
          <p:nvPr/>
        </p:nvSpPr>
        <p:spPr>
          <a:xfrm>
            <a:off x="1874520" y="1805940"/>
            <a:ext cx="457200" cy="0"/>
          </a:xfrm>
          <a:prstGeom prst="line">
            <a:avLst/>
          </a:prstGeom>
          <a:noFill/>
          <a:ln w="25400">
            <a:solidFill>
              <a:srgbClr val="1A237E"/>
            </a:solidFill>
            <a:prstDash val="solid"/>
            <a:tailEnd type="triangle"/>
          </a:ln>
        </p:spPr>
      </p:sp>
      <p:sp>
        <p:nvSpPr>
          <p:cNvPr id="19" name="Shape 17"/>
          <p:cNvSpPr/>
          <p:nvPr/>
        </p:nvSpPr>
        <p:spPr>
          <a:xfrm>
            <a:off x="2423160" y="1577340"/>
            <a:ext cx="457200" cy="457200"/>
          </a:xfrm>
          <a:prstGeom prst="ellipse">
            <a:avLst/>
          </a:prstGeom>
          <a:solidFill>
            <a:srgbClr val="616161"/>
          </a:solidFill>
          <a:ln/>
        </p:spPr>
      </p:sp>
      <p:pic>
        <p:nvPicPr>
          <p:cNvPr id="20" name="Image 0" descr="Wallet">    </p:cNvPr>
          <p:cNvPicPr>
            <a:picLocks noChangeAspect="1"/>
          </p:cNvPicPr>
          <p:nvPr/>
        </p:nvPicPr>
        <p:blipFill>
          <a:blip r:embed="rId1"/>
          <a:stretch>
            <a:fillRect/>
          </a:stretch>
        </p:blipFill>
        <p:spPr>
          <a:xfrm>
            <a:off x="2514600" y="1668780"/>
            <a:ext cx="274320" cy="274320"/>
          </a:xfrm>
          <a:prstGeom prst="rect">
            <a:avLst/>
          </a:prstGeom>
        </p:spPr>
      </p:pic>
      <p:sp>
        <p:nvSpPr>
          <p:cNvPr id="21" name="Text 18"/>
          <p:cNvSpPr txBox="1"/>
          <p:nvPr/>
        </p:nvSpPr>
        <p:spPr>
          <a:xfrm>
            <a:off x="2971800" y="1554480"/>
            <a:ext cx="1188720" cy="502920"/>
          </a:xfrm>
          <a:prstGeom prst="rect">
            <a:avLst/>
          </a:prstGeom>
          <a:noFill/>
          <a:ln/>
        </p:spPr>
        <p:txBody>
          <a:bodyPr wrap="square" lIns="0" tIns="0" rIns="0" bIns="0" rtlCol="0" anchor="ctr"/>
          <a:lstStyle/>
          <a:p>
            <a:pPr algn="l" indent="0" marL="0">
              <a:buNone/>
            </a:pPr>
            <a:r>
              <a:rPr lang="en-US" sz="1400" b="1" dirty="0">
                <a:solidFill>
                  <a:srgbClr val="C62828"/>
                </a:solidFill>
              </a:rPr>
              <a:t>Rs 0 back</a:t>
            </a:r>
            <a:endParaRPr lang="en-US" sz="1400" dirty="0"/>
          </a:p>
        </p:txBody>
      </p:sp>
      <p:sp>
        <p:nvSpPr>
          <p:cNvPr id="22" name="Shape 19"/>
          <p:cNvSpPr/>
          <p:nvPr/>
        </p:nvSpPr>
        <p:spPr>
          <a:xfrm>
            <a:off x="457200" y="2286000"/>
            <a:ext cx="1371600" cy="502920"/>
          </a:xfrm>
          <a:prstGeom prst="roundRect">
            <a:avLst>
              <a:gd name="adj" fmla="val 10909"/>
            </a:avLst>
          </a:prstGeom>
          <a:solidFill>
            <a:srgbClr val="FFF3E0"/>
          </a:solidFill>
          <a:ln w="12700">
            <a:solidFill>
              <a:srgbClr val="E65100"/>
            </a:solidFill>
            <a:prstDash val="solid"/>
          </a:ln>
        </p:spPr>
      </p:sp>
      <p:sp>
        <p:nvSpPr>
          <p:cNvPr id="23" name="Text 20"/>
          <p:cNvSpPr txBox="1"/>
          <p:nvPr/>
        </p:nvSpPr>
        <p:spPr>
          <a:xfrm>
            <a:off x="521208" y="2286000"/>
            <a:ext cx="1243584" cy="502920"/>
          </a:xfrm>
          <a:prstGeom prst="rect">
            <a:avLst/>
          </a:prstGeom>
          <a:noFill/>
          <a:ln/>
        </p:spPr>
        <p:txBody>
          <a:bodyPr wrap="square" lIns="0" tIns="0" rIns="0" bIns="0" rtlCol="0" anchor="ctr"/>
          <a:lstStyle/>
          <a:p>
            <a:pPr algn="ctr" indent="0" marL="0">
              <a:buNone/>
            </a:pPr>
            <a:r>
              <a:rPr lang="en-US" sz="1300" b="1" dirty="0">
                <a:solidFill>
                  <a:srgbClr val="1F2430"/>
                </a:solidFill>
              </a:rPr>
              <a:t>Mess Cell resale</a:t>
            </a:r>
            <a:endParaRPr lang="en-US" sz="1300" dirty="0"/>
          </a:p>
        </p:txBody>
      </p:sp>
      <p:sp>
        <p:nvSpPr>
          <p:cNvPr id="24" name="Shape 21"/>
          <p:cNvSpPr/>
          <p:nvPr/>
        </p:nvSpPr>
        <p:spPr>
          <a:xfrm>
            <a:off x="1874520" y="2537460"/>
            <a:ext cx="457200" cy="0"/>
          </a:xfrm>
          <a:prstGeom prst="line">
            <a:avLst/>
          </a:prstGeom>
          <a:noFill/>
          <a:ln w="25400">
            <a:solidFill>
              <a:srgbClr val="1A237E"/>
            </a:solidFill>
            <a:prstDash val="solid"/>
            <a:tailEnd type="triangle"/>
          </a:ln>
        </p:spPr>
      </p:sp>
      <p:sp>
        <p:nvSpPr>
          <p:cNvPr id="25" name="Shape 22"/>
          <p:cNvSpPr/>
          <p:nvPr/>
        </p:nvSpPr>
        <p:spPr>
          <a:xfrm>
            <a:off x="2423160" y="2308860"/>
            <a:ext cx="457200" cy="457200"/>
          </a:xfrm>
          <a:prstGeom prst="ellipse">
            <a:avLst/>
          </a:prstGeom>
          <a:solidFill>
            <a:srgbClr val="2E7D32"/>
          </a:solidFill>
          <a:ln/>
        </p:spPr>
      </p:sp>
      <p:pic>
        <p:nvPicPr>
          <p:cNvPr id="26" name="Image 1" descr="Wallet">    </p:cNvPr>
          <p:cNvPicPr>
            <a:picLocks noChangeAspect="1"/>
          </p:cNvPicPr>
          <p:nvPr/>
        </p:nvPicPr>
        <p:blipFill>
          <a:blip r:embed="rId2"/>
          <a:stretch>
            <a:fillRect/>
          </a:stretch>
        </p:blipFill>
        <p:spPr>
          <a:xfrm>
            <a:off x="2514600" y="2400300"/>
            <a:ext cx="274320" cy="274320"/>
          </a:xfrm>
          <a:prstGeom prst="rect">
            <a:avLst/>
          </a:prstGeom>
        </p:spPr>
      </p:pic>
      <p:sp>
        <p:nvSpPr>
          <p:cNvPr id="27" name="Text 23"/>
          <p:cNvSpPr txBox="1"/>
          <p:nvPr/>
        </p:nvSpPr>
        <p:spPr>
          <a:xfrm>
            <a:off x="2971800" y="2286000"/>
            <a:ext cx="1188720" cy="502920"/>
          </a:xfrm>
          <a:prstGeom prst="rect">
            <a:avLst/>
          </a:prstGeom>
          <a:noFill/>
          <a:ln/>
        </p:spPr>
        <p:txBody>
          <a:bodyPr wrap="square" lIns="0" tIns="0" rIns="0" bIns="0" rtlCol="0" anchor="ctr"/>
          <a:lstStyle/>
          <a:p>
            <a:pPr algn="l" indent="0" marL="0">
              <a:buNone/>
            </a:pPr>
            <a:r>
              <a:rPr lang="en-US" sz="1400" b="1" dirty="0">
                <a:solidFill>
                  <a:srgbClr val="2E7D32"/>
                </a:solidFill>
              </a:rPr>
              <a:t>value back</a:t>
            </a:r>
            <a:endParaRPr lang="en-US" sz="1400" dirty="0"/>
          </a:p>
        </p:txBody>
      </p:sp>
      <p:sp>
        <p:nvSpPr>
          <p:cNvPr id="28" name="Shape 24"/>
          <p:cNvSpPr/>
          <p:nvPr/>
        </p:nvSpPr>
        <p:spPr>
          <a:xfrm>
            <a:off x="457200" y="3108960"/>
            <a:ext cx="3749040" cy="685800"/>
          </a:xfrm>
          <a:prstGeom prst="roundRect">
            <a:avLst>
              <a:gd name="adj" fmla="val 10667"/>
            </a:avLst>
          </a:prstGeom>
          <a:solidFill>
            <a:srgbClr val="E3F2FD"/>
          </a:solidFill>
          <a:ln w="12700">
            <a:solidFill>
              <a:srgbClr val="1565C0"/>
            </a:solidFill>
            <a:prstDash val="solid"/>
          </a:ln>
        </p:spPr>
      </p:sp>
      <p:sp>
        <p:nvSpPr>
          <p:cNvPr id="29" name="Text 25"/>
          <p:cNvSpPr txBox="1"/>
          <p:nvPr/>
        </p:nvSpPr>
        <p:spPr>
          <a:xfrm>
            <a:off x="594360" y="3108960"/>
            <a:ext cx="3474720" cy="685800"/>
          </a:xfrm>
          <a:prstGeom prst="rect">
            <a:avLst/>
          </a:prstGeom>
          <a:noFill/>
          <a:ln/>
        </p:spPr>
        <p:txBody>
          <a:bodyPr wrap="square" lIns="0" tIns="0" rIns="0" bIns="0" rtlCol="0" anchor="ctr"/>
          <a:lstStyle/>
          <a:p>
            <a:pPr algn="l" indent="0" marL="0">
              <a:buNone/>
            </a:pPr>
            <a:r>
              <a:rPr lang="en-US" sz="1300" dirty="0">
                <a:solidFill>
                  <a:srgbClr val="1F2430"/>
                </a:solidFill>
              </a:rPr>
              <a:t>0 of those who addressed it used Skip Meal for a refund</a:t>
            </a:r>
            <a:endParaRPr lang="en-US" sz="1300" dirty="0"/>
          </a:p>
        </p:txBody>
      </p:sp>
      <p:sp>
        <p:nvSpPr>
          <p:cNvPr id="30" name="Shape 26"/>
          <p:cNvSpPr/>
          <p:nvPr/>
        </p:nvSpPr>
        <p:spPr>
          <a:xfrm>
            <a:off x="457200" y="3931920"/>
            <a:ext cx="3749040" cy="502920"/>
          </a:xfrm>
          <a:prstGeom prst="roundRect">
            <a:avLst>
              <a:gd name="adj" fmla="val 14545"/>
            </a:avLst>
          </a:prstGeom>
          <a:solidFill>
            <a:srgbClr val="FFF3E0"/>
          </a:solidFill>
          <a:ln w="12700">
            <a:solidFill>
              <a:srgbClr val="E65100"/>
            </a:solidFill>
            <a:prstDash val="solid"/>
          </a:ln>
        </p:spPr>
      </p:sp>
      <p:sp>
        <p:nvSpPr>
          <p:cNvPr id="31" name="Text 27"/>
          <p:cNvSpPr txBox="1"/>
          <p:nvPr/>
        </p:nvSpPr>
        <p:spPr>
          <a:xfrm>
            <a:off x="594360" y="3931920"/>
            <a:ext cx="3474720" cy="502920"/>
          </a:xfrm>
          <a:prstGeom prst="rect">
            <a:avLst/>
          </a:prstGeom>
          <a:noFill/>
          <a:ln/>
        </p:spPr>
        <p:txBody>
          <a:bodyPr wrap="square" lIns="0" tIns="0" rIns="0" bIns="0" rtlCol="0" anchor="ctr"/>
          <a:lstStyle/>
          <a:p>
            <a:pPr algn="l" indent="0" marL="0">
              <a:buNone/>
            </a:pPr>
            <a:r>
              <a:rPr lang="en-US" sz="1300" dirty="0">
                <a:solidFill>
                  <a:srgbClr val="1F2430"/>
                </a:solidFill>
              </a:rPr>
              <a:t>4 used Mess Cell</a:t>
            </a:r>
            <a:endParaRPr lang="en-US" sz="1300" dirty="0"/>
          </a:p>
        </p:txBody>
      </p:sp>
      <p:sp>
        <p:nvSpPr>
          <p:cNvPr id="32" name="Text 28"/>
          <p:cNvSpPr txBox="1"/>
          <p:nvPr/>
        </p:nvSpPr>
        <p:spPr>
          <a:xfrm>
            <a:off x="4572000" y="1234440"/>
            <a:ext cx="411480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WHAT OPERATORS ARE PAID ON</a:t>
            </a:r>
            <a:endParaRPr lang="en-US" sz="1000" dirty="0"/>
          </a:p>
        </p:txBody>
      </p:sp>
      <p:sp>
        <p:nvSpPr>
          <p:cNvPr id="33" name="Shape 29"/>
          <p:cNvSpPr/>
          <p:nvPr/>
        </p:nvSpPr>
        <p:spPr>
          <a:xfrm>
            <a:off x="5120640" y="1508760"/>
            <a:ext cx="3017520" cy="548640"/>
          </a:xfrm>
          <a:prstGeom prst="roundRect">
            <a:avLst>
              <a:gd name="adj" fmla="val 50000"/>
            </a:avLst>
          </a:prstGeom>
          <a:solidFill>
            <a:srgbClr val="1A237E"/>
          </a:solidFill>
          <a:ln/>
        </p:spPr>
      </p:sp>
      <p:sp>
        <p:nvSpPr>
          <p:cNvPr id="34" name="Text 30"/>
          <p:cNvSpPr txBox="1"/>
          <p:nvPr/>
        </p:nvSpPr>
        <p:spPr>
          <a:xfrm>
            <a:off x="5120640" y="1508760"/>
            <a:ext cx="3017520" cy="548640"/>
          </a:xfrm>
          <a:prstGeom prst="rect">
            <a:avLst/>
          </a:prstGeom>
          <a:noFill/>
          <a:ln/>
        </p:spPr>
        <p:txBody>
          <a:bodyPr wrap="square" lIns="0" tIns="0" rIns="0" bIns="0" rtlCol="0" anchor="ctr"/>
          <a:lstStyle/>
          <a:p>
            <a:pPr algn="ctr" indent="0" marL="0">
              <a:buNone/>
            </a:pPr>
            <a:r>
              <a:rPr lang="en-US" sz="1400" b="1" dirty="0">
                <a:solidFill>
                  <a:srgbClr val="FFFFFF"/>
                </a:solidFill>
              </a:rPr>
              <a:t>How are operators paid?</a:t>
            </a:r>
            <a:endParaRPr lang="en-US" sz="1400" dirty="0"/>
          </a:p>
        </p:txBody>
      </p:sp>
      <p:sp>
        <p:nvSpPr>
          <p:cNvPr id="35" name="Shape 31"/>
          <p:cNvSpPr/>
          <p:nvPr/>
        </p:nvSpPr>
        <p:spPr>
          <a:xfrm flipH="1">
            <a:off x="5577840" y="2057400"/>
            <a:ext cx="457200" cy="457200"/>
          </a:xfrm>
          <a:prstGeom prst="line">
            <a:avLst/>
          </a:prstGeom>
          <a:noFill/>
          <a:ln w="19050">
            <a:solidFill>
              <a:srgbClr val="1A237E"/>
            </a:solidFill>
            <a:prstDash val="solid"/>
            <a:tailEnd type="triangle"/>
          </a:ln>
        </p:spPr>
      </p:sp>
      <p:sp>
        <p:nvSpPr>
          <p:cNvPr id="36" name="Shape 32"/>
          <p:cNvSpPr/>
          <p:nvPr/>
        </p:nvSpPr>
        <p:spPr>
          <a:xfrm>
            <a:off x="7223760" y="2057400"/>
            <a:ext cx="457200" cy="457200"/>
          </a:xfrm>
          <a:prstGeom prst="line">
            <a:avLst/>
          </a:prstGeom>
          <a:noFill/>
          <a:ln w="19050">
            <a:solidFill>
              <a:srgbClr val="1A237E"/>
            </a:solidFill>
            <a:prstDash val="solid"/>
            <a:tailEnd type="triangle"/>
          </a:ln>
        </p:spPr>
      </p:sp>
      <p:sp>
        <p:nvSpPr>
          <p:cNvPr id="37" name="Shape 33"/>
          <p:cNvSpPr/>
          <p:nvPr/>
        </p:nvSpPr>
        <p:spPr>
          <a:xfrm>
            <a:off x="4572000" y="2560320"/>
            <a:ext cx="1965960" cy="1188720"/>
          </a:xfrm>
          <a:prstGeom prst="roundRect">
            <a:avLst>
              <a:gd name="adj" fmla="val 6154"/>
            </a:avLst>
          </a:prstGeom>
          <a:solidFill>
            <a:srgbClr val="FDECEA"/>
          </a:solidFill>
          <a:ln w="12700">
            <a:solidFill>
              <a:srgbClr val="C62828"/>
            </a:solidFill>
            <a:prstDash val="dash"/>
          </a:ln>
        </p:spPr>
      </p:sp>
      <p:sp>
        <p:nvSpPr>
          <p:cNvPr id="38" name="Text 34"/>
          <p:cNvSpPr txBox="1"/>
          <p:nvPr/>
        </p:nvSpPr>
        <p:spPr>
          <a:xfrm>
            <a:off x="4663440" y="2560320"/>
            <a:ext cx="1783080" cy="1188720"/>
          </a:xfrm>
          <a:prstGeom prst="rect">
            <a:avLst/>
          </a:prstGeom>
          <a:noFill/>
          <a:ln/>
        </p:spPr>
        <p:txBody>
          <a:bodyPr wrap="square" lIns="0" tIns="0" rIns="0" bIns="0" rtlCol="0" anchor="ctr"/>
          <a:lstStyle/>
          <a:p>
            <a:pPr algn="l" indent="0" marL="0">
              <a:buNone/>
            </a:pPr>
            <a:r>
              <a:rPr lang="en-US" sz="1200" dirty="0">
                <a:solidFill>
                  <a:srgbClr val="1F2430"/>
                </a:solidFill>
              </a:rPr>
              <a:t>Registered plates: the operator keeps the margin on every no-show</a:t>
            </a:r>
            <a:endParaRPr lang="en-US" sz="1200" dirty="0"/>
          </a:p>
        </p:txBody>
      </p:sp>
      <p:sp>
        <p:nvSpPr>
          <p:cNvPr id="39" name="Shape 35"/>
          <p:cNvSpPr/>
          <p:nvPr/>
        </p:nvSpPr>
        <p:spPr>
          <a:xfrm>
            <a:off x="6720840" y="2560320"/>
            <a:ext cx="1965960" cy="1188720"/>
          </a:xfrm>
          <a:prstGeom prst="roundRect">
            <a:avLst>
              <a:gd name="adj" fmla="val 6154"/>
            </a:avLst>
          </a:prstGeom>
          <a:solidFill>
            <a:srgbClr val="FDECEA"/>
          </a:solidFill>
          <a:ln w="12700">
            <a:solidFill>
              <a:srgbClr val="C62828"/>
            </a:solidFill>
            <a:prstDash val="dash"/>
          </a:ln>
        </p:spPr>
      </p:sp>
      <p:sp>
        <p:nvSpPr>
          <p:cNvPr id="40" name="Text 36"/>
          <p:cNvSpPr txBox="1"/>
          <p:nvPr/>
        </p:nvSpPr>
        <p:spPr>
          <a:xfrm>
            <a:off x="6812280" y="2560320"/>
            <a:ext cx="1783080" cy="1188720"/>
          </a:xfrm>
          <a:prstGeom prst="rect">
            <a:avLst/>
          </a:prstGeom>
          <a:noFill/>
          <a:ln/>
        </p:spPr>
        <p:txBody>
          <a:bodyPr wrap="square" lIns="0" tIns="0" rIns="0" bIns="0" rtlCol="0" anchor="ctr"/>
          <a:lstStyle/>
          <a:p>
            <a:pPr algn="l" indent="0" marL="0">
              <a:buNone/>
            </a:pPr>
            <a:r>
              <a:rPr lang="en-US" sz="1200" dirty="0">
                <a:solidFill>
                  <a:srgbClr val="1F2430"/>
                </a:solidFill>
              </a:rPr>
              <a:t>Served plates: the operator bears the cost of over-cooking</a:t>
            </a:r>
            <a:endParaRPr lang="en-US" sz="1200" dirty="0"/>
          </a:p>
        </p:txBody>
      </p:sp>
      <p:sp>
        <p:nvSpPr>
          <p:cNvPr id="41" name="Text 37"/>
          <p:cNvSpPr txBox="1"/>
          <p:nvPr/>
        </p:nvSpPr>
        <p:spPr>
          <a:xfrm>
            <a:off x="4572000" y="3794760"/>
            <a:ext cx="1965960" cy="457200"/>
          </a:xfrm>
          <a:prstGeom prst="rect">
            <a:avLst/>
          </a:prstGeom>
          <a:noFill/>
          <a:ln/>
        </p:spPr>
        <p:txBody>
          <a:bodyPr wrap="square" lIns="0" tIns="0" rIns="0" bIns="0" rtlCol="0" anchor="t"/>
          <a:lstStyle/>
          <a:p>
            <a:pPr algn="l" indent="0" marL="0">
              <a:buNone/>
            </a:pPr>
            <a:r>
              <a:rPr lang="en-US" sz="1050" dirty="0">
                <a:solidFill>
                  <a:srgbClr val="616161"/>
                </a:solidFill>
              </a:rPr>
              <a:t>A remark by Kadamba’s operator suggests this</a:t>
            </a:r>
            <a:endParaRPr lang="en-US" sz="1050" dirty="0"/>
          </a:p>
        </p:txBody>
      </p:sp>
      <p:sp>
        <p:nvSpPr>
          <p:cNvPr id="42" name="Text 38"/>
          <p:cNvSpPr txBox="1"/>
          <p:nvPr/>
        </p:nvSpPr>
        <p:spPr>
          <a:xfrm>
            <a:off x="6720840" y="3794760"/>
            <a:ext cx="1965960" cy="457200"/>
          </a:xfrm>
          <a:prstGeom prst="rect">
            <a:avLst/>
          </a:prstGeom>
          <a:noFill/>
          <a:ln/>
        </p:spPr>
        <p:txBody>
          <a:bodyPr wrap="square" lIns="0" tIns="0" rIns="0" bIns="0" rtlCol="0" anchor="t"/>
          <a:lstStyle/>
          <a:p>
            <a:pPr algn="l" indent="0" marL="0">
              <a:buNone/>
            </a:pPr>
            <a:r>
              <a:rPr lang="en-US" sz="1050" dirty="0">
                <a:solidFill>
                  <a:srgbClr val="616161"/>
                </a:solidFill>
              </a:rPr>
              <a:t>Bakul’s manager says this</a:t>
            </a:r>
            <a:endParaRPr lang="en-US" sz="1050" dirty="0"/>
          </a:p>
        </p:txBody>
      </p:sp>
      <p:sp>
        <p:nvSpPr>
          <p:cNvPr id="43" name="Text 39"/>
          <p:cNvSpPr txBox="1"/>
          <p:nvPr/>
        </p:nvSpPr>
        <p:spPr>
          <a:xfrm>
            <a:off x="4572000" y="4297680"/>
            <a:ext cx="4114800" cy="274320"/>
          </a:xfrm>
          <a:prstGeom prst="rect">
            <a:avLst/>
          </a:prstGeom>
          <a:noFill/>
          <a:ln/>
        </p:spPr>
        <p:txBody>
          <a:bodyPr wrap="square" lIns="0" tIns="0" rIns="0" bIns="0" rtlCol="0" anchor="t"/>
          <a:lstStyle/>
          <a:p>
            <a:pPr algn="l" indent="0" marL="0">
              <a:buNone/>
            </a:pPr>
            <a:r>
              <a:rPr lang="en-US" sz="1400" b="1" dirty="0">
                <a:solidFill>
                  <a:srgbClr val="C62828"/>
                </a:solidFill>
              </a:rPr>
              <a:t>No contract has been seen.</a:t>
            </a:r>
            <a:endParaRPr lang="en-US" sz="1400" dirty="0"/>
          </a:p>
        </p:txBody>
      </p:sp>
      <p:sp>
        <p:nvSpPr>
          <p:cNvPr id="44" name="Shape 40"/>
          <p:cNvSpPr/>
          <p:nvPr/>
        </p:nvSpPr>
        <p:spPr>
          <a:xfrm>
            <a:off x="8101584" y="1033272"/>
            <a:ext cx="585216" cy="201168"/>
          </a:xfrm>
          <a:prstGeom prst="roundRect">
            <a:avLst>
              <a:gd name="adj" fmla="val 22727"/>
            </a:avLst>
          </a:prstGeom>
          <a:ln w="12700">
            <a:solidFill>
              <a:srgbClr val="C62828"/>
            </a:solidFill>
            <a:prstDash val="solid"/>
          </a:ln>
        </p:spPr>
      </p:sp>
      <p:sp>
        <p:nvSpPr>
          <p:cNvPr id="45" name="Text 41"/>
          <p:cNvSpPr txBox="1"/>
          <p:nvPr/>
        </p:nvSpPr>
        <p:spPr>
          <a:xfrm>
            <a:off x="8101584" y="1033272"/>
            <a:ext cx="585216" cy="201168"/>
          </a:xfrm>
          <a:prstGeom prst="rect">
            <a:avLst/>
          </a:prstGeom>
          <a:noFill/>
          <a:ln/>
        </p:spPr>
        <p:txBody>
          <a:bodyPr wrap="square" lIns="0" tIns="0" rIns="0" bIns="0" rtlCol="0" anchor="ctr"/>
          <a:lstStyle/>
          <a:p>
            <a:pPr algn="ctr" indent="0" marL="0">
              <a:buNone/>
            </a:pPr>
            <a:r>
              <a:rPr lang="en-US" sz="900" b="1" spc="100" kern="0" dirty="0">
                <a:solidFill>
                  <a:srgbClr val="C62828"/>
                </a:solidFill>
              </a:rPr>
              <a:t>OPEN</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No kitchen cooks to the count: each converts it by its own rule</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Shape 13"/>
          <p:cNvSpPr/>
          <p:nvPr/>
        </p:nvSpPr>
        <p:spPr>
          <a:xfrm>
            <a:off x="457200" y="1234440"/>
            <a:ext cx="2651760" cy="3456432"/>
          </a:xfrm>
          <a:prstGeom prst="roundRect">
            <a:avLst>
              <a:gd name="adj" fmla="val 2759"/>
            </a:avLst>
          </a:prstGeom>
          <a:solidFill>
            <a:srgbClr val="E3F2FD"/>
          </a:solidFill>
          <a:ln w="12700">
            <a:solidFill>
              <a:srgbClr val="1565C0"/>
            </a:solidFill>
            <a:prstDash val="solid"/>
          </a:ln>
        </p:spPr>
      </p:sp>
      <p:sp>
        <p:nvSpPr>
          <p:cNvPr id="16" name="Shape 14"/>
          <p:cNvSpPr/>
          <p:nvPr/>
        </p:nvSpPr>
        <p:spPr>
          <a:xfrm>
            <a:off x="594360" y="1399032"/>
            <a:ext cx="457200" cy="457200"/>
          </a:xfrm>
          <a:prstGeom prst="ellipse">
            <a:avLst/>
          </a:prstGeom>
          <a:solidFill>
            <a:srgbClr val="1565C0"/>
          </a:solidFill>
          <a:ln/>
        </p:spPr>
      </p:sp>
      <p:pic>
        <p:nvPicPr>
          <p:cNvPr id="17" name="Image 0" descr="Stairs">    </p:cNvPr>
          <p:cNvPicPr>
            <a:picLocks noChangeAspect="1"/>
          </p:cNvPicPr>
          <p:nvPr/>
        </p:nvPicPr>
        <p:blipFill>
          <a:blip r:embed="rId1"/>
          <a:stretch>
            <a:fillRect/>
          </a:stretch>
        </p:blipFill>
        <p:spPr>
          <a:xfrm>
            <a:off x="685800" y="1490472"/>
            <a:ext cx="274320" cy="274320"/>
          </a:xfrm>
          <a:prstGeom prst="rect">
            <a:avLst/>
          </a:prstGeom>
        </p:spPr>
      </p:pic>
      <p:sp>
        <p:nvSpPr>
          <p:cNvPr id="18" name="Text 15"/>
          <p:cNvSpPr txBox="1"/>
          <p:nvPr/>
        </p:nvSpPr>
        <p:spPr>
          <a:xfrm>
            <a:off x="1188720" y="1325880"/>
            <a:ext cx="1737360" cy="594360"/>
          </a:xfrm>
          <a:prstGeom prst="rect">
            <a:avLst/>
          </a:prstGeom>
          <a:noFill/>
          <a:ln/>
        </p:spPr>
        <p:txBody>
          <a:bodyPr wrap="square" lIns="0" tIns="0" rIns="0" bIns="0" rtlCol="0" anchor="ctr"/>
          <a:lstStyle/>
          <a:p>
            <a:pPr algn="l" indent="0" marL="0">
              <a:buNone/>
            </a:pPr>
            <a:r>
              <a:rPr lang="en-US" sz="1800" b="1" dirty="0">
                <a:solidFill>
                  <a:srgbClr val="1F2430"/>
                </a:solidFill>
                <a:latin typeface="Cambria" pitchFamily="34" charset="0"/>
                <a:ea typeface="Cambria" pitchFamily="34" charset="-122"/>
                <a:cs typeface="Cambria" pitchFamily="34" charset="-120"/>
              </a:rPr>
              <a:t>Kadamba</a:t>
            </a:r>
            <a:endParaRPr lang="en-US" sz="1800" dirty="0"/>
          </a:p>
        </p:txBody>
      </p:sp>
      <p:sp>
        <p:nvSpPr>
          <p:cNvPr id="19" name="Text 16"/>
          <p:cNvSpPr txBox="1"/>
          <p:nvPr/>
        </p:nvSpPr>
        <p:spPr>
          <a:xfrm>
            <a:off x="621792" y="1938528"/>
            <a:ext cx="2377440" cy="146304"/>
          </a:xfrm>
          <a:prstGeom prst="rect">
            <a:avLst/>
          </a:prstGeom>
          <a:noFill/>
          <a:ln/>
        </p:spPr>
        <p:txBody>
          <a:bodyPr wrap="square" lIns="0" tIns="0" rIns="0" bIns="0" rtlCol="0" anchor="t"/>
          <a:lstStyle/>
          <a:p>
            <a:pPr algn="l" indent="0" marL="0">
              <a:buNone/>
            </a:pPr>
            <a:r>
              <a:rPr lang="en-US" sz="850" b="1" spc="100" kern="0" dirty="0">
                <a:solidFill>
                  <a:srgbClr val="1565C0"/>
                </a:solidFill>
              </a:rPr>
              <a:t>FIRST BATCH</a:t>
            </a:r>
            <a:endParaRPr lang="en-US" sz="850" dirty="0"/>
          </a:p>
        </p:txBody>
      </p:sp>
      <p:sp>
        <p:nvSpPr>
          <p:cNvPr id="20" name="Text 17"/>
          <p:cNvSpPr txBox="1"/>
          <p:nvPr/>
        </p:nvSpPr>
        <p:spPr>
          <a:xfrm>
            <a:off x="621792" y="2075688"/>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About 70% of registrations, by gram standard</a:t>
            </a:r>
            <a:endParaRPr lang="en-US" sz="1100" dirty="0"/>
          </a:p>
        </p:txBody>
      </p:sp>
      <p:sp>
        <p:nvSpPr>
          <p:cNvPr id="21" name="Text 18"/>
          <p:cNvSpPr txBox="1"/>
          <p:nvPr/>
        </p:nvSpPr>
        <p:spPr>
          <a:xfrm>
            <a:off x="621792" y="2468880"/>
            <a:ext cx="2377440" cy="146304"/>
          </a:xfrm>
          <a:prstGeom prst="rect">
            <a:avLst/>
          </a:prstGeom>
          <a:noFill/>
          <a:ln/>
        </p:spPr>
        <p:txBody>
          <a:bodyPr wrap="square" lIns="0" tIns="0" rIns="0" bIns="0" rtlCol="0" anchor="t"/>
          <a:lstStyle/>
          <a:p>
            <a:pPr algn="l" indent="0" marL="0">
              <a:buNone/>
            </a:pPr>
            <a:r>
              <a:rPr lang="en-US" sz="850" b="1" spc="100" kern="0" dirty="0">
                <a:solidFill>
                  <a:srgbClr val="1565C0"/>
                </a:solidFill>
              </a:rPr>
              <a:t>WHO DECIDES</a:t>
            </a:r>
            <a:endParaRPr lang="en-US" sz="850" dirty="0"/>
          </a:p>
        </p:txBody>
      </p:sp>
      <p:sp>
        <p:nvSpPr>
          <p:cNvPr id="22" name="Text 19"/>
          <p:cNvSpPr txBox="1"/>
          <p:nvPr/>
        </p:nvSpPr>
        <p:spPr>
          <a:xfrm>
            <a:off x="621792" y="2606040"/>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Operator management; a supervisor tops up</a:t>
            </a:r>
            <a:endParaRPr lang="en-US" sz="1100" dirty="0"/>
          </a:p>
        </p:txBody>
      </p:sp>
      <p:sp>
        <p:nvSpPr>
          <p:cNvPr id="23" name="Text 20"/>
          <p:cNvSpPr txBox="1"/>
          <p:nvPr/>
        </p:nvSpPr>
        <p:spPr>
          <a:xfrm>
            <a:off x="621792" y="2999232"/>
            <a:ext cx="2377440" cy="146304"/>
          </a:xfrm>
          <a:prstGeom prst="rect">
            <a:avLst/>
          </a:prstGeom>
          <a:noFill/>
          <a:ln/>
        </p:spPr>
        <p:txBody>
          <a:bodyPr wrap="square" lIns="0" tIns="0" rIns="0" bIns="0" rtlCol="0" anchor="t"/>
          <a:lstStyle/>
          <a:p>
            <a:pPr algn="l" indent="0" marL="0">
              <a:buNone/>
            </a:pPr>
            <a:r>
              <a:rPr lang="en-US" sz="850" b="1" spc="100" kern="0" dirty="0">
                <a:solidFill>
                  <a:srgbClr val="1565C0"/>
                </a:solidFill>
              </a:rPr>
              <a:t>CORRECTION IN SERVICE</a:t>
            </a:r>
            <a:endParaRPr lang="en-US" sz="850" dirty="0"/>
          </a:p>
        </p:txBody>
      </p:sp>
      <p:sp>
        <p:nvSpPr>
          <p:cNvPr id="24" name="Text 21"/>
          <p:cNvSpPr txBox="1"/>
          <p:nvPr/>
        </p:nvSpPr>
        <p:spPr>
          <a:xfrm>
            <a:off x="621792" y="3136392"/>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Top-up in 10 to 15 minutes</a:t>
            </a:r>
            <a:endParaRPr lang="en-US" sz="1100" dirty="0"/>
          </a:p>
        </p:txBody>
      </p:sp>
      <p:sp>
        <p:nvSpPr>
          <p:cNvPr id="25" name="Text 22"/>
          <p:cNvSpPr txBox="1"/>
          <p:nvPr/>
        </p:nvSpPr>
        <p:spPr>
          <a:xfrm>
            <a:off x="621792" y="3529584"/>
            <a:ext cx="2377440" cy="146304"/>
          </a:xfrm>
          <a:prstGeom prst="rect">
            <a:avLst/>
          </a:prstGeom>
          <a:noFill/>
          <a:ln/>
        </p:spPr>
        <p:txBody>
          <a:bodyPr wrap="square" lIns="0" tIns="0" rIns="0" bIns="0" rtlCol="0" anchor="t"/>
          <a:lstStyle/>
          <a:p>
            <a:pPr algn="l" indent="0" marL="0">
              <a:buNone/>
            </a:pPr>
            <a:r>
              <a:rPr lang="en-US" sz="850" b="1" spc="100" kern="0" dirty="0">
                <a:solidFill>
                  <a:srgbClr val="1565C0"/>
                </a:solidFill>
              </a:rPr>
              <a:t>STANCE</a:t>
            </a:r>
            <a:endParaRPr lang="en-US" sz="850" dirty="0"/>
          </a:p>
        </p:txBody>
      </p:sp>
      <p:sp>
        <p:nvSpPr>
          <p:cNvPr id="26" name="Text 23"/>
          <p:cNvSpPr txBox="1"/>
          <p:nvPr/>
        </p:nvSpPr>
        <p:spPr>
          <a:xfrm>
            <a:off x="621792" y="3666744"/>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The count is an obligation</a:t>
            </a:r>
            <a:endParaRPr lang="en-US" sz="1100" dirty="0"/>
          </a:p>
        </p:txBody>
      </p:sp>
      <p:sp>
        <p:nvSpPr>
          <p:cNvPr id="27" name="Text 24"/>
          <p:cNvSpPr txBox="1"/>
          <p:nvPr/>
        </p:nvSpPr>
        <p:spPr>
          <a:xfrm>
            <a:off x="621792" y="4059936"/>
            <a:ext cx="2377440" cy="146304"/>
          </a:xfrm>
          <a:prstGeom prst="rect">
            <a:avLst/>
          </a:prstGeom>
          <a:noFill/>
          <a:ln/>
        </p:spPr>
        <p:txBody>
          <a:bodyPr wrap="square" lIns="0" tIns="0" rIns="0" bIns="0" rtlCol="0" anchor="t"/>
          <a:lstStyle/>
          <a:p>
            <a:pPr algn="l" indent="0" marL="0">
              <a:buNone/>
            </a:pPr>
            <a:r>
              <a:rPr lang="en-US" sz="850" b="1" spc="100" kern="0" dirty="0">
                <a:solidFill>
                  <a:srgbClr val="1565C0"/>
                </a:solidFill>
              </a:rPr>
              <a:t>EVIDENCE</a:t>
            </a:r>
            <a:endParaRPr lang="en-US" sz="850" dirty="0"/>
          </a:p>
        </p:txBody>
      </p:sp>
      <p:sp>
        <p:nvSpPr>
          <p:cNvPr id="28" name="Text 25"/>
          <p:cNvSpPr txBox="1"/>
          <p:nvPr/>
        </p:nvSpPr>
        <p:spPr>
          <a:xfrm>
            <a:off x="621792" y="4197096"/>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Scans and the operator’s account</a:t>
            </a:r>
            <a:endParaRPr lang="en-US" sz="1100" dirty="0"/>
          </a:p>
        </p:txBody>
      </p:sp>
      <p:sp>
        <p:nvSpPr>
          <p:cNvPr id="29" name="Shape 26"/>
          <p:cNvSpPr/>
          <p:nvPr/>
        </p:nvSpPr>
        <p:spPr>
          <a:xfrm>
            <a:off x="3246120" y="1234440"/>
            <a:ext cx="2651760" cy="3456432"/>
          </a:xfrm>
          <a:prstGeom prst="roundRect">
            <a:avLst>
              <a:gd name="adj" fmla="val 2759"/>
            </a:avLst>
          </a:prstGeom>
          <a:solidFill>
            <a:srgbClr val="E0F2F1"/>
          </a:solidFill>
          <a:ln w="12700">
            <a:solidFill>
              <a:srgbClr val="00695C"/>
            </a:solidFill>
            <a:prstDash val="solid"/>
          </a:ln>
        </p:spPr>
      </p:sp>
      <p:sp>
        <p:nvSpPr>
          <p:cNvPr id="30" name="Shape 27"/>
          <p:cNvSpPr/>
          <p:nvPr/>
        </p:nvSpPr>
        <p:spPr>
          <a:xfrm>
            <a:off x="3383280" y="1399032"/>
            <a:ext cx="457200" cy="457200"/>
          </a:xfrm>
          <a:prstGeom prst="ellipse">
            <a:avLst/>
          </a:prstGeom>
          <a:solidFill>
            <a:srgbClr val="00695C"/>
          </a:solidFill>
          <a:ln/>
        </p:spPr>
      </p:sp>
      <p:pic>
        <p:nvPicPr>
          <p:cNvPr id="31" name="Image 1" descr="MenuBook">    </p:cNvPr>
          <p:cNvPicPr>
            <a:picLocks noChangeAspect="1"/>
          </p:cNvPicPr>
          <p:nvPr/>
        </p:nvPicPr>
        <p:blipFill>
          <a:blip r:embed="rId2"/>
          <a:stretch>
            <a:fillRect/>
          </a:stretch>
        </p:blipFill>
        <p:spPr>
          <a:xfrm>
            <a:off x="3474720" y="1490472"/>
            <a:ext cx="274320" cy="274320"/>
          </a:xfrm>
          <a:prstGeom prst="rect">
            <a:avLst/>
          </a:prstGeom>
        </p:spPr>
      </p:pic>
      <p:sp>
        <p:nvSpPr>
          <p:cNvPr id="32" name="Text 28"/>
          <p:cNvSpPr txBox="1"/>
          <p:nvPr/>
        </p:nvSpPr>
        <p:spPr>
          <a:xfrm>
            <a:off x="3977640" y="1325880"/>
            <a:ext cx="1737360" cy="594360"/>
          </a:xfrm>
          <a:prstGeom prst="rect">
            <a:avLst/>
          </a:prstGeom>
          <a:noFill/>
          <a:ln/>
        </p:spPr>
        <p:txBody>
          <a:bodyPr wrap="square" lIns="0" tIns="0" rIns="0" bIns="0" rtlCol="0" anchor="ctr"/>
          <a:lstStyle/>
          <a:p>
            <a:pPr algn="l" indent="0" marL="0">
              <a:buNone/>
            </a:pPr>
            <a:r>
              <a:rPr lang="en-US" sz="1800" b="1" dirty="0">
                <a:solidFill>
                  <a:srgbClr val="1F2430"/>
                </a:solidFill>
                <a:latin typeface="Cambria" pitchFamily="34" charset="0"/>
                <a:ea typeface="Cambria" pitchFamily="34" charset="-122"/>
                <a:cs typeface="Cambria" pitchFamily="34" charset="-120"/>
              </a:rPr>
              <a:t>Yuktāhār</a:t>
            </a:r>
            <a:endParaRPr lang="en-US" sz="1800" dirty="0"/>
          </a:p>
        </p:txBody>
      </p:sp>
      <p:sp>
        <p:nvSpPr>
          <p:cNvPr id="33" name="Text 29"/>
          <p:cNvSpPr txBox="1"/>
          <p:nvPr/>
        </p:nvSpPr>
        <p:spPr>
          <a:xfrm>
            <a:off x="3410712" y="1938528"/>
            <a:ext cx="2377440" cy="146304"/>
          </a:xfrm>
          <a:prstGeom prst="rect">
            <a:avLst/>
          </a:prstGeom>
          <a:noFill/>
          <a:ln/>
        </p:spPr>
        <p:txBody>
          <a:bodyPr wrap="square" lIns="0" tIns="0" rIns="0" bIns="0" rtlCol="0" anchor="t"/>
          <a:lstStyle/>
          <a:p>
            <a:pPr algn="l" indent="0" marL="0">
              <a:buNone/>
            </a:pPr>
            <a:r>
              <a:rPr lang="en-US" sz="850" b="1" spc="100" kern="0" dirty="0">
                <a:solidFill>
                  <a:srgbClr val="00695C"/>
                </a:solidFill>
              </a:rPr>
              <a:t>FIRST BATCH</a:t>
            </a:r>
            <a:endParaRPr lang="en-US" sz="850" dirty="0"/>
          </a:p>
        </p:txBody>
      </p:sp>
      <p:sp>
        <p:nvSpPr>
          <p:cNvPr id="34" name="Text 30"/>
          <p:cNvSpPr txBox="1"/>
          <p:nvPr/>
        </p:nvSpPr>
        <p:spPr>
          <a:xfrm>
            <a:off x="3410712" y="2075688"/>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No fixed ratio: the matching day in the Wastage Book</a:t>
            </a:r>
            <a:endParaRPr lang="en-US" sz="1100" dirty="0"/>
          </a:p>
        </p:txBody>
      </p:sp>
      <p:sp>
        <p:nvSpPr>
          <p:cNvPr id="35" name="Text 31"/>
          <p:cNvSpPr txBox="1"/>
          <p:nvPr/>
        </p:nvSpPr>
        <p:spPr>
          <a:xfrm>
            <a:off x="3410712" y="2468880"/>
            <a:ext cx="2377440" cy="146304"/>
          </a:xfrm>
          <a:prstGeom prst="rect">
            <a:avLst/>
          </a:prstGeom>
          <a:noFill/>
          <a:ln/>
        </p:spPr>
        <p:txBody>
          <a:bodyPr wrap="square" lIns="0" tIns="0" rIns="0" bIns="0" rtlCol="0" anchor="t"/>
          <a:lstStyle/>
          <a:p>
            <a:pPr algn="l" indent="0" marL="0">
              <a:buNone/>
            </a:pPr>
            <a:r>
              <a:rPr lang="en-US" sz="850" b="1" spc="100" kern="0" dirty="0">
                <a:solidFill>
                  <a:srgbClr val="00695C"/>
                </a:solidFill>
              </a:rPr>
              <a:t>WHO DECIDES</a:t>
            </a:r>
            <a:endParaRPr lang="en-US" sz="850" dirty="0"/>
          </a:p>
        </p:txBody>
      </p:sp>
      <p:sp>
        <p:nvSpPr>
          <p:cNvPr id="36" name="Text 32"/>
          <p:cNvSpPr txBox="1"/>
          <p:nvPr/>
        </p:nvSpPr>
        <p:spPr>
          <a:xfrm>
            <a:off x="3410712" y="2606040"/>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Storekeeper, coordinator and staff meet daily</a:t>
            </a:r>
            <a:endParaRPr lang="en-US" sz="1100" dirty="0"/>
          </a:p>
        </p:txBody>
      </p:sp>
      <p:sp>
        <p:nvSpPr>
          <p:cNvPr id="37" name="Text 33"/>
          <p:cNvSpPr txBox="1"/>
          <p:nvPr/>
        </p:nvSpPr>
        <p:spPr>
          <a:xfrm>
            <a:off x="3410712" y="2999232"/>
            <a:ext cx="2377440" cy="146304"/>
          </a:xfrm>
          <a:prstGeom prst="rect">
            <a:avLst/>
          </a:prstGeom>
          <a:noFill/>
          <a:ln/>
        </p:spPr>
        <p:txBody>
          <a:bodyPr wrap="square" lIns="0" tIns="0" rIns="0" bIns="0" rtlCol="0" anchor="t"/>
          <a:lstStyle/>
          <a:p>
            <a:pPr algn="l" indent="0" marL="0">
              <a:buNone/>
            </a:pPr>
            <a:r>
              <a:rPr lang="en-US" sz="850" b="1" spc="100" kern="0" dirty="0">
                <a:solidFill>
                  <a:srgbClr val="00695C"/>
                </a:solidFill>
              </a:rPr>
              <a:t>CORRECTION IN SERVICE</a:t>
            </a:r>
            <a:endParaRPr lang="en-US" sz="850" dirty="0"/>
          </a:p>
        </p:txBody>
      </p:sp>
      <p:sp>
        <p:nvSpPr>
          <p:cNvPr id="38" name="Text 34"/>
          <p:cNvSpPr txBox="1"/>
          <p:nvPr/>
        </p:nvSpPr>
        <p:spPr>
          <a:xfrm>
            <a:off x="3410712" y="3136392"/>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First half hour projected; re-cook on early run-out</a:t>
            </a:r>
            <a:endParaRPr lang="en-US" sz="1100" dirty="0"/>
          </a:p>
        </p:txBody>
      </p:sp>
      <p:sp>
        <p:nvSpPr>
          <p:cNvPr id="39" name="Text 35"/>
          <p:cNvSpPr txBox="1"/>
          <p:nvPr/>
        </p:nvSpPr>
        <p:spPr>
          <a:xfrm>
            <a:off x="3410712" y="3529584"/>
            <a:ext cx="2377440" cy="146304"/>
          </a:xfrm>
          <a:prstGeom prst="rect">
            <a:avLst/>
          </a:prstGeom>
          <a:noFill/>
          <a:ln/>
        </p:spPr>
        <p:txBody>
          <a:bodyPr wrap="square" lIns="0" tIns="0" rIns="0" bIns="0" rtlCol="0" anchor="t"/>
          <a:lstStyle/>
          <a:p>
            <a:pPr algn="l" indent="0" marL="0">
              <a:buNone/>
            </a:pPr>
            <a:r>
              <a:rPr lang="en-US" sz="850" b="1" spc="100" kern="0" dirty="0">
                <a:solidFill>
                  <a:srgbClr val="00695C"/>
                </a:solidFill>
              </a:rPr>
              <a:t>STANCE</a:t>
            </a:r>
            <a:endParaRPr lang="en-US" sz="850" dirty="0"/>
          </a:p>
        </p:txBody>
      </p:sp>
      <p:sp>
        <p:nvSpPr>
          <p:cNvPr id="40" name="Text 36"/>
          <p:cNvSpPr txBox="1"/>
          <p:nvPr/>
        </p:nvSpPr>
        <p:spPr>
          <a:xfrm>
            <a:off x="3410712" y="3666744"/>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Waste is a cost to cut</a:t>
            </a:r>
            <a:endParaRPr lang="en-US" sz="1100" dirty="0"/>
          </a:p>
        </p:txBody>
      </p:sp>
      <p:sp>
        <p:nvSpPr>
          <p:cNvPr id="41" name="Text 37"/>
          <p:cNvSpPr txBox="1"/>
          <p:nvPr/>
        </p:nvSpPr>
        <p:spPr>
          <a:xfrm>
            <a:off x="3410712" y="4059936"/>
            <a:ext cx="2377440" cy="146304"/>
          </a:xfrm>
          <a:prstGeom prst="rect">
            <a:avLst/>
          </a:prstGeom>
          <a:noFill/>
          <a:ln/>
        </p:spPr>
        <p:txBody>
          <a:bodyPr wrap="square" lIns="0" tIns="0" rIns="0" bIns="0" rtlCol="0" anchor="t"/>
          <a:lstStyle/>
          <a:p>
            <a:pPr algn="l" indent="0" marL="0">
              <a:buNone/>
            </a:pPr>
            <a:r>
              <a:rPr lang="en-US" sz="850" b="1" spc="100" kern="0" dirty="0">
                <a:solidFill>
                  <a:srgbClr val="00695C"/>
                </a:solidFill>
              </a:rPr>
              <a:t>EVIDENCE</a:t>
            </a:r>
            <a:endParaRPr lang="en-US" sz="850" dirty="0"/>
          </a:p>
        </p:txBody>
      </p:sp>
      <p:sp>
        <p:nvSpPr>
          <p:cNvPr id="42" name="Text 38"/>
          <p:cNvSpPr txBox="1"/>
          <p:nvPr/>
        </p:nvSpPr>
        <p:spPr>
          <a:xfrm>
            <a:off x="3410712" y="4197096"/>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Seen on site; books photographed</a:t>
            </a:r>
            <a:endParaRPr lang="en-US" sz="1100" dirty="0"/>
          </a:p>
        </p:txBody>
      </p:sp>
      <p:sp>
        <p:nvSpPr>
          <p:cNvPr id="43" name="Shape 39"/>
          <p:cNvSpPr/>
          <p:nvPr/>
        </p:nvSpPr>
        <p:spPr>
          <a:xfrm>
            <a:off x="6035040" y="1234440"/>
            <a:ext cx="2651760" cy="3456432"/>
          </a:xfrm>
          <a:prstGeom prst="roundRect">
            <a:avLst>
              <a:gd name="adj" fmla="val 2759"/>
            </a:avLst>
          </a:prstGeom>
          <a:solidFill>
            <a:srgbClr val="FFF3E0"/>
          </a:solidFill>
          <a:ln w="12700">
            <a:solidFill>
              <a:srgbClr val="E65100"/>
            </a:solidFill>
            <a:prstDash val="solid"/>
          </a:ln>
        </p:spPr>
      </p:sp>
      <p:sp>
        <p:nvSpPr>
          <p:cNvPr id="44" name="Shape 40"/>
          <p:cNvSpPr/>
          <p:nvPr/>
        </p:nvSpPr>
        <p:spPr>
          <a:xfrm>
            <a:off x="6172200" y="1399032"/>
            <a:ext cx="457200" cy="457200"/>
          </a:xfrm>
          <a:prstGeom prst="ellipse">
            <a:avLst/>
          </a:prstGeom>
          <a:solidFill>
            <a:srgbClr val="E65100"/>
          </a:solidFill>
          <a:ln/>
        </p:spPr>
      </p:sp>
      <p:pic>
        <p:nvPicPr>
          <p:cNvPr id="45" name="Image 2" descr="LocalShipping">    </p:cNvPr>
          <p:cNvPicPr>
            <a:picLocks noChangeAspect="1"/>
          </p:cNvPicPr>
          <p:nvPr/>
        </p:nvPicPr>
        <p:blipFill>
          <a:blip r:embed="rId3"/>
          <a:stretch>
            <a:fillRect/>
          </a:stretch>
        </p:blipFill>
        <p:spPr>
          <a:xfrm>
            <a:off x="6263640" y="1490472"/>
            <a:ext cx="274320" cy="274320"/>
          </a:xfrm>
          <a:prstGeom prst="rect">
            <a:avLst/>
          </a:prstGeom>
        </p:spPr>
      </p:pic>
      <p:sp>
        <p:nvSpPr>
          <p:cNvPr id="46" name="Text 41"/>
          <p:cNvSpPr txBox="1"/>
          <p:nvPr/>
        </p:nvSpPr>
        <p:spPr>
          <a:xfrm>
            <a:off x="6766560" y="1325880"/>
            <a:ext cx="1737360" cy="594360"/>
          </a:xfrm>
          <a:prstGeom prst="rect">
            <a:avLst/>
          </a:prstGeom>
          <a:noFill/>
          <a:ln/>
        </p:spPr>
        <p:txBody>
          <a:bodyPr wrap="square" lIns="0" tIns="0" rIns="0" bIns="0" rtlCol="0" anchor="ctr"/>
          <a:lstStyle/>
          <a:p>
            <a:pPr algn="l" indent="0" marL="0">
              <a:buNone/>
            </a:pPr>
            <a:r>
              <a:rPr lang="en-US" sz="1800" b="1" dirty="0">
                <a:solidFill>
                  <a:srgbClr val="1F2430"/>
                </a:solidFill>
                <a:latin typeface="Cambria" pitchFamily="34" charset="0"/>
                <a:ea typeface="Cambria" pitchFamily="34" charset="-122"/>
                <a:cs typeface="Cambria" pitchFamily="34" charset="-120"/>
              </a:rPr>
              <a:t>Bakul</a:t>
            </a:r>
            <a:endParaRPr lang="en-US" sz="1800" dirty="0"/>
          </a:p>
        </p:txBody>
      </p:sp>
      <p:sp>
        <p:nvSpPr>
          <p:cNvPr id="47" name="Text 42"/>
          <p:cNvSpPr txBox="1"/>
          <p:nvPr/>
        </p:nvSpPr>
        <p:spPr>
          <a:xfrm>
            <a:off x="6199632" y="1938528"/>
            <a:ext cx="2377440" cy="146304"/>
          </a:xfrm>
          <a:prstGeom prst="rect">
            <a:avLst/>
          </a:prstGeom>
          <a:noFill/>
          <a:ln/>
        </p:spPr>
        <p:txBody>
          <a:bodyPr wrap="square" lIns="0" tIns="0" rIns="0" bIns="0" rtlCol="0" anchor="t"/>
          <a:lstStyle/>
          <a:p>
            <a:pPr algn="l" indent="0" marL="0">
              <a:buNone/>
            </a:pPr>
            <a:r>
              <a:rPr lang="en-US" sz="850" b="1" spc="100" kern="0" dirty="0">
                <a:solidFill>
                  <a:srgbClr val="E65100"/>
                </a:solidFill>
              </a:rPr>
              <a:t>FIRST BATCH</a:t>
            </a:r>
            <a:endParaRPr lang="en-US" sz="850" dirty="0"/>
          </a:p>
        </p:txBody>
      </p:sp>
      <p:sp>
        <p:nvSpPr>
          <p:cNvPr id="48" name="Text 43"/>
          <p:cNvSpPr txBox="1"/>
          <p:nvPr/>
        </p:nvSpPr>
        <p:spPr>
          <a:xfrm>
            <a:off x="6199632" y="2075688"/>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70 to 80% by item, reset weekly, floor about 70%</a:t>
            </a:r>
            <a:endParaRPr lang="en-US" sz="1100" dirty="0"/>
          </a:p>
        </p:txBody>
      </p:sp>
      <p:sp>
        <p:nvSpPr>
          <p:cNvPr id="49" name="Text 44"/>
          <p:cNvSpPr txBox="1"/>
          <p:nvPr/>
        </p:nvSpPr>
        <p:spPr>
          <a:xfrm>
            <a:off x="6199632" y="2468880"/>
            <a:ext cx="2377440" cy="146304"/>
          </a:xfrm>
          <a:prstGeom prst="rect">
            <a:avLst/>
          </a:prstGeom>
          <a:noFill/>
          <a:ln/>
        </p:spPr>
        <p:txBody>
          <a:bodyPr wrap="square" lIns="0" tIns="0" rIns="0" bIns="0" rtlCol="0" anchor="t"/>
          <a:lstStyle/>
          <a:p>
            <a:pPr algn="l" indent="0" marL="0">
              <a:buNone/>
            </a:pPr>
            <a:r>
              <a:rPr lang="en-US" sz="850" b="1" spc="100" kern="0" dirty="0">
                <a:solidFill>
                  <a:srgbClr val="E65100"/>
                </a:solidFill>
              </a:rPr>
              <a:t>WHO DECIDES</a:t>
            </a:r>
            <a:endParaRPr lang="en-US" sz="850" dirty="0"/>
          </a:p>
        </p:txBody>
      </p:sp>
      <p:sp>
        <p:nvSpPr>
          <p:cNvPr id="50" name="Text 45"/>
          <p:cNvSpPr txBox="1"/>
          <p:nvPr/>
        </p:nvSpPr>
        <p:spPr>
          <a:xfrm>
            <a:off x="6199632" y="2606040"/>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The manager alone; cooked about 8 km away</a:t>
            </a:r>
            <a:endParaRPr lang="en-US" sz="1100" dirty="0"/>
          </a:p>
        </p:txBody>
      </p:sp>
      <p:sp>
        <p:nvSpPr>
          <p:cNvPr id="51" name="Text 46"/>
          <p:cNvSpPr txBox="1"/>
          <p:nvPr/>
        </p:nvSpPr>
        <p:spPr>
          <a:xfrm>
            <a:off x="6199632" y="2999232"/>
            <a:ext cx="2377440" cy="146304"/>
          </a:xfrm>
          <a:prstGeom prst="rect">
            <a:avLst/>
          </a:prstGeom>
          <a:noFill/>
          <a:ln/>
        </p:spPr>
        <p:txBody>
          <a:bodyPr wrap="square" lIns="0" tIns="0" rIns="0" bIns="0" rtlCol="0" anchor="t"/>
          <a:lstStyle/>
          <a:p>
            <a:pPr algn="l" indent="0" marL="0">
              <a:buNone/>
            </a:pPr>
            <a:r>
              <a:rPr lang="en-US" sz="850" b="1" spc="100" kern="0" dirty="0">
                <a:solidFill>
                  <a:srgbClr val="E65100"/>
                </a:solidFill>
              </a:rPr>
              <a:t>CORRECTION IN SERVICE</a:t>
            </a:r>
            <a:endParaRPr lang="en-US" sz="850" dirty="0"/>
          </a:p>
        </p:txBody>
      </p:sp>
      <p:sp>
        <p:nvSpPr>
          <p:cNvPr id="52" name="Text 47"/>
          <p:cNvSpPr txBox="1"/>
          <p:nvPr/>
        </p:nvSpPr>
        <p:spPr>
          <a:xfrm>
            <a:off x="6199632" y="3136392"/>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Phone call, cook, then a 20 to 40 minute drive</a:t>
            </a:r>
            <a:endParaRPr lang="en-US" sz="1100" dirty="0"/>
          </a:p>
        </p:txBody>
      </p:sp>
      <p:sp>
        <p:nvSpPr>
          <p:cNvPr id="53" name="Text 48"/>
          <p:cNvSpPr txBox="1"/>
          <p:nvPr/>
        </p:nvSpPr>
        <p:spPr>
          <a:xfrm>
            <a:off x="6199632" y="3529584"/>
            <a:ext cx="2377440" cy="146304"/>
          </a:xfrm>
          <a:prstGeom prst="rect">
            <a:avLst/>
          </a:prstGeom>
          <a:noFill/>
          <a:ln/>
        </p:spPr>
        <p:txBody>
          <a:bodyPr wrap="square" lIns="0" tIns="0" rIns="0" bIns="0" rtlCol="0" anchor="t"/>
          <a:lstStyle/>
          <a:p>
            <a:pPr algn="l" indent="0" marL="0">
              <a:buNone/>
            </a:pPr>
            <a:r>
              <a:rPr lang="en-US" sz="850" b="1" spc="100" kern="0" dirty="0">
                <a:solidFill>
                  <a:srgbClr val="E65100"/>
                </a:solidFill>
              </a:rPr>
              <a:t>STANCE</a:t>
            </a:r>
            <a:endParaRPr lang="en-US" sz="850" dirty="0"/>
          </a:p>
        </p:txBody>
      </p:sp>
      <p:sp>
        <p:nvSpPr>
          <p:cNvPr id="54" name="Text 49"/>
          <p:cNvSpPr txBox="1"/>
          <p:nvPr/>
        </p:nvSpPr>
        <p:spPr>
          <a:xfrm>
            <a:off x="6199632" y="3666744"/>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A shortage is the failure to avoid</a:t>
            </a:r>
            <a:endParaRPr lang="en-US" sz="1100" dirty="0"/>
          </a:p>
        </p:txBody>
      </p:sp>
      <p:sp>
        <p:nvSpPr>
          <p:cNvPr id="55" name="Text 50"/>
          <p:cNvSpPr txBox="1"/>
          <p:nvPr/>
        </p:nvSpPr>
        <p:spPr>
          <a:xfrm>
            <a:off x="6199632" y="4059936"/>
            <a:ext cx="2377440" cy="146304"/>
          </a:xfrm>
          <a:prstGeom prst="rect">
            <a:avLst/>
          </a:prstGeom>
          <a:noFill/>
          <a:ln/>
        </p:spPr>
        <p:txBody>
          <a:bodyPr wrap="square" lIns="0" tIns="0" rIns="0" bIns="0" rtlCol="0" anchor="t"/>
          <a:lstStyle/>
          <a:p>
            <a:pPr algn="l" indent="0" marL="0">
              <a:buNone/>
            </a:pPr>
            <a:r>
              <a:rPr lang="en-US" sz="850" b="1" spc="100" kern="0" dirty="0">
                <a:solidFill>
                  <a:srgbClr val="E65100"/>
                </a:solidFill>
              </a:rPr>
              <a:t>EVIDENCE</a:t>
            </a:r>
            <a:endParaRPr lang="en-US" sz="850" dirty="0"/>
          </a:p>
        </p:txBody>
      </p:sp>
      <p:sp>
        <p:nvSpPr>
          <p:cNvPr id="56" name="Text 51"/>
          <p:cNvSpPr txBox="1"/>
          <p:nvPr/>
        </p:nvSpPr>
        <p:spPr>
          <a:xfrm>
            <a:off x="6199632" y="4197096"/>
            <a:ext cx="2377440" cy="384048"/>
          </a:xfrm>
          <a:prstGeom prst="rect">
            <a:avLst/>
          </a:prstGeom>
          <a:noFill/>
          <a:ln/>
        </p:spPr>
        <p:txBody>
          <a:bodyPr wrap="square" lIns="0" tIns="0" rIns="0" bIns="0" rtlCol="0" anchor="t"/>
          <a:lstStyle/>
          <a:p>
            <a:pPr algn="l" indent="0" marL="0">
              <a:buNone/>
            </a:pPr>
            <a:r>
              <a:rPr lang="en-US" sz="1100" dirty="0">
                <a:solidFill>
                  <a:srgbClr val="1F2430"/>
                </a:solidFill>
              </a:rPr>
              <a:t>The manager’s account; no records</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Yuktāhār's books loop back after two weeks, and Kadamba's day ends at the bin</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Text 13"/>
          <p:cNvSpPr txBox="1"/>
          <p:nvPr/>
        </p:nvSpPr>
        <p:spPr>
          <a:xfrm>
            <a:off x="457200" y="1216152"/>
            <a:ext cx="5486400" cy="182880"/>
          </a:xfrm>
          <a:prstGeom prst="rect">
            <a:avLst/>
          </a:prstGeom>
          <a:noFill/>
          <a:ln/>
        </p:spPr>
        <p:txBody>
          <a:bodyPr wrap="square" lIns="0" tIns="0" rIns="0" bIns="0" rtlCol="0" anchor="t"/>
          <a:lstStyle/>
          <a:p>
            <a:pPr algn="l" indent="0" marL="0">
              <a:buNone/>
            </a:pPr>
            <a:r>
              <a:rPr lang="en-US" sz="1000" b="1" spc="100" kern="0" dirty="0">
                <a:solidFill>
                  <a:srgbClr val="00695C"/>
                </a:solidFill>
              </a:rPr>
              <a:t>YUKTĀHĀR: A BOOK THAT FEEDS THE NEXT PLAN</a:t>
            </a:r>
            <a:endParaRPr lang="en-US" sz="1000" dirty="0"/>
          </a:p>
        </p:txBody>
      </p:sp>
      <p:sp>
        <p:nvSpPr>
          <p:cNvPr id="16" name="Shape 14"/>
          <p:cNvSpPr/>
          <p:nvPr/>
        </p:nvSpPr>
        <p:spPr>
          <a:xfrm>
            <a:off x="457200" y="1481328"/>
            <a:ext cx="1170432" cy="502920"/>
          </a:xfrm>
          <a:prstGeom prst="roundRect">
            <a:avLst>
              <a:gd name="adj" fmla="val 10909"/>
            </a:avLst>
          </a:prstGeom>
          <a:solidFill>
            <a:srgbClr val="E3F2FD"/>
          </a:solidFill>
          <a:ln w="12700">
            <a:solidFill>
              <a:srgbClr val="1565C0"/>
            </a:solidFill>
            <a:prstDash val="solid"/>
          </a:ln>
        </p:spPr>
      </p:sp>
      <p:sp>
        <p:nvSpPr>
          <p:cNvPr id="17" name="Text 15"/>
          <p:cNvSpPr txBox="1"/>
          <p:nvPr/>
        </p:nvSpPr>
        <p:spPr>
          <a:xfrm>
            <a:off x="521208" y="1481328"/>
            <a:ext cx="1042416" cy="502920"/>
          </a:xfrm>
          <a:prstGeom prst="rect">
            <a:avLst/>
          </a:prstGeom>
          <a:noFill/>
          <a:ln/>
        </p:spPr>
        <p:txBody>
          <a:bodyPr wrap="square" lIns="0" tIns="0" rIns="0" bIns="0" rtlCol="0" anchor="ctr"/>
          <a:lstStyle/>
          <a:p>
            <a:pPr algn="ctr" indent="0" marL="0">
              <a:buNone/>
            </a:pPr>
            <a:r>
              <a:rPr lang="en-US" sz="1200" b="1" dirty="0">
                <a:solidFill>
                  <a:srgbClr val="1F2430"/>
                </a:solidFill>
              </a:rPr>
              <a:t>Daily meeting</a:t>
            </a:r>
            <a:endParaRPr lang="en-US" sz="1200" dirty="0"/>
          </a:p>
        </p:txBody>
      </p:sp>
      <p:sp>
        <p:nvSpPr>
          <p:cNvPr id="18" name="Shape 16"/>
          <p:cNvSpPr/>
          <p:nvPr/>
        </p:nvSpPr>
        <p:spPr>
          <a:xfrm>
            <a:off x="1627632" y="1732788"/>
            <a:ext cx="201168" cy="0"/>
          </a:xfrm>
          <a:prstGeom prst="line">
            <a:avLst/>
          </a:prstGeom>
          <a:noFill/>
          <a:ln w="19050">
            <a:solidFill>
              <a:srgbClr val="1A237E"/>
            </a:solidFill>
            <a:prstDash val="solid"/>
            <a:tailEnd type="triangle"/>
          </a:ln>
        </p:spPr>
      </p:sp>
      <p:sp>
        <p:nvSpPr>
          <p:cNvPr id="19" name="Shape 17"/>
          <p:cNvSpPr/>
          <p:nvPr/>
        </p:nvSpPr>
        <p:spPr>
          <a:xfrm>
            <a:off x="1828800" y="1481328"/>
            <a:ext cx="1170432" cy="502920"/>
          </a:xfrm>
          <a:prstGeom prst="roundRect">
            <a:avLst>
              <a:gd name="adj" fmla="val 10909"/>
            </a:avLst>
          </a:prstGeom>
          <a:solidFill>
            <a:srgbClr val="E3F2FD"/>
          </a:solidFill>
          <a:ln w="12700">
            <a:solidFill>
              <a:srgbClr val="1565C0"/>
            </a:solidFill>
            <a:prstDash val="solid"/>
          </a:ln>
        </p:spPr>
      </p:sp>
      <p:sp>
        <p:nvSpPr>
          <p:cNvPr id="20" name="Text 18"/>
          <p:cNvSpPr txBox="1"/>
          <p:nvPr/>
        </p:nvSpPr>
        <p:spPr>
          <a:xfrm>
            <a:off x="1892808" y="1481328"/>
            <a:ext cx="1042416" cy="502920"/>
          </a:xfrm>
          <a:prstGeom prst="rect">
            <a:avLst/>
          </a:prstGeom>
          <a:noFill/>
          <a:ln/>
        </p:spPr>
        <p:txBody>
          <a:bodyPr wrap="square" lIns="0" tIns="0" rIns="0" bIns="0" rtlCol="0" anchor="ctr"/>
          <a:lstStyle/>
          <a:p>
            <a:pPr algn="ctr" indent="0" marL="0">
              <a:buNone/>
            </a:pPr>
            <a:r>
              <a:rPr lang="en-US" sz="1200" b="1" dirty="0">
                <a:solidFill>
                  <a:srgbClr val="1F2430"/>
                </a:solidFill>
              </a:rPr>
              <a:t>Cook</a:t>
            </a:r>
            <a:endParaRPr lang="en-US" sz="1200" dirty="0"/>
          </a:p>
        </p:txBody>
      </p:sp>
      <p:sp>
        <p:nvSpPr>
          <p:cNvPr id="21" name="Shape 19"/>
          <p:cNvSpPr/>
          <p:nvPr/>
        </p:nvSpPr>
        <p:spPr>
          <a:xfrm>
            <a:off x="2999232" y="1732788"/>
            <a:ext cx="201168" cy="0"/>
          </a:xfrm>
          <a:prstGeom prst="line">
            <a:avLst/>
          </a:prstGeom>
          <a:noFill/>
          <a:ln w="19050">
            <a:solidFill>
              <a:srgbClr val="1A237E"/>
            </a:solidFill>
            <a:prstDash val="solid"/>
            <a:tailEnd type="triangle"/>
          </a:ln>
        </p:spPr>
      </p:sp>
      <p:sp>
        <p:nvSpPr>
          <p:cNvPr id="22" name="Shape 20"/>
          <p:cNvSpPr/>
          <p:nvPr/>
        </p:nvSpPr>
        <p:spPr>
          <a:xfrm>
            <a:off x="3200400" y="1481328"/>
            <a:ext cx="1170432" cy="502920"/>
          </a:xfrm>
          <a:prstGeom prst="roundRect">
            <a:avLst>
              <a:gd name="adj" fmla="val 10909"/>
            </a:avLst>
          </a:prstGeom>
          <a:solidFill>
            <a:srgbClr val="E3F2FD"/>
          </a:solidFill>
          <a:ln w="12700">
            <a:solidFill>
              <a:srgbClr val="1565C0"/>
            </a:solidFill>
            <a:prstDash val="solid"/>
          </a:ln>
        </p:spPr>
      </p:sp>
      <p:sp>
        <p:nvSpPr>
          <p:cNvPr id="23" name="Text 21"/>
          <p:cNvSpPr txBox="1"/>
          <p:nvPr/>
        </p:nvSpPr>
        <p:spPr>
          <a:xfrm>
            <a:off x="3264408" y="1481328"/>
            <a:ext cx="1042416" cy="502920"/>
          </a:xfrm>
          <a:prstGeom prst="rect">
            <a:avLst/>
          </a:prstGeom>
          <a:noFill/>
          <a:ln/>
        </p:spPr>
        <p:txBody>
          <a:bodyPr wrap="square" lIns="0" tIns="0" rIns="0" bIns="0" rtlCol="0" anchor="ctr"/>
          <a:lstStyle/>
          <a:p>
            <a:pPr algn="ctr" indent="0" marL="0">
              <a:buNone/>
            </a:pPr>
            <a:r>
              <a:rPr lang="en-US" sz="1200" b="1" dirty="0">
                <a:solidFill>
                  <a:srgbClr val="1F2430"/>
                </a:solidFill>
              </a:rPr>
              <a:t>Serve</a:t>
            </a:r>
            <a:endParaRPr lang="en-US" sz="1200" dirty="0"/>
          </a:p>
        </p:txBody>
      </p:sp>
      <p:sp>
        <p:nvSpPr>
          <p:cNvPr id="24" name="Shape 22"/>
          <p:cNvSpPr/>
          <p:nvPr/>
        </p:nvSpPr>
        <p:spPr>
          <a:xfrm>
            <a:off x="4370832" y="1732788"/>
            <a:ext cx="201168" cy="0"/>
          </a:xfrm>
          <a:prstGeom prst="line">
            <a:avLst/>
          </a:prstGeom>
          <a:noFill/>
          <a:ln w="19050">
            <a:solidFill>
              <a:srgbClr val="1A237E"/>
            </a:solidFill>
            <a:prstDash val="solid"/>
            <a:tailEnd type="triangle"/>
          </a:ln>
        </p:spPr>
      </p:sp>
      <p:sp>
        <p:nvSpPr>
          <p:cNvPr id="25" name="Shape 23"/>
          <p:cNvSpPr/>
          <p:nvPr/>
        </p:nvSpPr>
        <p:spPr>
          <a:xfrm>
            <a:off x="4572000" y="1481328"/>
            <a:ext cx="1170432" cy="502920"/>
          </a:xfrm>
          <a:prstGeom prst="roundRect">
            <a:avLst>
              <a:gd name="adj" fmla="val 10909"/>
            </a:avLst>
          </a:prstGeom>
          <a:solidFill>
            <a:srgbClr val="F3E5F5"/>
          </a:solidFill>
          <a:ln w="12700">
            <a:solidFill>
              <a:srgbClr val="6A1B9A"/>
            </a:solidFill>
            <a:prstDash val="solid"/>
          </a:ln>
        </p:spPr>
      </p:sp>
      <p:sp>
        <p:nvSpPr>
          <p:cNvPr id="26" name="Text 24"/>
          <p:cNvSpPr txBox="1"/>
          <p:nvPr/>
        </p:nvSpPr>
        <p:spPr>
          <a:xfrm>
            <a:off x="4636008" y="1481328"/>
            <a:ext cx="1042416" cy="502920"/>
          </a:xfrm>
          <a:prstGeom prst="rect">
            <a:avLst/>
          </a:prstGeom>
          <a:noFill/>
          <a:ln/>
        </p:spPr>
        <p:txBody>
          <a:bodyPr wrap="square" lIns="0" tIns="0" rIns="0" bIns="0" rtlCol="0" anchor="ctr"/>
          <a:lstStyle/>
          <a:p>
            <a:pPr algn="ctr" indent="0" marL="0">
              <a:buNone/>
            </a:pPr>
            <a:r>
              <a:rPr lang="en-US" sz="1200" b="1" dirty="0">
                <a:solidFill>
                  <a:srgbClr val="1F2430"/>
                </a:solidFill>
              </a:rPr>
              <a:t>Wastage Book</a:t>
            </a:r>
            <a:endParaRPr lang="en-US" sz="1200" dirty="0"/>
          </a:p>
        </p:txBody>
      </p:sp>
      <p:sp>
        <p:nvSpPr>
          <p:cNvPr id="27" name="Shape 25"/>
          <p:cNvSpPr/>
          <p:nvPr/>
        </p:nvSpPr>
        <p:spPr>
          <a:xfrm>
            <a:off x="4700016" y="1984248"/>
            <a:ext cx="0" cy="301752"/>
          </a:xfrm>
          <a:prstGeom prst="line">
            <a:avLst/>
          </a:prstGeom>
          <a:noFill/>
          <a:ln w="25400">
            <a:solidFill>
              <a:srgbClr val="6A1B9A"/>
            </a:solidFill>
            <a:prstDash val="solid"/>
          </a:ln>
        </p:spPr>
      </p:sp>
      <p:sp>
        <p:nvSpPr>
          <p:cNvPr id="28" name="Shape 26"/>
          <p:cNvSpPr/>
          <p:nvPr/>
        </p:nvSpPr>
        <p:spPr>
          <a:xfrm flipH="1">
            <a:off x="1042416" y="2286000"/>
            <a:ext cx="3657600" cy="0"/>
          </a:xfrm>
          <a:prstGeom prst="line">
            <a:avLst/>
          </a:prstGeom>
          <a:noFill/>
          <a:ln w="25400">
            <a:solidFill>
              <a:srgbClr val="6A1B9A"/>
            </a:solidFill>
            <a:prstDash val="solid"/>
          </a:ln>
        </p:spPr>
      </p:sp>
      <p:sp>
        <p:nvSpPr>
          <p:cNvPr id="29" name="Shape 27"/>
          <p:cNvSpPr/>
          <p:nvPr/>
        </p:nvSpPr>
        <p:spPr>
          <a:xfrm flipV="1">
            <a:off x="1042416" y="2002536"/>
            <a:ext cx="0" cy="283464"/>
          </a:xfrm>
          <a:prstGeom prst="line">
            <a:avLst/>
          </a:prstGeom>
          <a:noFill/>
          <a:ln w="25400">
            <a:solidFill>
              <a:srgbClr val="6A1B9A"/>
            </a:solidFill>
            <a:prstDash val="solid"/>
            <a:tailEnd type="triangle"/>
          </a:ln>
        </p:spPr>
      </p:sp>
      <p:sp>
        <p:nvSpPr>
          <p:cNvPr id="30" name="Text 28"/>
          <p:cNvSpPr txBox="1"/>
          <p:nvPr/>
        </p:nvSpPr>
        <p:spPr>
          <a:xfrm>
            <a:off x="1280160" y="2322576"/>
            <a:ext cx="3291840" cy="228600"/>
          </a:xfrm>
          <a:prstGeom prst="rect">
            <a:avLst/>
          </a:prstGeom>
          <a:noFill/>
          <a:ln/>
        </p:spPr>
        <p:txBody>
          <a:bodyPr wrap="square" lIns="0" tIns="0" rIns="0" bIns="0" rtlCol="0" anchor="t"/>
          <a:lstStyle/>
          <a:p>
            <a:pPr algn="l" indent="0" marL="0">
              <a:buNone/>
            </a:pPr>
            <a:r>
              <a:rPr lang="en-US" sz="1100" b="1" dirty="0">
                <a:solidFill>
                  <a:srgbClr val="6A1B9A"/>
                </a:solidFill>
              </a:rPr>
              <a:t>sizes the matching dish about two weeks ahead</a:t>
            </a:r>
            <a:endParaRPr lang="en-US" sz="1100" dirty="0"/>
          </a:p>
        </p:txBody>
      </p:sp>
      <p:pic>
        <p:nvPicPr>
          <p:cNvPr id="31" name="Image 0" descr="Yuktāhār registers laid out beside the stock">    </p:cNvPr>
          <p:cNvPicPr>
            <a:picLocks noChangeAspect="1"/>
          </p:cNvPicPr>
          <p:nvPr/>
        </p:nvPicPr>
        <p:blipFill>
          <a:blip r:embed="rId1"/>
          <a:stretch>
            <a:fillRect/>
          </a:stretch>
        </p:blipFill>
        <p:spPr>
          <a:xfrm>
            <a:off x="7040880" y="1234440"/>
            <a:ext cx="1645920" cy="914400"/>
          </a:xfrm>
          <a:prstGeom prst="rect">
            <a:avLst/>
          </a:prstGeom>
        </p:spPr>
      </p:pic>
      <p:sp>
        <p:nvSpPr>
          <p:cNvPr id="32" name="Text 29"/>
          <p:cNvSpPr txBox="1"/>
          <p:nvPr/>
        </p:nvSpPr>
        <p:spPr>
          <a:xfrm>
            <a:off x="457200" y="2761488"/>
            <a:ext cx="5486400" cy="182880"/>
          </a:xfrm>
          <a:prstGeom prst="rect">
            <a:avLst/>
          </a:prstGeom>
          <a:noFill/>
          <a:ln/>
        </p:spPr>
        <p:txBody>
          <a:bodyPr wrap="square" lIns="0" tIns="0" rIns="0" bIns="0" rtlCol="0" anchor="t"/>
          <a:lstStyle/>
          <a:p>
            <a:pPr algn="l" indent="0" marL="0">
              <a:buNone/>
            </a:pPr>
            <a:r>
              <a:rPr lang="en-US" sz="1000" b="1" spc="100" kern="0" dirty="0">
                <a:solidFill>
                  <a:srgbClr val="1565C0"/>
                </a:solidFill>
              </a:rPr>
              <a:t>KADAMBA: A DAY THAT ENDS AT THE BIN</a:t>
            </a:r>
            <a:endParaRPr lang="en-US" sz="1000" dirty="0"/>
          </a:p>
        </p:txBody>
      </p:sp>
      <p:sp>
        <p:nvSpPr>
          <p:cNvPr id="33" name="Shape 30"/>
          <p:cNvSpPr/>
          <p:nvPr/>
        </p:nvSpPr>
        <p:spPr>
          <a:xfrm>
            <a:off x="457200" y="3017520"/>
            <a:ext cx="4937760" cy="329184"/>
          </a:xfrm>
          <a:prstGeom prst="roundRect">
            <a:avLst>
              <a:gd name="adj" fmla="val 16667"/>
            </a:avLst>
          </a:prstGeom>
          <a:solidFill>
            <a:srgbClr val="E0F2F1"/>
          </a:solidFill>
          <a:ln w="12700">
            <a:solidFill>
              <a:srgbClr val="00695C"/>
            </a:solidFill>
            <a:prstDash val="solid"/>
          </a:ln>
        </p:spPr>
      </p:sp>
      <p:sp>
        <p:nvSpPr>
          <p:cNvPr id="34" name="Text 31"/>
          <p:cNvSpPr txBox="1"/>
          <p:nvPr/>
        </p:nvSpPr>
        <p:spPr>
          <a:xfrm>
            <a:off x="521208" y="3017520"/>
            <a:ext cx="4809744" cy="329184"/>
          </a:xfrm>
          <a:prstGeom prst="rect">
            <a:avLst/>
          </a:prstGeom>
          <a:noFill/>
          <a:ln/>
        </p:spPr>
        <p:txBody>
          <a:bodyPr wrap="square" lIns="0" tIns="0" rIns="0" bIns="0" rtlCol="0" anchor="ctr"/>
          <a:lstStyle/>
          <a:p>
            <a:pPr algn="ctr" indent="0" marL="0">
              <a:buNone/>
            </a:pPr>
            <a:r>
              <a:rPr lang="en-US" sz="1100" dirty="0">
                <a:solidFill>
                  <a:srgbClr val="1F2430"/>
                </a:solidFill>
              </a:rPr>
              <a:t>Cooking temperature, 72-hour sample, tasting with the facility team</a:t>
            </a:r>
            <a:endParaRPr lang="en-US" sz="1100" dirty="0"/>
          </a:p>
        </p:txBody>
      </p:sp>
      <p:sp>
        <p:nvSpPr>
          <p:cNvPr id="35" name="Shape 32"/>
          <p:cNvSpPr/>
          <p:nvPr/>
        </p:nvSpPr>
        <p:spPr>
          <a:xfrm>
            <a:off x="457200" y="3456432"/>
            <a:ext cx="1207008" cy="566928"/>
          </a:xfrm>
          <a:prstGeom prst="roundRect">
            <a:avLst>
              <a:gd name="adj" fmla="val 9677"/>
            </a:avLst>
          </a:prstGeom>
          <a:solidFill>
            <a:srgbClr val="E3F2FD"/>
          </a:solidFill>
          <a:ln w="12700">
            <a:solidFill>
              <a:srgbClr val="1565C0"/>
            </a:solidFill>
            <a:prstDash val="solid"/>
          </a:ln>
        </p:spPr>
      </p:sp>
      <p:sp>
        <p:nvSpPr>
          <p:cNvPr id="36" name="Text 33"/>
          <p:cNvSpPr txBox="1"/>
          <p:nvPr/>
        </p:nvSpPr>
        <p:spPr>
          <a:xfrm>
            <a:off x="521208" y="3456432"/>
            <a:ext cx="1078992" cy="566928"/>
          </a:xfrm>
          <a:prstGeom prst="rect">
            <a:avLst/>
          </a:prstGeom>
          <a:noFill/>
          <a:ln/>
        </p:spPr>
        <p:txBody>
          <a:bodyPr wrap="square" lIns="0" tIns="0" rIns="0" bIns="0" rtlCol="0" anchor="ctr"/>
          <a:lstStyle/>
          <a:p>
            <a:pPr algn="ctr" indent="0" marL="0">
              <a:buNone/>
            </a:pPr>
            <a:r>
              <a:rPr lang="en-US" sz="1100" dirty="0">
                <a:solidFill>
                  <a:srgbClr val="1F2430"/>
                </a:solidFill>
              </a:rPr>
              <a:t>First batch cooked early</a:t>
            </a:r>
            <a:endParaRPr lang="en-US" sz="1100" dirty="0"/>
          </a:p>
        </p:txBody>
      </p:sp>
      <p:sp>
        <p:nvSpPr>
          <p:cNvPr id="37" name="Shape 34"/>
          <p:cNvSpPr/>
          <p:nvPr/>
        </p:nvSpPr>
        <p:spPr>
          <a:xfrm>
            <a:off x="1664208" y="3739896"/>
            <a:ext cx="164592" cy="0"/>
          </a:xfrm>
          <a:prstGeom prst="line">
            <a:avLst/>
          </a:prstGeom>
          <a:noFill/>
          <a:ln w="15875">
            <a:solidFill>
              <a:srgbClr val="1A237E"/>
            </a:solidFill>
            <a:prstDash val="solid"/>
            <a:tailEnd type="triangle"/>
          </a:ln>
        </p:spPr>
      </p:sp>
      <p:sp>
        <p:nvSpPr>
          <p:cNvPr id="38" name="Shape 35"/>
          <p:cNvSpPr/>
          <p:nvPr/>
        </p:nvSpPr>
        <p:spPr>
          <a:xfrm>
            <a:off x="1828800" y="3456432"/>
            <a:ext cx="1207008" cy="566928"/>
          </a:xfrm>
          <a:prstGeom prst="roundRect">
            <a:avLst>
              <a:gd name="adj" fmla="val 9677"/>
            </a:avLst>
          </a:prstGeom>
          <a:solidFill>
            <a:srgbClr val="E8F5E9"/>
          </a:solidFill>
          <a:ln w="12700">
            <a:solidFill>
              <a:srgbClr val="2E7D32"/>
            </a:solidFill>
            <a:prstDash val="solid"/>
          </a:ln>
        </p:spPr>
      </p:sp>
      <p:sp>
        <p:nvSpPr>
          <p:cNvPr id="39" name="Text 36"/>
          <p:cNvSpPr txBox="1"/>
          <p:nvPr/>
        </p:nvSpPr>
        <p:spPr>
          <a:xfrm>
            <a:off x="1892808" y="3456432"/>
            <a:ext cx="1078992" cy="566928"/>
          </a:xfrm>
          <a:prstGeom prst="rect">
            <a:avLst/>
          </a:prstGeom>
          <a:noFill/>
          <a:ln/>
        </p:spPr>
        <p:txBody>
          <a:bodyPr wrap="square" lIns="0" tIns="0" rIns="0" bIns="0" rtlCol="0" anchor="ctr"/>
          <a:lstStyle/>
          <a:p>
            <a:pPr algn="ctr" indent="0" marL="0">
              <a:buNone/>
            </a:pPr>
            <a:r>
              <a:rPr lang="en-US" sz="1100" dirty="0">
                <a:solidFill>
                  <a:srgbClr val="1F2430"/>
                </a:solidFill>
              </a:rPr>
              <a:t>About 30 portions to outside diners</a:t>
            </a:r>
            <a:endParaRPr lang="en-US" sz="1100" dirty="0"/>
          </a:p>
        </p:txBody>
      </p:sp>
      <p:sp>
        <p:nvSpPr>
          <p:cNvPr id="40" name="Shape 37"/>
          <p:cNvSpPr/>
          <p:nvPr/>
        </p:nvSpPr>
        <p:spPr>
          <a:xfrm>
            <a:off x="3035808" y="3739896"/>
            <a:ext cx="164592" cy="0"/>
          </a:xfrm>
          <a:prstGeom prst="line">
            <a:avLst/>
          </a:prstGeom>
          <a:noFill/>
          <a:ln w="15875">
            <a:solidFill>
              <a:srgbClr val="1A237E"/>
            </a:solidFill>
            <a:prstDash val="solid"/>
            <a:tailEnd type="triangle"/>
          </a:ln>
        </p:spPr>
      </p:sp>
      <p:sp>
        <p:nvSpPr>
          <p:cNvPr id="41" name="Shape 38"/>
          <p:cNvSpPr/>
          <p:nvPr/>
        </p:nvSpPr>
        <p:spPr>
          <a:xfrm>
            <a:off x="3200400" y="3456432"/>
            <a:ext cx="1207008" cy="566928"/>
          </a:xfrm>
          <a:prstGeom prst="roundRect">
            <a:avLst>
              <a:gd name="adj" fmla="val 9677"/>
            </a:avLst>
          </a:prstGeom>
          <a:solidFill>
            <a:srgbClr val="E3F2FD"/>
          </a:solidFill>
          <a:ln w="12700">
            <a:solidFill>
              <a:srgbClr val="1565C0"/>
            </a:solidFill>
            <a:prstDash val="solid"/>
          </a:ln>
        </p:spPr>
      </p:sp>
      <p:sp>
        <p:nvSpPr>
          <p:cNvPr id="42" name="Text 39"/>
          <p:cNvSpPr txBox="1"/>
          <p:nvPr/>
        </p:nvSpPr>
        <p:spPr>
          <a:xfrm>
            <a:off x="3264408" y="3456432"/>
            <a:ext cx="1078992" cy="566928"/>
          </a:xfrm>
          <a:prstGeom prst="rect">
            <a:avLst/>
          </a:prstGeom>
          <a:noFill/>
          <a:ln/>
        </p:spPr>
        <p:txBody>
          <a:bodyPr wrap="square" lIns="0" tIns="0" rIns="0" bIns="0" rtlCol="0" anchor="ctr"/>
          <a:lstStyle/>
          <a:p>
            <a:pPr algn="ctr" indent="0" marL="0">
              <a:buNone/>
            </a:pPr>
            <a:r>
              <a:rPr lang="en-US" sz="1100" dirty="0">
                <a:solidFill>
                  <a:srgbClr val="1F2430"/>
                </a:solidFill>
              </a:rPr>
              <a:t>Supervisor top-up</a:t>
            </a:r>
            <a:endParaRPr lang="en-US" sz="1100" dirty="0"/>
          </a:p>
        </p:txBody>
      </p:sp>
      <p:sp>
        <p:nvSpPr>
          <p:cNvPr id="43" name="Shape 40"/>
          <p:cNvSpPr/>
          <p:nvPr/>
        </p:nvSpPr>
        <p:spPr>
          <a:xfrm>
            <a:off x="4407408" y="3739896"/>
            <a:ext cx="164592" cy="0"/>
          </a:xfrm>
          <a:prstGeom prst="line">
            <a:avLst/>
          </a:prstGeom>
          <a:noFill/>
          <a:ln w="15875">
            <a:solidFill>
              <a:srgbClr val="1A237E"/>
            </a:solidFill>
            <a:prstDash val="solid"/>
            <a:tailEnd type="triangle"/>
          </a:ln>
        </p:spPr>
      </p:sp>
      <p:sp>
        <p:nvSpPr>
          <p:cNvPr id="44" name="Shape 41"/>
          <p:cNvSpPr/>
          <p:nvPr/>
        </p:nvSpPr>
        <p:spPr>
          <a:xfrm>
            <a:off x="4572000" y="3456432"/>
            <a:ext cx="1207008" cy="566928"/>
          </a:xfrm>
          <a:prstGeom prst="roundRect">
            <a:avLst>
              <a:gd name="adj" fmla="val 9677"/>
            </a:avLst>
          </a:prstGeom>
          <a:solidFill>
            <a:srgbClr val="E3F2FD"/>
          </a:solidFill>
          <a:ln w="12700">
            <a:solidFill>
              <a:srgbClr val="1565C0"/>
            </a:solidFill>
            <a:prstDash val="solid"/>
          </a:ln>
        </p:spPr>
      </p:sp>
      <p:sp>
        <p:nvSpPr>
          <p:cNvPr id="45" name="Text 42"/>
          <p:cNvSpPr txBox="1"/>
          <p:nvPr/>
        </p:nvSpPr>
        <p:spPr>
          <a:xfrm>
            <a:off x="4636008" y="3456432"/>
            <a:ext cx="1078992" cy="566928"/>
          </a:xfrm>
          <a:prstGeom prst="rect">
            <a:avLst/>
          </a:prstGeom>
          <a:noFill/>
          <a:ln/>
        </p:spPr>
        <p:txBody>
          <a:bodyPr wrap="square" lIns="0" tIns="0" rIns="0" bIns="0" rtlCol="0" anchor="ctr"/>
          <a:lstStyle/>
          <a:p>
            <a:pPr algn="ctr" indent="0" marL="0">
              <a:buNone/>
            </a:pPr>
            <a:r>
              <a:rPr lang="en-US" sz="1100" dirty="0">
                <a:solidFill>
                  <a:srgbClr val="1F2430"/>
                </a:solidFill>
              </a:rPr>
              <a:t>Service</a:t>
            </a:r>
            <a:endParaRPr lang="en-US" sz="1100" dirty="0"/>
          </a:p>
        </p:txBody>
      </p:sp>
      <p:sp>
        <p:nvSpPr>
          <p:cNvPr id="46" name="Shape 43"/>
          <p:cNvSpPr/>
          <p:nvPr/>
        </p:nvSpPr>
        <p:spPr>
          <a:xfrm>
            <a:off x="5779008" y="3739896"/>
            <a:ext cx="164592" cy="0"/>
          </a:xfrm>
          <a:prstGeom prst="line">
            <a:avLst/>
          </a:prstGeom>
          <a:noFill/>
          <a:ln w="15875">
            <a:solidFill>
              <a:srgbClr val="1A237E"/>
            </a:solidFill>
            <a:prstDash val="solid"/>
            <a:tailEnd type="triangle"/>
          </a:ln>
        </p:spPr>
      </p:sp>
      <p:sp>
        <p:nvSpPr>
          <p:cNvPr id="47" name="Shape 44"/>
          <p:cNvSpPr/>
          <p:nvPr/>
        </p:nvSpPr>
        <p:spPr>
          <a:xfrm>
            <a:off x="5943600" y="3456432"/>
            <a:ext cx="1207008" cy="566928"/>
          </a:xfrm>
          <a:prstGeom prst="roundRect">
            <a:avLst>
              <a:gd name="adj" fmla="val 9677"/>
            </a:avLst>
          </a:prstGeom>
          <a:solidFill>
            <a:srgbClr val="E3F2FD"/>
          </a:solidFill>
          <a:ln w="12700">
            <a:solidFill>
              <a:srgbClr val="1565C0"/>
            </a:solidFill>
            <a:prstDash val="solid"/>
          </a:ln>
        </p:spPr>
      </p:sp>
      <p:sp>
        <p:nvSpPr>
          <p:cNvPr id="48" name="Text 45"/>
          <p:cNvSpPr txBox="1"/>
          <p:nvPr/>
        </p:nvSpPr>
        <p:spPr>
          <a:xfrm>
            <a:off x="6007608" y="3456432"/>
            <a:ext cx="1078992" cy="566928"/>
          </a:xfrm>
          <a:prstGeom prst="rect">
            <a:avLst/>
          </a:prstGeom>
          <a:noFill/>
          <a:ln/>
        </p:spPr>
        <p:txBody>
          <a:bodyPr wrap="square" lIns="0" tIns="0" rIns="0" bIns="0" rtlCol="0" anchor="ctr"/>
          <a:lstStyle/>
          <a:p>
            <a:pPr algn="ctr" indent="0" marL="0">
              <a:buNone/>
            </a:pPr>
            <a:r>
              <a:rPr lang="en-US" sz="1100" dirty="0">
                <a:solidFill>
                  <a:srgbClr val="1F2430"/>
                </a:solidFill>
              </a:rPr>
              <a:t>Late door after 9:30</a:t>
            </a:r>
            <a:endParaRPr lang="en-US" sz="1100" dirty="0"/>
          </a:p>
        </p:txBody>
      </p:sp>
      <p:sp>
        <p:nvSpPr>
          <p:cNvPr id="49" name="Shape 46"/>
          <p:cNvSpPr/>
          <p:nvPr/>
        </p:nvSpPr>
        <p:spPr>
          <a:xfrm>
            <a:off x="7150608" y="3739896"/>
            <a:ext cx="164592" cy="0"/>
          </a:xfrm>
          <a:prstGeom prst="line">
            <a:avLst/>
          </a:prstGeom>
          <a:noFill/>
          <a:ln w="15875">
            <a:solidFill>
              <a:srgbClr val="1A237E"/>
            </a:solidFill>
            <a:prstDash val="solid"/>
            <a:tailEnd type="triangle"/>
          </a:ln>
        </p:spPr>
      </p:sp>
      <p:sp>
        <p:nvSpPr>
          <p:cNvPr id="50" name="Shape 47"/>
          <p:cNvSpPr/>
          <p:nvPr/>
        </p:nvSpPr>
        <p:spPr>
          <a:xfrm>
            <a:off x="7315200" y="3456432"/>
            <a:ext cx="1207008" cy="566928"/>
          </a:xfrm>
          <a:prstGeom prst="roundRect">
            <a:avLst>
              <a:gd name="adj" fmla="val 9677"/>
            </a:avLst>
          </a:prstGeom>
          <a:solidFill>
            <a:srgbClr val="FDECEA"/>
          </a:solidFill>
          <a:ln w="12700">
            <a:solidFill>
              <a:srgbClr val="C62828"/>
            </a:solidFill>
            <a:prstDash val="solid"/>
          </a:ln>
        </p:spPr>
      </p:sp>
      <p:sp>
        <p:nvSpPr>
          <p:cNvPr id="51" name="Text 48"/>
          <p:cNvSpPr txBox="1"/>
          <p:nvPr/>
        </p:nvSpPr>
        <p:spPr>
          <a:xfrm>
            <a:off x="7379208" y="3456432"/>
            <a:ext cx="1078992" cy="566928"/>
          </a:xfrm>
          <a:prstGeom prst="rect">
            <a:avLst/>
          </a:prstGeom>
          <a:noFill/>
          <a:ln/>
        </p:spPr>
        <p:txBody>
          <a:bodyPr wrap="square" lIns="0" tIns="0" rIns="0" bIns="0" rtlCol="0" anchor="ctr"/>
          <a:lstStyle/>
          <a:p>
            <a:pPr algn="ctr" indent="0" marL="0">
              <a:buNone/>
            </a:pPr>
            <a:r>
              <a:rPr lang="en-US" sz="1100" dirty="0">
                <a:solidFill>
                  <a:srgbClr val="1F2430"/>
                </a:solidFill>
              </a:rPr>
              <a:t>The bin</a:t>
            </a:r>
            <a:endParaRPr lang="en-US" sz="1100" dirty="0"/>
          </a:p>
        </p:txBody>
      </p:sp>
      <p:sp>
        <p:nvSpPr>
          <p:cNvPr id="52" name="Shape 49"/>
          <p:cNvSpPr/>
          <p:nvPr/>
        </p:nvSpPr>
        <p:spPr>
          <a:xfrm flipH="1">
            <a:off x="4343400" y="4315968"/>
            <a:ext cx="3703320" cy="0"/>
          </a:xfrm>
          <a:prstGeom prst="line">
            <a:avLst/>
          </a:prstGeom>
          <a:noFill/>
          <a:ln w="31750">
            <a:solidFill>
              <a:srgbClr val="C62828"/>
            </a:solidFill>
            <a:prstDash val="dash"/>
          </a:ln>
        </p:spPr>
      </p:sp>
      <p:sp>
        <p:nvSpPr>
          <p:cNvPr id="53" name="Shape 50"/>
          <p:cNvSpPr/>
          <p:nvPr/>
        </p:nvSpPr>
        <p:spPr>
          <a:xfrm flipH="1">
            <a:off x="1097280" y="4315968"/>
            <a:ext cx="3703320" cy="0"/>
          </a:xfrm>
          <a:prstGeom prst="line">
            <a:avLst/>
          </a:prstGeom>
          <a:noFill/>
          <a:ln w="31750">
            <a:solidFill>
              <a:srgbClr val="C62828"/>
            </a:solidFill>
            <a:prstDash val="dash"/>
            <a:tailEnd type="triangle"/>
          </a:ln>
        </p:spPr>
      </p:sp>
      <p:sp>
        <p:nvSpPr>
          <p:cNvPr id="54" name="Shape 51"/>
          <p:cNvSpPr/>
          <p:nvPr/>
        </p:nvSpPr>
        <p:spPr>
          <a:xfrm>
            <a:off x="4416552" y="4160520"/>
            <a:ext cx="310896" cy="310896"/>
          </a:xfrm>
          <a:prstGeom prst="ellipse">
            <a:avLst/>
          </a:prstGeom>
          <a:solidFill>
            <a:srgbClr val="C62828"/>
          </a:solidFill>
          <a:ln/>
        </p:spPr>
      </p:sp>
      <p:pic>
        <p:nvPicPr>
          <p:cNvPr id="55" name="Image 1" descr="LinkOff">    </p:cNvPr>
          <p:cNvPicPr>
            <a:picLocks noChangeAspect="1"/>
          </p:cNvPicPr>
          <p:nvPr/>
        </p:nvPicPr>
        <p:blipFill>
          <a:blip r:embed="rId2"/>
          <a:stretch>
            <a:fillRect/>
          </a:stretch>
        </p:blipFill>
        <p:spPr>
          <a:xfrm>
            <a:off x="4478731" y="4222699"/>
            <a:ext cx="186538" cy="186538"/>
          </a:xfrm>
          <a:prstGeom prst="rect">
            <a:avLst/>
          </a:prstGeom>
        </p:spPr>
      </p:pic>
      <p:sp>
        <p:nvSpPr>
          <p:cNvPr id="56" name="Text 52"/>
          <p:cNvSpPr txBox="1"/>
          <p:nvPr/>
        </p:nvSpPr>
        <p:spPr>
          <a:xfrm>
            <a:off x="3749040" y="4535424"/>
            <a:ext cx="1645920" cy="219456"/>
          </a:xfrm>
          <a:prstGeom prst="rect">
            <a:avLst/>
          </a:prstGeom>
          <a:noFill/>
          <a:ln/>
        </p:spPr>
        <p:txBody>
          <a:bodyPr wrap="square" lIns="0" tIns="0" rIns="0" bIns="0" rtlCol="0" anchor="t"/>
          <a:lstStyle/>
          <a:p>
            <a:pPr algn="ctr" indent="0" marL="0">
              <a:buNone/>
            </a:pPr>
            <a:r>
              <a:rPr lang="en-US" sz="1100" b="1" dirty="0">
                <a:solidFill>
                  <a:srgbClr val="C62828"/>
                </a:solidFill>
              </a:rPr>
              <a:t>no record carries the day’s outcome forward</a:t>
            </a:r>
            <a:endParaRPr lang="en-US" sz="1100" dirty="0"/>
          </a:p>
        </p:txBody>
      </p:sp>
      <p:sp>
        <p:nvSpPr>
          <p:cNvPr id="57" name="Text 53"/>
          <p:cNvSpPr txBox="1"/>
          <p:nvPr/>
        </p:nvSpPr>
        <p:spPr>
          <a:xfrm>
            <a:off x="5486400" y="3035808"/>
            <a:ext cx="3200400" cy="310896"/>
          </a:xfrm>
          <a:prstGeom prst="rect">
            <a:avLst/>
          </a:prstGeom>
          <a:noFill/>
          <a:ln/>
        </p:spPr>
        <p:txBody>
          <a:bodyPr wrap="square" lIns="0" tIns="0" rIns="0" bIns="0" rtlCol="0" anchor="t"/>
          <a:lstStyle/>
          <a:p>
            <a:pPr algn="l" indent="0" marL="0">
              <a:buNone/>
            </a:pPr>
            <a:r>
              <a:rPr lang="en-US" sz="1100" i="1" dirty="0">
                <a:solidFill>
                  <a:srgbClr val="616161"/>
                </a:solidFill>
              </a:rPr>
              <a:t>All of Kadamba’s checks come before any sign of turnout.</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Each caterer is traced as its own system</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Shape 13"/>
          <p:cNvSpPr/>
          <p:nvPr/>
        </p:nvSpPr>
        <p:spPr>
          <a:xfrm>
            <a:off x="6839712" y="109728"/>
            <a:ext cx="91440" cy="91440"/>
          </a:xfrm>
          <a:prstGeom prst="ellipse">
            <a:avLst/>
          </a:prstGeom>
          <a:ln w="9525">
            <a:solidFill>
              <a:srgbClr val="1A237E"/>
            </a:solidFill>
            <a:prstDash val="solid"/>
          </a:ln>
        </p:spPr>
      </p:sp>
      <p:sp>
        <p:nvSpPr>
          <p:cNvPr id="16" name="Shape 14"/>
          <p:cNvSpPr/>
          <p:nvPr/>
        </p:nvSpPr>
        <p:spPr>
          <a:xfrm>
            <a:off x="6986016" y="109728"/>
            <a:ext cx="91440" cy="91440"/>
          </a:xfrm>
          <a:prstGeom prst="ellipse">
            <a:avLst/>
          </a:prstGeom>
          <a:ln w="9525">
            <a:solidFill>
              <a:srgbClr val="1A237E"/>
            </a:solidFill>
            <a:prstDash val="solid"/>
          </a:ln>
        </p:spPr>
      </p:sp>
      <p:sp>
        <p:nvSpPr>
          <p:cNvPr id="17" name="Shape 15"/>
          <p:cNvSpPr/>
          <p:nvPr/>
        </p:nvSpPr>
        <p:spPr>
          <a:xfrm>
            <a:off x="7132320" y="109728"/>
            <a:ext cx="91440" cy="91440"/>
          </a:xfrm>
          <a:prstGeom prst="ellipse">
            <a:avLst/>
          </a:prstGeom>
          <a:ln w="9525">
            <a:solidFill>
              <a:srgbClr val="1A237E"/>
            </a:solidFill>
            <a:prstDash val="solid"/>
          </a:ln>
        </p:spPr>
      </p:sp>
      <p:sp>
        <p:nvSpPr>
          <p:cNvPr id="18" name="Shape 16"/>
          <p:cNvSpPr/>
          <p:nvPr/>
        </p:nvSpPr>
        <p:spPr>
          <a:xfrm>
            <a:off x="7278624" y="109728"/>
            <a:ext cx="91440" cy="91440"/>
          </a:xfrm>
          <a:prstGeom prst="ellipse">
            <a:avLst/>
          </a:prstGeom>
          <a:ln w="9525">
            <a:solidFill>
              <a:srgbClr val="1A237E"/>
            </a:solidFill>
            <a:prstDash val="solid"/>
          </a:ln>
        </p:spPr>
      </p:sp>
      <p:sp>
        <p:nvSpPr>
          <p:cNvPr id="19" name="Shape 17"/>
          <p:cNvSpPr/>
          <p:nvPr/>
        </p:nvSpPr>
        <p:spPr>
          <a:xfrm>
            <a:off x="7424928" y="109728"/>
            <a:ext cx="91440" cy="91440"/>
          </a:xfrm>
          <a:prstGeom prst="ellipse">
            <a:avLst/>
          </a:prstGeom>
          <a:ln w="9525">
            <a:solidFill>
              <a:srgbClr val="1A237E"/>
            </a:solidFill>
            <a:prstDash val="solid"/>
          </a:ln>
        </p:spPr>
      </p:sp>
      <p:sp>
        <p:nvSpPr>
          <p:cNvPr id="20" name="Shape 18"/>
          <p:cNvSpPr/>
          <p:nvPr/>
        </p:nvSpPr>
        <p:spPr>
          <a:xfrm>
            <a:off x="7571232" y="109728"/>
            <a:ext cx="91440" cy="91440"/>
          </a:xfrm>
          <a:prstGeom prst="ellipse">
            <a:avLst/>
          </a:prstGeom>
          <a:solidFill>
            <a:srgbClr val="1A237E"/>
          </a:solidFill>
          <a:ln w="9525">
            <a:solidFill>
              <a:srgbClr val="1A237E"/>
            </a:solidFill>
            <a:prstDash val="solid"/>
          </a:ln>
        </p:spPr>
      </p:sp>
      <p:sp>
        <p:nvSpPr>
          <p:cNvPr id="21" name="Shape 19"/>
          <p:cNvSpPr/>
          <p:nvPr/>
        </p:nvSpPr>
        <p:spPr>
          <a:xfrm>
            <a:off x="7717536" y="109728"/>
            <a:ext cx="91440" cy="91440"/>
          </a:xfrm>
          <a:prstGeom prst="ellipse">
            <a:avLst/>
          </a:prstGeom>
          <a:ln w="9525">
            <a:solidFill>
              <a:srgbClr val="1A237E"/>
            </a:solidFill>
            <a:prstDash val="solid"/>
          </a:ln>
        </p:spPr>
      </p:sp>
      <p:sp>
        <p:nvSpPr>
          <p:cNvPr id="22" name="Shape 20"/>
          <p:cNvSpPr/>
          <p:nvPr/>
        </p:nvSpPr>
        <p:spPr>
          <a:xfrm>
            <a:off x="7863840" y="109728"/>
            <a:ext cx="91440" cy="91440"/>
          </a:xfrm>
          <a:prstGeom prst="ellipse">
            <a:avLst/>
          </a:prstGeom>
          <a:ln w="9525">
            <a:solidFill>
              <a:srgbClr val="1A237E"/>
            </a:solidFill>
            <a:prstDash val="solid"/>
          </a:ln>
        </p:spPr>
      </p:sp>
      <p:sp>
        <p:nvSpPr>
          <p:cNvPr id="23" name="Shape 21"/>
          <p:cNvSpPr/>
          <p:nvPr/>
        </p:nvSpPr>
        <p:spPr>
          <a:xfrm>
            <a:off x="8010144" y="109728"/>
            <a:ext cx="91440" cy="91440"/>
          </a:xfrm>
          <a:prstGeom prst="ellipse">
            <a:avLst/>
          </a:prstGeom>
          <a:ln w="9525">
            <a:solidFill>
              <a:srgbClr val="1A237E"/>
            </a:solidFill>
            <a:prstDash val="solid"/>
          </a:ln>
        </p:spPr>
      </p:sp>
      <p:sp>
        <p:nvSpPr>
          <p:cNvPr id="24" name="Shape 22"/>
          <p:cNvSpPr/>
          <p:nvPr/>
        </p:nvSpPr>
        <p:spPr>
          <a:xfrm>
            <a:off x="8156448" y="109728"/>
            <a:ext cx="91440" cy="91440"/>
          </a:xfrm>
          <a:prstGeom prst="ellipse">
            <a:avLst/>
          </a:prstGeom>
          <a:ln w="9525">
            <a:solidFill>
              <a:srgbClr val="1A237E"/>
            </a:solidFill>
            <a:prstDash val="solid"/>
          </a:ln>
        </p:spPr>
      </p:sp>
      <p:sp>
        <p:nvSpPr>
          <p:cNvPr id="25" name="Shape 23"/>
          <p:cNvSpPr/>
          <p:nvPr/>
        </p:nvSpPr>
        <p:spPr>
          <a:xfrm>
            <a:off x="8302752" y="109728"/>
            <a:ext cx="91440" cy="91440"/>
          </a:xfrm>
          <a:prstGeom prst="ellipse">
            <a:avLst/>
          </a:prstGeom>
          <a:ln w="9525">
            <a:solidFill>
              <a:srgbClr val="1A237E"/>
            </a:solidFill>
            <a:prstDash val="solid"/>
          </a:ln>
        </p:spPr>
      </p:sp>
      <p:sp>
        <p:nvSpPr>
          <p:cNvPr id="26" name="Shape 24"/>
          <p:cNvSpPr/>
          <p:nvPr/>
        </p:nvSpPr>
        <p:spPr>
          <a:xfrm>
            <a:off x="8449056" y="109728"/>
            <a:ext cx="91440" cy="91440"/>
          </a:xfrm>
          <a:prstGeom prst="ellipse">
            <a:avLst/>
          </a:prstGeom>
          <a:ln w="9525">
            <a:solidFill>
              <a:srgbClr val="1A237E"/>
            </a:solidFill>
            <a:prstDash val="solid"/>
          </a:ln>
        </p:spPr>
      </p:sp>
      <p:sp>
        <p:nvSpPr>
          <p:cNvPr id="27" name="Shape 25"/>
          <p:cNvSpPr/>
          <p:nvPr/>
        </p:nvSpPr>
        <p:spPr>
          <a:xfrm>
            <a:off x="8595360" y="109728"/>
            <a:ext cx="91440" cy="91440"/>
          </a:xfrm>
          <a:prstGeom prst="ellipse">
            <a:avLst/>
          </a:prstGeom>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6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Trace each operator from registration to bin as a separate system</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6</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One generic vendor in the map and a single combined swimlane</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Three firms run three forecasting regimes; merging hides them</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Three partial pictures on different evidence instead of one clean map</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The first version's vendor findings were overturned by the visits</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In April 62.9 per cent of Kadamba's breakfast registrations were never scanned</a:t>
            </a:r>
            <a:endParaRPr lang="en-US" sz="2400" dirty="0"/>
          </a:p>
        </p:txBody>
      </p:sp>
      <p:sp>
        <p:nvSpPr>
          <p:cNvPr id="3" name="Shape 1"/>
          <p:cNvSpPr/>
          <p:nvPr/>
        </p:nvSpPr>
        <p:spPr>
          <a:xfrm>
            <a:off x="457200" y="4864608"/>
            <a:ext cx="100584" cy="100584"/>
          </a:xfrm>
          <a:prstGeom prst="ellipse">
            <a:avLst/>
          </a:prstGeom>
          <a:solidFill>
            <a:srgbClr val="FFFFFF"/>
          </a:solidFill>
          <a:ln/>
        </p:spPr>
      </p:sp>
      <p:sp>
        <p:nvSpPr>
          <p:cNvPr id="4" name="Shape 2"/>
          <p:cNvSpPr/>
          <p:nvPr/>
        </p:nvSpPr>
        <p:spPr>
          <a:xfrm>
            <a:off x="640080" y="4864608"/>
            <a:ext cx="100584" cy="100584"/>
          </a:xfrm>
          <a:prstGeom prst="ellipse">
            <a:avLst/>
          </a:prstGeom>
          <a:solidFill>
            <a:srgbClr val="FFFFFF"/>
          </a:solidFill>
          <a:ln/>
        </p:spPr>
      </p:sp>
      <p:sp>
        <p:nvSpPr>
          <p:cNvPr id="5" name="Shape 3"/>
          <p:cNvSpPr/>
          <p:nvPr/>
        </p:nvSpPr>
        <p:spPr>
          <a:xfrm>
            <a:off x="800100" y="4841748"/>
            <a:ext cx="146304" cy="146304"/>
          </a:xfrm>
          <a:prstGeom prst="ellipse">
            <a:avLst/>
          </a:prstGeom>
          <a:solidFill>
            <a:srgbClr val="FFFFFF"/>
          </a:solidFill>
          <a:ln/>
        </p:spPr>
      </p:sp>
      <p:sp>
        <p:nvSpPr>
          <p:cNvPr id="6" name="Shape 4"/>
          <p:cNvSpPr/>
          <p:nvPr/>
        </p:nvSpPr>
        <p:spPr>
          <a:xfrm>
            <a:off x="763524" y="4805172"/>
            <a:ext cx="219456" cy="219456"/>
          </a:xfrm>
          <a:prstGeom prst="ellipse">
            <a:avLst/>
          </a:prstGeom>
          <a:ln w="9525">
            <a:solidFill>
              <a:srgbClr val="FFFFFF"/>
            </a:solidFill>
            <a:prstDash val="solid"/>
          </a:ln>
        </p:spPr>
      </p:sp>
      <p:sp>
        <p:nvSpPr>
          <p:cNvPr id="7" name="Shape 5"/>
          <p:cNvSpPr/>
          <p:nvPr/>
        </p:nvSpPr>
        <p:spPr>
          <a:xfrm>
            <a:off x="1005840" y="4864608"/>
            <a:ext cx="100584" cy="100584"/>
          </a:xfrm>
          <a:prstGeom prst="ellipse">
            <a:avLst/>
          </a:prstGeom>
          <a:ln w="9525">
            <a:solidFill>
              <a:srgbClr val="6B74A8"/>
            </a:solidFill>
            <a:prstDash val="solid"/>
          </a:ln>
        </p:spPr>
      </p:sp>
      <p:sp>
        <p:nvSpPr>
          <p:cNvPr id="8" name="Shape 6"/>
          <p:cNvSpPr/>
          <p:nvPr/>
        </p:nvSpPr>
        <p:spPr>
          <a:xfrm>
            <a:off x="1188720" y="4864608"/>
            <a:ext cx="100584" cy="100584"/>
          </a:xfrm>
          <a:prstGeom prst="ellipse">
            <a:avLst/>
          </a:prstGeom>
          <a:ln w="9525">
            <a:solidFill>
              <a:srgbClr val="6B74A8"/>
            </a:solidFill>
            <a:prstDash val="solid"/>
          </a:ln>
        </p:spPr>
      </p:sp>
      <p:sp>
        <p:nvSpPr>
          <p:cNvPr id="9" name="Shape 7"/>
          <p:cNvSpPr/>
          <p:nvPr/>
        </p:nvSpPr>
        <p:spPr>
          <a:xfrm>
            <a:off x="1371600" y="4864608"/>
            <a:ext cx="100584" cy="100584"/>
          </a:xfrm>
          <a:prstGeom prst="ellipse">
            <a:avLst/>
          </a:prstGeom>
          <a:ln w="9525">
            <a:solidFill>
              <a:srgbClr val="6B74A8"/>
            </a:solidFill>
            <a:prstDash val="solid"/>
          </a:ln>
        </p:spPr>
      </p:sp>
      <p:sp>
        <p:nvSpPr>
          <p:cNvPr id="10" name="Shape 8"/>
          <p:cNvSpPr/>
          <p:nvPr/>
        </p:nvSpPr>
        <p:spPr>
          <a:xfrm>
            <a:off x="1554480" y="4864608"/>
            <a:ext cx="100584" cy="100584"/>
          </a:xfrm>
          <a:prstGeom prst="ellipse">
            <a:avLst/>
          </a:prstGeom>
          <a:ln w="9525">
            <a:solidFill>
              <a:srgbClr val="6B74A8"/>
            </a:solidFill>
            <a:prstDash val="solid"/>
          </a:ln>
        </p:spPr>
      </p:sp>
      <p:sp>
        <p:nvSpPr>
          <p:cNvPr id="11" name="Shape 9"/>
          <p:cNvSpPr/>
          <p:nvPr/>
        </p:nvSpPr>
        <p:spPr>
          <a:xfrm>
            <a:off x="1737360" y="4864608"/>
            <a:ext cx="100584" cy="100584"/>
          </a:xfrm>
          <a:prstGeom prst="ellipse">
            <a:avLst/>
          </a:prstGeom>
          <a:ln w="9525">
            <a:solidFill>
              <a:srgbClr val="6B74A8"/>
            </a:solidFill>
            <a:prstDash val="solid"/>
          </a:ln>
        </p:spPr>
      </p:sp>
      <p:sp>
        <p:nvSpPr>
          <p:cNvPr id="12" name="Shape 10"/>
          <p:cNvSpPr/>
          <p:nvPr/>
        </p:nvSpPr>
        <p:spPr>
          <a:xfrm>
            <a:off x="1920240" y="4864608"/>
            <a:ext cx="100584" cy="100584"/>
          </a:xfrm>
          <a:prstGeom prst="ellipse">
            <a:avLst/>
          </a:prstGeom>
          <a:ln w="9525">
            <a:solidFill>
              <a:srgbClr val="6B74A8"/>
            </a:solidFill>
            <a:prstDash val="solid"/>
          </a:ln>
        </p:spPr>
      </p:sp>
      <p:sp>
        <p:nvSpPr>
          <p:cNvPr id="13" name="Shape 11"/>
          <p:cNvSpPr/>
          <p:nvPr/>
        </p:nvSpPr>
        <p:spPr>
          <a:xfrm>
            <a:off x="2103120" y="4864608"/>
            <a:ext cx="100584" cy="100584"/>
          </a:xfrm>
          <a:prstGeom prst="ellipse">
            <a:avLst/>
          </a:prstGeom>
          <a:ln w="9525">
            <a:solidFill>
              <a:srgbClr val="6B74A8"/>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B8BFE6"/>
                </a:solidFill>
              </a:rPr>
              <a:t>3 Understanding the system</a:t>
            </a:r>
            <a:endParaRPr lang="en-US" sz="1000" dirty="0"/>
          </a:p>
        </p:txBody>
      </p:sp>
      <p:graphicFrame>
        <p:nvGraphicFramePr>
          <p:cNvPr id="15" name="Chart 0" descr=""/>
          <p:cNvGraphicFramePr/>
          <p:nvPr/>
        </p:nvGraphicFramePr>
        <p:xfrm>
          <a:off x="457200" y="1188720"/>
          <a:ext cx="3566160" cy="338328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1234440" y="2331720"/>
            <a:ext cx="201168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62.9%</a:t>
            </a:r>
            <a:endParaRPr lang="en-US" sz="4000" dirty="0"/>
          </a:p>
        </p:txBody>
      </p:sp>
      <p:sp>
        <p:nvSpPr>
          <p:cNvPr id="17" name="Text 14"/>
          <p:cNvSpPr txBox="1"/>
          <p:nvPr/>
        </p:nvSpPr>
        <p:spPr>
          <a:xfrm>
            <a:off x="1234440" y="3017520"/>
            <a:ext cx="2011680" cy="274320"/>
          </a:xfrm>
          <a:prstGeom prst="rect">
            <a:avLst/>
          </a:prstGeom>
          <a:noFill/>
          <a:ln/>
        </p:spPr>
        <p:txBody>
          <a:bodyPr wrap="square" lIns="0" tIns="0" rIns="0" bIns="0" rtlCol="0" anchor="t"/>
          <a:lstStyle/>
          <a:p>
            <a:pPr algn="ctr" indent="0" marL="0">
              <a:buNone/>
            </a:pPr>
            <a:r>
              <a:rPr lang="en-US" sz="1400" dirty="0">
                <a:solidFill>
                  <a:srgbClr val="B8BFE6"/>
                </a:solidFill>
              </a:rPr>
              <a:t>never scanned</a:t>
            </a:r>
            <a:endParaRPr lang="en-US" sz="1400" dirty="0"/>
          </a:p>
        </p:txBody>
      </p:sp>
      <p:sp>
        <p:nvSpPr>
          <p:cNvPr id="18" name="Text 15"/>
          <p:cNvSpPr txBox="1"/>
          <p:nvPr/>
        </p:nvSpPr>
        <p:spPr>
          <a:xfrm>
            <a:off x="4572000" y="1463040"/>
            <a:ext cx="2377440" cy="6400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32,162</a:t>
            </a:r>
            <a:endParaRPr lang="en-US" sz="4000" dirty="0"/>
          </a:p>
        </p:txBody>
      </p:sp>
      <p:sp>
        <p:nvSpPr>
          <p:cNvPr id="19" name="Text 16"/>
          <p:cNvSpPr txBox="1"/>
          <p:nvPr/>
        </p:nvSpPr>
        <p:spPr>
          <a:xfrm>
            <a:off x="6949440" y="1463040"/>
            <a:ext cx="1828800" cy="640080"/>
          </a:xfrm>
          <a:prstGeom prst="rect">
            <a:avLst/>
          </a:prstGeom>
          <a:noFill/>
          <a:ln/>
        </p:spPr>
        <p:txBody>
          <a:bodyPr wrap="square" lIns="0" tIns="0" rIns="0" bIns="0" rtlCol="0" anchor="ctr"/>
          <a:lstStyle/>
          <a:p>
            <a:pPr algn="l" indent="0" marL="0">
              <a:buNone/>
            </a:pPr>
            <a:r>
              <a:rPr lang="en-US" sz="1600" dirty="0">
                <a:solidFill>
                  <a:srgbClr val="B8BFE6"/>
                </a:solidFill>
              </a:rPr>
              <a:t>registrations</a:t>
            </a:r>
            <a:endParaRPr lang="en-US" sz="1600" dirty="0"/>
          </a:p>
        </p:txBody>
      </p:sp>
      <p:sp>
        <p:nvSpPr>
          <p:cNvPr id="20" name="Text 17"/>
          <p:cNvSpPr txBox="1"/>
          <p:nvPr/>
        </p:nvSpPr>
        <p:spPr>
          <a:xfrm>
            <a:off x="4572000" y="2423160"/>
            <a:ext cx="2377440" cy="6400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11,941</a:t>
            </a:r>
            <a:endParaRPr lang="en-US" sz="4000" dirty="0"/>
          </a:p>
        </p:txBody>
      </p:sp>
      <p:sp>
        <p:nvSpPr>
          <p:cNvPr id="21" name="Text 18"/>
          <p:cNvSpPr txBox="1"/>
          <p:nvPr/>
        </p:nvSpPr>
        <p:spPr>
          <a:xfrm>
            <a:off x="6949440" y="2423160"/>
            <a:ext cx="1828800" cy="640080"/>
          </a:xfrm>
          <a:prstGeom prst="rect">
            <a:avLst/>
          </a:prstGeom>
          <a:noFill/>
          <a:ln/>
        </p:spPr>
        <p:txBody>
          <a:bodyPr wrap="square" lIns="0" tIns="0" rIns="0" bIns="0" rtlCol="0" anchor="ctr"/>
          <a:lstStyle/>
          <a:p>
            <a:pPr algn="l" indent="0" marL="0">
              <a:buNone/>
            </a:pPr>
            <a:r>
              <a:rPr lang="en-US" sz="1600" dirty="0">
                <a:solidFill>
                  <a:srgbClr val="B8BFE6"/>
                </a:solidFill>
              </a:rPr>
              <a:t>scans</a:t>
            </a:r>
            <a:endParaRPr lang="en-US" sz="1600" dirty="0"/>
          </a:p>
        </p:txBody>
      </p:sp>
      <p:sp>
        <p:nvSpPr>
          <p:cNvPr id="22" name="Text 19"/>
          <p:cNvSpPr txBox="1"/>
          <p:nvPr/>
        </p:nvSpPr>
        <p:spPr>
          <a:xfrm>
            <a:off x="4572000" y="3383280"/>
            <a:ext cx="2377440" cy="640080"/>
          </a:xfrm>
          <a:prstGeom prst="rect">
            <a:avLst/>
          </a:prstGeom>
          <a:noFill/>
          <a:ln/>
        </p:spPr>
        <p:txBody>
          <a:bodyPr wrap="square" lIns="0" tIns="0" rIns="0" bIns="0" rtlCol="0" anchor="ctr"/>
          <a:lstStyle/>
          <a:p>
            <a:pPr algn="l" indent="0" marL="0">
              <a:buNone/>
            </a:pPr>
            <a:r>
              <a:rPr lang="en-US" sz="4000" b="1" dirty="0">
                <a:solidFill>
                  <a:srgbClr val="C62828"/>
                </a:solidFill>
                <a:latin typeface="Cambria" pitchFamily="34" charset="0"/>
                <a:ea typeface="Cambria" pitchFamily="34" charset="-122"/>
                <a:cs typeface="Cambria" pitchFamily="34" charset="-120"/>
              </a:rPr>
              <a:t>20,221</a:t>
            </a:r>
            <a:endParaRPr lang="en-US" sz="4000" dirty="0"/>
          </a:p>
        </p:txBody>
      </p:sp>
      <p:sp>
        <p:nvSpPr>
          <p:cNvPr id="23" name="Text 20"/>
          <p:cNvSpPr txBox="1"/>
          <p:nvPr/>
        </p:nvSpPr>
        <p:spPr>
          <a:xfrm>
            <a:off x="6949440" y="3383280"/>
            <a:ext cx="1828800" cy="640080"/>
          </a:xfrm>
          <a:prstGeom prst="rect">
            <a:avLst/>
          </a:prstGeom>
          <a:noFill/>
          <a:ln/>
        </p:spPr>
        <p:txBody>
          <a:bodyPr wrap="square" lIns="0" tIns="0" rIns="0" bIns="0" rtlCol="0" anchor="ctr"/>
          <a:lstStyle/>
          <a:p>
            <a:pPr algn="l" indent="0" marL="0">
              <a:buNone/>
            </a:pPr>
            <a:r>
              <a:rPr lang="en-US" sz="1600" dirty="0">
                <a:solidFill>
                  <a:srgbClr val="B8BFE6"/>
                </a:solidFill>
              </a:rPr>
              <a:t>billed and not eaten</a:t>
            </a:r>
            <a:endParaRPr lang="en-US" sz="1600" dirty="0"/>
          </a:p>
        </p:txBody>
      </p:sp>
      <p:sp>
        <p:nvSpPr>
          <p:cNvPr id="24" name="Text 21"/>
          <p:cNvSpPr txBox="1"/>
          <p:nvPr/>
        </p:nvSpPr>
        <p:spPr>
          <a:xfrm>
            <a:off x="4572000" y="4389120"/>
            <a:ext cx="4114800" cy="228600"/>
          </a:xfrm>
          <a:prstGeom prst="rect">
            <a:avLst/>
          </a:prstGeom>
          <a:noFill/>
          <a:ln/>
        </p:spPr>
        <p:txBody>
          <a:bodyPr wrap="square" lIns="0" tIns="0" rIns="0" bIns="0" rtlCol="0" anchor="t"/>
          <a:lstStyle/>
          <a:p>
            <a:pPr algn="l" indent="0" marL="0">
              <a:buNone/>
            </a:pPr>
            <a:r>
              <a:rPr lang="en-US" sz="1200" dirty="0">
                <a:solidFill>
                  <a:srgbClr val="B8BFE6"/>
                </a:solidFill>
              </a:rPr>
              <a:t>Kadamba, 1 to 30 April 2026</a:t>
            </a:r>
            <a:endParaRPr lang="en-US" sz="1200" dirty="0"/>
          </a:p>
        </p:txBody>
      </p:sp>
      <p:sp>
        <p:nvSpPr>
          <p:cNvPr id="25" name="Shape 22"/>
          <p:cNvSpPr/>
          <p:nvPr/>
        </p:nvSpPr>
        <p:spPr>
          <a:xfrm>
            <a:off x="7758684" y="1097280"/>
            <a:ext cx="928116" cy="201168"/>
          </a:xfrm>
          <a:prstGeom prst="roundRect">
            <a:avLst>
              <a:gd name="adj" fmla="val 22727"/>
            </a:avLst>
          </a:prstGeom>
          <a:solidFill>
            <a:srgbClr val="2E7D32"/>
          </a:solidFill>
          <a:ln/>
        </p:spPr>
      </p:sp>
      <p:sp>
        <p:nvSpPr>
          <p:cNvPr id="26" name="Text 23"/>
          <p:cNvSpPr txBox="1"/>
          <p:nvPr/>
        </p:nvSpPr>
        <p:spPr>
          <a:xfrm>
            <a:off x="7758684" y="1097280"/>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Registrations stay flat all week while turnout falls from 42.1 per cent to 27.3 on Sundays</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graphicFrame>
        <p:nvGraphicFramePr>
          <p:cNvPr id="15" name="Chart 0" descr=""/>
          <p:cNvGraphicFramePr/>
          <p:nvPr/>
        </p:nvGraphicFramePr>
        <p:xfrm>
          <a:off x="457200" y="1280160"/>
          <a:ext cx="5577840" cy="32004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457200" y="4498848"/>
            <a:ext cx="3657600" cy="201168"/>
          </a:xfrm>
          <a:prstGeom prst="rect">
            <a:avLst/>
          </a:prstGeom>
          <a:noFill/>
          <a:ln/>
        </p:spPr>
        <p:txBody>
          <a:bodyPr wrap="square" lIns="0" tIns="0" rIns="0" bIns="0" rtlCol="0" anchor="t"/>
          <a:lstStyle/>
          <a:p>
            <a:pPr algn="l" indent="0" marL="0">
              <a:buNone/>
            </a:pPr>
            <a:r>
              <a:rPr lang="en-US" sz="1000" dirty="0">
                <a:solidFill>
                  <a:srgbClr val="616161"/>
                </a:solidFill>
              </a:rPr>
              <a:t>Share of registrations eaten, April 2026</a:t>
            </a:r>
            <a:endParaRPr lang="en-US" sz="1000" dirty="0"/>
          </a:p>
        </p:txBody>
      </p:sp>
      <p:sp>
        <p:nvSpPr>
          <p:cNvPr id="17" name="Shape 14"/>
          <p:cNvSpPr/>
          <p:nvPr/>
        </p:nvSpPr>
        <p:spPr>
          <a:xfrm>
            <a:off x="6309360" y="1325880"/>
            <a:ext cx="2377440" cy="914400"/>
          </a:xfrm>
          <a:prstGeom prst="roundRect">
            <a:avLst>
              <a:gd name="adj" fmla="val 8000"/>
            </a:avLst>
          </a:prstGeom>
          <a:solidFill>
            <a:srgbClr val="E3F2FD"/>
          </a:solidFill>
          <a:ln w="12700">
            <a:solidFill>
              <a:srgbClr val="1565C0"/>
            </a:solidFill>
            <a:prstDash val="solid"/>
          </a:ln>
        </p:spPr>
      </p:sp>
      <p:sp>
        <p:nvSpPr>
          <p:cNvPr id="18" name="Text 15"/>
          <p:cNvSpPr txBox="1"/>
          <p:nvPr/>
        </p:nvSpPr>
        <p:spPr>
          <a:xfrm>
            <a:off x="6400800" y="1325880"/>
            <a:ext cx="2194560" cy="914400"/>
          </a:xfrm>
          <a:prstGeom prst="rect">
            <a:avLst/>
          </a:prstGeom>
          <a:noFill/>
          <a:ln/>
        </p:spPr>
        <p:txBody>
          <a:bodyPr wrap="square" lIns="0" tIns="0" rIns="0" bIns="0" rtlCol="0" anchor="ctr"/>
          <a:lstStyle/>
          <a:p>
            <a:pPr algn="l" indent="0" marL="0">
              <a:buNone/>
            </a:pPr>
            <a:r>
              <a:rPr lang="en-US" sz="1200" dirty="0">
                <a:solidFill>
                  <a:srgbClr val="1F2430"/>
                </a:solidFill>
              </a:rPr>
              <a:t>Registrations stay flat: about 1,070 a day, Sundays included</a:t>
            </a:r>
            <a:endParaRPr lang="en-US" sz="1200" dirty="0"/>
          </a:p>
        </p:txBody>
      </p:sp>
      <p:sp>
        <p:nvSpPr>
          <p:cNvPr id="19" name="Shape 16"/>
          <p:cNvSpPr/>
          <p:nvPr/>
        </p:nvSpPr>
        <p:spPr>
          <a:xfrm>
            <a:off x="6309360" y="2423160"/>
            <a:ext cx="1143000" cy="457200"/>
          </a:xfrm>
          <a:prstGeom prst="roundRect">
            <a:avLst>
              <a:gd name="adj" fmla="val 12000"/>
            </a:avLst>
          </a:prstGeom>
          <a:solidFill>
            <a:srgbClr val="E3F2FD"/>
          </a:solidFill>
          <a:ln w="12700">
            <a:solidFill>
              <a:srgbClr val="1565C0"/>
            </a:solidFill>
            <a:prstDash val="solid"/>
          </a:ln>
        </p:spPr>
      </p:sp>
      <p:sp>
        <p:nvSpPr>
          <p:cNvPr id="20" name="Text 17"/>
          <p:cNvSpPr txBox="1"/>
          <p:nvPr/>
        </p:nvSpPr>
        <p:spPr>
          <a:xfrm>
            <a:off x="6373368" y="2423160"/>
            <a:ext cx="1014984" cy="457200"/>
          </a:xfrm>
          <a:prstGeom prst="rect">
            <a:avLst/>
          </a:prstGeom>
          <a:noFill/>
          <a:ln/>
        </p:spPr>
        <p:txBody>
          <a:bodyPr wrap="square" lIns="0" tIns="0" rIns="0" bIns="0" rtlCol="0" anchor="ctr"/>
          <a:lstStyle/>
          <a:p>
            <a:pPr algn="ctr" indent="0" marL="0">
              <a:buNone/>
            </a:pPr>
            <a:r>
              <a:rPr lang="en-US" sz="1200" b="1" dirty="0">
                <a:solidFill>
                  <a:srgbClr val="1F2430"/>
                </a:solidFill>
              </a:rPr>
              <a:t>Weekdays 39.3%</a:t>
            </a:r>
            <a:endParaRPr lang="en-US" sz="1200" dirty="0"/>
          </a:p>
        </p:txBody>
      </p:sp>
      <p:sp>
        <p:nvSpPr>
          <p:cNvPr id="21" name="Shape 18"/>
          <p:cNvSpPr/>
          <p:nvPr/>
        </p:nvSpPr>
        <p:spPr>
          <a:xfrm>
            <a:off x="7543800" y="2423160"/>
            <a:ext cx="1143000" cy="457200"/>
          </a:xfrm>
          <a:prstGeom prst="roundRect">
            <a:avLst>
              <a:gd name="adj" fmla="val 12000"/>
            </a:avLst>
          </a:prstGeom>
          <a:solidFill>
            <a:srgbClr val="FDECEA"/>
          </a:solidFill>
          <a:ln w="12700">
            <a:solidFill>
              <a:srgbClr val="C62828"/>
            </a:solidFill>
            <a:prstDash val="solid"/>
          </a:ln>
        </p:spPr>
      </p:sp>
      <p:sp>
        <p:nvSpPr>
          <p:cNvPr id="22" name="Text 19"/>
          <p:cNvSpPr txBox="1"/>
          <p:nvPr/>
        </p:nvSpPr>
        <p:spPr>
          <a:xfrm>
            <a:off x="7607808" y="2423160"/>
            <a:ext cx="1014984" cy="457200"/>
          </a:xfrm>
          <a:prstGeom prst="rect">
            <a:avLst/>
          </a:prstGeom>
          <a:noFill/>
          <a:ln/>
        </p:spPr>
        <p:txBody>
          <a:bodyPr wrap="square" lIns="0" tIns="0" rIns="0" bIns="0" rtlCol="0" anchor="ctr"/>
          <a:lstStyle/>
          <a:p>
            <a:pPr algn="ctr" indent="0" marL="0">
              <a:buNone/>
            </a:pPr>
            <a:r>
              <a:rPr lang="en-US" sz="1200" b="1" dirty="0">
                <a:solidFill>
                  <a:srgbClr val="1F2430"/>
                </a:solidFill>
              </a:rPr>
              <a:t>Weekends 31.1%</a:t>
            </a:r>
            <a:endParaRPr lang="en-US" sz="1200" dirty="0"/>
          </a:p>
        </p:txBody>
      </p:sp>
      <p:sp>
        <p:nvSpPr>
          <p:cNvPr id="23" name="Text 20"/>
          <p:cNvSpPr txBox="1"/>
          <p:nvPr/>
        </p:nvSpPr>
        <p:spPr>
          <a:xfrm>
            <a:off x="6309360" y="3200400"/>
            <a:ext cx="2377440" cy="731520"/>
          </a:xfrm>
          <a:prstGeom prst="rect">
            <a:avLst/>
          </a:prstGeom>
          <a:noFill/>
          <a:ln/>
        </p:spPr>
        <p:txBody>
          <a:bodyPr wrap="square" lIns="0" tIns="0" rIns="0" bIns="0" rtlCol="0" anchor="t"/>
          <a:lstStyle/>
          <a:p>
            <a:pPr algn="l" indent="0" marL="0">
              <a:buNone/>
            </a:pPr>
            <a:r>
              <a:rPr lang="en-US" sz="1400" dirty="0">
                <a:solidFill>
                  <a:srgbClr val="1F2430"/>
                </a:solidFill>
              </a:rPr>
              <a:t>The three lowest days of the month were all Sundays.</a:t>
            </a:r>
            <a:endParaRPr lang="en-US" sz="1400" dirty="0"/>
          </a:p>
        </p:txBody>
      </p:sp>
      <p:sp>
        <p:nvSpPr>
          <p:cNvPr id="24" name="Shape 21"/>
          <p:cNvSpPr/>
          <p:nvPr/>
        </p:nvSpPr>
        <p:spPr>
          <a:xfrm>
            <a:off x="7758684" y="1033272"/>
            <a:ext cx="928116" cy="201168"/>
          </a:xfrm>
          <a:prstGeom prst="roundRect">
            <a:avLst>
              <a:gd name="adj" fmla="val 22727"/>
            </a:avLst>
          </a:prstGeom>
          <a:solidFill>
            <a:srgbClr val="2E7D32"/>
          </a:solidFill>
          <a:ln/>
        </p:spPr>
      </p:sp>
      <p:sp>
        <p:nvSpPr>
          <p:cNvPr id="25" name="Text 22"/>
          <p:cNvSpPr txBox="1"/>
          <p:nvPr/>
        </p:nvSpPr>
        <p:spPr>
          <a:xfrm>
            <a:off x="7758684"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Arrivals build to one crest in the quarter hour before the doors close</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graphicFrame>
        <p:nvGraphicFramePr>
          <p:cNvPr id="15" name="Chart 0" descr=""/>
          <p:cNvGraphicFramePr/>
          <p:nvPr/>
        </p:nvGraphicFramePr>
        <p:xfrm>
          <a:off x="457200" y="1280160"/>
          <a:ext cx="5394960" cy="32004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457200" y="4498848"/>
            <a:ext cx="5394960" cy="201168"/>
          </a:xfrm>
          <a:prstGeom prst="rect">
            <a:avLst/>
          </a:prstGeom>
          <a:noFill/>
          <a:ln/>
        </p:spPr>
        <p:txBody>
          <a:bodyPr wrap="square" lIns="0" tIns="0" rIns="0" bIns="0" rtlCol="0" anchor="t"/>
          <a:lstStyle/>
          <a:p>
            <a:pPr algn="l" indent="0" marL="0">
              <a:buNone/>
            </a:pPr>
            <a:r>
              <a:rPr lang="en-US" sz="1000" dirty="0">
                <a:solidFill>
                  <a:srgbClr val="616161"/>
                </a:solidFill>
              </a:rPr>
              <a:t>Share of all 11,941 scans in each fifteen-minute slot, April 2026</a:t>
            </a:r>
            <a:endParaRPr lang="en-US" sz="1000" dirty="0"/>
          </a:p>
        </p:txBody>
      </p:sp>
      <p:sp>
        <p:nvSpPr>
          <p:cNvPr id="17" name="Text 14"/>
          <p:cNvSpPr txBox="1"/>
          <p:nvPr/>
        </p:nvSpPr>
        <p:spPr>
          <a:xfrm>
            <a:off x="6126480" y="1280160"/>
            <a:ext cx="2560320" cy="822960"/>
          </a:xfrm>
          <a:prstGeom prst="rect">
            <a:avLst/>
          </a:prstGeom>
          <a:noFill/>
          <a:ln/>
        </p:spPr>
        <p:txBody>
          <a:bodyPr wrap="square" lIns="0" tIns="0" rIns="0" bIns="0" rtlCol="0" anchor="ctr"/>
          <a:lstStyle/>
          <a:p>
            <a:pPr algn="l" indent="0" marL="0">
              <a:buNone/>
            </a:pPr>
            <a:r>
              <a:rPr lang="en-US" sz="5600" b="1" dirty="0">
                <a:solidFill>
                  <a:srgbClr val="C62828"/>
                </a:solidFill>
                <a:latin typeface="Cambria" pitchFamily="34" charset="0"/>
                <a:ea typeface="Cambria" pitchFamily="34" charset="-122"/>
                <a:cs typeface="Cambria" pitchFamily="34" charset="-120"/>
              </a:rPr>
              <a:t>26.5%</a:t>
            </a:r>
            <a:endParaRPr lang="en-US" sz="5600" dirty="0"/>
          </a:p>
        </p:txBody>
      </p:sp>
      <p:sp>
        <p:nvSpPr>
          <p:cNvPr id="18" name="Text 15"/>
          <p:cNvSpPr txBox="1"/>
          <p:nvPr/>
        </p:nvSpPr>
        <p:spPr>
          <a:xfrm>
            <a:off x="6126480" y="2103120"/>
            <a:ext cx="2560320" cy="457200"/>
          </a:xfrm>
          <a:prstGeom prst="rect">
            <a:avLst/>
          </a:prstGeom>
          <a:noFill/>
          <a:ln/>
        </p:spPr>
        <p:txBody>
          <a:bodyPr wrap="square" lIns="0" tIns="0" rIns="0" bIns="0" rtlCol="0" anchor="t"/>
          <a:lstStyle/>
          <a:p>
            <a:pPr algn="l" indent="0" marL="0">
              <a:buNone/>
            </a:pPr>
            <a:r>
              <a:rPr lang="en-US" sz="1400" dirty="0">
                <a:solidFill>
                  <a:srgbClr val="1F2430"/>
                </a:solidFill>
              </a:rPr>
              <a:t>of scans between 9:15 and 9:29</a:t>
            </a:r>
            <a:endParaRPr lang="en-US" sz="1400" dirty="0"/>
          </a:p>
        </p:txBody>
      </p:sp>
      <p:sp>
        <p:nvSpPr>
          <p:cNvPr id="19" name="Text 16"/>
          <p:cNvSpPr txBox="1"/>
          <p:nvPr/>
        </p:nvSpPr>
        <p:spPr>
          <a:xfrm>
            <a:off x="6126480" y="2651760"/>
            <a:ext cx="2560320" cy="548640"/>
          </a:xfrm>
          <a:prstGeom prst="rect">
            <a:avLst/>
          </a:prstGeom>
          <a:noFill/>
          <a:ln/>
        </p:spPr>
        <p:txBody>
          <a:bodyPr wrap="square" lIns="0" tIns="0" rIns="0" bIns="0" rtlCol="0" anchor="t"/>
          <a:lstStyle/>
          <a:p>
            <a:pPr algn="l" indent="0" marL="0">
              <a:buNone/>
            </a:pPr>
            <a:r>
              <a:rPr lang="en-US" sz="1300" dirty="0">
                <a:solidFill>
                  <a:srgbClr val="616161"/>
                </a:solidFill>
              </a:rPr>
              <a:t>About 9 a minute at 9:29. 9.2% after 9:30.</a:t>
            </a:r>
            <a:endParaRPr lang="en-US" sz="1300" dirty="0"/>
          </a:p>
        </p:txBody>
      </p:sp>
      <p:sp>
        <p:nvSpPr>
          <p:cNvPr id="20" name="Shape 17"/>
          <p:cNvSpPr/>
          <p:nvPr/>
        </p:nvSpPr>
        <p:spPr>
          <a:xfrm>
            <a:off x="6126480" y="3337560"/>
            <a:ext cx="2560320" cy="960120"/>
          </a:xfrm>
          <a:prstGeom prst="roundRect">
            <a:avLst>
              <a:gd name="adj" fmla="val 7619"/>
            </a:avLst>
          </a:prstGeom>
          <a:solidFill>
            <a:srgbClr val="FFF8E1"/>
          </a:solidFill>
          <a:ln w="12700">
            <a:solidFill>
              <a:srgbClr val="F57F17"/>
            </a:solidFill>
            <a:prstDash val="solid"/>
          </a:ln>
        </p:spPr>
      </p:sp>
      <p:sp>
        <p:nvSpPr>
          <p:cNvPr id="21" name="Text 18"/>
          <p:cNvSpPr txBox="1"/>
          <p:nvPr/>
        </p:nvSpPr>
        <p:spPr>
          <a:xfrm>
            <a:off x="6217920" y="3337560"/>
            <a:ext cx="2377440" cy="960120"/>
          </a:xfrm>
          <a:prstGeom prst="rect">
            <a:avLst/>
          </a:prstGeom>
          <a:noFill/>
          <a:ln/>
        </p:spPr>
        <p:txBody>
          <a:bodyPr wrap="square" lIns="0" tIns="0" rIns="0" bIns="0" rtlCol="0" anchor="ctr"/>
          <a:lstStyle/>
          <a:p>
            <a:pPr algn="l" indent="0" marL="0">
              <a:buNone/>
            </a:pPr>
            <a:r>
              <a:rPr lang="en-US" sz="1150" dirty="0">
                <a:solidFill>
                  <a:srgbClr val="1F2430"/>
                </a:solidFill>
              </a:rPr>
              <a:t>The operator reckons about 150 in the last ten minutes; the records show about 79</a:t>
            </a:r>
            <a:endParaRPr lang="en-US" sz="1150" dirty="0"/>
          </a:p>
        </p:txBody>
      </p:sp>
      <p:sp>
        <p:nvSpPr>
          <p:cNvPr id="22" name="Shape 19"/>
          <p:cNvSpPr/>
          <p:nvPr/>
        </p:nvSpPr>
        <p:spPr>
          <a:xfrm>
            <a:off x="7758684" y="1033272"/>
            <a:ext cx="928116" cy="201168"/>
          </a:xfrm>
          <a:prstGeom prst="roundRect">
            <a:avLst>
              <a:gd name="adj" fmla="val 22727"/>
            </a:avLst>
          </a:prstGeom>
          <a:solidFill>
            <a:srgbClr val="2E7D32"/>
          </a:solidFill>
          <a:ln/>
        </p:spPr>
      </p:sp>
      <p:sp>
        <p:nvSpPr>
          <p:cNvPr id="23" name="Text 20"/>
          <p:cNvSpPr txBox="1"/>
          <p:nvPr/>
        </p:nvSpPr>
        <p:spPr>
          <a:xfrm>
            <a:off x="7758684"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24" name="Text 21"/>
          <p:cNvSpPr txBox="1"/>
          <p:nvPr/>
        </p:nvSpPr>
        <p:spPr>
          <a:xfrm>
            <a:off x="6126480" y="4389120"/>
            <a:ext cx="2560320" cy="365760"/>
          </a:xfrm>
          <a:prstGeom prst="rect">
            <a:avLst/>
          </a:prstGeom>
          <a:noFill/>
          <a:ln/>
        </p:spPr>
        <p:txBody>
          <a:bodyPr wrap="square" lIns="0" tIns="0" rIns="0" bIns="0" rtlCol="0" anchor="t"/>
          <a:lstStyle/>
          <a:p>
            <a:pPr algn="l" indent="0" marL="0">
              <a:buNone/>
            </a:pPr>
            <a:r>
              <a:rPr lang="en-US" sz="1050" i="1" dirty="0">
                <a:solidFill>
                  <a:srgbClr val="616161"/>
                </a:solidFill>
              </a:rPr>
              <a:t>Kitchens start two hours before the first student arrives.</a:t>
            </a:r>
            <a:endParaRPr lang="en-US" sz="10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Under the same rules Yuktāhār's lunch is used at 56 to 89 per cent and its breakfast at about 28</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Shape 13"/>
          <p:cNvSpPr/>
          <p:nvPr/>
        </p:nvSpPr>
        <p:spPr>
          <a:xfrm>
            <a:off x="2560320" y="1600200"/>
            <a:ext cx="0" cy="2011680"/>
          </a:xfrm>
          <a:prstGeom prst="line">
            <a:avLst/>
          </a:prstGeom>
          <a:noFill/>
          <a:ln w="9525">
            <a:solidFill>
              <a:srgbClr val="DDDDDD"/>
            </a:solidFill>
            <a:prstDash val="solid"/>
          </a:ln>
        </p:spPr>
      </p:sp>
      <p:sp>
        <p:nvSpPr>
          <p:cNvPr id="16" name="Text 14"/>
          <p:cNvSpPr txBox="1"/>
          <p:nvPr/>
        </p:nvSpPr>
        <p:spPr>
          <a:xfrm>
            <a:off x="2286000" y="3639312"/>
            <a:ext cx="548640" cy="182880"/>
          </a:xfrm>
          <a:prstGeom prst="rect">
            <a:avLst/>
          </a:prstGeom>
          <a:noFill/>
          <a:ln/>
        </p:spPr>
        <p:txBody>
          <a:bodyPr wrap="square" lIns="0" tIns="0" rIns="0" bIns="0" rtlCol="0" anchor="t"/>
          <a:lstStyle/>
          <a:p>
            <a:pPr algn="ctr" indent="0" marL="0">
              <a:buNone/>
            </a:pPr>
            <a:r>
              <a:rPr lang="en-US" sz="1000" dirty="0">
                <a:solidFill>
                  <a:srgbClr val="616161"/>
                </a:solidFill>
              </a:rPr>
              <a:t>0%</a:t>
            </a:r>
            <a:endParaRPr lang="en-US" sz="1000" dirty="0"/>
          </a:p>
        </p:txBody>
      </p:sp>
      <p:sp>
        <p:nvSpPr>
          <p:cNvPr id="17" name="Shape 15"/>
          <p:cNvSpPr/>
          <p:nvPr/>
        </p:nvSpPr>
        <p:spPr>
          <a:xfrm>
            <a:off x="4069080" y="1600200"/>
            <a:ext cx="0" cy="2011680"/>
          </a:xfrm>
          <a:prstGeom prst="line">
            <a:avLst/>
          </a:prstGeom>
          <a:noFill/>
          <a:ln w="9525">
            <a:solidFill>
              <a:srgbClr val="DDDDDD"/>
            </a:solidFill>
            <a:prstDash val="solid"/>
          </a:ln>
        </p:spPr>
      </p:sp>
      <p:sp>
        <p:nvSpPr>
          <p:cNvPr id="18" name="Text 16"/>
          <p:cNvSpPr txBox="1"/>
          <p:nvPr/>
        </p:nvSpPr>
        <p:spPr>
          <a:xfrm>
            <a:off x="3794760" y="3639312"/>
            <a:ext cx="548640" cy="182880"/>
          </a:xfrm>
          <a:prstGeom prst="rect">
            <a:avLst/>
          </a:prstGeom>
          <a:noFill/>
          <a:ln/>
        </p:spPr>
        <p:txBody>
          <a:bodyPr wrap="square" lIns="0" tIns="0" rIns="0" bIns="0" rtlCol="0" anchor="t"/>
          <a:lstStyle/>
          <a:p>
            <a:pPr algn="ctr" indent="0" marL="0">
              <a:buNone/>
            </a:pPr>
            <a:r>
              <a:rPr lang="en-US" sz="1000" dirty="0">
                <a:solidFill>
                  <a:srgbClr val="616161"/>
                </a:solidFill>
              </a:rPr>
              <a:t>25%</a:t>
            </a:r>
            <a:endParaRPr lang="en-US" sz="1000" dirty="0"/>
          </a:p>
        </p:txBody>
      </p:sp>
      <p:sp>
        <p:nvSpPr>
          <p:cNvPr id="19" name="Shape 17"/>
          <p:cNvSpPr/>
          <p:nvPr/>
        </p:nvSpPr>
        <p:spPr>
          <a:xfrm>
            <a:off x="5577840" y="1600200"/>
            <a:ext cx="0" cy="2011680"/>
          </a:xfrm>
          <a:prstGeom prst="line">
            <a:avLst/>
          </a:prstGeom>
          <a:noFill/>
          <a:ln w="9525">
            <a:solidFill>
              <a:srgbClr val="DDDDDD"/>
            </a:solidFill>
            <a:prstDash val="solid"/>
          </a:ln>
        </p:spPr>
      </p:sp>
      <p:sp>
        <p:nvSpPr>
          <p:cNvPr id="20" name="Text 18"/>
          <p:cNvSpPr txBox="1"/>
          <p:nvPr/>
        </p:nvSpPr>
        <p:spPr>
          <a:xfrm>
            <a:off x="5303520" y="3639312"/>
            <a:ext cx="548640" cy="182880"/>
          </a:xfrm>
          <a:prstGeom prst="rect">
            <a:avLst/>
          </a:prstGeom>
          <a:noFill/>
          <a:ln/>
        </p:spPr>
        <p:txBody>
          <a:bodyPr wrap="square" lIns="0" tIns="0" rIns="0" bIns="0" rtlCol="0" anchor="t"/>
          <a:lstStyle/>
          <a:p>
            <a:pPr algn="ctr" indent="0" marL="0">
              <a:buNone/>
            </a:pPr>
            <a:r>
              <a:rPr lang="en-US" sz="1000" dirty="0">
                <a:solidFill>
                  <a:srgbClr val="616161"/>
                </a:solidFill>
              </a:rPr>
              <a:t>50%</a:t>
            </a:r>
            <a:endParaRPr lang="en-US" sz="1000" dirty="0"/>
          </a:p>
        </p:txBody>
      </p:sp>
      <p:sp>
        <p:nvSpPr>
          <p:cNvPr id="21" name="Shape 19"/>
          <p:cNvSpPr/>
          <p:nvPr/>
        </p:nvSpPr>
        <p:spPr>
          <a:xfrm>
            <a:off x="7086600" y="1600200"/>
            <a:ext cx="0" cy="2011680"/>
          </a:xfrm>
          <a:prstGeom prst="line">
            <a:avLst/>
          </a:prstGeom>
          <a:noFill/>
          <a:ln w="9525">
            <a:solidFill>
              <a:srgbClr val="DDDDDD"/>
            </a:solidFill>
            <a:prstDash val="solid"/>
          </a:ln>
        </p:spPr>
      </p:sp>
      <p:sp>
        <p:nvSpPr>
          <p:cNvPr id="22" name="Text 20"/>
          <p:cNvSpPr txBox="1"/>
          <p:nvPr/>
        </p:nvSpPr>
        <p:spPr>
          <a:xfrm>
            <a:off x="6812280" y="3639312"/>
            <a:ext cx="548640" cy="182880"/>
          </a:xfrm>
          <a:prstGeom prst="rect">
            <a:avLst/>
          </a:prstGeom>
          <a:noFill/>
          <a:ln/>
        </p:spPr>
        <p:txBody>
          <a:bodyPr wrap="square" lIns="0" tIns="0" rIns="0" bIns="0" rtlCol="0" anchor="t"/>
          <a:lstStyle/>
          <a:p>
            <a:pPr algn="ctr" indent="0" marL="0">
              <a:buNone/>
            </a:pPr>
            <a:r>
              <a:rPr lang="en-US" sz="1000" dirty="0">
                <a:solidFill>
                  <a:srgbClr val="616161"/>
                </a:solidFill>
              </a:rPr>
              <a:t>75%</a:t>
            </a:r>
            <a:endParaRPr lang="en-US" sz="1000" dirty="0"/>
          </a:p>
        </p:txBody>
      </p:sp>
      <p:sp>
        <p:nvSpPr>
          <p:cNvPr id="23" name="Shape 21"/>
          <p:cNvSpPr/>
          <p:nvPr/>
        </p:nvSpPr>
        <p:spPr>
          <a:xfrm>
            <a:off x="8595360" y="1600200"/>
            <a:ext cx="0" cy="2011680"/>
          </a:xfrm>
          <a:prstGeom prst="line">
            <a:avLst/>
          </a:prstGeom>
          <a:noFill/>
          <a:ln w="9525">
            <a:solidFill>
              <a:srgbClr val="DDDDDD"/>
            </a:solidFill>
            <a:prstDash val="solid"/>
          </a:ln>
        </p:spPr>
      </p:sp>
      <p:sp>
        <p:nvSpPr>
          <p:cNvPr id="24" name="Text 22"/>
          <p:cNvSpPr txBox="1"/>
          <p:nvPr/>
        </p:nvSpPr>
        <p:spPr>
          <a:xfrm>
            <a:off x="8321040" y="3639312"/>
            <a:ext cx="548640" cy="182880"/>
          </a:xfrm>
          <a:prstGeom prst="rect">
            <a:avLst/>
          </a:prstGeom>
          <a:noFill/>
          <a:ln/>
        </p:spPr>
        <p:txBody>
          <a:bodyPr wrap="square" lIns="0" tIns="0" rIns="0" bIns="0" rtlCol="0" anchor="t"/>
          <a:lstStyle/>
          <a:p>
            <a:pPr algn="ctr" indent="0" marL="0">
              <a:buNone/>
            </a:pPr>
            <a:r>
              <a:rPr lang="en-US" sz="1000" dirty="0">
                <a:solidFill>
                  <a:srgbClr val="616161"/>
                </a:solidFill>
              </a:rPr>
              <a:t>100%</a:t>
            </a:r>
            <a:endParaRPr lang="en-US" sz="1000" dirty="0"/>
          </a:p>
        </p:txBody>
      </p:sp>
      <p:sp>
        <p:nvSpPr>
          <p:cNvPr id="25" name="Text 23"/>
          <p:cNvSpPr txBox="1"/>
          <p:nvPr/>
        </p:nvSpPr>
        <p:spPr>
          <a:xfrm>
            <a:off x="457200" y="1965960"/>
            <a:ext cx="2011680" cy="457200"/>
          </a:xfrm>
          <a:prstGeom prst="rect">
            <a:avLst/>
          </a:prstGeom>
          <a:noFill/>
          <a:ln/>
        </p:spPr>
        <p:txBody>
          <a:bodyPr wrap="square" lIns="0" tIns="0" rIns="0" bIns="0" rtlCol="0" anchor="ctr"/>
          <a:lstStyle/>
          <a:p>
            <a:pPr algn="l" indent="0" marL="0">
              <a:buNone/>
            </a:pPr>
            <a:r>
              <a:rPr lang="en-US" sz="1300" b="1" dirty="0">
                <a:solidFill>
                  <a:srgbClr val="1F2430"/>
                </a:solidFill>
              </a:rPr>
              <a:t>Breakfast, 1 to 20 September</a:t>
            </a:r>
            <a:endParaRPr lang="en-US" sz="1300" dirty="0"/>
          </a:p>
        </p:txBody>
      </p:sp>
      <p:sp>
        <p:nvSpPr>
          <p:cNvPr id="26" name="Shape 24"/>
          <p:cNvSpPr/>
          <p:nvPr/>
        </p:nvSpPr>
        <p:spPr>
          <a:xfrm>
            <a:off x="3628522" y="2011680"/>
            <a:ext cx="1357884" cy="457200"/>
          </a:xfrm>
          <a:prstGeom prst="roundRect">
            <a:avLst>
              <a:gd name="adj" fmla="val 10000"/>
            </a:avLst>
          </a:prstGeom>
          <a:solidFill>
            <a:srgbClr val="C62828"/>
          </a:solidFill>
          <a:ln/>
        </p:spPr>
      </p:sp>
      <p:sp>
        <p:nvSpPr>
          <p:cNvPr id="27" name="Shape 25"/>
          <p:cNvSpPr/>
          <p:nvPr/>
        </p:nvSpPr>
        <p:spPr>
          <a:xfrm>
            <a:off x="4103827" y="2093976"/>
            <a:ext cx="292608" cy="292608"/>
          </a:xfrm>
          <a:prstGeom prst="ellipse">
            <a:avLst/>
          </a:prstGeom>
          <a:solidFill>
            <a:srgbClr val="FFFFFF"/>
          </a:solidFill>
          <a:ln w="25400">
            <a:solidFill>
              <a:srgbClr val="C62828"/>
            </a:solidFill>
            <a:prstDash val="solid"/>
          </a:ln>
        </p:spPr>
      </p:sp>
      <p:sp>
        <p:nvSpPr>
          <p:cNvPr id="28" name="Text 26"/>
          <p:cNvSpPr txBox="1"/>
          <p:nvPr/>
        </p:nvSpPr>
        <p:spPr>
          <a:xfrm>
            <a:off x="3628522" y="2505456"/>
            <a:ext cx="2926080" cy="228600"/>
          </a:xfrm>
          <a:prstGeom prst="rect">
            <a:avLst/>
          </a:prstGeom>
          <a:noFill/>
          <a:ln/>
        </p:spPr>
        <p:txBody>
          <a:bodyPr wrap="square" lIns="0" tIns="0" rIns="0" bIns="0" rtlCol="0" anchor="t"/>
          <a:lstStyle/>
          <a:p>
            <a:pPr algn="l" indent="0" marL="0">
              <a:buNone/>
            </a:pPr>
            <a:r>
              <a:rPr lang="en-US" sz="1200" b="1" dirty="0">
                <a:solidFill>
                  <a:srgbClr val="C62828"/>
                </a:solidFill>
              </a:rPr>
              <a:t>range 17.7 to 40.2, mean about 28</a:t>
            </a:r>
            <a:endParaRPr lang="en-US" sz="1200" dirty="0"/>
          </a:p>
        </p:txBody>
      </p:sp>
      <p:sp>
        <p:nvSpPr>
          <p:cNvPr id="29" name="Text 27"/>
          <p:cNvSpPr txBox="1"/>
          <p:nvPr/>
        </p:nvSpPr>
        <p:spPr>
          <a:xfrm>
            <a:off x="457200" y="2743200"/>
            <a:ext cx="2011680" cy="457200"/>
          </a:xfrm>
          <a:prstGeom prst="rect">
            <a:avLst/>
          </a:prstGeom>
          <a:noFill/>
          <a:ln/>
        </p:spPr>
        <p:txBody>
          <a:bodyPr wrap="square" lIns="0" tIns="0" rIns="0" bIns="0" rtlCol="0" anchor="ctr"/>
          <a:lstStyle/>
          <a:p>
            <a:pPr algn="l" indent="0" marL="0">
              <a:buNone/>
            </a:pPr>
            <a:r>
              <a:rPr lang="en-US" sz="1300" b="1" dirty="0">
                <a:solidFill>
                  <a:srgbClr val="1F2430"/>
                </a:solidFill>
              </a:rPr>
              <a:t>Lunch</a:t>
            </a:r>
            <a:endParaRPr lang="en-US" sz="1300" dirty="0"/>
          </a:p>
        </p:txBody>
      </p:sp>
      <p:sp>
        <p:nvSpPr>
          <p:cNvPr id="30" name="Shape 28"/>
          <p:cNvSpPr/>
          <p:nvPr/>
        </p:nvSpPr>
        <p:spPr>
          <a:xfrm>
            <a:off x="5939942" y="2788920"/>
            <a:ext cx="1991563" cy="457200"/>
          </a:xfrm>
          <a:prstGeom prst="roundRect">
            <a:avLst>
              <a:gd name="adj" fmla="val 10000"/>
            </a:avLst>
          </a:prstGeom>
          <a:solidFill>
            <a:srgbClr val="2E7D32"/>
          </a:solidFill>
          <a:ln/>
        </p:spPr>
      </p:sp>
      <p:sp>
        <p:nvSpPr>
          <p:cNvPr id="31" name="Text 29"/>
          <p:cNvSpPr txBox="1"/>
          <p:nvPr/>
        </p:nvSpPr>
        <p:spPr>
          <a:xfrm>
            <a:off x="5939942" y="3282696"/>
            <a:ext cx="2926080" cy="228600"/>
          </a:xfrm>
          <a:prstGeom prst="rect">
            <a:avLst/>
          </a:prstGeom>
          <a:noFill/>
          <a:ln/>
        </p:spPr>
        <p:txBody>
          <a:bodyPr wrap="square" lIns="0" tIns="0" rIns="0" bIns="0" rtlCol="0" anchor="t"/>
          <a:lstStyle/>
          <a:p>
            <a:pPr algn="l" indent="0" marL="0">
              <a:buNone/>
            </a:pPr>
            <a:r>
              <a:rPr lang="en-US" sz="1200" b="1" dirty="0">
                <a:solidFill>
                  <a:srgbClr val="2E7D32"/>
                </a:solidFill>
              </a:rPr>
              <a:t>range 56 to 89</a:t>
            </a:r>
            <a:endParaRPr lang="en-US" sz="1200" dirty="0"/>
          </a:p>
        </p:txBody>
      </p:sp>
      <p:sp>
        <p:nvSpPr>
          <p:cNvPr id="32" name="Shape 30"/>
          <p:cNvSpPr/>
          <p:nvPr/>
        </p:nvSpPr>
        <p:spPr>
          <a:xfrm>
            <a:off x="5577840" y="1463040"/>
            <a:ext cx="0" cy="2148840"/>
          </a:xfrm>
          <a:prstGeom prst="line">
            <a:avLst/>
          </a:prstGeom>
          <a:noFill/>
          <a:ln w="31750">
            <a:solidFill>
              <a:srgbClr val="F57F17"/>
            </a:solidFill>
            <a:prstDash val="dash"/>
          </a:ln>
        </p:spPr>
      </p:sp>
      <p:sp>
        <p:nvSpPr>
          <p:cNvPr id="33" name="Text 31"/>
          <p:cNvSpPr txBox="1"/>
          <p:nvPr/>
        </p:nvSpPr>
        <p:spPr>
          <a:xfrm>
            <a:off x="4114800" y="1261872"/>
            <a:ext cx="2926080" cy="201168"/>
          </a:xfrm>
          <a:prstGeom prst="rect">
            <a:avLst/>
          </a:prstGeom>
          <a:noFill/>
          <a:ln/>
        </p:spPr>
        <p:txBody>
          <a:bodyPr wrap="square" lIns="0" tIns="0" rIns="0" bIns="0" rtlCol="0" anchor="t"/>
          <a:lstStyle/>
          <a:p>
            <a:pPr algn="ctr" indent="0" marL="0">
              <a:buNone/>
            </a:pPr>
            <a:r>
              <a:rPr lang="en-US" sz="1100" b="1" dirty="0">
                <a:solidFill>
                  <a:srgbClr val="8D4A00"/>
                </a:solidFill>
              </a:rPr>
              <a:t>the site head’s belief about breakfast: about 50</a:t>
            </a:r>
            <a:endParaRPr lang="en-US" sz="1100" dirty="0"/>
          </a:p>
        </p:txBody>
      </p:sp>
      <p:sp>
        <p:nvSpPr>
          <p:cNvPr id="34" name="Text 32"/>
          <p:cNvSpPr txBox="1"/>
          <p:nvPr/>
        </p:nvSpPr>
        <p:spPr>
          <a:xfrm>
            <a:off x="457200" y="4114800"/>
            <a:ext cx="7772400" cy="320040"/>
          </a:xfrm>
          <a:prstGeom prst="rect">
            <a:avLst/>
          </a:prstGeom>
          <a:noFill/>
          <a:ln/>
        </p:spPr>
        <p:txBody>
          <a:bodyPr wrap="square" lIns="0" tIns="0" rIns="0" bIns="0" rtlCol="0" anchor="t"/>
          <a:lstStyle/>
          <a:p>
            <a:pPr algn="l" indent="0" marL="0">
              <a:buNone/>
            </a:pPr>
            <a:r>
              <a:rPr lang="en-US" sz="1600" b="1" dirty="0">
                <a:solidFill>
                  <a:srgbClr val="1F2430"/>
                </a:solidFill>
              </a:rPr>
              <a:t>The site head believed about 50 per cent; his own register says about 28.</a:t>
            </a:r>
            <a:endParaRPr lang="en-US" sz="1600" dirty="0"/>
          </a:p>
        </p:txBody>
      </p:sp>
      <p:sp>
        <p:nvSpPr>
          <p:cNvPr id="35" name="Shape 33"/>
          <p:cNvSpPr/>
          <p:nvPr/>
        </p:nvSpPr>
        <p:spPr>
          <a:xfrm>
            <a:off x="7758684" y="1033272"/>
            <a:ext cx="928116" cy="201168"/>
          </a:xfrm>
          <a:prstGeom prst="roundRect">
            <a:avLst>
              <a:gd name="adj" fmla="val 22727"/>
            </a:avLst>
          </a:prstGeom>
          <a:solidFill>
            <a:srgbClr val="2E7D32"/>
          </a:solidFill>
          <a:ln/>
        </p:spPr>
      </p:sp>
      <p:sp>
        <p:nvSpPr>
          <p:cNvPr id="36" name="Text 34"/>
          <p:cNvSpPr txBox="1"/>
          <p:nvPr/>
        </p:nvSpPr>
        <p:spPr>
          <a:xfrm>
            <a:off x="7758684"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Kadamba cooks about 750 portions for about 398 eaters and still runs short at the close</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graphicFrame>
        <p:nvGraphicFramePr>
          <p:cNvPr id="15" name="Chart 0" descr=""/>
          <p:cNvGraphicFramePr/>
          <p:nvPr/>
        </p:nvGraphicFramePr>
        <p:xfrm>
          <a:off x="457200" y="1234440"/>
          <a:ext cx="4206240" cy="214884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4937760" y="1417320"/>
            <a:ext cx="3749040" cy="502920"/>
          </a:xfrm>
          <a:prstGeom prst="roundRect">
            <a:avLst>
              <a:gd name="adj" fmla="val 10909"/>
            </a:avLst>
          </a:prstGeom>
          <a:solidFill>
            <a:srgbClr val="FDECEA"/>
          </a:solidFill>
          <a:ln w="12700">
            <a:solidFill>
              <a:srgbClr val="C62828"/>
            </a:solidFill>
            <a:prstDash val="solid"/>
          </a:ln>
        </p:spPr>
      </p:sp>
      <p:sp>
        <p:nvSpPr>
          <p:cNvPr id="17" name="Text 14"/>
          <p:cNvSpPr txBox="1"/>
          <p:nvPr/>
        </p:nvSpPr>
        <p:spPr>
          <a:xfrm>
            <a:off x="5001768" y="1417320"/>
            <a:ext cx="3621024" cy="502920"/>
          </a:xfrm>
          <a:prstGeom prst="rect">
            <a:avLst/>
          </a:prstGeom>
          <a:noFill/>
          <a:ln/>
        </p:spPr>
        <p:txBody>
          <a:bodyPr wrap="square" lIns="0" tIns="0" rIns="0" bIns="0" rtlCol="0" anchor="ctr"/>
          <a:lstStyle/>
          <a:p>
            <a:pPr algn="ctr" indent="0" marL="0">
              <a:buNone/>
            </a:pPr>
            <a:r>
              <a:rPr lang="en-US" sz="1300" b="1" dirty="0">
                <a:solidFill>
                  <a:srgbClr val="1F2430"/>
                </a:solidFill>
              </a:rPr>
              <a:t>about 3 times what is eaten on a Sunday</a:t>
            </a:r>
            <a:endParaRPr lang="en-US" sz="1300" dirty="0"/>
          </a:p>
        </p:txBody>
      </p:sp>
      <p:sp>
        <p:nvSpPr>
          <p:cNvPr id="18" name="Shape 15"/>
          <p:cNvSpPr/>
          <p:nvPr/>
        </p:nvSpPr>
        <p:spPr>
          <a:xfrm>
            <a:off x="4937760" y="2103120"/>
            <a:ext cx="3749040" cy="1005840"/>
          </a:xfrm>
          <a:prstGeom prst="roundRect">
            <a:avLst>
              <a:gd name="adj" fmla="val 7273"/>
            </a:avLst>
          </a:prstGeom>
          <a:solidFill>
            <a:srgbClr val="FFF8E1"/>
          </a:solidFill>
          <a:ln w="12700">
            <a:solidFill>
              <a:srgbClr val="F57F17"/>
            </a:solidFill>
            <a:prstDash val="solid"/>
          </a:ln>
        </p:spPr>
      </p:sp>
      <p:sp>
        <p:nvSpPr>
          <p:cNvPr id="19" name="Shape 16"/>
          <p:cNvSpPr/>
          <p:nvPr/>
        </p:nvSpPr>
        <p:spPr>
          <a:xfrm>
            <a:off x="5097780" y="2400300"/>
            <a:ext cx="411480" cy="411480"/>
          </a:xfrm>
          <a:prstGeom prst="ellipse">
            <a:avLst/>
          </a:prstGeom>
          <a:solidFill>
            <a:srgbClr val="F57F17"/>
          </a:solidFill>
          <a:ln/>
        </p:spPr>
      </p:sp>
      <p:pic>
        <p:nvPicPr>
          <p:cNvPr id="20" name="Image 0" descr="Warning">    </p:cNvPr>
          <p:cNvPicPr>
            <a:picLocks noChangeAspect="1"/>
          </p:cNvPicPr>
          <p:nvPr/>
        </p:nvPicPr>
        <p:blipFill>
          <a:blip r:embed="rId2"/>
          <a:stretch>
            <a:fillRect/>
          </a:stretch>
        </p:blipFill>
        <p:spPr>
          <a:xfrm>
            <a:off x="5180076" y="2482596"/>
            <a:ext cx="246888" cy="246888"/>
          </a:xfrm>
          <a:prstGeom prst="rect">
            <a:avLst/>
          </a:prstGeom>
        </p:spPr>
      </p:pic>
      <p:sp>
        <p:nvSpPr>
          <p:cNvPr id="21" name="Text 17"/>
          <p:cNvSpPr txBox="1"/>
          <p:nvPr/>
        </p:nvSpPr>
        <p:spPr>
          <a:xfrm>
            <a:off x="5669280" y="2103120"/>
            <a:ext cx="2926080" cy="1005840"/>
          </a:xfrm>
          <a:prstGeom prst="rect">
            <a:avLst/>
          </a:prstGeom>
          <a:noFill/>
          <a:ln/>
        </p:spPr>
        <p:txBody>
          <a:bodyPr wrap="square" lIns="0" tIns="0" rIns="0" bIns="0" rtlCol="0" anchor="ctr"/>
          <a:lstStyle/>
          <a:p>
            <a:pPr algn="l" indent="0" marL="0">
              <a:buNone/>
            </a:pPr>
            <a:r>
              <a:rPr lang="en-US" sz="1400" dirty="0">
                <a:solidFill>
                  <a:srgbClr val="1F2430"/>
                </a:solidFill>
              </a:rPr>
              <a:t>Idli, puri and bhatura gone by about 9:20</a:t>
            </a:r>
            <a:endParaRPr lang="en-US" sz="1400" dirty="0"/>
          </a:p>
        </p:txBody>
      </p:sp>
      <p:sp>
        <p:nvSpPr>
          <p:cNvPr id="22" name="Text 18"/>
          <p:cNvSpPr txBox="1"/>
          <p:nvPr/>
        </p:nvSpPr>
        <p:spPr>
          <a:xfrm>
            <a:off x="457200" y="3474720"/>
            <a:ext cx="365760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WHAT IS FIXED, AND WHEN</a:t>
            </a:r>
            <a:endParaRPr lang="en-US" sz="1000" dirty="0"/>
          </a:p>
        </p:txBody>
      </p:sp>
      <p:sp>
        <p:nvSpPr>
          <p:cNvPr id="23" name="Shape 19"/>
          <p:cNvSpPr/>
          <p:nvPr/>
        </p:nvSpPr>
        <p:spPr>
          <a:xfrm>
            <a:off x="640080" y="3886200"/>
            <a:ext cx="7863840" cy="0"/>
          </a:xfrm>
          <a:prstGeom prst="line">
            <a:avLst/>
          </a:prstGeom>
          <a:noFill/>
          <a:ln w="25400">
            <a:solidFill>
              <a:srgbClr val="1A237E"/>
            </a:solidFill>
            <a:prstDash val="solid"/>
          </a:ln>
        </p:spPr>
      </p:sp>
      <p:sp>
        <p:nvSpPr>
          <p:cNvPr id="24" name="Shape 20"/>
          <p:cNvSpPr/>
          <p:nvPr/>
        </p:nvSpPr>
        <p:spPr>
          <a:xfrm>
            <a:off x="923544" y="3803904"/>
            <a:ext cx="164592" cy="164592"/>
          </a:xfrm>
          <a:prstGeom prst="ellipse">
            <a:avLst/>
          </a:prstGeom>
          <a:solidFill>
            <a:srgbClr val="1A237E"/>
          </a:solidFill>
          <a:ln/>
        </p:spPr>
      </p:sp>
      <p:sp>
        <p:nvSpPr>
          <p:cNvPr id="25" name="Text 21"/>
          <p:cNvSpPr txBox="1"/>
          <p:nvPr/>
        </p:nvSpPr>
        <p:spPr>
          <a:xfrm>
            <a:off x="365760" y="4005072"/>
            <a:ext cx="1828800" cy="201168"/>
          </a:xfrm>
          <a:prstGeom prst="rect">
            <a:avLst/>
          </a:prstGeom>
          <a:noFill/>
          <a:ln/>
        </p:spPr>
        <p:txBody>
          <a:bodyPr wrap="square" lIns="0" tIns="0" rIns="0" bIns="0" rtlCol="0" anchor="t"/>
          <a:lstStyle/>
          <a:p>
            <a:pPr algn="l" indent="0" marL="0">
              <a:buNone/>
            </a:pPr>
            <a:r>
              <a:rPr lang="en-US" sz="1100" b="1" dirty="0">
                <a:solidFill>
                  <a:srgbClr val="1A237E"/>
                </a:solidFill>
              </a:rPr>
              <a:t>About 2 weeks ahead</a:t>
            </a:r>
            <a:endParaRPr lang="en-US" sz="1100" dirty="0"/>
          </a:p>
        </p:txBody>
      </p:sp>
      <p:sp>
        <p:nvSpPr>
          <p:cNvPr id="26" name="Text 22"/>
          <p:cNvSpPr txBox="1"/>
          <p:nvPr/>
        </p:nvSpPr>
        <p:spPr>
          <a:xfrm>
            <a:off x="365760" y="4206240"/>
            <a:ext cx="1828800" cy="365760"/>
          </a:xfrm>
          <a:prstGeom prst="rect">
            <a:avLst/>
          </a:prstGeom>
          <a:noFill/>
          <a:ln/>
        </p:spPr>
        <p:txBody>
          <a:bodyPr wrap="square" lIns="0" tIns="0" rIns="0" bIns="0" rtlCol="0" anchor="t"/>
          <a:lstStyle/>
          <a:p>
            <a:pPr algn="l" indent="0" marL="0">
              <a:buNone/>
            </a:pPr>
            <a:r>
              <a:rPr lang="en-US" sz="1050" dirty="0">
                <a:solidFill>
                  <a:srgbClr val="616161"/>
                </a:solidFill>
              </a:rPr>
              <a:t>Yuktāhār sizes the dish</a:t>
            </a:r>
            <a:endParaRPr lang="en-US" sz="1050" dirty="0"/>
          </a:p>
        </p:txBody>
      </p:sp>
      <p:sp>
        <p:nvSpPr>
          <p:cNvPr id="27" name="Shape 23"/>
          <p:cNvSpPr/>
          <p:nvPr/>
        </p:nvSpPr>
        <p:spPr>
          <a:xfrm>
            <a:off x="2843784" y="3803904"/>
            <a:ext cx="164592" cy="164592"/>
          </a:xfrm>
          <a:prstGeom prst="ellipse">
            <a:avLst/>
          </a:prstGeom>
          <a:solidFill>
            <a:srgbClr val="1A237E"/>
          </a:solidFill>
          <a:ln/>
        </p:spPr>
      </p:sp>
      <p:sp>
        <p:nvSpPr>
          <p:cNvPr id="28" name="Text 24"/>
          <p:cNvSpPr txBox="1"/>
          <p:nvPr/>
        </p:nvSpPr>
        <p:spPr>
          <a:xfrm>
            <a:off x="2286000" y="4005072"/>
            <a:ext cx="1828800" cy="201168"/>
          </a:xfrm>
          <a:prstGeom prst="rect">
            <a:avLst/>
          </a:prstGeom>
          <a:noFill/>
          <a:ln/>
        </p:spPr>
        <p:txBody>
          <a:bodyPr wrap="square" lIns="0" tIns="0" rIns="0" bIns="0" rtlCol="0" anchor="t"/>
          <a:lstStyle/>
          <a:p>
            <a:pPr algn="l" indent="0" marL="0">
              <a:buNone/>
            </a:pPr>
            <a:r>
              <a:rPr lang="en-US" sz="1100" b="1" dirty="0">
                <a:solidFill>
                  <a:srgbClr val="1A237E"/>
                </a:solidFill>
              </a:rPr>
              <a:t>4 days ahead</a:t>
            </a:r>
            <a:endParaRPr lang="en-US" sz="1100" dirty="0"/>
          </a:p>
        </p:txBody>
      </p:sp>
      <p:sp>
        <p:nvSpPr>
          <p:cNvPr id="29" name="Text 25"/>
          <p:cNvSpPr txBox="1"/>
          <p:nvPr/>
        </p:nvSpPr>
        <p:spPr>
          <a:xfrm>
            <a:off x="2286000" y="4206240"/>
            <a:ext cx="1828800" cy="365760"/>
          </a:xfrm>
          <a:prstGeom prst="rect">
            <a:avLst/>
          </a:prstGeom>
          <a:noFill/>
          <a:ln/>
        </p:spPr>
        <p:txBody>
          <a:bodyPr wrap="square" lIns="0" tIns="0" rIns="0" bIns="0" rtlCol="0" anchor="t"/>
          <a:lstStyle/>
          <a:p>
            <a:pPr algn="l" indent="0" marL="0">
              <a:buNone/>
            </a:pPr>
            <a:r>
              <a:rPr lang="en-US" sz="1050" dirty="0">
                <a:solidFill>
                  <a:srgbClr val="616161"/>
                </a:solidFill>
              </a:rPr>
              <a:t>Cancellation closes</a:t>
            </a:r>
            <a:endParaRPr lang="en-US" sz="1050" dirty="0"/>
          </a:p>
        </p:txBody>
      </p:sp>
      <p:sp>
        <p:nvSpPr>
          <p:cNvPr id="30" name="Shape 26"/>
          <p:cNvSpPr/>
          <p:nvPr/>
        </p:nvSpPr>
        <p:spPr>
          <a:xfrm>
            <a:off x="4764024" y="3803904"/>
            <a:ext cx="164592" cy="164592"/>
          </a:xfrm>
          <a:prstGeom prst="ellipse">
            <a:avLst/>
          </a:prstGeom>
          <a:solidFill>
            <a:srgbClr val="1A237E"/>
          </a:solidFill>
          <a:ln/>
        </p:spPr>
      </p:sp>
      <p:sp>
        <p:nvSpPr>
          <p:cNvPr id="31" name="Text 27"/>
          <p:cNvSpPr txBox="1"/>
          <p:nvPr/>
        </p:nvSpPr>
        <p:spPr>
          <a:xfrm>
            <a:off x="4206240" y="4005072"/>
            <a:ext cx="1828800" cy="201168"/>
          </a:xfrm>
          <a:prstGeom prst="rect">
            <a:avLst/>
          </a:prstGeom>
          <a:noFill/>
          <a:ln/>
        </p:spPr>
        <p:txBody>
          <a:bodyPr wrap="square" lIns="0" tIns="0" rIns="0" bIns="0" rtlCol="0" anchor="t"/>
          <a:lstStyle/>
          <a:p>
            <a:pPr algn="l" indent="0" marL="0">
              <a:buNone/>
            </a:pPr>
            <a:r>
              <a:rPr lang="en-US" sz="1100" b="1" dirty="0">
                <a:solidFill>
                  <a:srgbClr val="1A237E"/>
                </a:solidFill>
              </a:rPr>
              <a:t>Day before</a:t>
            </a:r>
            <a:endParaRPr lang="en-US" sz="1100" dirty="0"/>
          </a:p>
        </p:txBody>
      </p:sp>
      <p:sp>
        <p:nvSpPr>
          <p:cNvPr id="32" name="Text 28"/>
          <p:cNvSpPr txBox="1"/>
          <p:nvPr/>
        </p:nvSpPr>
        <p:spPr>
          <a:xfrm>
            <a:off x="4206240" y="4206240"/>
            <a:ext cx="1828800" cy="365760"/>
          </a:xfrm>
          <a:prstGeom prst="rect">
            <a:avLst/>
          </a:prstGeom>
          <a:noFill/>
          <a:ln/>
        </p:spPr>
        <p:txBody>
          <a:bodyPr wrap="square" lIns="0" tIns="0" rIns="0" bIns="0" rtlCol="0" anchor="t"/>
          <a:lstStyle/>
          <a:p>
            <a:pPr algn="l" indent="0" marL="0">
              <a:buNone/>
            </a:pPr>
            <a:r>
              <a:rPr lang="en-US" sz="1050" dirty="0">
                <a:solidFill>
                  <a:srgbClr val="616161"/>
                </a:solidFill>
              </a:rPr>
              <a:t>Count closed and converted</a:t>
            </a:r>
            <a:endParaRPr lang="en-US" sz="1050" dirty="0"/>
          </a:p>
        </p:txBody>
      </p:sp>
      <p:sp>
        <p:nvSpPr>
          <p:cNvPr id="33" name="Shape 29"/>
          <p:cNvSpPr/>
          <p:nvPr/>
        </p:nvSpPr>
        <p:spPr>
          <a:xfrm>
            <a:off x="6684264" y="3803904"/>
            <a:ext cx="164592" cy="164592"/>
          </a:xfrm>
          <a:prstGeom prst="ellipse">
            <a:avLst/>
          </a:prstGeom>
          <a:solidFill>
            <a:srgbClr val="1A237E"/>
          </a:solidFill>
          <a:ln/>
        </p:spPr>
      </p:sp>
      <p:sp>
        <p:nvSpPr>
          <p:cNvPr id="34" name="Text 30"/>
          <p:cNvSpPr txBox="1"/>
          <p:nvPr/>
        </p:nvSpPr>
        <p:spPr>
          <a:xfrm>
            <a:off x="6126480" y="4005072"/>
            <a:ext cx="1828800" cy="201168"/>
          </a:xfrm>
          <a:prstGeom prst="rect">
            <a:avLst/>
          </a:prstGeom>
          <a:noFill/>
          <a:ln/>
        </p:spPr>
        <p:txBody>
          <a:bodyPr wrap="square" lIns="0" tIns="0" rIns="0" bIns="0" rtlCol="0" anchor="t"/>
          <a:lstStyle/>
          <a:p>
            <a:pPr algn="l" indent="0" marL="0">
              <a:buNone/>
            </a:pPr>
            <a:r>
              <a:rPr lang="en-US" sz="1100" b="1" dirty="0">
                <a:solidFill>
                  <a:srgbClr val="1A237E"/>
                </a:solidFill>
              </a:rPr>
              <a:t>7:30</a:t>
            </a:r>
            <a:endParaRPr lang="en-US" sz="1100" dirty="0"/>
          </a:p>
        </p:txBody>
      </p:sp>
      <p:sp>
        <p:nvSpPr>
          <p:cNvPr id="35" name="Text 31"/>
          <p:cNvSpPr txBox="1"/>
          <p:nvPr/>
        </p:nvSpPr>
        <p:spPr>
          <a:xfrm>
            <a:off x="6126480" y="4206240"/>
            <a:ext cx="1828800" cy="365760"/>
          </a:xfrm>
          <a:prstGeom prst="rect">
            <a:avLst/>
          </a:prstGeom>
          <a:noFill/>
          <a:ln/>
        </p:spPr>
        <p:txBody>
          <a:bodyPr wrap="square" lIns="0" tIns="0" rIns="0" bIns="0" rtlCol="0" anchor="t"/>
          <a:lstStyle/>
          <a:p>
            <a:pPr algn="l" indent="0" marL="0">
              <a:buNone/>
            </a:pPr>
            <a:r>
              <a:rPr lang="en-US" sz="1050" dirty="0">
                <a:solidFill>
                  <a:srgbClr val="616161"/>
                </a:solidFill>
              </a:rPr>
              <a:t>First batch fixed; signals arrive after</a:t>
            </a:r>
            <a:endParaRPr lang="en-US" sz="1050" dirty="0"/>
          </a:p>
        </p:txBody>
      </p:sp>
      <p:sp>
        <p:nvSpPr>
          <p:cNvPr id="36" name="Shape 32"/>
          <p:cNvSpPr/>
          <p:nvPr/>
        </p:nvSpPr>
        <p:spPr>
          <a:xfrm>
            <a:off x="7758684" y="1033272"/>
            <a:ext cx="928116" cy="201168"/>
          </a:xfrm>
          <a:prstGeom prst="roundRect">
            <a:avLst>
              <a:gd name="adj" fmla="val 22727"/>
            </a:avLst>
          </a:prstGeom>
          <a:solidFill>
            <a:srgbClr val="2E7D32"/>
          </a:solidFill>
          <a:ln/>
        </p:spPr>
      </p:sp>
      <p:sp>
        <p:nvSpPr>
          <p:cNvPr id="37" name="Text 33"/>
          <p:cNvSpPr txBox="1"/>
          <p:nvPr/>
        </p:nvSpPr>
        <p:spPr>
          <a:xfrm>
            <a:off x="7758684"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38" name="Text 34"/>
          <p:cNvSpPr txBox="1"/>
          <p:nvPr/>
        </p:nvSpPr>
        <p:spPr>
          <a:xfrm>
            <a:off x="457200" y="4590288"/>
            <a:ext cx="5486400" cy="182880"/>
          </a:xfrm>
          <a:prstGeom prst="rect">
            <a:avLst/>
          </a:prstGeom>
          <a:noFill/>
          <a:ln/>
        </p:spPr>
        <p:txBody>
          <a:bodyPr wrap="square" lIns="0" tIns="0" rIns="0" bIns="0" rtlCol="0" anchor="t"/>
          <a:lstStyle/>
          <a:p>
            <a:pPr algn="l" indent="0" marL="0">
              <a:buNone/>
            </a:pPr>
            <a:r>
              <a:rPr lang="en-US" sz="1000" i="1" dirty="0">
                <a:solidFill>
                  <a:srgbClr val="616161"/>
                </a:solidFill>
              </a:rPr>
              <a:t>Only Yuktāhār turns the first half hour into a forecast.</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Eight early beliefs changed once the records arrived</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Shape 13"/>
          <p:cNvSpPr/>
          <p:nvPr/>
        </p:nvSpPr>
        <p:spPr>
          <a:xfrm>
            <a:off x="457200" y="1280160"/>
            <a:ext cx="1993392" cy="1417320"/>
          </a:xfrm>
          <a:prstGeom prst="roundRect">
            <a:avLst>
              <a:gd name="adj" fmla="val 5161"/>
            </a:avLst>
          </a:prstGeom>
          <a:solidFill>
            <a:srgbClr val="E8EAF6"/>
          </a:solidFill>
          <a:ln w="12700">
            <a:solidFill>
              <a:srgbClr val="1A237E"/>
            </a:solidFill>
            <a:prstDash val="solid"/>
          </a:ln>
        </p:spPr>
      </p:sp>
      <p:sp>
        <p:nvSpPr>
          <p:cNvPr id="16" name="Text 14"/>
          <p:cNvSpPr txBox="1"/>
          <p:nvPr/>
        </p:nvSpPr>
        <p:spPr>
          <a:xfrm>
            <a:off x="585216" y="1371600"/>
            <a:ext cx="914400" cy="146304"/>
          </a:xfrm>
          <a:prstGeom prst="rect">
            <a:avLst/>
          </a:prstGeom>
          <a:noFill/>
          <a:ln/>
        </p:spPr>
        <p:txBody>
          <a:bodyPr wrap="square" lIns="0" tIns="0" rIns="0" bIns="0" rtlCol="0" anchor="t"/>
          <a:lstStyle/>
          <a:p>
            <a:pPr algn="l" indent="0" marL="0">
              <a:buNone/>
            </a:pPr>
            <a:r>
              <a:rPr lang="en-US" sz="850" b="1" spc="200" kern="0" dirty="0">
                <a:solidFill>
                  <a:srgbClr val="616161"/>
                </a:solidFill>
              </a:rPr>
              <a:t>WAS</a:t>
            </a:r>
            <a:endParaRPr lang="en-US" sz="850" dirty="0"/>
          </a:p>
        </p:txBody>
      </p:sp>
      <p:sp>
        <p:nvSpPr>
          <p:cNvPr id="17" name="Text 15"/>
          <p:cNvSpPr txBox="1"/>
          <p:nvPr/>
        </p:nvSpPr>
        <p:spPr>
          <a:xfrm>
            <a:off x="585216" y="1536192"/>
            <a:ext cx="1737360" cy="457200"/>
          </a:xfrm>
          <a:prstGeom prst="rect">
            <a:avLst/>
          </a:prstGeom>
          <a:noFill/>
          <a:ln/>
        </p:spPr>
        <p:txBody>
          <a:bodyPr wrap="square" lIns="0" tIns="0" rIns="0" bIns="0" rtlCol="0" anchor="t"/>
          <a:lstStyle/>
          <a:p>
            <a:pPr algn="l" indent="0" marL="0">
              <a:buNone/>
            </a:pPr>
            <a:r>
              <a:rPr lang="en-US" sz="1200" strike="sngStrike" dirty="0">
                <a:solidFill>
                  <a:srgbClr val="616161"/>
                </a:solidFill>
              </a:rPr>
              <a:t>30% unused</a:t>
            </a:r>
            <a:endParaRPr lang="en-US" sz="1200" dirty="0"/>
          </a:p>
        </p:txBody>
      </p:sp>
      <p:sp>
        <p:nvSpPr>
          <p:cNvPr id="18" name="Shape 16"/>
          <p:cNvSpPr/>
          <p:nvPr/>
        </p:nvSpPr>
        <p:spPr>
          <a:xfrm>
            <a:off x="585216" y="2029968"/>
            <a:ext cx="1737360" cy="0"/>
          </a:xfrm>
          <a:prstGeom prst="line">
            <a:avLst/>
          </a:prstGeom>
          <a:noFill/>
          <a:ln w="9525">
            <a:solidFill>
              <a:srgbClr val="9AA3B5"/>
            </a:solidFill>
            <a:prstDash val="solid"/>
          </a:ln>
        </p:spPr>
      </p:sp>
      <p:sp>
        <p:nvSpPr>
          <p:cNvPr id="19" name="Text 17"/>
          <p:cNvSpPr txBox="1"/>
          <p:nvPr/>
        </p:nvSpPr>
        <p:spPr>
          <a:xfrm>
            <a:off x="585216" y="2084832"/>
            <a:ext cx="914400" cy="146304"/>
          </a:xfrm>
          <a:prstGeom prst="rect">
            <a:avLst/>
          </a:prstGeom>
          <a:noFill/>
          <a:ln/>
        </p:spPr>
        <p:txBody>
          <a:bodyPr wrap="square" lIns="0" tIns="0" rIns="0" bIns="0" rtlCol="0" anchor="t"/>
          <a:lstStyle/>
          <a:p>
            <a:pPr algn="l" indent="0" marL="0">
              <a:buNone/>
            </a:pPr>
            <a:r>
              <a:rPr lang="en-US" sz="850" b="1" spc="200" kern="0" dirty="0">
                <a:solidFill>
                  <a:srgbClr val="2E7D32"/>
                </a:solidFill>
              </a:rPr>
              <a:t>NOW</a:t>
            </a:r>
            <a:endParaRPr lang="en-US" sz="850" dirty="0"/>
          </a:p>
        </p:txBody>
      </p:sp>
      <p:sp>
        <p:nvSpPr>
          <p:cNvPr id="20" name="Text 18"/>
          <p:cNvSpPr txBox="1"/>
          <p:nvPr/>
        </p:nvSpPr>
        <p:spPr>
          <a:xfrm>
            <a:off x="585216" y="2231136"/>
            <a:ext cx="1737360" cy="457200"/>
          </a:xfrm>
          <a:prstGeom prst="rect">
            <a:avLst/>
          </a:prstGeom>
          <a:noFill/>
          <a:ln/>
        </p:spPr>
        <p:txBody>
          <a:bodyPr wrap="square" lIns="0" tIns="0" rIns="0" bIns="0" rtlCol="0" anchor="t"/>
          <a:lstStyle/>
          <a:p>
            <a:pPr algn="l" indent="0" marL="0">
              <a:buNone/>
            </a:pPr>
            <a:r>
              <a:rPr lang="en-US" sz="1200" b="1" dirty="0">
                <a:solidFill>
                  <a:srgbClr val="1F2430"/>
                </a:solidFill>
              </a:rPr>
              <a:t>62.9% and about 72%</a:t>
            </a:r>
            <a:endParaRPr lang="en-US" sz="1200" dirty="0"/>
          </a:p>
        </p:txBody>
      </p:sp>
      <p:sp>
        <p:nvSpPr>
          <p:cNvPr id="21" name="Shape 19"/>
          <p:cNvSpPr/>
          <p:nvPr/>
        </p:nvSpPr>
        <p:spPr>
          <a:xfrm>
            <a:off x="2542032" y="1280160"/>
            <a:ext cx="1993392" cy="1417320"/>
          </a:xfrm>
          <a:prstGeom prst="roundRect">
            <a:avLst>
              <a:gd name="adj" fmla="val 5161"/>
            </a:avLst>
          </a:prstGeom>
          <a:solidFill>
            <a:srgbClr val="E8EAF6"/>
          </a:solidFill>
          <a:ln w="12700">
            <a:solidFill>
              <a:srgbClr val="1A237E"/>
            </a:solidFill>
            <a:prstDash val="solid"/>
          </a:ln>
        </p:spPr>
      </p:sp>
      <p:sp>
        <p:nvSpPr>
          <p:cNvPr id="22" name="Text 20"/>
          <p:cNvSpPr txBox="1"/>
          <p:nvPr/>
        </p:nvSpPr>
        <p:spPr>
          <a:xfrm>
            <a:off x="2670048" y="1371600"/>
            <a:ext cx="914400" cy="146304"/>
          </a:xfrm>
          <a:prstGeom prst="rect">
            <a:avLst/>
          </a:prstGeom>
          <a:noFill/>
          <a:ln/>
        </p:spPr>
        <p:txBody>
          <a:bodyPr wrap="square" lIns="0" tIns="0" rIns="0" bIns="0" rtlCol="0" anchor="t"/>
          <a:lstStyle/>
          <a:p>
            <a:pPr algn="l" indent="0" marL="0">
              <a:buNone/>
            </a:pPr>
            <a:r>
              <a:rPr lang="en-US" sz="850" b="1" spc="200" kern="0" dirty="0">
                <a:solidFill>
                  <a:srgbClr val="616161"/>
                </a:solidFill>
              </a:rPr>
              <a:t>WAS</a:t>
            </a:r>
            <a:endParaRPr lang="en-US" sz="850" dirty="0"/>
          </a:p>
        </p:txBody>
      </p:sp>
      <p:sp>
        <p:nvSpPr>
          <p:cNvPr id="23" name="Text 21"/>
          <p:cNvSpPr txBox="1"/>
          <p:nvPr/>
        </p:nvSpPr>
        <p:spPr>
          <a:xfrm>
            <a:off x="2670048" y="1536192"/>
            <a:ext cx="1737360" cy="457200"/>
          </a:xfrm>
          <a:prstGeom prst="rect">
            <a:avLst/>
          </a:prstGeom>
          <a:noFill/>
          <a:ln/>
        </p:spPr>
        <p:txBody>
          <a:bodyPr wrap="square" lIns="0" tIns="0" rIns="0" bIns="0" rtlCol="0" anchor="t"/>
          <a:lstStyle/>
          <a:p>
            <a:pPr algn="l" indent="0" marL="0">
              <a:buNone/>
            </a:pPr>
            <a:r>
              <a:rPr lang="en-US" sz="1200" strike="sngStrike" dirty="0">
                <a:solidFill>
                  <a:srgbClr val="616161"/>
                </a:solidFill>
              </a:rPr>
              <a:t>One passive vendor</a:t>
            </a:r>
            <a:endParaRPr lang="en-US" sz="1200" dirty="0"/>
          </a:p>
        </p:txBody>
      </p:sp>
      <p:sp>
        <p:nvSpPr>
          <p:cNvPr id="24" name="Shape 22"/>
          <p:cNvSpPr/>
          <p:nvPr/>
        </p:nvSpPr>
        <p:spPr>
          <a:xfrm>
            <a:off x="2670048" y="2029968"/>
            <a:ext cx="1737360" cy="0"/>
          </a:xfrm>
          <a:prstGeom prst="line">
            <a:avLst/>
          </a:prstGeom>
          <a:noFill/>
          <a:ln w="9525">
            <a:solidFill>
              <a:srgbClr val="9AA3B5"/>
            </a:solidFill>
            <a:prstDash val="solid"/>
          </a:ln>
        </p:spPr>
      </p:sp>
      <p:sp>
        <p:nvSpPr>
          <p:cNvPr id="25" name="Text 23"/>
          <p:cNvSpPr txBox="1"/>
          <p:nvPr/>
        </p:nvSpPr>
        <p:spPr>
          <a:xfrm>
            <a:off x="2670048" y="2084832"/>
            <a:ext cx="914400" cy="146304"/>
          </a:xfrm>
          <a:prstGeom prst="rect">
            <a:avLst/>
          </a:prstGeom>
          <a:noFill/>
          <a:ln/>
        </p:spPr>
        <p:txBody>
          <a:bodyPr wrap="square" lIns="0" tIns="0" rIns="0" bIns="0" rtlCol="0" anchor="t"/>
          <a:lstStyle/>
          <a:p>
            <a:pPr algn="l" indent="0" marL="0">
              <a:buNone/>
            </a:pPr>
            <a:r>
              <a:rPr lang="en-US" sz="850" b="1" spc="200" kern="0" dirty="0">
                <a:solidFill>
                  <a:srgbClr val="2E7D32"/>
                </a:solidFill>
              </a:rPr>
              <a:t>NOW</a:t>
            </a:r>
            <a:endParaRPr lang="en-US" sz="850" dirty="0"/>
          </a:p>
        </p:txBody>
      </p:sp>
      <p:sp>
        <p:nvSpPr>
          <p:cNvPr id="26" name="Text 24"/>
          <p:cNvSpPr txBox="1"/>
          <p:nvPr/>
        </p:nvSpPr>
        <p:spPr>
          <a:xfrm>
            <a:off x="2670048" y="2231136"/>
            <a:ext cx="1737360" cy="457200"/>
          </a:xfrm>
          <a:prstGeom prst="rect">
            <a:avLst/>
          </a:prstGeom>
          <a:noFill/>
          <a:ln/>
        </p:spPr>
        <p:txBody>
          <a:bodyPr wrap="square" lIns="0" tIns="0" rIns="0" bIns="0" rtlCol="0" anchor="t"/>
          <a:lstStyle/>
          <a:p>
            <a:pPr algn="l" indent="0" marL="0">
              <a:buNone/>
            </a:pPr>
            <a:r>
              <a:rPr lang="en-US" sz="1200" b="1" dirty="0">
                <a:solidFill>
                  <a:srgbClr val="1F2430"/>
                </a:solidFill>
              </a:rPr>
              <a:t>Three operators, three regimes</a:t>
            </a:r>
            <a:endParaRPr lang="en-US" sz="1200" dirty="0"/>
          </a:p>
        </p:txBody>
      </p:sp>
      <p:sp>
        <p:nvSpPr>
          <p:cNvPr id="27" name="Shape 25"/>
          <p:cNvSpPr/>
          <p:nvPr/>
        </p:nvSpPr>
        <p:spPr>
          <a:xfrm>
            <a:off x="4626864" y="1280160"/>
            <a:ext cx="1993392" cy="1417320"/>
          </a:xfrm>
          <a:prstGeom prst="roundRect">
            <a:avLst>
              <a:gd name="adj" fmla="val 5161"/>
            </a:avLst>
          </a:prstGeom>
          <a:solidFill>
            <a:srgbClr val="E8EAF6"/>
          </a:solidFill>
          <a:ln w="12700">
            <a:solidFill>
              <a:srgbClr val="1A237E"/>
            </a:solidFill>
            <a:prstDash val="solid"/>
          </a:ln>
        </p:spPr>
      </p:sp>
      <p:sp>
        <p:nvSpPr>
          <p:cNvPr id="28" name="Text 26"/>
          <p:cNvSpPr txBox="1"/>
          <p:nvPr/>
        </p:nvSpPr>
        <p:spPr>
          <a:xfrm>
            <a:off x="4754880" y="1371600"/>
            <a:ext cx="914400" cy="146304"/>
          </a:xfrm>
          <a:prstGeom prst="rect">
            <a:avLst/>
          </a:prstGeom>
          <a:noFill/>
          <a:ln/>
        </p:spPr>
        <p:txBody>
          <a:bodyPr wrap="square" lIns="0" tIns="0" rIns="0" bIns="0" rtlCol="0" anchor="t"/>
          <a:lstStyle/>
          <a:p>
            <a:pPr algn="l" indent="0" marL="0">
              <a:buNone/>
            </a:pPr>
            <a:r>
              <a:rPr lang="en-US" sz="850" b="1" spc="200" kern="0" dirty="0">
                <a:solidFill>
                  <a:srgbClr val="616161"/>
                </a:solidFill>
              </a:rPr>
              <a:t>WAS</a:t>
            </a:r>
            <a:endParaRPr lang="en-US" sz="850" dirty="0"/>
          </a:p>
        </p:txBody>
      </p:sp>
      <p:sp>
        <p:nvSpPr>
          <p:cNvPr id="29" name="Text 27"/>
          <p:cNvSpPr txBox="1"/>
          <p:nvPr/>
        </p:nvSpPr>
        <p:spPr>
          <a:xfrm>
            <a:off x="4754880" y="1536192"/>
            <a:ext cx="1737360" cy="457200"/>
          </a:xfrm>
          <a:prstGeom prst="rect">
            <a:avLst/>
          </a:prstGeom>
          <a:noFill/>
          <a:ln/>
        </p:spPr>
        <p:txBody>
          <a:bodyPr wrap="square" lIns="0" tIns="0" rIns="0" bIns="0" rtlCol="0" anchor="t"/>
          <a:lstStyle/>
          <a:p>
            <a:pPr algn="l" indent="0" marL="0">
              <a:buNone/>
            </a:pPr>
            <a:r>
              <a:rPr lang="en-US" sz="1200" strike="sngStrike" dirty="0">
                <a:solidFill>
                  <a:srgbClr val="616161"/>
                </a:solidFill>
              </a:rPr>
              <a:t>A four-day lock is the bottleneck</a:t>
            </a:r>
            <a:endParaRPr lang="en-US" sz="1200" dirty="0"/>
          </a:p>
        </p:txBody>
      </p:sp>
      <p:sp>
        <p:nvSpPr>
          <p:cNvPr id="30" name="Shape 28"/>
          <p:cNvSpPr/>
          <p:nvPr/>
        </p:nvSpPr>
        <p:spPr>
          <a:xfrm>
            <a:off x="4754880" y="2029968"/>
            <a:ext cx="1737360" cy="0"/>
          </a:xfrm>
          <a:prstGeom prst="line">
            <a:avLst/>
          </a:prstGeom>
          <a:noFill/>
          <a:ln w="9525">
            <a:solidFill>
              <a:srgbClr val="9AA3B5"/>
            </a:solidFill>
            <a:prstDash val="solid"/>
          </a:ln>
        </p:spPr>
      </p:sp>
      <p:sp>
        <p:nvSpPr>
          <p:cNvPr id="31" name="Text 29"/>
          <p:cNvSpPr txBox="1"/>
          <p:nvPr/>
        </p:nvSpPr>
        <p:spPr>
          <a:xfrm>
            <a:off x="4754880" y="2084832"/>
            <a:ext cx="914400" cy="146304"/>
          </a:xfrm>
          <a:prstGeom prst="rect">
            <a:avLst/>
          </a:prstGeom>
          <a:noFill/>
          <a:ln/>
        </p:spPr>
        <p:txBody>
          <a:bodyPr wrap="square" lIns="0" tIns="0" rIns="0" bIns="0" rtlCol="0" anchor="t"/>
          <a:lstStyle/>
          <a:p>
            <a:pPr algn="l" indent="0" marL="0">
              <a:buNone/>
            </a:pPr>
            <a:r>
              <a:rPr lang="en-US" sz="850" b="1" spc="200" kern="0" dirty="0">
                <a:solidFill>
                  <a:srgbClr val="2E7D32"/>
                </a:solidFill>
              </a:rPr>
              <a:t>NOW</a:t>
            </a:r>
            <a:endParaRPr lang="en-US" sz="850" dirty="0"/>
          </a:p>
        </p:txBody>
      </p:sp>
      <p:sp>
        <p:nvSpPr>
          <p:cNvPr id="32" name="Text 30"/>
          <p:cNvSpPr txBox="1"/>
          <p:nvPr/>
        </p:nvSpPr>
        <p:spPr>
          <a:xfrm>
            <a:off x="4754880" y="2231136"/>
            <a:ext cx="1737360" cy="457200"/>
          </a:xfrm>
          <a:prstGeom prst="rect">
            <a:avLst/>
          </a:prstGeom>
          <a:noFill/>
          <a:ln/>
        </p:spPr>
        <p:txBody>
          <a:bodyPr wrap="square" lIns="0" tIns="0" rIns="0" bIns="0" rtlCol="0" anchor="t"/>
          <a:lstStyle/>
          <a:p>
            <a:pPr algn="l" indent="0" marL="0">
              <a:buNone/>
            </a:pPr>
            <a:r>
              <a:rPr lang="en-US" sz="1200" b="1" dirty="0">
                <a:solidFill>
                  <a:srgbClr val="1F2430"/>
                </a:solidFill>
              </a:rPr>
              <a:t>The cooked first batch is</a:t>
            </a:r>
            <a:endParaRPr lang="en-US" sz="1200" dirty="0"/>
          </a:p>
        </p:txBody>
      </p:sp>
      <p:sp>
        <p:nvSpPr>
          <p:cNvPr id="33" name="Shape 31"/>
          <p:cNvSpPr/>
          <p:nvPr/>
        </p:nvSpPr>
        <p:spPr>
          <a:xfrm>
            <a:off x="6711696" y="1280160"/>
            <a:ext cx="1993392" cy="1417320"/>
          </a:xfrm>
          <a:prstGeom prst="roundRect">
            <a:avLst>
              <a:gd name="adj" fmla="val 5161"/>
            </a:avLst>
          </a:prstGeom>
          <a:solidFill>
            <a:srgbClr val="E8EAF6"/>
          </a:solidFill>
          <a:ln w="12700">
            <a:solidFill>
              <a:srgbClr val="1A237E"/>
            </a:solidFill>
            <a:prstDash val="solid"/>
          </a:ln>
        </p:spPr>
      </p:sp>
      <p:sp>
        <p:nvSpPr>
          <p:cNvPr id="34" name="Text 32"/>
          <p:cNvSpPr txBox="1"/>
          <p:nvPr/>
        </p:nvSpPr>
        <p:spPr>
          <a:xfrm>
            <a:off x="6839712" y="1371600"/>
            <a:ext cx="914400" cy="146304"/>
          </a:xfrm>
          <a:prstGeom prst="rect">
            <a:avLst/>
          </a:prstGeom>
          <a:noFill/>
          <a:ln/>
        </p:spPr>
        <p:txBody>
          <a:bodyPr wrap="square" lIns="0" tIns="0" rIns="0" bIns="0" rtlCol="0" anchor="t"/>
          <a:lstStyle/>
          <a:p>
            <a:pPr algn="l" indent="0" marL="0">
              <a:buNone/>
            </a:pPr>
            <a:r>
              <a:rPr lang="en-US" sz="850" b="1" spc="200" kern="0" dirty="0">
                <a:solidFill>
                  <a:srgbClr val="616161"/>
                </a:solidFill>
              </a:rPr>
              <a:t>WAS</a:t>
            </a:r>
            <a:endParaRPr lang="en-US" sz="850" dirty="0"/>
          </a:p>
        </p:txBody>
      </p:sp>
      <p:sp>
        <p:nvSpPr>
          <p:cNvPr id="35" name="Text 33"/>
          <p:cNvSpPr txBox="1"/>
          <p:nvPr/>
        </p:nvSpPr>
        <p:spPr>
          <a:xfrm>
            <a:off x="6839712" y="1536192"/>
            <a:ext cx="1737360" cy="457200"/>
          </a:xfrm>
          <a:prstGeom prst="rect">
            <a:avLst/>
          </a:prstGeom>
          <a:noFill/>
          <a:ln/>
        </p:spPr>
        <p:txBody>
          <a:bodyPr wrap="square" lIns="0" tIns="0" rIns="0" bIns="0" rtlCol="0" anchor="t"/>
          <a:lstStyle/>
          <a:p>
            <a:pPr algn="l" indent="0" marL="0">
              <a:buNone/>
            </a:pPr>
            <a:r>
              <a:rPr lang="en-US" sz="1200" strike="sngStrike" dirty="0">
                <a:solidFill>
                  <a:srgbClr val="616161"/>
                </a:solidFill>
              </a:rPr>
              <a:t>Composting absorbs surplus</a:t>
            </a:r>
            <a:endParaRPr lang="en-US" sz="1200" dirty="0"/>
          </a:p>
        </p:txBody>
      </p:sp>
      <p:sp>
        <p:nvSpPr>
          <p:cNvPr id="36" name="Shape 34"/>
          <p:cNvSpPr/>
          <p:nvPr/>
        </p:nvSpPr>
        <p:spPr>
          <a:xfrm>
            <a:off x="6839712" y="2029968"/>
            <a:ext cx="1737360" cy="0"/>
          </a:xfrm>
          <a:prstGeom prst="line">
            <a:avLst/>
          </a:prstGeom>
          <a:noFill/>
          <a:ln w="9525">
            <a:solidFill>
              <a:srgbClr val="9AA3B5"/>
            </a:solidFill>
            <a:prstDash val="solid"/>
          </a:ln>
        </p:spPr>
      </p:sp>
      <p:sp>
        <p:nvSpPr>
          <p:cNvPr id="37" name="Text 35"/>
          <p:cNvSpPr txBox="1"/>
          <p:nvPr/>
        </p:nvSpPr>
        <p:spPr>
          <a:xfrm>
            <a:off x="6839712" y="2084832"/>
            <a:ext cx="914400" cy="146304"/>
          </a:xfrm>
          <a:prstGeom prst="rect">
            <a:avLst/>
          </a:prstGeom>
          <a:noFill/>
          <a:ln/>
        </p:spPr>
        <p:txBody>
          <a:bodyPr wrap="square" lIns="0" tIns="0" rIns="0" bIns="0" rtlCol="0" anchor="t"/>
          <a:lstStyle/>
          <a:p>
            <a:pPr algn="l" indent="0" marL="0">
              <a:buNone/>
            </a:pPr>
            <a:r>
              <a:rPr lang="en-US" sz="850" b="1" spc="200" kern="0" dirty="0">
                <a:solidFill>
                  <a:srgbClr val="2E7D32"/>
                </a:solidFill>
              </a:rPr>
              <a:t>NOW</a:t>
            </a:r>
            <a:endParaRPr lang="en-US" sz="850" dirty="0"/>
          </a:p>
        </p:txBody>
      </p:sp>
      <p:sp>
        <p:nvSpPr>
          <p:cNvPr id="38" name="Text 36"/>
          <p:cNvSpPr txBox="1"/>
          <p:nvPr/>
        </p:nvSpPr>
        <p:spPr>
          <a:xfrm>
            <a:off x="6839712" y="2231136"/>
            <a:ext cx="1737360" cy="457200"/>
          </a:xfrm>
          <a:prstGeom prst="rect">
            <a:avLst/>
          </a:prstGeom>
          <a:noFill/>
          <a:ln/>
        </p:spPr>
        <p:txBody>
          <a:bodyPr wrap="square" lIns="0" tIns="0" rIns="0" bIns="0" rtlCol="0" anchor="t"/>
          <a:lstStyle/>
          <a:p>
            <a:pPr algn="l" indent="0" marL="0">
              <a:buNone/>
            </a:pPr>
            <a:r>
              <a:rPr lang="en-US" sz="1200" b="1" dirty="0">
                <a:solidFill>
                  <a:srgbClr val="1F2430"/>
                </a:solidFill>
              </a:rPr>
              <a:t>Outside diners, staff, reheating, the bin</a:t>
            </a:r>
            <a:endParaRPr lang="en-US" sz="1200" dirty="0"/>
          </a:p>
        </p:txBody>
      </p:sp>
      <p:sp>
        <p:nvSpPr>
          <p:cNvPr id="39" name="Shape 37"/>
          <p:cNvSpPr/>
          <p:nvPr/>
        </p:nvSpPr>
        <p:spPr>
          <a:xfrm>
            <a:off x="457200" y="2834640"/>
            <a:ext cx="1993392" cy="1417320"/>
          </a:xfrm>
          <a:prstGeom prst="roundRect">
            <a:avLst>
              <a:gd name="adj" fmla="val 5161"/>
            </a:avLst>
          </a:prstGeom>
          <a:solidFill>
            <a:srgbClr val="E8EAF6"/>
          </a:solidFill>
          <a:ln w="12700">
            <a:solidFill>
              <a:srgbClr val="1A237E"/>
            </a:solidFill>
            <a:prstDash val="solid"/>
          </a:ln>
        </p:spPr>
      </p:sp>
      <p:sp>
        <p:nvSpPr>
          <p:cNvPr id="40" name="Text 38"/>
          <p:cNvSpPr txBox="1"/>
          <p:nvPr/>
        </p:nvSpPr>
        <p:spPr>
          <a:xfrm>
            <a:off x="585216" y="2926080"/>
            <a:ext cx="914400" cy="146304"/>
          </a:xfrm>
          <a:prstGeom prst="rect">
            <a:avLst/>
          </a:prstGeom>
          <a:noFill/>
          <a:ln/>
        </p:spPr>
        <p:txBody>
          <a:bodyPr wrap="square" lIns="0" tIns="0" rIns="0" bIns="0" rtlCol="0" anchor="t"/>
          <a:lstStyle/>
          <a:p>
            <a:pPr algn="l" indent="0" marL="0">
              <a:buNone/>
            </a:pPr>
            <a:r>
              <a:rPr lang="en-US" sz="850" b="1" spc="200" kern="0" dirty="0">
                <a:solidFill>
                  <a:srgbClr val="616161"/>
                </a:solidFill>
              </a:rPr>
              <a:t>WAS</a:t>
            </a:r>
            <a:endParaRPr lang="en-US" sz="850" dirty="0"/>
          </a:p>
        </p:txBody>
      </p:sp>
      <p:sp>
        <p:nvSpPr>
          <p:cNvPr id="41" name="Text 39"/>
          <p:cNvSpPr txBox="1"/>
          <p:nvPr/>
        </p:nvSpPr>
        <p:spPr>
          <a:xfrm>
            <a:off x="585216" y="3090672"/>
            <a:ext cx="1737360" cy="457200"/>
          </a:xfrm>
          <a:prstGeom prst="rect">
            <a:avLst/>
          </a:prstGeom>
          <a:noFill/>
          <a:ln/>
        </p:spPr>
        <p:txBody>
          <a:bodyPr wrap="square" lIns="0" tIns="0" rIns="0" bIns="0" rtlCol="0" anchor="t"/>
          <a:lstStyle/>
          <a:p>
            <a:pPr algn="l" indent="0" marL="0">
              <a:buNone/>
            </a:pPr>
            <a:r>
              <a:rPr lang="en-US" sz="1200" strike="sngStrike" dirty="0">
                <a:solidFill>
                  <a:srgbClr val="616161"/>
                </a:solidFill>
              </a:rPr>
              <a:t>Bakul cooks near the airport</a:t>
            </a:r>
            <a:endParaRPr lang="en-US" sz="1200" dirty="0"/>
          </a:p>
        </p:txBody>
      </p:sp>
      <p:sp>
        <p:nvSpPr>
          <p:cNvPr id="42" name="Shape 40"/>
          <p:cNvSpPr/>
          <p:nvPr/>
        </p:nvSpPr>
        <p:spPr>
          <a:xfrm>
            <a:off x="585216" y="3584448"/>
            <a:ext cx="1737360" cy="0"/>
          </a:xfrm>
          <a:prstGeom prst="line">
            <a:avLst/>
          </a:prstGeom>
          <a:noFill/>
          <a:ln w="9525">
            <a:solidFill>
              <a:srgbClr val="9AA3B5"/>
            </a:solidFill>
            <a:prstDash val="solid"/>
          </a:ln>
        </p:spPr>
      </p:sp>
      <p:sp>
        <p:nvSpPr>
          <p:cNvPr id="43" name="Text 41"/>
          <p:cNvSpPr txBox="1"/>
          <p:nvPr/>
        </p:nvSpPr>
        <p:spPr>
          <a:xfrm>
            <a:off x="585216" y="3639312"/>
            <a:ext cx="914400" cy="146304"/>
          </a:xfrm>
          <a:prstGeom prst="rect">
            <a:avLst/>
          </a:prstGeom>
          <a:noFill/>
          <a:ln/>
        </p:spPr>
        <p:txBody>
          <a:bodyPr wrap="square" lIns="0" tIns="0" rIns="0" bIns="0" rtlCol="0" anchor="t"/>
          <a:lstStyle/>
          <a:p>
            <a:pPr algn="l" indent="0" marL="0">
              <a:buNone/>
            </a:pPr>
            <a:r>
              <a:rPr lang="en-US" sz="850" b="1" spc="200" kern="0" dirty="0">
                <a:solidFill>
                  <a:srgbClr val="2E7D32"/>
                </a:solidFill>
              </a:rPr>
              <a:t>NOW</a:t>
            </a:r>
            <a:endParaRPr lang="en-US" sz="850" dirty="0"/>
          </a:p>
        </p:txBody>
      </p:sp>
      <p:sp>
        <p:nvSpPr>
          <p:cNvPr id="44" name="Text 42"/>
          <p:cNvSpPr txBox="1"/>
          <p:nvPr/>
        </p:nvSpPr>
        <p:spPr>
          <a:xfrm>
            <a:off x="585216" y="3785616"/>
            <a:ext cx="1737360" cy="457200"/>
          </a:xfrm>
          <a:prstGeom prst="rect">
            <a:avLst/>
          </a:prstGeom>
          <a:noFill/>
          <a:ln/>
        </p:spPr>
        <p:txBody>
          <a:bodyPr wrap="square" lIns="0" tIns="0" rIns="0" bIns="0" rtlCol="0" anchor="t"/>
          <a:lstStyle/>
          <a:p>
            <a:pPr algn="l" indent="0" marL="0">
              <a:buNone/>
            </a:pPr>
            <a:r>
              <a:rPr lang="en-US" sz="1200" b="1" dirty="0">
                <a:solidFill>
                  <a:srgbClr val="1F2430"/>
                </a:solidFill>
              </a:rPr>
              <a:t>Bakul’s kitchen is about 8 km away</a:t>
            </a:r>
            <a:endParaRPr lang="en-US" sz="1200" dirty="0"/>
          </a:p>
        </p:txBody>
      </p:sp>
      <p:sp>
        <p:nvSpPr>
          <p:cNvPr id="45" name="Shape 43"/>
          <p:cNvSpPr/>
          <p:nvPr/>
        </p:nvSpPr>
        <p:spPr>
          <a:xfrm>
            <a:off x="2542032" y="2834640"/>
            <a:ext cx="1993392" cy="1417320"/>
          </a:xfrm>
          <a:prstGeom prst="roundRect">
            <a:avLst>
              <a:gd name="adj" fmla="val 5161"/>
            </a:avLst>
          </a:prstGeom>
          <a:solidFill>
            <a:srgbClr val="E8EAF6"/>
          </a:solidFill>
          <a:ln w="12700">
            <a:solidFill>
              <a:srgbClr val="1A237E"/>
            </a:solidFill>
            <a:prstDash val="solid"/>
          </a:ln>
        </p:spPr>
      </p:sp>
      <p:sp>
        <p:nvSpPr>
          <p:cNvPr id="46" name="Text 44"/>
          <p:cNvSpPr txBox="1"/>
          <p:nvPr/>
        </p:nvSpPr>
        <p:spPr>
          <a:xfrm>
            <a:off x="2670048" y="2926080"/>
            <a:ext cx="914400" cy="146304"/>
          </a:xfrm>
          <a:prstGeom prst="rect">
            <a:avLst/>
          </a:prstGeom>
          <a:noFill/>
          <a:ln/>
        </p:spPr>
        <p:txBody>
          <a:bodyPr wrap="square" lIns="0" tIns="0" rIns="0" bIns="0" rtlCol="0" anchor="t"/>
          <a:lstStyle/>
          <a:p>
            <a:pPr algn="l" indent="0" marL="0">
              <a:buNone/>
            </a:pPr>
            <a:r>
              <a:rPr lang="en-US" sz="850" b="1" spc="200" kern="0" dirty="0">
                <a:solidFill>
                  <a:srgbClr val="616161"/>
                </a:solidFill>
              </a:rPr>
              <a:t>WAS</a:t>
            </a:r>
            <a:endParaRPr lang="en-US" sz="850" dirty="0"/>
          </a:p>
        </p:txBody>
      </p:sp>
      <p:sp>
        <p:nvSpPr>
          <p:cNvPr id="47" name="Text 45"/>
          <p:cNvSpPr txBox="1"/>
          <p:nvPr/>
        </p:nvSpPr>
        <p:spPr>
          <a:xfrm>
            <a:off x="2670048" y="3090672"/>
            <a:ext cx="1737360" cy="457200"/>
          </a:xfrm>
          <a:prstGeom prst="rect">
            <a:avLst/>
          </a:prstGeom>
          <a:noFill/>
          <a:ln/>
        </p:spPr>
        <p:txBody>
          <a:bodyPr wrap="square" lIns="0" tIns="0" rIns="0" bIns="0" rtlCol="0" anchor="t"/>
          <a:lstStyle/>
          <a:p>
            <a:pPr algn="l" indent="0" marL="0">
              <a:buNone/>
            </a:pPr>
            <a:r>
              <a:rPr lang="en-US" sz="1200" strike="sngStrike" dirty="0">
                <a:solidFill>
                  <a:srgbClr val="616161"/>
                </a:solidFill>
              </a:rPr>
              <a:t>Six loops close</a:t>
            </a:r>
            <a:endParaRPr lang="en-US" sz="1200" dirty="0"/>
          </a:p>
        </p:txBody>
      </p:sp>
      <p:sp>
        <p:nvSpPr>
          <p:cNvPr id="48" name="Shape 46"/>
          <p:cNvSpPr/>
          <p:nvPr/>
        </p:nvSpPr>
        <p:spPr>
          <a:xfrm>
            <a:off x="2670048" y="3584448"/>
            <a:ext cx="1737360" cy="0"/>
          </a:xfrm>
          <a:prstGeom prst="line">
            <a:avLst/>
          </a:prstGeom>
          <a:noFill/>
          <a:ln w="9525">
            <a:solidFill>
              <a:srgbClr val="9AA3B5"/>
            </a:solidFill>
            <a:prstDash val="solid"/>
          </a:ln>
        </p:spPr>
      </p:sp>
      <p:sp>
        <p:nvSpPr>
          <p:cNvPr id="49" name="Text 47"/>
          <p:cNvSpPr txBox="1"/>
          <p:nvPr/>
        </p:nvSpPr>
        <p:spPr>
          <a:xfrm>
            <a:off x="2670048" y="3639312"/>
            <a:ext cx="914400" cy="146304"/>
          </a:xfrm>
          <a:prstGeom prst="rect">
            <a:avLst/>
          </a:prstGeom>
          <a:noFill/>
          <a:ln/>
        </p:spPr>
        <p:txBody>
          <a:bodyPr wrap="square" lIns="0" tIns="0" rIns="0" bIns="0" rtlCol="0" anchor="t"/>
          <a:lstStyle/>
          <a:p>
            <a:pPr algn="l" indent="0" marL="0">
              <a:buNone/>
            </a:pPr>
            <a:r>
              <a:rPr lang="en-US" sz="850" b="1" spc="200" kern="0" dirty="0">
                <a:solidFill>
                  <a:srgbClr val="2E7D32"/>
                </a:solidFill>
              </a:rPr>
              <a:t>NOW</a:t>
            </a:r>
            <a:endParaRPr lang="en-US" sz="850" dirty="0"/>
          </a:p>
        </p:txBody>
      </p:sp>
      <p:sp>
        <p:nvSpPr>
          <p:cNvPr id="50" name="Text 48"/>
          <p:cNvSpPr txBox="1"/>
          <p:nvPr/>
        </p:nvSpPr>
        <p:spPr>
          <a:xfrm>
            <a:off x="2670048" y="3785616"/>
            <a:ext cx="1737360" cy="457200"/>
          </a:xfrm>
          <a:prstGeom prst="rect">
            <a:avLst/>
          </a:prstGeom>
          <a:noFill/>
          <a:ln/>
        </p:spPr>
        <p:txBody>
          <a:bodyPr wrap="square" lIns="0" tIns="0" rIns="0" bIns="0" rtlCol="0" anchor="t"/>
          <a:lstStyle/>
          <a:p>
            <a:pPr algn="l" indent="0" marL="0">
              <a:buNone/>
            </a:pPr>
            <a:r>
              <a:rPr lang="en-US" sz="1200" b="1" dirty="0">
                <a:solidFill>
                  <a:srgbClr val="1F2430"/>
                </a:solidFill>
              </a:rPr>
              <a:t>Three close under a strict rule</a:t>
            </a:r>
            <a:endParaRPr lang="en-US" sz="1200" dirty="0"/>
          </a:p>
        </p:txBody>
      </p:sp>
      <p:sp>
        <p:nvSpPr>
          <p:cNvPr id="51" name="Shape 49"/>
          <p:cNvSpPr/>
          <p:nvPr/>
        </p:nvSpPr>
        <p:spPr>
          <a:xfrm>
            <a:off x="4626864" y="2834640"/>
            <a:ext cx="1993392" cy="1417320"/>
          </a:xfrm>
          <a:prstGeom prst="roundRect">
            <a:avLst>
              <a:gd name="adj" fmla="val 5161"/>
            </a:avLst>
          </a:prstGeom>
          <a:solidFill>
            <a:srgbClr val="E8EAF6"/>
          </a:solidFill>
          <a:ln w="12700">
            <a:solidFill>
              <a:srgbClr val="1A237E"/>
            </a:solidFill>
            <a:prstDash val="solid"/>
          </a:ln>
        </p:spPr>
      </p:sp>
      <p:sp>
        <p:nvSpPr>
          <p:cNvPr id="52" name="Text 50"/>
          <p:cNvSpPr txBox="1"/>
          <p:nvPr/>
        </p:nvSpPr>
        <p:spPr>
          <a:xfrm>
            <a:off x="4754880" y="2926080"/>
            <a:ext cx="914400" cy="146304"/>
          </a:xfrm>
          <a:prstGeom prst="rect">
            <a:avLst/>
          </a:prstGeom>
          <a:noFill/>
          <a:ln/>
        </p:spPr>
        <p:txBody>
          <a:bodyPr wrap="square" lIns="0" tIns="0" rIns="0" bIns="0" rtlCol="0" anchor="t"/>
          <a:lstStyle/>
          <a:p>
            <a:pPr algn="l" indent="0" marL="0">
              <a:buNone/>
            </a:pPr>
            <a:r>
              <a:rPr lang="en-US" sz="850" b="1" spc="200" kern="0" dirty="0">
                <a:solidFill>
                  <a:srgbClr val="616161"/>
                </a:solidFill>
              </a:rPr>
              <a:t>WAS</a:t>
            </a:r>
            <a:endParaRPr lang="en-US" sz="850" dirty="0"/>
          </a:p>
        </p:txBody>
      </p:sp>
      <p:sp>
        <p:nvSpPr>
          <p:cNvPr id="53" name="Text 51"/>
          <p:cNvSpPr txBox="1"/>
          <p:nvPr/>
        </p:nvSpPr>
        <p:spPr>
          <a:xfrm>
            <a:off x="4754880" y="3090672"/>
            <a:ext cx="1737360" cy="457200"/>
          </a:xfrm>
          <a:prstGeom prst="rect">
            <a:avLst/>
          </a:prstGeom>
          <a:noFill/>
          <a:ln/>
        </p:spPr>
        <p:txBody>
          <a:bodyPr wrap="square" lIns="0" tIns="0" rIns="0" bIns="0" rtlCol="0" anchor="t"/>
          <a:lstStyle/>
          <a:p>
            <a:pPr algn="l" indent="0" marL="0">
              <a:buNone/>
            </a:pPr>
            <a:r>
              <a:rPr lang="en-US" sz="1200" strike="sngStrike" dirty="0">
                <a:solidFill>
                  <a:srgbClr val="616161"/>
                </a:solidFill>
              </a:rPr>
              <a:t>Cuisine explains low uptake</a:t>
            </a:r>
            <a:endParaRPr lang="en-US" sz="1200" dirty="0"/>
          </a:p>
        </p:txBody>
      </p:sp>
      <p:sp>
        <p:nvSpPr>
          <p:cNvPr id="54" name="Shape 52"/>
          <p:cNvSpPr/>
          <p:nvPr/>
        </p:nvSpPr>
        <p:spPr>
          <a:xfrm>
            <a:off x="4754880" y="3584448"/>
            <a:ext cx="1737360" cy="0"/>
          </a:xfrm>
          <a:prstGeom prst="line">
            <a:avLst/>
          </a:prstGeom>
          <a:noFill/>
          <a:ln w="9525">
            <a:solidFill>
              <a:srgbClr val="9AA3B5"/>
            </a:solidFill>
            <a:prstDash val="solid"/>
          </a:ln>
        </p:spPr>
      </p:sp>
      <p:sp>
        <p:nvSpPr>
          <p:cNvPr id="55" name="Text 53"/>
          <p:cNvSpPr txBox="1"/>
          <p:nvPr/>
        </p:nvSpPr>
        <p:spPr>
          <a:xfrm>
            <a:off x="4754880" y="3639312"/>
            <a:ext cx="914400" cy="146304"/>
          </a:xfrm>
          <a:prstGeom prst="rect">
            <a:avLst/>
          </a:prstGeom>
          <a:noFill/>
          <a:ln/>
        </p:spPr>
        <p:txBody>
          <a:bodyPr wrap="square" lIns="0" tIns="0" rIns="0" bIns="0" rtlCol="0" anchor="t"/>
          <a:lstStyle/>
          <a:p>
            <a:pPr algn="l" indent="0" marL="0">
              <a:buNone/>
            </a:pPr>
            <a:r>
              <a:rPr lang="en-US" sz="850" b="1" spc="200" kern="0" dirty="0">
                <a:solidFill>
                  <a:srgbClr val="2E7D32"/>
                </a:solidFill>
              </a:rPr>
              <a:t>NOW</a:t>
            </a:r>
            <a:endParaRPr lang="en-US" sz="850" dirty="0"/>
          </a:p>
        </p:txBody>
      </p:sp>
      <p:sp>
        <p:nvSpPr>
          <p:cNvPr id="56" name="Text 54"/>
          <p:cNvSpPr txBox="1"/>
          <p:nvPr/>
        </p:nvSpPr>
        <p:spPr>
          <a:xfrm>
            <a:off x="4754880" y="3785616"/>
            <a:ext cx="1737360" cy="457200"/>
          </a:xfrm>
          <a:prstGeom prst="rect">
            <a:avLst/>
          </a:prstGeom>
          <a:noFill/>
          <a:ln/>
        </p:spPr>
        <p:txBody>
          <a:bodyPr wrap="square" lIns="0" tIns="0" rIns="0" bIns="0" rtlCol="0" anchor="t"/>
          <a:lstStyle/>
          <a:p>
            <a:pPr algn="l" indent="0" marL="0">
              <a:buNone/>
            </a:pPr>
            <a:r>
              <a:rPr lang="en-US" sz="1200" b="1" dirty="0">
                <a:solidFill>
                  <a:srgbClr val="1F2430"/>
                </a:solidFill>
              </a:rPr>
              <a:t>Vegetarian 32.4%, non-vegetarian 48.5%</a:t>
            </a:r>
            <a:endParaRPr lang="en-US" sz="1200" dirty="0"/>
          </a:p>
        </p:txBody>
      </p:sp>
      <p:sp>
        <p:nvSpPr>
          <p:cNvPr id="57" name="Shape 55"/>
          <p:cNvSpPr/>
          <p:nvPr/>
        </p:nvSpPr>
        <p:spPr>
          <a:xfrm>
            <a:off x="6711696" y="2834640"/>
            <a:ext cx="1993392" cy="1417320"/>
          </a:xfrm>
          <a:prstGeom prst="roundRect">
            <a:avLst>
              <a:gd name="adj" fmla="val 5161"/>
            </a:avLst>
          </a:prstGeom>
          <a:solidFill>
            <a:srgbClr val="E8EAF6"/>
          </a:solidFill>
          <a:ln w="12700">
            <a:solidFill>
              <a:srgbClr val="1A237E"/>
            </a:solidFill>
            <a:prstDash val="solid"/>
          </a:ln>
        </p:spPr>
      </p:sp>
      <p:sp>
        <p:nvSpPr>
          <p:cNvPr id="58" name="Text 56"/>
          <p:cNvSpPr txBox="1"/>
          <p:nvPr/>
        </p:nvSpPr>
        <p:spPr>
          <a:xfrm>
            <a:off x="6839712" y="2926080"/>
            <a:ext cx="914400" cy="146304"/>
          </a:xfrm>
          <a:prstGeom prst="rect">
            <a:avLst/>
          </a:prstGeom>
          <a:noFill/>
          <a:ln/>
        </p:spPr>
        <p:txBody>
          <a:bodyPr wrap="square" lIns="0" tIns="0" rIns="0" bIns="0" rtlCol="0" anchor="t"/>
          <a:lstStyle/>
          <a:p>
            <a:pPr algn="l" indent="0" marL="0">
              <a:buNone/>
            </a:pPr>
            <a:r>
              <a:rPr lang="en-US" sz="850" b="1" spc="200" kern="0" dirty="0">
                <a:solidFill>
                  <a:srgbClr val="616161"/>
                </a:solidFill>
              </a:rPr>
              <a:t>WAS</a:t>
            </a:r>
            <a:endParaRPr lang="en-US" sz="850" dirty="0"/>
          </a:p>
        </p:txBody>
      </p:sp>
      <p:sp>
        <p:nvSpPr>
          <p:cNvPr id="59" name="Text 57"/>
          <p:cNvSpPr txBox="1"/>
          <p:nvPr/>
        </p:nvSpPr>
        <p:spPr>
          <a:xfrm>
            <a:off x="6839712" y="3090672"/>
            <a:ext cx="1737360" cy="457200"/>
          </a:xfrm>
          <a:prstGeom prst="rect">
            <a:avLst/>
          </a:prstGeom>
          <a:noFill/>
          <a:ln/>
        </p:spPr>
        <p:txBody>
          <a:bodyPr wrap="square" lIns="0" tIns="0" rIns="0" bIns="0" rtlCol="0" anchor="t"/>
          <a:lstStyle/>
          <a:p>
            <a:pPr algn="l" indent="0" marL="0">
              <a:buNone/>
            </a:pPr>
            <a:r>
              <a:rPr lang="en-US" sz="1200" strike="sngStrike" dirty="0">
                <a:solidFill>
                  <a:srgbClr val="616161"/>
                </a:solidFill>
              </a:rPr>
              <a:t>Friends pull each other in</a:t>
            </a:r>
            <a:endParaRPr lang="en-US" sz="1200" dirty="0"/>
          </a:p>
        </p:txBody>
      </p:sp>
      <p:sp>
        <p:nvSpPr>
          <p:cNvPr id="60" name="Shape 58"/>
          <p:cNvSpPr/>
          <p:nvPr/>
        </p:nvSpPr>
        <p:spPr>
          <a:xfrm>
            <a:off x="6839712" y="3584448"/>
            <a:ext cx="1737360" cy="0"/>
          </a:xfrm>
          <a:prstGeom prst="line">
            <a:avLst/>
          </a:prstGeom>
          <a:noFill/>
          <a:ln w="9525">
            <a:solidFill>
              <a:srgbClr val="9AA3B5"/>
            </a:solidFill>
            <a:prstDash val="solid"/>
          </a:ln>
        </p:spPr>
      </p:sp>
      <p:sp>
        <p:nvSpPr>
          <p:cNvPr id="61" name="Text 59"/>
          <p:cNvSpPr txBox="1"/>
          <p:nvPr/>
        </p:nvSpPr>
        <p:spPr>
          <a:xfrm>
            <a:off x="6839712" y="3639312"/>
            <a:ext cx="914400" cy="146304"/>
          </a:xfrm>
          <a:prstGeom prst="rect">
            <a:avLst/>
          </a:prstGeom>
          <a:noFill/>
          <a:ln/>
        </p:spPr>
        <p:txBody>
          <a:bodyPr wrap="square" lIns="0" tIns="0" rIns="0" bIns="0" rtlCol="0" anchor="t"/>
          <a:lstStyle/>
          <a:p>
            <a:pPr algn="l" indent="0" marL="0">
              <a:buNone/>
            </a:pPr>
            <a:r>
              <a:rPr lang="en-US" sz="850" b="1" spc="200" kern="0" dirty="0">
                <a:solidFill>
                  <a:srgbClr val="2E7D32"/>
                </a:solidFill>
              </a:rPr>
              <a:t>NOW</a:t>
            </a:r>
            <a:endParaRPr lang="en-US" sz="850" dirty="0"/>
          </a:p>
        </p:txBody>
      </p:sp>
      <p:sp>
        <p:nvSpPr>
          <p:cNvPr id="62" name="Text 60"/>
          <p:cNvSpPr txBox="1"/>
          <p:nvPr/>
        </p:nvSpPr>
        <p:spPr>
          <a:xfrm>
            <a:off x="6839712" y="3785616"/>
            <a:ext cx="1737360" cy="457200"/>
          </a:xfrm>
          <a:prstGeom prst="rect">
            <a:avLst/>
          </a:prstGeom>
          <a:noFill/>
          <a:ln/>
        </p:spPr>
        <p:txBody>
          <a:bodyPr wrap="square" lIns="0" tIns="0" rIns="0" bIns="0" rtlCol="0" anchor="t"/>
          <a:lstStyle/>
          <a:p>
            <a:pPr algn="l" indent="0" marL="0">
              <a:buNone/>
            </a:pPr>
            <a:r>
              <a:rPr lang="en-US" sz="1200" b="1" dirty="0">
                <a:solidFill>
                  <a:srgbClr val="1F2430"/>
                </a:solidFill>
              </a:rPr>
              <a:t>Dropped: six respondents disconfirmed it</a:t>
            </a:r>
            <a:endParaRPr lang="en-US" sz="1200" dirty="0"/>
          </a:p>
        </p:txBody>
      </p:sp>
      <p:sp>
        <p:nvSpPr>
          <p:cNvPr id="63" name="Text 61"/>
          <p:cNvSpPr txBox="1"/>
          <p:nvPr/>
        </p:nvSpPr>
        <p:spPr>
          <a:xfrm>
            <a:off x="457200" y="4462272"/>
            <a:ext cx="5486400" cy="228600"/>
          </a:xfrm>
          <a:prstGeom prst="rect">
            <a:avLst/>
          </a:prstGeom>
          <a:noFill/>
          <a:ln/>
        </p:spPr>
        <p:txBody>
          <a:bodyPr wrap="square" lIns="0" tIns="0" rIns="0" bIns="0" rtlCol="0" anchor="t"/>
          <a:lstStyle/>
          <a:p>
            <a:pPr algn="l" indent="0" marL="0">
              <a:buNone/>
            </a:pPr>
            <a:r>
              <a:rPr lang="en-US" sz="1200" i="1" dirty="0">
                <a:solidFill>
                  <a:srgbClr val="616161"/>
                </a:solidFill>
              </a:rPr>
              <a:t>Records trusted over recall.</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Phase 1 closed with nine findings and two gaps left open</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00100" y="4841748"/>
            <a:ext cx="146304" cy="146304"/>
          </a:xfrm>
          <a:prstGeom prst="ellipse">
            <a:avLst/>
          </a:prstGeom>
          <a:solidFill>
            <a:srgbClr val="1A237E"/>
          </a:solidFill>
          <a:ln/>
        </p:spPr>
      </p:sp>
      <p:sp>
        <p:nvSpPr>
          <p:cNvPr id="6" name="Shape 4"/>
          <p:cNvSpPr/>
          <p:nvPr/>
        </p:nvSpPr>
        <p:spPr>
          <a:xfrm>
            <a:off x="763524" y="4805172"/>
            <a:ext cx="219456" cy="219456"/>
          </a:xfrm>
          <a:prstGeom prst="ellipse">
            <a:avLst/>
          </a:prstGeom>
          <a:ln w="9525">
            <a:solidFill>
              <a:srgbClr val="1A237E"/>
            </a:solidFill>
            <a:prstDash val="solid"/>
          </a:ln>
        </p:spPr>
      </p:sp>
      <p:sp>
        <p:nvSpPr>
          <p:cNvPr id="7" name="Shape 5"/>
          <p:cNvSpPr/>
          <p:nvPr/>
        </p:nvSpPr>
        <p:spPr>
          <a:xfrm>
            <a:off x="1005840" y="4864608"/>
            <a:ext cx="100584" cy="100584"/>
          </a:xfrm>
          <a:prstGeom prst="ellipse">
            <a:avLst/>
          </a:prstGeom>
          <a:ln w="9525">
            <a:solidFill>
              <a:srgbClr val="9AA3B5"/>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3 Understanding the system</a:t>
            </a:r>
            <a:endParaRPr lang="en-US" sz="1000" dirty="0"/>
          </a:p>
        </p:txBody>
      </p:sp>
      <p:sp>
        <p:nvSpPr>
          <p:cNvPr id="15" name="Shape 13"/>
          <p:cNvSpPr/>
          <p:nvPr/>
        </p:nvSpPr>
        <p:spPr>
          <a:xfrm>
            <a:off x="457200" y="1280160"/>
            <a:ext cx="2651760" cy="804672"/>
          </a:xfrm>
          <a:prstGeom prst="roundRect">
            <a:avLst>
              <a:gd name="adj" fmla="val 9091"/>
            </a:avLst>
          </a:prstGeom>
          <a:solidFill>
            <a:srgbClr val="E3F2FD"/>
          </a:solidFill>
          <a:ln w="12700">
            <a:solidFill>
              <a:srgbClr val="1565C0"/>
            </a:solidFill>
            <a:prstDash val="solid"/>
          </a:ln>
        </p:spPr>
      </p:sp>
      <p:sp>
        <p:nvSpPr>
          <p:cNvPr id="16" name="Shape 14"/>
          <p:cNvSpPr/>
          <p:nvPr/>
        </p:nvSpPr>
        <p:spPr>
          <a:xfrm>
            <a:off x="585216" y="1499616"/>
            <a:ext cx="365760" cy="365760"/>
          </a:xfrm>
          <a:prstGeom prst="ellipse">
            <a:avLst/>
          </a:prstGeom>
          <a:solidFill>
            <a:srgbClr val="1565C0"/>
          </a:solidFill>
          <a:ln/>
        </p:spPr>
      </p:sp>
      <p:sp>
        <p:nvSpPr>
          <p:cNvPr id="17" name="Text 15"/>
          <p:cNvSpPr txBox="1"/>
          <p:nvPr/>
        </p:nvSpPr>
        <p:spPr>
          <a:xfrm>
            <a:off x="585216" y="1280160"/>
            <a:ext cx="365760" cy="80467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8" name="Text 16"/>
          <p:cNvSpPr txBox="1"/>
          <p:nvPr/>
        </p:nvSpPr>
        <p:spPr>
          <a:xfrm>
            <a:off x="1097280" y="1325880"/>
            <a:ext cx="1901952" cy="713232"/>
          </a:xfrm>
          <a:prstGeom prst="rect">
            <a:avLst/>
          </a:prstGeom>
          <a:noFill/>
          <a:ln/>
        </p:spPr>
        <p:txBody>
          <a:bodyPr wrap="square" lIns="0" tIns="0" rIns="0" bIns="0" rtlCol="0" anchor="ctr"/>
          <a:lstStyle/>
          <a:p>
            <a:pPr algn="l" indent="0" marL="0">
              <a:buNone/>
            </a:pPr>
            <a:r>
              <a:rPr lang="en-US" sz="1200" dirty="0">
                <a:solidFill>
                  <a:srgbClr val="1F2430"/>
                </a:solidFill>
              </a:rPr>
              <a:t>Registration is a default, not demand</a:t>
            </a:r>
            <a:endParaRPr lang="en-US" sz="1200" dirty="0"/>
          </a:p>
        </p:txBody>
      </p:sp>
      <p:sp>
        <p:nvSpPr>
          <p:cNvPr id="19" name="Shape 17"/>
          <p:cNvSpPr/>
          <p:nvPr/>
        </p:nvSpPr>
        <p:spPr>
          <a:xfrm>
            <a:off x="3246120" y="1280160"/>
            <a:ext cx="2651760" cy="804672"/>
          </a:xfrm>
          <a:prstGeom prst="roundRect">
            <a:avLst>
              <a:gd name="adj" fmla="val 9091"/>
            </a:avLst>
          </a:prstGeom>
          <a:solidFill>
            <a:srgbClr val="E3F2FD"/>
          </a:solidFill>
          <a:ln w="12700">
            <a:solidFill>
              <a:srgbClr val="1565C0"/>
            </a:solidFill>
            <a:prstDash val="solid"/>
          </a:ln>
        </p:spPr>
      </p:sp>
      <p:sp>
        <p:nvSpPr>
          <p:cNvPr id="20" name="Shape 18"/>
          <p:cNvSpPr/>
          <p:nvPr/>
        </p:nvSpPr>
        <p:spPr>
          <a:xfrm>
            <a:off x="3374136" y="1499616"/>
            <a:ext cx="365760" cy="365760"/>
          </a:xfrm>
          <a:prstGeom prst="ellipse">
            <a:avLst/>
          </a:prstGeom>
          <a:solidFill>
            <a:srgbClr val="1565C0"/>
          </a:solidFill>
          <a:ln/>
        </p:spPr>
      </p:sp>
      <p:sp>
        <p:nvSpPr>
          <p:cNvPr id="21" name="Text 19"/>
          <p:cNvSpPr txBox="1"/>
          <p:nvPr/>
        </p:nvSpPr>
        <p:spPr>
          <a:xfrm>
            <a:off x="3374136" y="1280160"/>
            <a:ext cx="365760" cy="80467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2" name="Text 20"/>
          <p:cNvSpPr txBox="1"/>
          <p:nvPr/>
        </p:nvSpPr>
        <p:spPr>
          <a:xfrm>
            <a:off x="3886200" y="1325880"/>
            <a:ext cx="1901952" cy="713232"/>
          </a:xfrm>
          <a:prstGeom prst="rect">
            <a:avLst/>
          </a:prstGeom>
          <a:noFill/>
          <a:ln/>
        </p:spPr>
        <p:txBody>
          <a:bodyPr wrap="square" lIns="0" tIns="0" rIns="0" bIns="0" rtlCol="0" anchor="ctr"/>
          <a:lstStyle/>
          <a:p>
            <a:pPr algn="l" indent="0" marL="0">
              <a:buNone/>
            </a:pPr>
            <a:r>
              <a:rPr lang="en-US" sz="1200" dirty="0">
                <a:solidFill>
                  <a:srgbClr val="1F2430"/>
                </a:solidFill>
              </a:rPr>
              <a:t>Each kitchen’s guess is too high</a:t>
            </a:r>
            <a:endParaRPr lang="en-US" sz="1200" dirty="0"/>
          </a:p>
        </p:txBody>
      </p:sp>
      <p:sp>
        <p:nvSpPr>
          <p:cNvPr id="23" name="Shape 21"/>
          <p:cNvSpPr/>
          <p:nvPr/>
        </p:nvSpPr>
        <p:spPr>
          <a:xfrm>
            <a:off x="6035040" y="1280160"/>
            <a:ext cx="2651760" cy="804672"/>
          </a:xfrm>
          <a:prstGeom prst="roundRect">
            <a:avLst>
              <a:gd name="adj" fmla="val 9091"/>
            </a:avLst>
          </a:prstGeom>
          <a:solidFill>
            <a:srgbClr val="FDECEA"/>
          </a:solidFill>
          <a:ln w="12700">
            <a:solidFill>
              <a:srgbClr val="C62828"/>
            </a:solidFill>
            <a:prstDash val="solid"/>
          </a:ln>
        </p:spPr>
      </p:sp>
      <p:sp>
        <p:nvSpPr>
          <p:cNvPr id="24" name="Shape 22"/>
          <p:cNvSpPr/>
          <p:nvPr/>
        </p:nvSpPr>
        <p:spPr>
          <a:xfrm>
            <a:off x="6163056" y="1499616"/>
            <a:ext cx="365760" cy="365760"/>
          </a:xfrm>
          <a:prstGeom prst="ellipse">
            <a:avLst/>
          </a:prstGeom>
          <a:solidFill>
            <a:srgbClr val="C62828"/>
          </a:solidFill>
          <a:ln/>
        </p:spPr>
      </p:sp>
      <p:sp>
        <p:nvSpPr>
          <p:cNvPr id="25" name="Text 23"/>
          <p:cNvSpPr txBox="1"/>
          <p:nvPr/>
        </p:nvSpPr>
        <p:spPr>
          <a:xfrm>
            <a:off x="6163056" y="1280160"/>
            <a:ext cx="365760" cy="80467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6" name="Text 24"/>
          <p:cNvSpPr txBox="1"/>
          <p:nvPr/>
        </p:nvSpPr>
        <p:spPr>
          <a:xfrm>
            <a:off x="6675120" y="1325880"/>
            <a:ext cx="1901952" cy="713232"/>
          </a:xfrm>
          <a:prstGeom prst="rect">
            <a:avLst/>
          </a:prstGeom>
          <a:noFill/>
          <a:ln/>
        </p:spPr>
        <p:txBody>
          <a:bodyPr wrap="square" lIns="0" tIns="0" rIns="0" bIns="0" rtlCol="0" anchor="ctr"/>
          <a:lstStyle/>
          <a:p>
            <a:pPr algn="l" indent="0" marL="0">
              <a:buNone/>
            </a:pPr>
            <a:r>
              <a:rPr lang="en-US" sz="1200" dirty="0">
                <a:solidFill>
                  <a:srgbClr val="1F2430"/>
                </a:solidFill>
              </a:rPr>
              <a:t>The gap is measured twice and reaches no rule owner</a:t>
            </a:r>
            <a:endParaRPr lang="en-US" sz="1200" dirty="0"/>
          </a:p>
        </p:txBody>
      </p:sp>
      <p:sp>
        <p:nvSpPr>
          <p:cNvPr id="27" name="Shape 25"/>
          <p:cNvSpPr/>
          <p:nvPr/>
        </p:nvSpPr>
        <p:spPr>
          <a:xfrm>
            <a:off x="457200" y="2176272"/>
            <a:ext cx="2651760" cy="804672"/>
          </a:xfrm>
          <a:prstGeom prst="roundRect">
            <a:avLst>
              <a:gd name="adj" fmla="val 9091"/>
            </a:avLst>
          </a:prstGeom>
          <a:solidFill>
            <a:srgbClr val="FDECEA"/>
          </a:solidFill>
          <a:ln w="12700">
            <a:solidFill>
              <a:srgbClr val="C62828"/>
            </a:solidFill>
            <a:prstDash val="solid"/>
          </a:ln>
        </p:spPr>
      </p:sp>
      <p:sp>
        <p:nvSpPr>
          <p:cNvPr id="28" name="Shape 26"/>
          <p:cNvSpPr/>
          <p:nvPr/>
        </p:nvSpPr>
        <p:spPr>
          <a:xfrm>
            <a:off x="585216" y="2395728"/>
            <a:ext cx="365760" cy="365760"/>
          </a:xfrm>
          <a:prstGeom prst="ellipse">
            <a:avLst/>
          </a:prstGeom>
          <a:solidFill>
            <a:srgbClr val="C62828"/>
          </a:solidFill>
          <a:ln/>
        </p:spPr>
      </p:sp>
      <p:sp>
        <p:nvSpPr>
          <p:cNvPr id="29" name="Text 27"/>
          <p:cNvSpPr txBox="1"/>
          <p:nvPr/>
        </p:nvSpPr>
        <p:spPr>
          <a:xfrm>
            <a:off x="585216" y="2176272"/>
            <a:ext cx="365760" cy="80467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0" name="Text 28"/>
          <p:cNvSpPr txBox="1"/>
          <p:nvPr/>
        </p:nvSpPr>
        <p:spPr>
          <a:xfrm>
            <a:off x="1097280" y="2221992"/>
            <a:ext cx="1901952" cy="713232"/>
          </a:xfrm>
          <a:prstGeom prst="rect">
            <a:avLst/>
          </a:prstGeom>
          <a:noFill/>
          <a:ln/>
        </p:spPr>
        <p:txBody>
          <a:bodyPr wrap="square" lIns="0" tIns="0" rIns="0" bIns="0" rtlCol="0" anchor="ctr"/>
          <a:lstStyle/>
          <a:p>
            <a:pPr algn="l" indent="0" marL="0">
              <a:buNone/>
            </a:pPr>
            <a:r>
              <a:rPr lang="en-US" sz="1200" dirty="0">
                <a:solidFill>
                  <a:srgbClr val="1F2430"/>
                </a:solidFill>
              </a:rPr>
              <a:t>The cooked first batch is the constraint</a:t>
            </a:r>
            <a:endParaRPr lang="en-US" sz="1200" dirty="0"/>
          </a:p>
        </p:txBody>
      </p:sp>
      <p:sp>
        <p:nvSpPr>
          <p:cNvPr id="31" name="Shape 29"/>
          <p:cNvSpPr/>
          <p:nvPr/>
        </p:nvSpPr>
        <p:spPr>
          <a:xfrm>
            <a:off x="3246120" y="2176272"/>
            <a:ext cx="2651760" cy="804672"/>
          </a:xfrm>
          <a:prstGeom prst="roundRect">
            <a:avLst>
              <a:gd name="adj" fmla="val 9091"/>
            </a:avLst>
          </a:prstGeom>
          <a:solidFill>
            <a:srgbClr val="FFF8E1"/>
          </a:solidFill>
          <a:ln w="12700">
            <a:solidFill>
              <a:srgbClr val="F57F17"/>
            </a:solidFill>
            <a:prstDash val="solid"/>
          </a:ln>
        </p:spPr>
      </p:sp>
      <p:sp>
        <p:nvSpPr>
          <p:cNvPr id="32" name="Shape 30"/>
          <p:cNvSpPr/>
          <p:nvPr/>
        </p:nvSpPr>
        <p:spPr>
          <a:xfrm>
            <a:off x="3374136" y="2395728"/>
            <a:ext cx="365760" cy="365760"/>
          </a:xfrm>
          <a:prstGeom prst="ellipse">
            <a:avLst/>
          </a:prstGeom>
          <a:solidFill>
            <a:srgbClr val="F57F17"/>
          </a:solidFill>
          <a:ln/>
        </p:spPr>
      </p:sp>
      <p:sp>
        <p:nvSpPr>
          <p:cNvPr id="33" name="Text 31"/>
          <p:cNvSpPr txBox="1"/>
          <p:nvPr/>
        </p:nvSpPr>
        <p:spPr>
          <a:xfrm>
            <a:off x="3374136" y="2176272"/>
            <a:ext cx="365760" cy="80467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4" name="Text 32"/>
          <p:cNvSpPr txBox="1"/>
          <p:nvPr/>
        </p:nvSpPr>
        <p:spPr>
          <a:xfrm>
            <a:off x="3886200" y="2221992"/>
            <a:ext cx="1901952" cy="713232"/>
          </a:xfrm>
          <a:prstGeom prst="rect">
            <a:avLst/>
          </a:prstGeom>
          <a:noFill/>
          <a:ln/>
        </p:spPr>
        <p:txBody>
          <a:bodyPr wrap="square" lIns="0" tIns="0" rIns="0" bIns="0" rtlCol="0" anchor="ctr"/>
          <a:lstStyle/>
          <a:p>
            <a:pPr algn="l" indent="0" marL="0">
              <a:buNone/>
            </a:pPr>
            <a:r>
              <a:rPr lang="en-US" sz="1200" dirty="0">
                <a:solidFill>
                  <a:srgbClr val="1F2430"/>
                </a:solidFill>
              </a:rPr>
              <a:t>Shortage and waste share one morning</a:t>
            </a:r>
            <a:endParaRPr lang="en-US" sz="1200" dirty="0"/>
          </a:p>
        </p:txBody>
      </p:sp>
      <p:sp>
        <p:nvSpPr>
          <p:cNvPr id="35" name="Shape 33"/>
          <p:cNvSpPr/>
          <p:nvPr/>
        </p:nvSpPr>
        <p:spPr>
          <a:xfrm>
            <a:off x="6035040" y="2176272"/>
            <a:ext cx="2651760" cy="804672"/>
          </a:xfrm>
          <a:prstGeom prst="roundRect">
            <a:avLst>
              <a:gd name="adj" fmla="val 9091"/>
            </a:avLst>
          </a:prstGeom>
          <a:solidFill>
            <a:srgbClr val="E0F2F1"/>
          </a:solidFill>
          <a:ln w="12700">
            <a:solidFill>
              <a:srgbClr val="00695C"/>
            </a:solidFill>
            <a:prstDash val="solid"/>
          </a:ln>
        </p:spPr>
      </p:sp>
      <p:sp>
        <p:nvSpPr>
          <p:cNvPr id="36" name="Shape 34"/>
          <p:cNvSpPr/>
          <p:nvPr/>
        </p:nvSpPr>
        <p:spPr>
          <a:xfrm>
            <a:off x="6163056" y="2395728"/>
            <a:ext cx="365760" cy="365760"/>
          </a:xfrm>
          <a:prstGeom prst="ellipse">
            <a:avLst/>
          </a:prstGeom>
          <a:solidFill>
            <a:srgbClr val="00695C"/>
          </a:solidFill>
          <a:ln/>
        </p:spPr>
      </p:sp>
      <p:sp>
        <p:nvSpPr>
          <p:cNvPr id="37" name="Text 35"/>
          <p:cNvSpPr txBox="1"/>
          <p:nvPr/>
        </p:nvSpPr>
        <p:spPr>
          <a:xfrm>
            <a:off x="6163056" y="2176272"/>
            <a:ext cx="365760" cy="804672"/>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8" name="Text 36"/>
          <p:cNvSpPr txBox="1"/>
          <p:nvPr/>
        </p:nvSpPr>
        <p:spPr>
          <a:xfrm>
            <a:off x="6675120" y="2221992"/>
            <a:ext cx="1901952" cy="713232"/>
          </a:xfrm>
          <a:prstGeom prst="rect">
            <a:avLst/>
          </a:prstGeom>
          <a:noFill/>
          <a:ln/>
        </p:spPr>
        <p:txBody>
          <a:bodyPr wrap="square" lIns="0" tIns="0" rIns="0" bIns="0" rtlCol="0" anchor="ctr"/>
          <a:lstStyle/>
          <a:p>
            <a:pPr algn="l" indent="0" marL="0">
              <a:buNone/>
            </a:pPr>
            <a:r>
              <a:rPr lang="en-US" sz="1200" dirty="0">
                <a:solidFill>
                  <a:srgbClr val="1F2430"/>
                </a:solidFill>
              </a:rPr>
              <a:t>Class timing has no link to mess governance</a:t>
            </a:r>
            <a:endParaRPr lang="en-US" sz="1200" dirty="0"/>
          </a:p>
        </p:txBody>
      </p:sp>
      <p:sp>
        <p:nvSpPr>
          <p:cNvPr id="39" name="Shape 37"/>
          <p:cNvSpPr/>
          <p:nvPr/>
        </p:nvSpPr>
        <p:spPr>
          <a:xfrm>
            <a:off x="457200" y="3072384"/>
            <a:ext cx="2651760" cy="804672"/>
          </a:xfrm>
          <a:prstGeom prst="roundRect">
            <a:avLst>
              <a:gd name="adj" fmla="val 9091"/>
            </a:avLst>
          </a:prstGeom>
          <a:solidFill>
            <a:srgbClr val="E0F2F1"/>
          </a:solidFill>
          <a:ln w="12700">
            <a:solidFill>
              <a:srgbClr val="00695C"/>
            </a:solidFill>
            <a:prstDash val="solid"/>
          </a:ln>
        </p:spPr>
      </p:sp>
      <p:sp>
        <p:nvSpPr>
          <p:cNvPr id="40" name="Shape 38"/>
          <p:cNvSpPr/>
          <p:nvPr/>
        </p:nvSpPr>
        <p:spPr>
          <a:xfrm>
            <a:off x="585216" y="3291840"/>
            <a:ext cx="365760" cy="365760"/>
          </a:xfrm>
          <a:prstGeom prst="ellipse">
            <a:avLst/>
          </a:prstGeom>
          <a:solidFill>
            <a:srgbClr val="00695C"/>
          </a:solidFill>
          <a:ln/>
        </p:spPr>
      </p:sp>
      <p:sp>
        <p:nvSpPr>
          <p:cNvPr id="41" name="Text 39"/>
          <p:cNvSpPr txBox="1"/>
          <p:nvPr/>
        </p:nvSpPr>
        <p:spPr>
          <a:xfrm>
            <a:off x="585216" y="3072384"/>
            <a:ext cx="365760" cy="804672"/>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42" name="Text 40"/>
          <p:cNvSpPr txBox="1"/>
          <p:nvPr/>
        </p:nvSpPr>
        <p:spPr>
          <a:xfrm>
            <a:off x="1097280" y="3118104"/>
            <a:ext cx="1901952" cy="713232"/>
          </a:xfrm>
          <a:prstGeom prst="rect">
            <a:avLst/>
          </a:prstGeom>
          <a:noFill/>
          <a:ln/>
        </p:spPr>
        <p:txBody>
          <a:bodyPr wrap="square" lIns="0" tIns="0" rIns="0" bIns="0" rtlCol="0" anchor="ctr"/>
          <a:lstStyle/>
          <a:p>
            <a:pPr algn="l" indent="0" marL="0">
              <a:buNone/>
            </a:pPr>
            <a:r>
              <a:rPr lang="en-US" sz="1200" dirty="0">
                <a:solidFill>
                  <a:srgbClr val="1F2430"/>
                </a:solidFill>
              </a:rPr>
              <a:t>Oversight changes kitchens, not rules</a:t>
            </a:r>
            <a:endParaRPr lang="en-US" sz="1200" dirty="0"/>
          </a:p>
        </p:txBody>
      </p:sp>
      <p:sp>
        <p:nvSpPr>
          <p:cNvPr id="43" name="Shape 41"/>
          <p:cNvSpPr/>
          <p:nvPr/>
        </p:nvSpPr>
        <p:spPr>
          <a:xfrm>
            <a:off x="3246120" y="3072384"/>
            <a:ext cx="2651760" cy="804672"/>
          </a:xfrm>
          <a:prstGeom prst="roundRect">
            <a:avLst>
              <a:gd name="adj" fmla="val 9091"/>
            </a:avLst>
          </a:prstGeom>
          <a:solidFill>
            <a:srgbClr val="E8F5E9"/>
          </a:solidFill>
          <a:ln w="12700">
            <a:solidFill>
              <a:srgbClr val="2E7D32"/>
            </a:solidFill>
            <a:prstDash val="solid"/>
          </a:ln>
        </p:spPr>
      </p:sp>
      <p:sp>
        <p:nvSpPr>
          <p:cNvPr id="44" name="Shape 42"/>
          <p:cNvSpPr/>
          <p:nvPr/>
        </p:nvSpPr>
        <p:spPr>
          <a:xfrm>
            <a:off x="3374136" y="3291840"/>
            <a:ext cx="365760" cy="365760"/>
          </a:xfrm>
          <a:prstGeom prst="ellipse">
            <a:avLst/>
          </a:prstGeom>
          <a:solidFill>
            <a:srgbClr val="2E7D32"/>
          </a:solidFill>
          <a:ln/>
        </p:spPr>
      </p:sp>
      <p:sp>
        <p:nvSpPr>
          <p:cNvPr id="45" name="Text 43"/>
          <p:cNvSpPr txBox="1"/>
          <p:nvPr/>
        </p:nvSpPr>
        <p:spPr>
          <a:xfrm>
            <a:off x="3374136" y="3072384"/>
            <a:ext cx="365760" cy="804672"/>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46" name="Text 44"/>
          <p:cNvSpPr txBox="1"/>
          <p:nvPr/>
        </p:nvSpPr>
        <p:spPr>
          <a:xfrm>
            <a:off x="3886200" y="3118104"/>
            <a:ext cx="1901952" cy="713232"/>
          </a:xfrm>
          <a:prstGeom prst="rect">
            <a:avLst/>
          </a:prstGeom>
          <a:noFill/>
          <a:ln/>
        </p:spPr>
        <p:txBody>
          <a:bodyPr wrap="square" lIns="0" tIns="0" rIns="0" bIns="0" rtlCol="0" anchor="ctr"/>
          <a:lstStyle/>
          <a:p>
            <a:pPr algn="l" indent="0" marL="0">
              <a:buNone/>
            </a:pPr>
            <a:r>
              <a:rPr lang="en-US" sz="1200" dirty="0">
                <a:solidFill>
                  <a:srgbClr val="1F2430"/>
                </a:solidFill>
              </a:rPr>
              <a:t>Surplus is absorbed out of sight, partly by real people</a:t>
            </a:r>
            <a:endParaRPr lang="en-US" sz="1200" dirty="0"/>
          </a:p>
        </p:txBody>
      </p:sp>
      <p:sp>
        <p:nvSpPr>
          <p:cNvPr id="47" name="Shape 45"/>
          <p:cNvSpPr/>
          <p:nvPr/>
        </p:nvSpPr>
        <p:spPr>
          <a:xfrm>
            <a:off x="6035040" y="3072384"/>
            <a:ext cx="2651760" cy="804672"/>
          </a:xfrm>
          <a:prstGeom prst="roundRect">
            <a:avLst>
              <a:gd name="adj" fmla="val 9091"/>
            </a:avLst>
          </a:prstGeom>
          <a:solidFill>
            <a:srgbClr val="FFF3E0"/>
          </a:solidFill>
          <a:ln w="12700">
            <a:solidFill>
              <a:srgbClr val="E65100"/>
            </a:solidFill>
            <a:prstDash val="solid"/>
          </a:ln>
        </p:spPr>
      </p:sp>
      <p:sp>
        <p:nvSpPr>
          <p:cNvPr id="48" name="Shape 46"/>
          <p:cNvSpPr/>
          <p:nvPr/>
        </p:nvSpPr>
        <p:spPr>
          <a:xfrm>
            <a:off x="6163056" y="3291840"/>
            <a:ext cx="365760" cy="365760"/>
          </a:xfrm>
          <a:prstGeom prst="ellipse">
            <a:avLst/>
          </a:prstGeom>
          <a:solidFill>
            <a:srgbClr val="E65100"/>
          </a:solidFill>
          <a:ln/>
        </p:spPr>
      </p:sp>
      <p:sp>
        <p:nvSpPr>
          <p:cNvPr id="49" name="Text 47"/>
          <p:cNvSpPr txBox="1"/>
          <p:nvPr/>
        </p:nvSpPr>
        <p:spPr>
          <a:xfrm>
            <a:off x="6163056" y="3072384"/>
            <a:ext cx="365760" cy="804672"/>
          </a:xfrm>
          <a:prstGeom prst="rect">
            <a:avLst/>
          </a:prstGeom>
          <a:noFill/>
          <a:ln/>
        </p:spPr>
        <p:txBody>
          <a:bodyPr wrap="square" lIns="0" tIns="0" rIns="0" bIns="0" rtlCol="0" anchor="ctr"/>
          <a:lstStyle/>
          <a:p>
            <a:pPr algn="ctr" indent="0" marL="0">
              <a:buNone/>
            </a:pPr>
            <a:r>
              <a:rPr lang="en-US" sz="1400" b="1" dirty="0">
                <a:solidFill>
                  <a:srgbClr val="FFFFFF"/>
                </a:solidFill>
              </a:rPr>
              <a:t>9</a:t>
            </a:r>
            <a:endParaRPr lang="en-US" sz="1400" dirty="0"/>
          </a:p>
        </p:txBody>
      </p:sp>
      <p:sp>
        <p:nvSpPr>
          <p:cNvPr id="50" name="Text 48"/>
          <p:cNvSpPr txBox="1"/>
          <p:nvPr/>
        </p:nvSpPr>
        <p:spPr>
          <a:xfrm>
            <a:off x="6675120" y="3118104"/>
            <a:ext cx="1901952" cy="713232"/>
          </a:xfrm>
          <a:prstGeom prst="rect">
            <a:avLst/>
          </a:prstGeom>
          <a:noFill/>
          <a:ln/>
        </p:spPr>
        <p:txBody>
          <a:bodyPr wrap="square" lIns="0" tIns="0" rIns="0" bIns="0" rtlCol="0" anchor="ctr"/>
          <a:lstStyle/>
          <a:p>
            <a:pPr algn="l" indent="0" marL="0">
              <a:buNone/>
            </a:pPr>
            <a:r>
              <a:rPr lang="en-US" sz="1200" dirty="0">
                <a:solidFill>
                  <a:srgbClr val="1F2430"/>
                </a:solidFill>
              </a:rPr>
              <a:t>The most requested fix was a longer close</a:t>
            </a:r>
            <a:endParaRPr lang="en-US" sz="1200" dirty="0"/>
          </a:p>
        </p:txBody>
      </p:sp>
      <p:sp>
        <p:nvSpPr>
          <p:cNvPr id="51" name="Shape 49"/>
          <p:cNvSpPr/>
          <p:nvPr/>
        </p:nvSpPr>
        <p:spPr>
          <a:xfrm>
            <a:off x="457200" y="4041648"/>
            <a:ext cx="4023360" cy="365760"/>
          </a:xfrm>
          <a:prstGeom prst="roundRect">
            <a:avLst>
              <a:gd name="adj" fmla="val 15000"/>
            </a:avLst>
          </a:prstGeom>
          <a:solidFill>
            <a:srgbClr val="F2F2F2"/>
          </a:solidFill>
          <a:ln w="12700">
            <a:solidFill>
              <a:srgbClr val="616161"/>
            </a:solidFill>
            <a:prstDash val="dash"/>
          </a:ln>
        </p:spPr>
      </p:sp>
      <p:sp>
        <p:nvSpPr>
          <p:cNvPr id="52" name="Text 50"/>
          <p:cNvSpPr txBox="1"/>
          <p:nvPr/>
        </p:nvSpPr>
        <p:spPr>
          <a:xfrm>
            <a:off x="521208" y="4041648"/>
            <a:ext cx="3895344" cy="365760"/>
          </a:xfrm>
          <a:prstGeom prst="rect">
            <a:avLst/>
          </a:prstGeom>
          <a:noFill/>
          <a:ln/>
        </p:spPr>
        <p:txBody>
          <a:bodyPr wrap="square" lIns="0" tIns="0" rIns="0" bIns="0" rtlCol="0" anchor="ctr"/>
          <a:lstStyle/>
          <a:p>
            <a:pPr algn="ctr" indent="0" marL="0">
              <a:buNone/>
            </a:pPr>
            <a:r>
              <a:rPr lang="en-US" sz="1200" dirty="0">
                <a:solidFill>
                  <a:srgbClr val="1F2430"/>
                </a:solidFill>
              </a:rPr>
              <a:t>Not observed: disposal after the close</a:t>
            </a:r>
            <a:endParaRPr lang="en-US" sz="1200" dirty="0"/>
          </a:p>
        </p:txBody>
      </p:sp>
      <p:sp>
        <p:nvSpPr>
          <p:cNvPr id="53" name="Shape 51"/>
          <p:cNvSpPr/>
          <p:nvPr/>
        </p:nvSpPr>
        <p:spPr>
          <a:xfrm>
            <a:off x="4663440" y="4041648"/>
            <a:ext cx="4023360" cy="365760"/>
          </a:xfrm>
          <a:prstGeom prst="roundRect">
            <a:avLst>
              <a:gd name="adj" fmla="val 15000"/>
            </a:avLst>
          </a:prstGeom>
          <a:solidFill>
            <a:srgbClr val="F2F2F2"/>
          </a:solidFill>
          <a:ln w="12700">
            <a:solidFill>
              <a:srgbClr val="616161"/>
            </a:solidFill>
            <a:prstDash val="dash"/>
          </a:ln>
        </p:spPr>
      </p:sp>
      <p:sp>
        <p:nvSpPr>
          <p:cNvPr id="54" name="Text 52"/>
          <p:cNvSpPr txBox="1"/>
          <p:nvPr/>
        </p:nvSpPr>
        <p:spPr>
          <a:xfrm>
            <a:off x="4727448" y="4041648"/>
            <a:ext cx="3895344" cy="365760"/>
          </a:xfrm>
          <a:prstGeom prst="rect">
            <a:avLst/>
          </a:prstGeom>
          <a:noFill/>
          <a:ln/>
        </p:spPr>
        <p:txBody>
          <a:bodyPr wrap="square" lIns="0" tIns="0" rIns="0" bIns="0" rtlCol="0" anchor="ctr"/>
          <a:lstStyle/>
          <a:p>
            <a:pPr algn="ctr" indent="0" marL="0">
              <a:buNone/>
            </a:pPr>
            <a:r>
              <a:rPr lang="en-US" sz="1200" dirty="0">
                <a:solidFill>
                  <a:srgbClr val="1F2430"/>
                </a:solidFill>
              </a:rPr>
              <a:t>Not measured: semester-level trends</a:t>
            </a:r>
            <a:endParaRPr lang="en-US" sz="1200" dirty="0"/>
          </a:p>
        </p:txBody>
      </p:sp>
      <p:sp>
        <p:nvSpPr>
          <p:cNvPr id="55" name="Text 53"/>
          <p:cNvSpPr txBox="1"/>
          <p:nvPr/>
        </p:nvSpPr>
        <p:spPr>
          <a:xfrm>
            <a:off x="457200" y="4526280"/>
            <a:ext cx="3657600" cy="228600"/>
          </a:xfrm>
          <a:prstGeom prst="rect">
            <a:avLst/>
          </a:prstGeom>
          <a:noFill/>
          <a:ln/>
        </p:spPr>
        <p:txBody>
          <a:bodyPr wrap="square" lIns="0" tIns="0" rIns="0" bIns="0" rtlCol="0" anchor="t"/>
          <a:lstStyle/>
          <a:p>
            <a:pPr algn="l" indent="0" marL="0">
              <a:buNone/>
            </a:pPr>
            <a:r>
              <a:rPr lang="en-US" sz="1200" i="1" dirty="0">
                <a:solidFill>
                  <a:srgbClr val="616161"/>
                </a:solidFill>
              </a:rPr>
              <a:t>Next: why the gap holds.</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A standing booking sets a first batch that cannot shrink, and the crest meets it</a:t>
            </a:r>
            <a:endParaRPr lang="en-US" sz="2400" dirty="0"/>
          </a:p>
        </p:txBody>
      </p:sp>
      <p:sp>
        <p:nvSpPr>
          <p:cNvPr id="3" name="Shape 1"/>
          <p:cNvSpPr/>
          <p:nvPr/>
        </p:nvSpPr>
        <p:spPr>
          <a:xfrm>
            <a:off x="457200" y="4864608"/>
            <a:ext cx="100584" cy="100584"/>
          </a:xfrm>
          <a:prstGeom prst="ellipse">
            <a:avLst/>
          </a:prstGeom>
          <a:solidFill>
            <a:srgbClr val="FFFFFF"/>
          </a:solidFill>
          <a:ln/>
        </p:spPr>
      </p:sp>
      <p:sp>
        <p:nvSpPr>
          <p:cNvPr id="4" name="Shape 2"/>
          <p:cNvSpPr/>
          <p:nvPr/>
        </p:nvSpPr>
        <p:spPr>
          <a:xfrm>
            <a:off x="640080" y="4864608"/>
            <a:ext cx="100584" cy="100584"/>
          </a:xfrm>
          <a:prstGeom prst="ellipse">
            <a:avLst/>
          </a:prstGeom>
          <a:solidFill>
            <a:srgbClr val="FFFFFF"/>
          </a:solidFill>
          <a:ln/>
        </p:spPr>
      </p:sp>
      <p:sp>
        <p:nvSpPr>
          <p:cNvPr id="5" name="Shape 3"/>
          <p:cNvSpPr/>
          <p:nvPr/>
        </p:nvSpPr>
        <p:spPr>
          <a:xfrm>
            <a:off x="822960" y="4864608"/>
            <a:ext cx="100584" cy="100584"/>
          </a:xfrm>
          <a:prstGeom prst="ellipse">
            <a:avLst/>
          </a:prstGeom>
          <a:solidFill>
            <a:srgbClr val="FFFFFF"/>
          </a:solidFill>
          <a:ln/>
        </p:spPr>
      </p:sp>
      <p:sp>
        <p:nvSpPr>
          <p:cNvPr id="6" name="Shape 4"/>
          <p:cNvSpPr/>
          <p:nvPr/>
        </p:nvSpPr>
        <p:spPr>
          <a:xfrm>
            <a:off x="982980" y="4841748"/>
            <a:ext cx="146304" cy="146304"/>
          </a:xfrm>
          <a:prstGeom prst="ellipse">
            <a:avLst/>
          </a:prstGeom>
          <a:solidFill>
            <a:srgbClr val="FFFFFF"/>
          </a:solidFill>
          <a:ln/>
        </p:spPr>
      </p:sp>
      <p:sp>
        <p:nvSpPr>
          <p:cNvPr id="7" name="Shape 5"/>
          <p:cNvSpPr/>
          <p:nvPr/>
        </p:nvSpPr>
        <p:spPr>
          <a:xfrm>
            <a:off x="946404" y="4805172"/>
            <a:ext cx="219456" cy="219456"/>
          </a:xfrm>
          <a:prstGeom prst="ellipse">
            <a:avLst/>
          </a:prstGeom>
          <a:ln w="9525">
            <a:solidFill>
              <a:srgbClr val="FFFFFF"/>
            </a:solidFill>
            <a:prstDash val="solid"/>
          </a:ln>
        </p:spPr>
      </p:sp>
      <p:sp>
        <p:nvSpPr>
          <p:cNvPr id="8" name="Shape 6"/>
          <p:cNvSpPr/>
          <p:nvPr/>
        </p:nvSpPr>
        <p:spPr>
          <a:xfrm>
            <a:off x="1188720" y="4864608"/>
            <a:ext cx="100584" cy="100584"/>
          </a:xfrm>
          <a:prstGeom prst="ellipse">
            <a:avLst/>
          </a:prstGeom>
          <a:ln w="9525">
            <a:solidFill>
              <a:srgbClr val="6B74A8"/>
            </a:solidFill>
            <a:prstDash val="solid"/>
          </a:ln>
        </p:spPr>
      </p:sp>
      <p:sp>
        <p:nvSpPr>
          <p:cNvPr id="9" name="Shape 7"/>
          <p:cNvSpPr/>
          <p:nvPr/>
        </p:nvSpPr>
        <p:spPr>
          <a:xfrm>
            <a:off x="1371600" y="4864608"/>
            <a:ext cx="100584" cy="100584"/>
          </a:xfrm>
          <a:prstGeom prst="ellipse">
            <a:avLst/>
          </a:prstGeom>
          <a:ln w="9525">
            <a:solidFill>
              <a:srgbClr val="6B74A8"/>
            </a:solidFill>
            <a:prstDash val="solid"/>
          </a:ln>
        </p:spPr>
      </p:sp>
      <p:sp>
        <p:nvSpPr>
          <p:cNvPr id="10" name="Shape 8"/>
          <p:cNvSpPr/>
          <p:nvPr/>
        </p:nvSpPr>
        <p:spPr>
          <a:xfrm>
            <a:off x="1554480" y="4864608"/>
            <a:ext cx="100584" cy="100584"/>
          </a:xfrm>
          <a:prstGeom prst="ellipse">
            <a:avLst/>
          </a:prstGeom>
          <a:ln w="9525">
            <a:solidFill>
              <a:srgbClr val="6B74A8"/>
            </a:solidFill>
            <a:prstDash val="solid"/>
          </a:ln>
        </p:spPr>
      </p:sp>
      <p:sp>
        <p:nvSpPr>
          <p:cNvPr id="11" name="Shape 9"/>
          <p:cNvSpPr/>
          <p:nvPr/>
        </p:nvSpPr>
        <p:spPr>
          <a:xfrm>
            <a:off x="1737360" y="4864608"/>
            <a:ext cx="100584" cy="100584"/>
          </a:xfrm>
          <a:prstGeom prst="ellipse">
            <a:avLst/>
          </a:prstGeom>
          <a:ln w="9525">
            <a:solidFill>
              <a:srgbClr val="6B74A8"/>
            </a:solidFill>
            <a:prstDash val="solid"/>
          </a:ln>
        </p:spPr>
      </p:sp>
      <p:sp>
        <p:nvSpPr>
          <p:cNvPr id="12" name="Shape 10"/>
          <p:cNvSpPr/>
          <p:nvPr/>
        </p:nvSpPr>
        <p:spPr>
          <a:xfrm>
            <a:off x="1920240" y="4864608"/>
            <a:ext cx="100584" cy="100584"/>
          </a:xfrm>
          <a:prstGeom prst="ellipse">
            <a:avLst/>
          </a:prstGeom>
          <a:ln w="9525">
            <a:solidFill>
              <a:srgbClr val="6B74A8"/>
            </a:solidFill>
            <a:prstDash val="solid"/>
          </a:ln>
        </p:spPr>
      </p:sp>
      <p:sp>
        <p:nvSpPr>
          <p:cNvPr id="13" name="Shape 11"/>
          <p:cNvSpPr/>
          <p:nvPr/>
        </p:nvSpPr>
        <p:spPr>
          <a:xfrm>
            <a:off x="2103120" y="4864608"/>
            <a:ext cx="100584" cy="100584"/>
          </a:xfrm>
          <a:prstGeom prst="ellipse">
            <a:avLst/>
          </a:prstGeom>
          <a:ln w="9525">
            <a:solidFill>
              <a:srgbClr val="6B74A8"/>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B8BFE6"/>
                </a:solidFill>
              </a:rPr>
              <a:t>4 Modelling the system</a:t>
            </a:r>
            <a:endParaRPr lang="en-US" sz="1000" dirty="0"/>
          </a:p>
        </p:txBody>
      </p:sp>
      <p:sp>
        <p:nvSpPr>
          <p:cNvPr id="15" name="Shape 13"/>
          <p:cNvSpPr/>
          <p:nvPr/>
        </p:nvSpPr>
        <p:spPr>
          <a:xfrm>
            <a:off x="457200" y="1325880"/>
            <a:ext cx="1508760" cy="1005840"/>
          </a:xfrm>
          <a:prstGeom prst="roundRect">
            <a:avLst>
              <a:gd name="adj" fmla="val 7273"/>
            </a:avLst>
          </a:prstGeom>
          <a:solidFill>
            <a:srgbClr val="E3F2FD"/>
          </a:solidFill>
          <a:ln w="12700">
            <a:solidFill>
              <a:srgbClr val="1565C0"/>
            </a:solidFill>
            <a:prstDash val="solid"/>
          </a:ln>
        </p:spPr>
      </p:sp>
      <p:sp>
        <p:nvSpPr>
          <p:cNvPr id="16" name="Text 14"/>
          <p:cNvSpPr txBox="1"/>
          <p:nvPr/>
        </p:nvSpPr>
        <p:spPr>
          <a:xfrm>
            <a:off x="548640" y="1325880"/>
            <a:ext cx="1325880" cy="1005840"/>
          </a:xfrm>
          <a:prstGeom prst="rect">
            <a:avLst/>
          </a:prstGeom>
          <a:noFill/>
          <a:ln/>
        </p:spPr>
        <p:txBody>
          <a:bodyPr wrap="square" lIns="0" tIns="0" rIns="0" bIns="0" rtlCol="0" anchor="ctr"/>
          <a:lstStyle/>
          <a:p>
            <a:pPr algn="ctr" indent="0" marL="0">
              <a:buNone/>
            </a:pPr>
            <a:r>
              <a:rPr lang="en-US" sz="1200" dirty="0">
                <a:solidFill>
                  <a:srgbClr val="1F2430"/>
                </a:solidFill>
              </a:rPr>
              <a:t>Standing booking, flat all week</a:t>
            </a:r>
            <a:endParaRPr lang="en-US" sz="1200" dirty="0"/>
          </a:p>
        </p:txBody>
      </p:sp>
      <p:sp>
        <p:nvSpPr>
          <p:cNvPr id="17" name="Shape 15"/>
          <p:cNvSpPr/>
          <p:nvPr/>
        </p:nvSpPr>
        <p:spPr>
          <a:xfrm>
            <a:off x="1965960" y="1828800"/>
            <a:ext cx="173736" cy="0"/>
          </a:xfrm>
          <a:prstGeom prst="line">
            <a:avLst/>
          </a:prstGeom>
          <a:noFill/>
          <a:ln w="25400">
            <a:solidFill>
              <a:srgbClr val="B8BFE6"/>
            </a:solidFill>
            <a:prstDash val="solid"/>
            <a:tailEnd type="triangle"/>
          </a:ln>
        </p:spPr>
      </p:sp>
      <p:sp>
        <p:nvSpPr>
          <p:cNvPr id="18" name="Shape 16"/>
          <p:cNvSpPr/>
          <p:nvPr/>
        </p:nvSpPr>
        <p:spPr>
          <a:xfrm>
            <a:off x="2139696" y="1325880"/>
            <a:ext cx="1508760" cy="1005840"/>
          </a:xfrm>
          <a:prstGeom prst="roundRect">
            <a:avLst>
              <a:gd name="adj" fmla="val 7273"/>
            </a:avLst>
          </a:prstGeom>
          <a:solidFill>
            <a:srgbClr val="E3F2FD"/>
          </a:solidFill>
          <a:ln w="12700">
            <a:solidFill>
              <a:srgbClr val="1565C0"/>
            </a:solidFill>
            <a:prstDash val="solid"/>
          </a:ln>
        </p:spPr>
      </p:sp>
      <p:sp>
        <p:nvSpPr>
          <p:cNvPr id="19" name="Text 17"/>
          <p:cNvSpPr txBox="1"/>
          <p:nvPr/>
        </p:nvSpPr>
        <p:spPr>
          <a:xfrm>
            <a:off x="2231136" y="1325880"/>
            <a:ext cx="1325880" cy="1005840"/>
          </a:xfrm>
          <a:prstGeom prst="rect">
            <a:avLst/>
          </a:prstGeom>
          <a:noFill/>
          <a:ln/>
        </p:spPr>
        <p:txBody>
          <a:bodyPr wrap="square" lIns="0" tIns="0" rIns="0" bIns="0" rtlCol="0" anchor="ctr"/>
          <a:lstStyle/>
          <a:p>
            <a:pPr algn="ctr" indent="0" marL="0">
              <a:buNone/>
            </a:pPr>
            <a:r>
              <a:rPr lang="en-US" sz="1200" dirty="0">
                <a:solidFill>
                  <a:srgbClr val="1F2430"/>
                </a:solidFill>
              </a:rPr>
              <a:t>Ratio, about 70%</a:t>
            </a:r>
            <a:endParaRPr lang="en-US" sz="1200" dirty="0"/>
          </a:p>
        </p:txBody>
      </p:sp>
      <p:sp>
        <p:nvSpPr>
          <p:cNvPr id="20" name="Shape 18"/>
          <p:cNvSpPr/>
          <p:nvPr/>
        </p:nvSpPr>
        <p:spPr>
          <a:xfrm>
            <a:off x="3648456" y="1828800"/>
            <a:ext cx="173736" cy="0"/>
          </a:xfrm>
          <a:prstGeom prst="line">
            <a:avLst/>
          </a:prstGeom>
          <a:noFill/>
          <a:ln w="25400">
            <a:solidFill>
              <a:srgbClr val="B8BFE6"/>
            </a:solidFill>
            <a:prstDash val="solid"/>
            <a:tailEnd type="triangle"/>
          </a:ln>
        </p:spPr>
      </p:sp>
      <p:sp>
        <p:nvSpPr>
          <p:cNvPr id="21" name="Shape 19"/>
          <p:cNvSpPr/>
          <p:nvPr/>
        </p:nvSpPr>
        <p:spPr>
          <a:xfrm>
            <a:off x="3822192" y="1325880"/>
            <a:ext cx="1508760" cy="1005840"/>
          </a:xfrm>
          <a:prstGeom prst="roundRect">
            <a:avLst>
              <a:gd name="adj" fmla="val 7273"/>
            </a:avLst>
          </a:prstGeom>
          <a:solidFill>
            <a:srgbClr val="FDECEA"/>
          </a:solidFill>
          <a:ln w="44450">
            <a:solidFill>
              <a:srgbClr val="C62828"/>
            </a:solidFill>
            <a:prstDash val="solid"/>
          </a:ln>
        </p:spPr>
      </p:sp>
      <p:sp>
        <p:nvSpPr>
          <p:cNvPr id="22" name="Text 20"/>
          <p:cNvSpPr txBox="1"/>
          <p:nvPr/>
        </p:nvSpPr>
        <p:spPr>
          <a:xfrm>
            <a:off x="3913632" y="1325880"/>
            <a:ext cx="1325880" cy="1005840"/>
          </a:xfrm>
          <a:prstGeom prst="rect">
            <a:avLst/>
          </a:prstGeom>
          <a:noFill/>
          <a:ln/>
        </p:spPr>
        <p:txBody>
          <a:bodyPr wrap="square" lIns="0" tIns="0" rIns="0" bIns="0" rtlCol="0" anchor="ctr"/>
          <a:lstStyle/>
          <a:p>
            <a:pPr algn="ctr" indent="0" marL="0">
              <a:buNone/>
            </a:pPr>
            <a:r>
              <a:rPr lang="en-US" sz="1200" b="1" dirty="0">
                <a:solidFill>
                  <a:srgbClr val="1F2430"/>
                </a:solidFill>
              </a:rPr>
              <a:t>First batch: can be topped up, never reduced</a:t>
            </a:r>
            <a:endParaRPr lang="en-US" sz="1200" dirty="0"/>
          </a:p>
        </p:txBody>
      </p:sp>
      <p:sp>
        <p:nvSpPr>
          <p:cNvPr id="23" name="Shape 21"/>
          <p:cNvSpPr/>
          <p:nvPr/>
        </p:nvSpPr>
        <p:spPr>
          <a:xfrm>
            <a:off x="5330952" y="1828800"/>
            <a:ext cx="173736" cy="0"/>
          </a:xfrm>
          <a:prstGeom prst="line">
            <a:avLst/>
          </a:prstGeom>
          <a:noFill/>
          <a:ln w="25400">
            <a:solidFill>
              <a:srgbClr val="B8BFE6"/>
            </a:solidFill>
            <a:prstDash val="solid"/>
            <a:tailEnd type="triangle"/>
          </a:ln>
        </p:spPr>
      </p:sp>
      <p:sp>
        <p:nvSpPr>
          <p:cNvPr id="24" name="Shape 22"/>
          <p:cNvSpPr/>
          <p:nvPr/>
        </p:nvSpPr>
        <p:spPr>
          <a:xfrm>
            <a:off x="5504688" y="1325880"/>
            <a:ext cx="1508760" cy="1005840"/>
          </a:xfrm>
          <a:prstGeom prst="roundRect">
            <a:avLst>
              <a:gd name="adj" fmla="val 7273"/>
            </a:avLst>
          </a:prstGeom>
          <a:solidFill>
            <a:srgbClr val="FFF8E1"/>
          </a:solidFill>
          <a:ln w="12700">
            <a:solidFill>
              <a:srgbClr val="F57F17"/>
            </a:solidFill>
            <a:prstDash val="solid"/>
          </a:ln>
        </p:spPr>
      </p:sp>
      <p:sp>
        <p:nvSpPr>
          <p:cNvPr id="25" name="Text 23"/>
          <p:cNvSpPr txBox="1"/>
          <p:nvPr/>
        </p:nvSpPr>
        <p:spPr>
          <a:xfrm>
            <a:off x="5596128" y="1325880"/>
            <a:ext cx="1325880" cy="1005840"/>
          </a:xfrm>
          <a:prstGeom prst="rect">
            <a:avLst/>
          </a:prstGeom>
          <a:noFill/>
          <a:ln/>
        </p:spPr>
        <p:txBody>
          <a:bodyPr wrap="square" lIns="0" tIns="0" rIns="0" bIns="0" rtlCol="0" anchor="ctr"/>
          <a:lstStyle/>
          <a:p>
            <a:pPr algn="ctr" indent="0" marL="0">
              <a:buNone/>
            </a:pPr>
            <a:r>
              <a:rPr lang="en-US" sz="1200" dirty="0">
                <a:solidFill>
                  <a:srgbClr val="1F2430"/>
                </a:solidFill>
              </a:rPr>
              <a:t>Crest in the last quarter hour, 9:15 to 9:30</a:t>
            </a:r>
            <a:endParaRPr lang="en-US" sz="1200" dirty="0"/>
          </a:p>
        </p:txBody>
      </p:sp>
      <p:sp>
        <p:nvSpPr>
          <p:cNvPr id="26" name="Shape 24"/>
          <p:cNvSpPr/>
          <p:nvPr/>
        </p:nvSpPr>
        <p:spPr>
          <a:xfrm>
            <a:off x="7013448" y="1828800"/>
            <a:ext cx="173736" cy="0"/>
          </a:xfrm>
          <a:prstGeom prst="line">
            <a:avLst/>
          </a:prstGeom>
          <a:noFill/>
          <a:ln w="25400">
            <a:solidFill>
              <a:srgbClr val="B8BFE6"/>
            </a:solidFill>
            <a:prstDash val="solid"/>
            <a:tailEnd type="triangle"/>
          </a:ln>
        </p:spPr>
      </p:sp>
      <p:sp>
        <p:nvSpPr>
          <p:cNvPr id="27" name="Shape 25"/>
          <p:cNvSpPr/>
          <p:nvPr/>
        </p:nvSpPr>
        <p:spPr>
          <a:xfrm>
            <a:off x="7187184" y="1325880"/>
            <a:ext cx="1508760" cy="1005840"/>
          </a:xfrm>
          <a:prstGeom prst="roundRect">
            <a:avLst>
              <a:gd name="adj" fmla="val 7273"/>
            </a:avLst>
          </a:prstGeom>
          <a:solidFill>
            <a:srgbClr val="FDECEA"/>
          </a:solidFill>
          <a:ln w="12700">
            <a:solidFill>
              <a:srgbClr val="C62828"/>
            </a:solidFill>
            <a:prstDash val="solid"/>
          </a:ln>
        </p:spPr>
      </p:sp>
      <p:sp>
        <p:nvSpPr>
          <p:cNvPr id="28" name="Text 26"/>
          <p:cNvSpPr txBox="1"/>
          <p:nvPr/>
        </p:nvSpPr>
        <p:spPr>
          <a:xfrm>
            <a:off x="7278624" y="1325880"/>
            <a:ext cx="1325880" cy="1005840"/>
          </a:xfrm>
          <a:prstGeom prst="rect">
            <a:avLst/>
          </a:prstGeom>
          <a:noFill/>
          <a:ln/>
        </p:spPr>
        <p:txBody>
          <a:bodyPr wrap="square" lIns="0" tIns="0" rIns="0" bIns="0" rtlCol="0" anchor="ctr"/>
          <a:lstStyle/>
          <a:p>
            <a:pPr algn="ctr" indent="0" marL="0">
              <a:buNone/>
            </a:pPr>
            <a:r>
              <a:rPr lang="en-US" sz="1200" dirty="0">
                <a:solidFill>
                  <a:srgbClr val="1F2430"/>
                </a:solidFill>
              </a:rPr>
              <a:t>Shortage and surplus on the same morning</a:t>
            </a:r>
            <a:endParaRPr lang="en-US" sz="1200" dirty="0"/>
          </a:p>
        </p:txBody>
      </p:sp>
      <p:sp>
        <p:nvSpPr>
          <p:cNvPr id="29" name="Text 27"/>
          <p:cNvSpPr txBox="1"/>
          <p:nvPr/>
        </p:nvSpPr>
        <p:spPr>
          <a:xfrm>
            <a:off x="3822192" y="2395728"/>
            <a:ext cx="1508760" cy="182880"/>
          </a:xfrm>
          <a:prstGeom prst="rect">
            <a:avLst/>
          </a:prstGeom>
          <a:noFill/>
          <a:ln/>
        </p:spPr>
        <p:txBody>
          <a:bodyPr wrap="square" lIns="0" tIns="0" rIns="0" bIns="0" rtlCol="0" anchor="t"/>
          <a:lstStyle/>
          <a:p>
            <a:pPr algn="ctr" indent="0" marL="0">
              <a:buNone/>
            </a:pPr>
            <a:r>
              <a:rPr lang="en-US" sz="950" b="1" spc="200" kern="0" dirty="0">
                <a:solidFill>
                  <a:srgbClr val="FF8A80"/>
                </a:solidFill>
              </a:rPr>
              <a:t>THE BOTTLENECK</a:t>
            </a:r>
            <a:endParaRPr lang="en-US" sz="950" dirty="0"/>
          </a:p>
        </p:txBody>
      </p:sp>
      <p:sp>
        <p:nvSpPr>
          <p:cNvPr id="30" name="Shape 28"/>
          <p:cNvSpPr/>
          <p:nvPr/>
        </p:nvSpPr>
        <p:spPr>
          <a:xfrm>
            <a:off x="457200" y="3429000"/>
            <a:ext cx="1920240" cy="868680"/>
          </a:xfrm>
          <a:prstGeom prst="roundRect">
            <a:avLst>
              <a:gd name="adj" fmla="val 8421"/>
            </a:avLst>
          </a:prstGeom>
          <a:solidFill>
            <a:srgbClr val="F3E5F5"/>
          </a:solidFill>
          <a:ln w="12700">
            <a:solidFill>
              <a:srgbClr val="6A1B9A"/>
            </a:solidFill>
            <a:prstDash val="solid"/>
          </a:ln>
        </p:spPr>
      </p:sp>
      <p:sp>
        <p:nvSpPr>
          <p:cNvPr id="31" name="Shape 29"/>
          <p:cNvSpPr/>
          <p:nvPr/>
        </p:nvSpPr>
        <p:spPr>
          <a:xfrm>
            <a:off x="676656" y="3671316"/>
            <a:ext cx="384048" cy="384048"/>
          </a:xfrm>
          <a:prstGeom prst="ellipse">
            <a:avLst/>
          </a:prstGeom>
          <a:solidFill>
            <a:srgbClr val="6A1B9A"/>
          </a:solidFill>
          <a:ln/>
        </p:spPr>
      </p:sp>
      <p:pic>
        <p:nvPicPr>
          <p:cNvPr id="32" name="Image 0" descr="QrCodeScanner">    </p:cNvPr>
          <p:cNvPicPr>
            <a:picLocks noChangeAspect="1"/>
          </p:cNvPicPr>
          <p:nvPr/>
        </p:nvPicPr>
        <p:blipFill>
          <a:blip r:embed="rId1"/>
          <a:stretch>
            <a:fillRect/>
          </a:stretch>
        </p:blipFill>
        <p:spPr>
          <a:xfrm>
            <a:off x="753466" y="3748126"/>
            <a:ext cx="230429" cy="230429"/>
          </a:xfrm>
          <a:prstGeom prst="rect">
            <a:avLst/>
          </a:prstGeom>
        </p:spPr>
      </p:pic>
      <p:sp>
        <p:nvSpPr>
          <p:cNvPr id="33" name="Text 30"/>
          <p:cNvSpPr txBox="1"/>
          <p:nvPr/>
        </p:nvSpPr>
        <p:spPr>
          <a:xfrm>
            <a:off x="1188720" y="3429000"/>
            <a:ext cx="1143000" cy="868680"/>
          </a:xfrm>
          <a:prstGeom prst="rect">
            <a:avLst/>
          </a:prstGeom>
          <a:noFill/>
          <a:ln/>
        </p:spPr>
        <p:txBody>
          <a:bodyPr wrap="square" lIns="0" tIns="0" rIns="0" bIns="0" rtlCol="0" anchor="ctr"/>
          <a:lstStyle/>
          <a:p>
            <a:pPr algn="l" indent="0" marL="0">
              <a:buNone/>
            </a:pPr>
            <a:r>
              <a:rPr lang="en-US" sz="1200" b="1" dirty="0">
                <a:solidFill>
                  <a:srgbClr val="1F2430"/>
                </a:solidFill>
              </a:rPr>
              <a:t>Scans and books</a:t>
            </a:r>
            <a:endParaRPr lang="en-US" sz="1200" dirty="0"/>
          </a:p>
        </p:txBody>
      </p:sp>
      <p:sp>
        <p:nvSpPr>
          <p:cNvPr id="34" name="Shape 31"/>
          <p:cNvSpPr/>
          <p:nvPr/>
        </p:nvSpPr>
        <p:spPr>
          <a:xfrm>
            <a:off x="4572000" y="2606040"/>
            <a:ext cx="0" cy="411480"/>
          </a:xfrm>
          <a:prstGeom prst="line">
            <a:avLst/>
          </a:prstGeom>
          <a:noFill/>
          <a:ln w="19050">
            <a:solidFill>
              <a:srgbClr val="B8BFE6"/>
            </a:solidFill>
            <a:prstDash val="dash"/>
          </a:ln>
        </p:spPr>
      </p:sp>
      <p:sp>
        <p:nvSpPr>
          <p:cNvPr id="35" name="Shape 32"/>
          <p:cNvSpPr/>
          <p:nvPr/>
        </p:nvSpPr>
        <p:spPr>
          <a:xfrm flipH="1">
            <a:off x="1417320" y="3017520"/>
            <a:ext cx="3154680" cy="0"/>
          </a:xfrm>
          <a:prstGeom prst="line">
            <a:avLst/>
          </a:prstGeom>
          <a:noFill/>
          <a:ln w="19050">
            <a:solidFill>
              <a:srgbClr val="B8BFE6"/>
            </a:solidFill>
            <a:prstDash val="dash"/>
          </a:ln>
        </p:spPr>
      </p:sp>
      <p:sp>
        <p:nvSpPr>
          <p:cNvPr id="36" name="Shape 33"/>
          <p:cNvSpPr/>
          <p:nvPr/>
        </p:nvSpPr>
        <p:spPr>
          <a:xfrm>
            <a:off x="1417320" y="3017520"/>
            <a:ext cx="0" cy="384048"/>
          </a:xfrm>
          <a:prstGeom prst="line">
            <a:avLst/>
          </a:prstGeom>
          <a:noFill/>
          <a:ln w="19050">
            <a:solidFill>
              <a:srgbClr val="B8BFE6"/>
            </a:solidFill>
            <a:prstDash val="dash"/>
            <a:tailEnd type="triangle"/>
          </a:ln>
        </p:spPr>
      </p:sp>
      <p:sp>
        <p:nvSpPr>
          <p:cNvPr id="37" name="Shape 34"/>
          <p:cNvSpPr/>
          <p:nvPr/>
        </p:nvSpPr>
        <p:spPr>
          <a:xfrm>
            <a:off x="6766560" y="3429000"/>
            <a:ext cx="1920240" cy="868680"/>
          </a:xfrm>
          <a:prstGeom prst="roundRect">
            <a:avLst>
              <a:gd name="adj" fmla="val 8421"/>
            </a:avLst>
          </a:prstGeom>
          <a:solidFill>
            <a:srgbClr val="E0F2F1"/>
          </a:solidFill>
          <a:ln w="12700">
            <a:solidFill>
              <a:srgbClr val="00695C"/>
            </a:solidFill>
            <a:prstDash val="solid"/>
          </a:ln>
        </p:spPr>
      </p:sp>
      <p:sp>
        <p:nvSpPr>
          <p:cNvPr id="38" name="Shape 35"/>
          <p:cNvSpPr/>
          <p:nvPr/>
        </p:nvSpPr>
        <p:spPr>
          <a:xfrm>
            <a:off x="6986016" y="3671316"/>
            <a:ext cx="384048" cy="384048"/>
          </a:xfrm>
          <a:prstGeom prst="ellipse">
            <a:avLst/>
          </a:prstGeom>
          <a:solidFill>
            <a:srgbClr val="00695C"/>
          </a:solidFill>
          <a:ln/>
        </p:spPr>
      </p:sp>
      <p:pic>
        <p:nvPicPr>
          <p:cNvPr id="39" name="Image 1" descr="AccountBalance">    </p:cNvPr>
          <p:cNvPicPr>
            <a:picLocks noChangeAspect="1"/>
          </p:cNvPicPr>
          <p:nvPr/>
        </p:nvPicPr>
        <p:blipFill>
          <a:blip r:embed="rId2"/>
          <a:stretch>
            <a:fillRect/>
          </a:stretch>
        </p:blipFill>
        <p:spPr>
          <a:xfrm>
            <a:off x="7062826" y="3748126"/>
            <a:ext cx="230429" cy="230429"/>
          </a:xfrm>
          <a:prstGeom prst="rect">
            <a:avLst/>
          </a:prstGeom>
        </p:spPr>
      </p:pic>
      <p:sp>
        <p:nvSpPr>
          <p:cNvPr id="40" name="Text 36"/>
          <p:cNvSpPr txBox="1"/>
          <p:nvPr/>
        </p:nvSpPr>
        <p:spPr>
          <a:xfrm>
            <a:off x="7498080" y="3429000"/>
            <a:ext cx="1143000" cy="868680"/>
          </a:xfrm>
          <a:prstGeom prst="rect">
            <a:avLst/>
          </a:prstGeom>
          <a:noFill/>
          <a:ln/>
        </p:spPr>
        <p:txBody>
          <a:bodyPr wrap="square" lIns="0" tIns="0" rIns="0" bIns="0" rtlCol="0" anchor="ctr"/>
          <a:lstStyle/>
          <a:p>
            <a:pPr algn="l" indent="0" marL="0">
              <a:buNone/>
            </a:pPr>
            <a:r>
              <a:rPr lang="en-US" sz="1200" b="1" dirty="0">
                <a:solidFill>
                  <a:srgbClr val="1F2430"/>
                </a:solidFill>
              </a:rPr>
              <a:t>Who decides</a:t>
            </a:r>
            <a:endParaRPr lang="en-US" sz="1200" dirty="0"/>
          </a:p>
        </p:txBody>
      </p:sp>
      <p:sp>
        <p:nvSpPr>
          <p:cNvPr id="41" name="Shape 37"/>
          <p:cNvSpPr/>
          <p:nvPr/>
        </p:nvSpPr>
        <p:spPr>
          <a:xfrm>
            <a:off x="2423160" y="3863340"/>
            <a:ext cx="1920240" cy="0"/>
          </a:xfrm>
          <a:prstGeom prst="line">
            <a:avLst/>
          </a:prstGeom>
          <a:noFill/>
          <a:ln w="31750">
            <a:solidFill>
              <a:srgbClr val="FF8A80"/>
            </a:solidFill>
            <a:prstDash val="dash"/>
          </a:ln>
        </p:spPr>
      </p:sp>
      <p:sp>
        <p:nvSpPr>
          <p:cNvPr id="42" name="Shape 38"/>
          <p:cNvSpPr/>
          <p:nvPr/>
        </p:nvSpPr>
        <p:spPr>
          <a:xfrm>
            <a:off x="4800600" y="3863340"/>
            <a:ext cx="1920240" cy="0"/>
          </a:xfrm>
          <a:prstGeom prst="line">
            <a:avLst/>
          </a:prstGeom>
          <a:noFill/>
          <a:ln w="31750">
            <a:solidFill>
              <a:srgbClr val="FF8A80"/>
            </a:solidFill>
            <a:prstDash val="dash"/>
            <a:tailEnd type="triangle"/>
          </a:ln>
        </p:spPr>
      </p:sp>
      <p:sp>
        <p:nvSpPr>
          <p:cNvPr id="43" name="Shape 39"/>
          <p:cNvSpPr/>
          <p:nvPr/>
        </p:nvSpPr>
        <p:spPr>
          <a:xfrm>
            <a:off x="4416552" y="3707892"/>
            <a:ext cx="310896" cy="310896"/>
          </a:xfrm>
          <a:prstGeom prst="ellipse">
            <a:avLst/>
          </a:prstGeom>
          <a:solidFill>
            <a:srgbClr val="FF8A80"/>
          </a:solidFill>
          <a:ln/>
        </p:spPr>
      </p:sp>
      <p:pic>
        <p:nvPicPr>
          <p:cNvPr id="44" name="Image 2" descr="LinkOff">    </p:cNvPr>
          <p:cNvPicPr>
            <a:picLocks noChangeAspect="1"/>
          </p:cNvPicPr>
          <p:nvPr/>
        </p:nvPicPr>
        <p:blipFill>
          <a:blip r:embed="rId3"/>
          <a:stretch>
            <a:fillRect/>
          </a:stretch>
        </p:blipFill>
        <p:spPr>
          <a:xfrm>
            <a:off x="4478731" y="3770071"/>
            <a:ext cx="186538" cy="186538"/>
          </a:xfrm>
          <a:prstGeom prst="rect">
            <a:avLst/>
          </a:prstGeom>
        </p:spPr>
      </p:pic>
      <p:sp>
        <p:nvSpPr>
          <p:cNvPr id="45" name="Text 40"/>
          <p:cNvSpPr txBox="1"/>
          <p:nvPr/>
        </p:nvSpPr>
        <p:spPr>
          <a:xfrm>
            <a:off x="3749040" y="4082796"/>
            <a:ext cx="1645920" cy="219456"/>
          </a:xfrm>
          <a:prstGeom prst="rect">
            <a:avLst/>
          </a:prstGeom>
          <a:noFill/>
          <a:ln/>
        </p:spPr>
        <p:txBody>
          <a:bodyPr wrap="square" lIns="0" tIns="0" rIns="0" bIns="0" rtlCol="0" anchor="t"/>
          <a:lstStyle/>
          <a:p>
            <a:pPr algn="ctr" indent="0" marL="0">
              <a:buNone/>
            </a:pPr>
            <a:r>
              <a:rPr lang="en-US" sz="1100" b="1" dirty="0">
                <a:solidFill>
                  <a:srgbClr val="FF8A80"/>
                </a:solidFill>
              </a:rPr>
              <a:t>no route</a:t>
            </a:r>
            <a:endParaRPr lang="en-US" sz="1100" dirty="0"/>
          </a:p>
        </p:txBody>
      </p:sp>
      <p:sp>
        <p:nvSpPr>
          <p:cNvPr id="46" name="Text 41"/>
          <p:cNvSpPr txBox="1"/>
          <p:nvPr/>
        </p:nvSpPr>
        <p:spPr>
          <a:xfrm>
            <a:off x="457200" y="4480560"/>
            <a:ext cx="7315200" cy="256032"/>
          </a:xfrm>
          <a:prstGeom prst="rect">
            <a:avLst/>
          </a:prstGeom>
          <a:noFill/>
          <a:ln/>
        </p:spPr>
        <p:txBody>
          <a:bodyPr wrap="square" lIns="0" tIns="0" rIns="0" bIns="0" rtlCol="0" anchor="t"/>
          <a:lstStyle/>
          <a:p>
            <a:pPr algn="l" indent="0" marL="0">
              <a:buNone/>
            </a:pPr>
            <a:r>
              <a:rPr lang="en-US" sz="1400" dirty="0">
                <a:solidFill>
                  <a:srgbClr val="B8BFE6"/>
                </a:solidFill>
              </a:rPr>
              <a:t>The gap is recorded in the kitchen and goes no further.</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Eight absorbers take up the surplus before the rule setters see it</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982980" y="4841748"/>
            <a:ext cx="146304" cy="146304"/>
          </a:xfrm>
          <a:prstGeom prst="ellipse">
            <a:avLst/>
          </a:prstGeom>
          <a:solidFill>
            <a:srgbClr val="1A237E"/>
          </a:solidFill>
          <a:ln/>
        </p:spPr>
      </p:sp>
      <p:sp>
        <p:nvSpPr>
          <p:cNvPr id="7" name="Shape 5"/>
          <p:cNvSpPr/>
          <p:nvPr/>
        </p:nvSpPr>
        <p:spPr>
          <a:xfrm>
            <a:off x="946404" y="4805172"/>
            <a:ext cx="219456" cy="219456"/>
          </a:xfrm>
          <a:prstGeom prst="ellipse">
            <a:avLst/>
          </a:prstGeom>
          <a:ln w="9525">
            <a:solidFill>
              <a:srgbClr val="1A237E"/>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4 Modelling the system</a:t>
            </a:r>
            <a:endParaRPr lang="en-US" sz="1000" dirty="0"/>
          </a:p>
        </p:txBody>
      </p:sp>
      <p:sp>
        <p:nvSpPr>
          <p:cNvPr id="15" name="Shape 13"/>
          <p:cNvSpPr/>
          <p:nvPr/>
        </p:nvSpPr>
        <p:spPr>
          <a:xfrm>
            <a:off x="457200" y="1261872"/>
            <a:ext cx="1508760" cy="457200"/>
          </a:xfrm>
          <a:prstGeom prst="roundRect">
            <a:avLst>
              <a:gd name="adj" fmla="val 12000"/>
            </a:avLst>
          </a:prstGeom>
          <a:solidFill>
            <a:srgbClr val="F2F2F2"/>
          </a:solidFill>
          <a:ln w="9525">
            <a:solidFill>
              <a:srgbClr val="9AA3B5"/>
            </a:solidFill>
            <a:prstDash val="solid"/>
          </a:ln>
        </p:spPr>
      </p:sp>
      <p:sp>
        <p:nvSpPr>
          <p:cNvPr id="16" name="Text 14"/>
          <p:cNvSpPr txBox="1"/>
          <p:nvPr/>
        </p:nvSpPr>
        <p:spPr>
          <a:xfrm>
            <a:off x="512064" y="1261872"/>
            <a:ext cx="1399032" cy="457200"/>
          </a:xfrm>
          <a:prstGeom prst="rect">
            <a:avLst/>
          </a:prstGeom>
          <a:noFill/>
          <a:ln/>
        </p:spPr>
        <p:txBody>
          <a:bodyPr wrap="square" lIns="0" tIns="0" rIns="0" bIns="0" rtlCol="0" anchor="ctr"/>
          <a:lstStyle/>
          <a:p>
            <a:pPr algn="ctr" indent="0" marL="0">
              <a:buNone/>
            </a:pPr>
            <a:r>
              <a:rPr lang="en-US" sz="950" dirty="0">
                <a:solidFill>
                  <a:srgbClr val="616161"/>
                </a:solidFill>
              </a:rPr>
              <a:t>Standing booking, flat all week</a:t>
            </a:r>
            <a:endParaRPr lang="en-US" sz="950" dirty="0"/>
          </a:p>
        </p:txBody>
      </p:sp>
      <p:sp>
        <p:nvSpPr>
          <p:cNvPr id="17" name="Shape 15"/>
          <p:cNvSpPr/>
          <p:nvPr/>
        </p:nvSpPr>
        <p:spPr>
          <a:xfrm>
            <a:off x="2139696" y="1261872"/>
            <a:ext cx="1508760" cy="457200"/>
          </a:xfrm>
          <a:prstGeom prst="roundRect">
            <a:avLst>
              <a:gd name="adj" fmla="val 12000"/>
            </a:avLst>
          </a:prstGeom>
          <a:solidFill>
            <a:srgbClr val="F2F2F2"/>
          </a:solidFill>
          <a:ln w="9525">
            <a:solidFill>
              <a:srgbClr val="9AA3B5"/>
            </a:solidFill>
            <a:prstDash val="solid"/>
          </a:ln>
        </p:spPr>
      </p:sp>
      <p:sp>
        <p:nvSpPr>
          <p:cNvPr id="18" name="Text 16"/>
          <p:cNvSpPr txBox="1"/>
          <p:nvPr/>
        </p:nvSpPr>
        <p:spPr>
          <a:xfrm>
            <a:off x="2194560" y="1261872"/>
            <a:ext cx="1399032" cy="457200"/>
          </a:xfrm>
          <a:prstGeom prst="rect">
            <a:avLst/>
          </a:prstGeom>
          <a:noFill/>
          <a:ln/>
        </p:spPr>
        <p:txBody>
          <a:bodyPr wrap="square" lIns="0" tIns="0" rIns="0" bIns="0" rtlCol="0" anchor="ctr"/>
          <a:lstStyle/>
          <a:p>
            <a:pPr algn="ctr" indent="0" marL="0">
              <a:buNone/>
            </a:pPr>
            <a:r>
              <a:rPr lang="en-US" sz="950" dirty="0">
                <a:solidFill>
                  <a:srgbClr val="616161"/>
                </a:solidFill>
              </a:rPr>
              <a:t>Ratio, about 70%</a:t>
            </a:r>
            <a:endParaRPr lang="en-US" sz="950" dirty="0"/>
          </a:p>
        </p:txBody>
      </p:sp>
      <p:sp>
        <p:nvSpPr>
          <p:cNvPr id="19" name="Shape 17"/>
          <p:cNvSpPr/>
          <p:nvPr/>
        </p:nvSpPr>
        <p:spPr>
          <a:xfrm>
            <a:off x="3822192" y="1261872"/>
            <a:ext cx="1508760" cy="457200"/>
          </a:xfrm>
          <a:prstGeom prst="roundRect">
            <a:avLst>
              <a:gd name="adj" fmla="val 12000"/>
            </a:avLst>
          </a:prstGeom>
          <a:solidFill>
            <a:srgbClr val="F2F2F2"/>
          </a:solidFill>
          <a:ln w="25400">
            <a:solidFill>
              <a:srgbClr val="C62828"/>
            </a:solidFill>
            <a:prstDash val="solid"/>
          </a:ln>
        </p:spPr>
      </p:sp>
      <p:sp>
        <p:nvSpPr>
          <p:cNvPr id="20" name="Text 18"/>
          <p:cNvSpPr txBox="1"/>
          <p:nvPr/>
        </p:nvSpPr>
        <p:spPr>
          <a:xfrm>
            <a:off x="3877056" y="1261872"/>
            <a:ext cx="1399032" cy="457200"/>
          </a:xfrm>
          <a:prstGeom prst="rect">
            <a:avLst/>
          </a:prstGeom>
          <a:noFill/>
          <a:ln/>
        </p:spPr>
        <p:txBody>
          <a:bodyPr wrap="square" lIns="0" tIns="0" rIns="0" bIns="0" rtlCol="0" anchor="ctr"/>
          <a:lstStyle/>
          <a:p>
            <a:pPr algn="ctr" indent="0" marL="0">
              <a:buNone/>
            </a:pPr>
            <a:r>
              <a:rPr lang="en-US" sz="950" dirty="0">
                <a:solidFill>
                  <a:srgbClr val="616161"/>
                </a:solidFill>
              </a:rPr>
              <a:t>First batch: can be topped up, never reduced</a:t>
            </a:r>
            <a:endParaRPr lang="en-US" sz="950" dirty="0"/>
          </a:p>
        </p:txBody>
      </p:sp>
      <p:sp>
        <p:nvSpPr>
          <p:cNvPr id="21" name="Shape 19"/>
          <p:cNvSpPr/>
          <p:nvPr/>
        </p:nvSpPr>
        <p:spPr>
          <a:xfrm>
            <a:off x="5504688" y="1261872"/>
            <a:ext cx="1508760" cy="457200"/>
          </a:xfrm>
          <a:prstGeom prst="roundRect">
            <a:avLst>
              <a:gd name="adj" fmla="val 12000"/>
            </a:avLst>
          </a:prstGeom>
          <a:solidFill>
            <a:srgbClr val="F2F2F2"/>
          </a:solidFill>
          <a:ln w="9525">
            <a:solidFill>
              <a:srgbClr val="9AA3B5"/>
            </a:solidFill>
            <a:prstDash val="solid"/>
          </a:ln>
        </p:spPr>
      </p:sp>
      <p:sp>
        <p:nvSpPr>
          <p:cNvPr id="22" name="Text 20"/>
          <p:cNvSpPr txBox="1"/>
          <p:nvPr/>
        </p:nvSpPr>
        <p:spPr>
          <a:xfrm>
            <a:off x="5559552" y="1261872"/>
            <a:ext cx="1399032" cy="457200"/>
          </a:xfrm>
          <a:prstGeom prst="rect">
            <a:avLst/>
          </a:prstGeom>
          <a:noFill/>
          <a:ln/>
        </p:spPr>
        <p:txBody>
          <a:bodyPr wrap="square" lIns="0" tIns="0" rIns="0" bIns="0" rtlCol="0" anchor="ctr"/>
          <a:lstStyle/>
          <a:p>
            <a:pPr algn="ctr" indent="0" marL="0">
              <a:buNone/>
            </a:pPr>
            <a:r>
              <a:rPr lang="en-US" sz="950" dirty="0">
                <a:solidFill>
                  <a:srgbClr val="616161"/>
                </a:solidFill>
              </a:rPr>
              <a:t>Crest in the last quarter hour, 9:15 to 9:30</a:t>
            </a:r>
            <a:endParaRPr lang="en-US" sz="950" dirty="0"/>
          </a:p>
        </p:txBody>
      </p:sp>
      <p:sp>
        <p:nvSpPr>
          <p:cNvPr id="23" name="Shape 21"/>
          <p:cNvSpPr/>
          <p:nvPr/>
        </p:nvSpPr>
        <p:spPr>
          <a:xfrm>
            <a:off x="7187184" y="1261872"/>
            <a:ext cx="1508760" cy="457200"/>
          </a:xfrm>
          <a:prstGeom prst="roundRect">
            <a:avLst>
              <a:gd name="adj" fmla="val 12000"/>
            </a:avLst>
          </a:prstGeom>
          <a:solidFill>
            <a:srgbClr val="F2F2F2"/>
          </a:solidFill>
          <a:ln w="9525">
            <a:solidFill>
              <a:srgbClr val="9AA3B5"/>
            </a:solidFill>
            <a:prstDash val="solid"/>
          </a:ln>
        </p:spPr>
      </p:sp>
      <p:sp>
        <p:nvSpPr>
          <p:cNvPr id="24" name="Text 22"/>
          <p:cNvSpPr txBox="1"/>
          <p:nvPr/>
        </p:nvSpPr>
        <p:spPr>
          <a:xfrm>
            <a:off x="7242048" y="1261872"/>
            <a:ext cx="1399032" cy="457200"/>
          </a:xfrm>
          <a:prstGeom prst="rect">
            <a:avLst/>
          </a:prstGeom>
          <a:noFill/>
          <a:ln/>
        </p:spPr>
        <p:txBody>
          <a:bodyPr wrap="square" lIns="0" tIns="0" rIns="0" bIns="0" rtlCol="0" anchor="ctr"/>
          <a:lstStyle/>
          <a:p>
            <a:pPr algn="ctr" indent="0" marL="0">
              <a:buNone/>
            </a:pPr>
            <a:r>
              <a:rPr lang="en-US" sz="950" dirty="0">
                <a:solidFill>
                  <a:srgbClr val="616161"/>
                </a:solidFill>
              </a:rPr>
              <a:t>Shortage and surplus on the same morning</a:t>
            </a:r>
            <a:endParaRPr lang="en-US" sz="950" dirty="0"/>
          </a:p>
        </p:txBody>
      </p:sp>
      <p:sp>
        <p:nvSpPr>
          <p:cNvPr id="25" name="Shape 23"/>
          <p:cNvSpPr/>
          <p:nvPr/>
        </p:nvSpPr>
        <p:spPr>
          <a:xfrm>
            <a:off x="3913632" y="1764792"/>
            <a:ext cx="1325880" cy="182880"/>
          </a:xfrm>
          <a:prstGeom prst="roundRect">
            <a:avLst>
              <a:gd name="adj" fmla="val 30000"/>
            </a:avLst>
          </a:prstGeom>
          <a:solidFill>
            <a:srgbClr val="FDECEA"/>
          </a:solidFill>
          <a:ln w="12700">
            <a:solidFill>
              <a:srgbClr val="C62828"/>
            </a:solidFill>
            <a:prstDash val="solid"/>
          </a:ln>
        </p:spPr>
      </p:sp>
      <p:sp>
        <p:nvSpPr>
          <p:cNvPr id="26" name="Text 24"/>
          <p:cNvSpPr txBox="1"/>
          <p:nvPr/>
        </p:nvSpPr>
        <p:spPr>
          <a:xfrm>
            <a:off x="3977640" y="1764792"/>
            <a:ext cx="1197864" cy="182880"/>
          </a:xfrm>
          <a:prstGeom prst="rect">
            <a:avLst/>
          </a:prstGeom>
          <a:noFill/>
          <a:ln/>
        </p:spPr>
        <p:txBody>
          <a:bodyPr wrap="square" lIns="0" tIns="0" rIns="0" bIns="0" rtlCol="0" anchor="ctr"/>
          <a:lstStyle/>
          <a:p>
            <a:pPr algn="ctr" indent="0" marL="0">
              <a:buNone/>
            </a:pPr>
            <a:r>
              <a:rPr lang="en-US" sz="900" b="1" dirty="0">
                <a:solidFill>
                  <a:srgbClr val="1F2430"/>
                </a:solidFill>
              </a:rPr>
              <a:t>PROTECTS NO ONE</a:t>
            </a:r>
            <a:endParaRPr lang="en-US" sz="900" dirty="0"/>
          </a:p>
        </p:txBody>
      </p:sp>
      <p:sp>
        <p:nvSpPr>
          <p:cNvPr id="27" name="Text 25"/>
          <p:cNvSpPr txBox="1"/>
          <p:nvPr/>
        </p:nvSpPr>
        <p:spPr>
          <a:xfrm>
            <a:off x="457200" y="2103120"/>
            <a:ext cx="731520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WHERE THE SURPLUS GOES BEFORE ANY RULE SETTER SEES IT</a:t>
            </a:r>
            <a:endParaRPr lang="en-US" sz="1000" dirty="0"/>
          </a:p>
        </p:txBody>
      </p:sp>
      <p:sp>
        <p:nvSpPr>
          <p:cNvPr id="28" name="Shape 26"/>
          <p:cNvSpPr/>
          <p:nvPr/>
        </p:nvSpPr>
        <p:spPr>
          <a:xfrm>
            <a:off x="457200" y="2377440"/>
            <a:ext cx="1993392" cy="914400"/>
          </a:xfrm>
          <a:prstGeom prst="roundRect">
            <a:avLst>
              <a:gd name="adj" fmla="val 8000"/>
            </a:avLst>
          </a:prstGeom>
          <a:solidFill>
            <a:srgbClr val="FFF3E0"/>
          </a:solidFill>
          <a:ln w="12700">
            <a:solidFill>
              <a:srgbClr val="E65100"/>
            </a:solidFill>
            <a:prstDash val="solid"/>
          </a:ln>
        </p:spPr>
      </p:sp>
      <p:sp>
        <p:nvSpPr>
          <p:cNvPr id="29" name="Shape 27"/>
          <p:cNvSpPr/>
          <p:nvPr/>
        </p:nvSpPr>
        <p:spPr>
          <a:xfrm>
            <a:off x="594360" y="2624328"/>
            <a:ext cx="420624" cy="420624"/>
          </a:xfrm>
          <a:prstGeom prst="ellipse">
            <a:avLst/>
          </a:prstGeom>
          <a:solidFill>
            <a:srgbClr val="E65100"/>
          </a:solidFill>
          <a:ln/>
        </p:spPr>
      </p:sp>
      <p:pic>
        <p:nvPicPr>
          <p:cNvPr id="30" name="Image 0" descr="Sell">    </p:cNvPr>
          <p:cNvPicPr>
            <a:picLocks noChangeAspect="1"/>
          </p:cNvPicPr>
          <p:nvPr/>
        </p:nvPicPr>
        <p:blipFill>
          <a:blip r:embed="rId1"/>
          <a:stretch>
            <a:fillRect/>
          </a:stretch>
        </p:blipFill>
        <p:spPr>
          <a:xfrm>
            <a:off x="678485" y="2708453"/>
            <a:ext cx="252374" cy="252374"/>
          </a:xfrm>
          <a:prstGeom prst="rect">
            <a:avLst/>
          </a:prstGeom>
        </p:spPr>
      </p:pic>
      <p:sp>
        <p:nvSpPr>
          <p:cNvPr id="31" name="Text 28"/>
          <p:cNvSpPr txBox="1"/>
          <p:nvPr/>
        </p:nvSpPr>
        <p:spPr>
          <a:xfrm>
            <a:off x="1115568" y="2423160"/>
            <a:ext cx="1280160" cy="822960"/>
          </a:xfrm>
          <a:prstGeom prst="rect">
            <a:avLst/>
          </a:prstGeom>
          <a:noFill/>
          <a:ln/>
        </p:spPr>
        <p:txBody>
          <a:bodyPr wrap="square" lIns="0" tIns="0" rIns="0" bIns="0" rtlCol="0" anchor="ctr"/>
          <a:lstStyle/>
          <a:p>
            <a:pPr algn="l" indent="0" marL="0">
              <a:buNone/>
            </a:pPr>
            <a:r>
              <a:rPr lang="en-US" sz="1200" dirty="0">
                <a:solidFill>
                  <a:srgbClr val="1F2430"/>
                </a:solidFill>
              </a:rPr>
              <a:t>Resale on Mess Cell</a:t>
            </a:r>
            <a:endParaRPr lang="en-US" sz="1200" dirty="0"/>
          </a:p>
        </p:txBody>
      </p:sp>
      <p:sp>
        <p:nvSpPr>
          <p:cNvPr id="32" name="Shape 29"/>
          <p:cNvSpPr/>
          <p:nvPr/>
        </p:nvSpPr>
        <p:spPr>
          <a:xfrm>
            <a:off x="2542032" y="2377440"/>
            <a:ext cx="1993392" cy="914400"/>
          </a:xfrm>
          <a:prstGeom prst="roundRect">
            <a:avLst>
              <a:gd name="adj" fmla="val 8000"/>
            </a:avLst>
          </a:prstGeom>
          <a:solidFill>
            <a:srgbClr val="E0F2F1"/>
          </a:solidFill>
          <a:ln w="12700">
            <a:solidFill>
              <a:srgbClr val="00695C"/>
            </a:solidFill>
            <a:prstDash val="solid"/>
          </a:ln>
        </p:spPr>
      </p:sp>
      <p:sp>
        <p:nvSpPr>
          <p:cNvPr id="33" name="Shape 30"/>
          <p:cNvSpPr/>
          <p:nvPr/>
        </p:nvSpPr>
        <p:spPr>
          <a:xfrm>
            <a:off x="2679192" y="2624328"/>
            <a:ext cx="420624" cy="420624"/>
          </a:xfrm>
          <a:prstGeom prst="ellipse">
            <a:avLst/>
          </a:prstGeom>
          <a:solidFill>
            <a:srgbClr val="00695C"/>
          </a:solidFill>
          <a:ln/>
        </p:spPr>
      </p:sp>
      <p:pic>
        <p:nvPicPr>
          <p:cNvPr id="34" name="Image 1" descr="Tune">    </p:cNvPr>
          <p:cNvPicPr>
            <a:picLocks noChangeAspect="1"/>
          </p:cNvPicPr>
          <p:nvPr/>
        </p:nvPicPr>
        <p:blipFill>
          <a:blip r:embed="rId2"/>
          <a:stretch>
            <a:fillRect/>
          </a:stretch>
        </p:blipFill>
        <p:spPr>
          <a:xfrm>
            <a:off x="2763317" y="2708453"/>
            <a:ext cx="252374" cy="252374"/>
          </a:xfrm>
          <a:prstGeom prst="rect">
            <a:avLst/>
          </a:prstGeom>
        </p:spPr>
      </p:pic>
      <p:sp>
        <p:nvSpPr>
          <p:cNvPr id="35" name="Text 31"/>
          <p:cNvSpPr txBox="1"/>
          <p:nvPr/>
        </p:nvSpPr>
        <p:spPr>
          <a:xfrm>
            <a:off x="3200400" y="2423160"/>
            <a:ext cx="1280160" cy="822960"/>
          </a:xfrm>
          <a:prstGeom prst="rect">
            <a:avLst/>
          </a:prstGeom>
          <a:noFill/>
          <a:ln/>
        </p:spPr>
        <p:txBody>
          <a:bodyPr wrap="square" lIns="0" tIns="0" rIns="0" bIns="0" rtlCol="0" anchor="ctr"/>
          <a:lstStyle/>
          <a:p>
            <a:pPr algn="l" indent="0" marL="0">
              <a:buNone/>
            </a:pPr>
            <a:r>
              <a:rPr lang="en-US" sz="1200" dirty="0">
                <a:solidFill>
                  <a:srgbClr val="1F2430"/>
                </a:solidFill>
              </a:rPr>
              <a:t>Operator top-ups and discount</a:t>
            </a:r>
            <a:endParaRPr lang="en-US" sz="1200" dirty="0"/>
          </a:p>
        </p:txBody>
      </p:sp>
      <p:sp>
        <p:nvSpPr>
          <p:cNvPr id="36" name="Shape 32"/>
          <p:cNvSpPr/>
          <p:nvPr/>
        </p:nvSpPr>
        <p:spPr>
          <a:xfrm>
            <a:off x="4626864" y="2377440"/>
            <a:ext cx="1993392" cy="914400"/>
          </a:xfrm>
          <a:prstGeom prst="roundRect">
            <a:avLst>
              <a:gd name="adj" fmla="val 8000"/>
            </a:avLst>
          </a:prstGeom>
          <a:solidFill>
            <a:srgbClr val="E8F5E9"/>
          </a:solidFill>
          <a:ln w="12700">
            <a:solidFill>
              <a:srgbClr val="2E7D32"/>
            </a:solidFill>
            <a:prstDash val="solid"/>
          </a:ln>
        </p:spPr>
      </p:sp>
      <p:sp>
        <p:nvSpPr>
          <p:cNvPr id="37" name="Shape 33"/>
          <p:cNvSpPr/>
          <p:nvPr/>
        </p:nvSpPr>
        <p:spPr>
          <a:xfrm>
            <a:off x="4764024" y="2624328"/>
            <a:ext cx="420624" cy="420624"/>
          </a:xfrm>
          <a:prstGeom prst="ellipse">
            <a:avLst/>
          </a:prstGeom>
          <a:solidFill>
            <a:srgbClr val="2E7D32"/>
          </a:solidFill>
          <a:ln/>
        </p:spPr>
      </p:sp>
      <p:pic>
        <p:nvPicPr>
          <p:cNvPr id="38" name="Image 2" descr="Recycling">    </p:cNvPr>
          <p:cNvPicPr>
            <a:picLocks noChangeAspect="1"/>
          </p:cNvPicPr>
          <p:nvPr/>
        </p:nvPicPr>
        <p:blipFill>
          <a:blip r:embed="rId3"/>
          <a:stretch>
            <a:fillRect/>
          </a:stretch>
        </p:blipFill>
        <p:spPr>
          <a:xfrm>
            <a:off x="4848149" y="2708453"/>
            <a:ext cx="252374" cy="252374"/>
          </a:xfrm>
          <a:prstGeom prst="rect">
            <a:avLst/>
          </a:prstGeom>
        </p:spPr>
      </p:pic>
      <p:sp>
        <p:nvSpPr>
          <p:cNvPr id="39" name="Text 34"/>
          <p:cNvSpPr txBox="1"/>
          <p:nvPr/>
        </p:nvSpPr>
        <p:spPr>
          <a:xfrm>
            <a:off x="5285232" y="2423160"/>
            <a:ext cx="1280160" cy="822960"/>
          </a:xfrm>
          <a:prstGeom prst="rect">
            <a:avLst/>
          </a:prstGeom>
          <a:noFill/>
          <a:ln/>
        </p:spPr>
        <p:txBody>
          <a:bodyPr wrap="square" lIns="0" tIns="0" rIns="0" bIns="0" rtlCol="0" anchor="ctr"/>
          <a:lstStyle/>
          <a:p>
            <a:pPr algn="l" indent="0" marL="0">
              <a:buNone/>
            </a:pPr>
            <a:r>
              <a:rPr lang="en-US" sz="1200" dirty="0">
                <a:solidFill>
                  <a:srgbClr val="1F2430"/>
                </a:solidFill>
              </a:rPr>
              <a:t>Reuse at Yuktāhār</a:t>
            </a:r>
            <a:endParaRPr lang="en-US" sz="1200" dirty="0"/>
          </a:p>
        </p:txBody>
      </p:sp>
      <p:sp>
        <p:nvSpPr>
          <p:cNvPr id="40" name="Shape 35"/>
          <p:cNvSpPr/>
          <p:nvPr/>
        </p:nvSpPr>
        <p:spPr>
          <a:xfrm>
            <a:off x="6711696" y="2377440"/>
            <a:ext cx="1993392" cy="914400"/>
          </a:xfrm>
          <a:prstGeom prst="roundRect">
            <a:avLst>
              <a:gd name="adj" fmla="val 8000"/>
            </a:avLst>
          </a:prstGeom>
          <a:solidFill>
            <a:srgbClr val="E8F5E9"/>
          </a:solidFill>
          <a:ln w="12700">
            <a:solidFill>
              <a:srgbClr val="2E7D32"/>
            </a:solidFill>
            <a:prstDash val="solid"/>
          </a:ln>
        </p:spPr>
      </p:sp>
      <p:sp>
        <p:nvSpPr>
          <p:cNvPr id="41" name="Shape 36"/>
          <p:cNvSpPr/>
          <p:nvPr/>
        </p:nvSpPr>
        <p:spPr>
          <a:xfrm>
            <a:off x="6848856" y="2624328"/>
            <a:ext cx="420624" cy="420624"/>
          </a:xfrm>
          <a:prstGeom prst="ellipse">
            <a:avLst/>
          </a:prstGeom>
          <a:solidFill>
            <a:srgbClr val="2E7D32"/>
          </a:solidFill>
          <a:ln/>
        </p:spPr>
      </p:sp>
      <p:pic>
        <p:nvPicPr>
          <p:cNvPr id="42" name="Image 3" descr="Groups">    </p:cNvPr>
          <p:cNvPicPr>
            <a:picLocks noChangeAspect="1"/>
          </p:cNvPicPr>
          <p:nvPr/>
        </p:nvPicPr>
        <p:blipFill>
          <a:blip r:embed="rId4"/>
          <a:stretch>
            <a:fillRect/>
          </a:stretch>
        </p:blipFill>
        <p:spPr>
          <a:xfrm>
            <a:off x="6932981" y="2708453"/>
            <a:ext cx="252374" cy="252374"/>
          </a:xfrm>
          <a:prstGeom prst="rect">
            <a:avLst/>
          </a:prstGeom>
        </p:spPr>
      </p:pic>
      <p:sp>
        <p:nvSpPr>
          <p:cNvPr id="43" name="Text 37"/>
          <p:cNvSpPr txBox="1"/>
          <p:nvPr/>
        </p:nvSpPr>
        <p:spPr>
          <a:xfrm>
            <a:off x="7370064" y="2423160"/>
            <a:ext cx="1280160" cy="822960"/>
          </a:xfrm>
          <a:prstGeom prst="rect">
            <a:avLst/>
          </a:prstGeom>
          <a:noFill/>
          <a:ln/>
        </p:spPr>
        <p:txBody>
          <a:bodyPr wrap="square" lIns="0" tIns="0" rIns="0" bIns="0" rtlCol="0" anchor="ctr"/>
          <a:lstStyle/>
          <a:p>
            <a:pPr algn="l" indent="0" marL="0">
              <a:buNone/>
            </a:pPr>
            <a:r>
              <a:rPr lang="en-US" sz="1200" dirty="0">
                <a:solidFill>
                  <a:srgbClr val="1F2430"/>
                </a:solidFill>
              </a:rPr>
              <a:t>Outside diners and Kadamba staff</a:t>
            </a:r>
            <a:endParaRPr lang="en-US" sz="1200" dirty="0"/>
          </a:p>
        </p:txBody>
      </p:sp>
      <p:sp>
        <p:nvSpPr>
          <p:cNvPr id="44" name="Shape 38"/>
          <p:cNvSpPr/>
          <p:nvPr/>
        </p:nvSpPr>
        <p:spPr>
          <a:xfrm>
            <a:off x="457200" y="3429000"/>
            <a:ext cx="1993392" cy="914400"/>
          </a:xfrm>
          <a:prstGeom prst="roundRect">
            <a:avLst>
              <a:gd name="adj" fmla="val 8000"/>
            </a:avLst>
          </a:prstGeom>
          <a:solidFill>
            <a:srgbClr val="FFF8E1"/>
          </a:solidFill>
          <a:ln w="12700">
            <a:solidFill>
              <a:srgbClr val="F57F17"/>
            </a:solidFill>
            <a:prstDash val="dash"/>
          </a:ln>
        </p:spPr>
      </p:sp>
      <p:sp>
        <p:nvSpPr>
          <p:cNvPr id="45" name="Shape 39"/>
          <p:cNvSpPr/>
          <p:nvPr/>
        </p:nvSpPr>
        <p:spPr>
          <a:xfrm>
            <a:off x="594360" y="3675888"/>
            <a:ext cx="420624" cy="420624"/>
          </a:xfrm>
          <a:prstGeom prst="ellipse">
            <a:avLst/>
          </a:prstGeom>
          <a:solidFill>
            <a:srgbClr val="F57F17"/>
          </a:solidFill>
          <a:ln/>
        </p:spPr>
      </p:sp>
      <p:pic>
        <p:nvPicPr>
          <p:cNvPr id="46" name="Image 4" descr="History">    </p:cNvPr>
          <p:cNvPicPr>
            <a:picLocks noChangeAspect="1"/>
          </p:cNvPicPr>
          <p:nvPr/>
        </p:nvPicPr>
        <p:blipFill>
          <a:blip r:embed="rId5"/>
          <a:stretch>
            <a:fillRect/>
          </a:stretch>
        </p:blipFill>
        <p:spPr>
          <a:xfrm>
            <a:off x="678485" y="3760013"/>
            <a:ext cx="252374" cy="252374"/>
          </a:xfrm>
          <a:prstGeom prst="rect">
            <a:avLst/>
          </a:prstGeom>
        </p:spPr>
      </p:pic>
      <p:sp>
        <p:nvSpPr>
          <p:cNvPr id="47" name="Text 40"/>
          <p:cNvSpPr txBox="1"/>
          <p:nvPr/>
        </p:nvSpPr>
        <p:spPr>
          <a:xfrm>
            <a:off x="1115568" y="3474720"/>
            <a:ext cx="1280160" cy="822960"/>
          </a:xfrm>
          <a:prstGeom prst="rect">
            <a:avLst/>
          </a:prstGeom>
          <a:noFill/>
          <a:ln/>
        </p:spPr>
        <p:txBody>
          <a:bodyPr wrap="square" lIns="0" tIns="0" rIns="0" bIns="0" rtlCol="0" anchor="ctr"/>
          <a:lstStyle/>
          <a:p>
            <a:pPr algn="l" indent="0" marL="0">
              <a:buNone/>
            </a:pPr>
            <a:r>
              <a:rPr lang="en-US" sz="1200" dirty="0">
                <a:solidFill>
                  <a:srgbClr val="1F2430"/>
                </a:solidFill>
              </a:rPr>
              <a:t>Held and reheated food</a:t>
            </a:r>
            <a:endParaRPr lang="en-US" sz="1200" dirty="0"/>
          </a:p>
        </p:txBody>
      </p:sp>
      <p:sp>
        <p:nvSpPr>
          <p:cNvPr id="48" name="Shape 41"/>
          <p:cNvSpPr/>
          <p:nvPr/>
        </p:nvSpPr>
        <p:spPr>
          <a:xfrm>
            <a:off x="1005840" y="4160520"/>
            <a:ext cx="1371600" cy="182880"/>
          </a:xfrm>
          <a:prstGeom prst="roundRect">
            <a:avLst>
              <a:gd name="adj" fmla="val 30000"/>
            </a:avLst>
          </a:prstGeom>
          <a:solidFill>
            <a:srgbClr val="FDECEA"/>
          </a:solidFill>
          <a:ln w="12700">
            <a:solidFill>
              <a:srgbClr val="C62828"/>
            </a:solidFill>
            <a:prstDash val="solid"/>
          </a:ln>
        </p:spPr>
      </p:sp>
      <p:sp>
        <p:nvSpPr>
          <p:cNvPr id="49" name="Text 42"/>
          <p:cNvSpPr txBox="1"/>
          <p:nvPr/>
        </p:nvSpPr>
        <p:spPr>
          <a:xfrm>
            <a:off x="1069848" y="4160520"/>
            <a:ext cx="1243584" cy="182880"/>
          </a:xfrm>
          <a:prstGeom prst="rect">
            <a:avLst/>
          </a:prstGeom>
          <a:noFill/>
          <a:ln/>
        </p:spPr>
        <p:txBody>
          <a:bodyPr wrap="square" lIns="0" tIns="0" rIns="0" bIns="0" rtlCol="0" anchor="ctr"/>
          <a:lstStyle/>
          <a:p>
            <a:pPr algn="ctr" indent="0" marL="0">
              <a:buNone/>
            </a:pPr>
            <a:r>
              <a:rPr lang="en-US" sz="900" b="1" dirty="0">
                <a:solidFill>
                  <a:srgbClr val="1F2430"/>
                </a:solidFill>
              </a:rPr>
              <a:t>PROTECTS NO ONE</a:t>
            </a:r>
            <a:endParaRPr lang="en-US" sz="900" dirty="0"/>
          </a:p>
        </p:txBody>
      </p:sp>
      <p:sp>
        <p:nvSpPr>
          <p:cNvPr id="50" name="Shape 43"/>
          <p:cNvSpPr/>
          <p:nvPr/>
        </p:nvSpPr>
        <p:spPr>
          <a:xfrm>
            <a:off x="2542032" y="3429000"/>
            <a:ext cx="1993392" cy="914400"/>
          </a:xfrm>
          <a:prstGeom prst="roundRect">
            <a:avLst>
              <a:gd name="adj" fmla="val 8000"/>
            </a:avLst>
          </a:prstGeom>
          <a:solidFill>
            <a:srgbClr val="E3F2FD"/>
          </a:solidFill>
          <a:ln w="12700">
            <a:solidFill>
              <a:srgbClr val="1565C0"/>
            </a:solidFill>
            <a:prstDash val="solid"/>
          </a:ln>
        </p:spPr>
      </p:sp>
      <p:sp>
        <p:nvSpPr>
          <p:cNvPr id="51" name="Shape 44"/>
          <p:cNvSpPr/>
          <p:nvPr/>
        </p:nvSpPr>
        <p:spPr>
          <a:xfrm>
            <a:off x="2679192" y="3675888"/>
            <a:ext cx="420624" cy="420624"/>
          </a:xfrm>
          <a:prstGeom prst="ellipse">
            <a:avLst/>
          </a:prstGeom>
          <a:solidFill>
            <a:srgbClr val="1565C0"/>
          </a:solidFill>
          <a:ln/>
        </p:spPr>
      </p:sp>
      <p:pic>
        <p:nvPicPr>
          <p:cNvPr id="52" name="Image 5" descr="MoreTime">    </p:cNvPr>
          <p:cNvPicPr>
            <a:picLocks noChangeAspect="1"/>
          </p:cNvPicPr>
          <p:nvPr/>
        </p:nvPicPr>
        <p:blipFill>
          <a:blip r:embed="rId6"/>
          <a:stretch>
            <a:fillRect/>
          </a:stretch>
        </p:blipFill>
        <p:spPr>
          <a:xfrm>
            <a:off x="2763317" y="3760013"/>
            <a:ext cx="252374" cy="252374"/>
          </a:xfrm>
          <a:prstGeom prst="rect">
            <a:avLst/>
          </a:prstGeom>
        </p:spPr>
      </p:pic>
      <p:sp>
        <p:nvSpPr>
          <p:cNvPr id="53" name="Text 45"/>
          <p:cNvSpPr txBox="1"/>
          <p:nvPr/>
        </p:nvSpPr>
        <p:spPr>
          <a:xfrm>
            <a:off x="3200400" y="3474720"/>
            <a:ext cx="1280160" cy="822960"/>
          </a:xfrm>
          <a:prstGeom prst="rect">
            <a:avLst/>
          </a:prstGeom>
          <a:noFill/>
          <a:ln/>
        </p:spPr>
        <p:txBody>
          <a:bodyPr wrap="square" lIns="0" tIns="0" rIns="0" bIns="0" rtlCol="0" anchor="ctr"/>
          <a:lstStyle/>
          <a:p>
            <a:pPr algn="l" indent="0" marL="0">
              <a:buNone/>
            </a:pPr>
            <a:r>
              <a:rPr lang="en-US" sz="1200" dirty="0">
                <a:solidFill>
                  <a:srgbClr val="1F2430"/>
                </a:solidFill>
              </a:rPr>
              <a:t>Late-door service</a:t>
            </a:r>
            <a:endParaRPr lang="en-US" sz="1200" dirty="0"/>
          </a:p>
        </p:txBody>
      </p:sp>
      <p:sp>
        <p:nvSpPr>
          <p:cNvPr id="54" name="Shape 46"/>
          <p:cNvSpPr/>
          <p:nvPr/>
        </p:nvSpPr>
        <p:spPr>
          <a:xfrm>
            <a:off x="4626864" y="3429000"/>
            <a:ext cx="1993392" cy="914400"/>
          </a:xfrm>
          <a:prstGeom prst="roundRect">
            <a:avLst>
              <a:gd name="adj" fmla="val 8000"/>
            </a:avLst>
          </a:prstGeom>
          <a:solidFill>
            <a:srgbClr val="F2F2F2"/>
          </a:solidFill>
          <a:ln w="12700">
            <a:solidFill>
              <a:srgbClr val="616161"/>
            </a:solidFill>
            <a:prstDash val="solid"/>
          </a:ln>
        </p:spPr>
      </p:sp>
      <p:sp>
        <p:nvSpPr>
          <p:cNvPr id="55" name="Shape 47"/>
          <p:cNvSpPr/>
          <p:nvPr/>
        </p:nvSpPr>
        <p:spPr>
          <a:xfrm>
            <a:off x="4764024" y="3675888"/>
            <a:ext cx="420624" cy="420624"/>
          </a:xfrm>
          <a:prstGeom prst="ellipse">
            <a:avLst/>
          </a:prstGeom>
          <a:solidFill>
            <a:srgbClr val="616161"/>
          </a:solidFill>
          <a:ln/>
        </p:spPr>
      </p:sp>
      <p:pic>
        <p:nvPicPr>
          <p:cNvPr id="56" name="Image 6" descr="Storefront">    </p:cNvPr>
          <p:cNvPicPr>
            <a:picLocks noChangeAspect="1"/>
          </p:cNvPicPr>
          <p:nvPr/>
        </p:nvPicPr>
        <p:blipFill>
          <a:blip r:embed="rId7"/>
          <a:stretch>
            <a:fillRect/>
          </a:stretch>
        </p:blipFill>
        <p:spPr>
          <a:xfrm>
            <a:off x="4848149" y="3760013"/>
            <a:ext cx="252374" cy="252374"/>
          </a:xfrm>
          <a:prstGeom prst="rect">
            <a:avLst/>
          </a:prstGeom>
        </p:spPr>
      </p:pic>
      <p:sp>
        <p:nvSpPr>
          <p:cNvPr id="57" name="Text 48"/>
          <p:cNvSpPr txBox="1"/>
          <p:nvPr/>
        </p:nvSpPr>
        <p:spPr>
          <a:xfrm>
            <a:off x="5285232" y="3474720"/>
            <a:ext cx="1280160" cy="822960"/>
          </a:xfrm>
          <a:prstGeom prst="rect">
            <a:avLst/>
          </a:prstGeom>
          <a:noFill/>
          <a:ln/>
        </p:spPr>
        <p:txBody>
          <a:bodyPr wrap="square" lIns="0" tIns="0" rIns="0" bIns="0" rtlCol="0" anchor="ctr"/>
          <a:lstStyle/>
          <a:p>
            <a:pPr algn="l" indent="0" marL="0">
              <a:buNone/>
            </a:pPr>
            <a:r>
              <a:rPr lang="en-US" sz="1200" dirty="0">
                <a:solidFill>
                  <a:srgbClr val="1F2430"/>
                </a:solidFill>
              </a:rPr>
              <a:t>Outside venues</a:t>
            </a:r>
            <a:endParaRPr lang="en-US" sz="1200" dirty="0"/>
          </a:p>
        </p:txBody>
      </p:sp>
      <p:sp>
        <p:nvSpPr>
          <p:cNvPr id="58" name="Shape 49"/>
          <p:cNvSpPr/>
          <p:nvPr/>
        </p:nvSpPr>
        <p:spPr>
          <a:xfrm>
            <a:off x="6711696" y="3429000"/>
            <a:ext cx="1993392" cy="914400"/>
          </a:xfrm>
          <a:prstGeom prst="roundRect">
            <a:avLst>
              <a:gd name="adj" fmla="val 8000"/>
            </a:avLst>
          </a:prstGeom>
          <a:solidFill>
            <a:srgbClr val="FDECEA"/>
          </a:solidFill>
          <a:ln w="12700">
            <a:solidFill>
              <a:srgbClr val="C62828"/>
            </a:solidFill>
            <a:prstDash val="solid"/>
          </a:ln>
        </p:spPr>
      </p:sp>
      <p:sp>
        <p:nvSpPr>
          <p:cNvPr id="59" name="Shape 50"/>
          <p:cNvSpPr/>
          <p:nvPr/>
        </p:nvSpPr>
        <p:spPr>
          <a:xfrm>
            <a:off x="6848856" y="3675888"/>
            <a:ext cx="420624" cy="420624"/>
          </a:xfrm>
          <a:prstGeom prst="ellipse">
            <a:avLst/>
          </a:prstGeom>
          <a:solidFill>
            <a:srgbClr val="C62828"/>
          </a:solidFill>
          <a:ln/>
        </p:spPr>
      </p:sp>
      <p:pic>
        <p:nvPicPr>
          <p:cNvPr id="60" name="Image 7" descr="Delete">    </p:cNvPr>
          <p:cNvPicPr>
            <a:picLocks noChangeAspect="1"/>
          </p:cNvPicPr>
          <p:nvPr/>
        </p:nvPicPr>
        <p:blipFill>
          <a:blip r:embed="rId8"/>
          <a:stretch>
            <a:fillRect/>
          </a:stretch>
        </p:blipFill>
        <p:spPr>
          <a:xfrm>
            <a:off x="6932981" y="3760013"/>
            <a:ext cx="252374" cy="252374"/>
          </a:xfrm>
          <a:prstGeom prst="rect">
            <a:avLst/>
          </a:prstGeom>
        </p:spPr>
      </p:pic>
      <p:sp>
        <p:nvSpPr>
          <p:cNvPr id="61" name="Text 51"/>
          <p:cNvSpPr txBox="1"/>
          <p:nvPr/>
        </p:nvSpPr>
        <p:spPr>
          <a:xfrm>
            <a:off x="7370064" y="3474720"/>
            <a:ext cx="1280160" cy="822960"/>
          </a:xfrm>
          <a:prstGeom prst="rect">
            <a:avLst/>
          </a:prstGeom>
          <a:noFill/>
          <a:ln/>
        </p:spPr>
        <p:txBody>
          <a:bodyPr wrap="square" lIns="0" tIns="0" rIns="0" bIns="0" rtlCol="0" anchor="ctr"/>
          <a:lstStyle/>
          <a:p>
            <a:pPr algn="l" indent="0" marL="0">
              <a:buNone/>
            </a:pPr>
            <a:r>
              <a:rPr lang="en-US" sz="1200" dirty="0">
                <a:solidFill>
                  <a:srgbClr val="1F2430"/>
                </a:solidFill>
              </a:rPr>
              <a:t>The bin</a:t>
            </a:r>
            <a:endParaRPr lang="en-US" sz="1200" dirty="0"/>
          </a:p>
        </p:txBody>
      </p:sp>
      <p:sp>
        <p:nvSpPr>
          <p:cNvPr id="62" name="Shape 52"/>
          <p:cNvSpPr/>
          <p:nvPr/>
        </p:nvSpPr>
        <p:spPr>
          <a:xfrm>
            <a:off x="7260336" y="4160520"/>
            <a:ext cx="1371600" cy="182880"/>
          </a:xfrm>
          <a:prstGeom prst="roundRect">
            <a:avLst>
              <a:gd name="adj" fmla="val 30000"/>
            </a:avLst>
          </a:prstGeom>
          <a:solidFill>
            <a:srgbClr val="FDECEA"/>
          </a:solidFill>
          <a:ln w="12700">
            <a:solidFill>
              <a:srgbClr val="C62828"/>
            </a:solidFill>
            <a:prstDash val="solid"/>
          </a:ln>
        </p:spPr>
      </p:sp>
      <p:sp>
        <p:nvSpPr>
          <p:cNvPr id="63" name="Text 53"/>
          <p:cNvSpPr txBox="1"/>
          <p:nvPr/>
        </p:nvSpPr>
        <p:spPr>
          <a:xfrm>
            <a:off x="7324344" y="4160520"/>
            <a:ext cx="1243584" cy="182880"/>
          </a:xfrm>
          <a:prstGeom prst="rect">
            <a:avLst/>
          </a:prstGeom>
          <a:noFill/>
          <a:ln/>
        </p:spPr>
        <p:txBody>
          <a:bodyPr wrap="square" lIns="0" tIns="0" rIns="0" bIns="0" rtlCol="0" anchor="ctr"/>
          <a:lstStyle/>
          <a:p>
            <a:pPr algn="ctr" indent="0" marL="0">
              <a:buNone/>
            </a:pPr>
            <a:r>
              <a:rPr lang="en-US" sz="900" b="1" dirty="0">
                <a:solidFill>
                  <a:srgbClr val="1F2430"/>
                </a:solidFill>
              </a:rPr>
              <a:t>PROTECTS NO ONE</a:t>
            </a:r>
            <a:endParaRPr lang="en-US" sz="900" dirty="0"/>
          </a:p>
        </p:txBody>
      </p:sp>
      <p:sp>
        <p:nvSpPr>
          <p:cNvPr id="64" name="Text 54"/>
          <p:cNvSpPr txBox="1"/>
          <p:nvPr/>
        </p:nvSpPr>
        <p:spPr>
          <a:xfrm>
            <a:off x="457200" y="4526280"/>
            <a:ext cx="4572000" cy="228600"/>
          </a:xfrm>
          <a:prstGeom prst="rect">
            <a:avLst/>
          </a:prstGeom>
          <a:noFill/>
          <a:ln/>
        </p:spPr>
        <p:txBody>
          <a:bodyPr wrap="square" lIns="0" tIns="0" rIns="0" bIns="0" rtlCol="0" anchor="t"/>
          <a:lstStyle/>
          <a:p>
            <a:pPr algn="l" indent="0" marL="0">
              <a:buNone/>
            </a:pPr>
            <a:r>
              <a:rPr lang="en-US" sz="1200" i="1" dirty="0">
                <a:solidFill>
                  <a:srgbClr val="616161"/>
                </a:solidFill>
              </a:rPr>
              <a:t>Most absorbers feed real people.</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Of eighteen mechanisms tested, three close with every link evidenced, all inside a kitchen</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982980" y="4841748"/>
            <a:ext cx="146304" cy="146304"/>
          </a:xfrm>
          <a:prstGeom prst="ellipse">
            <a:avLst/>
          </a:prstGeom>
          <a:solidFill>
            <a:srgbClr val="1A237E"/>
          </a:solidFill>
          <a:ln/>
        </p:spPr>
      </p:sp>
      <p:sp>
        <p:nvSpPr>
          <p:cNvPr id="7" name="Shape 5"/>
          <p:cNvSpPr/>
          <p:nvPr/>
        </p:nvSpPr>
        <p:spPr>
          <a:xfrm>
            <a:off x="946404" y="4805172"/>
            <a:ext cx="219456" cy="219456"/>
          </a:xfrm>
          <a:prstGeom prst="ellipse">
            <a:avLst/>
          </a:prstGeom>
          <a:ln w="9525">
            <a:solidFill>
              <a:srgbClr val="1A237E"/>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4 Modelling the system</a:t>
            </a:r>
            <a:endParaRPr lang="en-US" sz="1000" dirty="0"/>
          </a:p>
        </p:txBody>
      </p:sp>
      <p:sp>
        <p:nvSpPr>
          <p:cNvPr id="15" name="Text 13"/>
          <p:cNvSpPr txBox="1"/>
          <p:nvPr/>
        </p:nvSpPr>
        <p:spPr>
          <a:xfrm>
            <a:off x="457200" y="1234440"/>
            <a:ext cx="5486400" cy="164592"/>
          </a:xfrm>
          <a:prstGeom prst="rect">
            <a:avLst/>
          </a:prstGeom>
          <a:noFill/>
          <a:ln/>
        </p:spPr>
        <p:txBody>
          <a:bodyPr wrap="square" lIns="0" tIns="0" rIns="0" bIns="0" rtlCol="0" anchor="t"/>
          <a:lstStyle/>
          <a:p>
            <a:pPr algn="l" indent="0" marL="0">
              <a:buNone/>
            </a:pPr>
            <a:r>
              <a:rPr lang="en-US" sz="900" b="1" spc="150" kern="0" dirty="0">
                <a:solidFill>
                  <a:srgbClr val="2E7D32"/>
                </a:solidFill>
              </a:rPr>
              <a:t>CLOSED, EVERY LINK EVIDENCED</a:t>
            </a:r>
            <a:endParaRPr lang="en-US" sz="900" dirty="0"/>
          </a:p>
        </p:txBody>
      </p:sp>
      <p:sp>
        <p:nvSpPr>
          <p:cNvPr id="16" name="Shape 14"/>
          <p:cNvSpPr/>
          <p:nvPr/>
        </p:nvSpPr>
        <p:spPr>
          <a:xfrm>
            <a:off x="457200" y="1435608"/>
            <a:ext cx="2651760" cy="548640"/>
          </a:xfrm>
          <a:prstGeom prst="roundRect">
            <a:avLst>
              <a:gd name="adj" fmla="val 13333"/>
            </a:avLst>
          </a:prstGeom>
          <a:solidFill>
            <a:srgbClr val="E8F5E9"/>
          </a:solidFill>
          <a:ln w="12700">
            <a:solidFill>
              <a:srgbClr val="2E7D32"/>
            </a:solidFill>
            <a:prstDash val="solid"/>
          </a:ln>
        </p:spPr>
      </p:sp>
      <p:sp>
        <p:nvSpPr>
          <p:cNvPr id="17" name="Text 15"/>
          <p:cNvSpPr txBox="1"/>
          <p:nvPr/>
        </p:nvSpPr>
        <p:spPr>
          <a:xfrm>
            <a:off x="530352" y="1435608"/>
            <a:ext cx="2505456" cy="548640"/>
          </a:xfrm>
          <a:prstGeom prst="rect">
            <a:avLst/>
          </a:prstGeom>
          <a:noFill/>
          <a:ln/>
        </p:spPr>
        <p:txBody>
          <a:bodyPr wrap="square" lIns="0" tIns="0" rIns="0" bIns="0" rtlCol="0" anchor="ctr"/>
          <a:lstStyle/>
          <a:p>
            <a:pPr algn="l" indent="0" marL="0">
              <a:buNone/>
            </a:pPr>
            <a:r>
              <a:rPr lang="en-US" sz="1050" b="1" dirty="0">
                <a:solidFill>
                  <a:srgbClr val="2E7D32"/>
                </a:solidFill>
              </a:rPr>
              <a:t>L4  </a:t>
            </a:r>
            <a:pPr algn="l" indent="0" marL="0">
              <a:buNone/>
            </a:pPr>
            <a:r>
              <a:rPr lang="en-US" sz="1050" dirty="0">
                <a:solidFill>
                  <a:srgbClr val="1F2430"/>
                </a:solidFill>
              </a:rPr>
              <a:t>Menu rotation governance</a:t>
            </a:r>
            <a:endParaRPr lang="en-US" sz="1050" dirty="0"/>
          </a:p>
        </p:txBody>
      </p:sp>
      <p:sp>
        <p:nvSpPr>
          <p:cNvPr id="18" name="Shape 16"/>
          <p:cNvSpPr/>
          <p:nvPr/>
        </p:nvSpPr>
        <p:spPr>
          <a:xfrm>
            <a:off x="3236976" y="1435608"/>
            <a:ext cx="2651760" cy="548640"/>
          </a:xfrm>
          <a:prstGeom prst="roundRect">
            <a:avLst>
              <a:gd name="adj" fmla="val 13333"/>
            </a:avLst>
          </a:prstGeom>
          <a:solidFill>
            <a:srgbClr val="E8F5E9"/>
          </a:solidFill>
          <a:ln w="12700">
            <a:solidFill>
              <a:srgbClr val="2E7D32"/>
            </a:solidFill>
            <a:prstDash val="solid"/>
          </a:ln>
        </p:spPr>
      </p:sp>
      <p:sp>
        <p:nvSpPr>
          <p:cNvPr id="19" name="Text 17"/>
          <p:cNvSpPr txBox="1"/>
          <p:nvPr/>
        </p:nvSpPr>
        <p:spPr>
          <a:xfrm>
            <a:off x="3310128" y="1435608"/>
            <a:ext cx="2505456" cy="548640"/>
          </a:xfrm>
          <a:prstGeom prst="rect">
            <a:avLst/>
          </a:prstGeom>
          <a:noFill/>
          <a:ln/>
        </p:spPr>
        <p:txBody>
          <a:bodyPr wrap="square" lIns="0" tIns="0" rIns="0" bIns="0" rtlCol="0" anchor="ctr"/>
          <a:lstStyle/>
          <a:p>
            <a:pPr algn="l" indent="0" marL="0">
              <a:buNone/>
            </a:pPr>
            <a:r>
              <a:rPr lang="en-US" sz="1050" b="1" dirty="0">
                <a:solidFill>
                  <a:srgbClr val="2E7D32"/>
                </a:solidFill>
              </a:rPr>
              <a:t>L11  </a:t>
            </a:r>
            <a:pPr algn="l" indent="0" marL="0">
              <a:buNone/>
            </a:pPr>
            <a:r>
              <a:rPr lang="en-US" sz="1050" dirty="0">
                <a:solidFill>
                  <a:srgbClr val="1F2430"/>
                </a:solidFill>
              </a:rPr>
              <a:t>Wastage Book learning at Yuktāhār</a:t>
            </a:r>
            <a:endParaRPr lang="en-US" sz="1050" dirty="0"/>
          </a:p>
        </p:txBody>
      </p:sp>
      <p:sp>
        <p:nvSpPr>
          <p:cNvPr id="20" name="Shape 18"/>
          <p:cNvSpPr/>
          <p:nvPr/>
        </p:nvSpPr>
        <p:spPr>
          <a:xfrm>
            <a:off x="6016752" y="1435608"/>
            <a:ext cx="2651760" cy="548640"/>
          </a:xfrm>
          <a:prstGeom prst="roundRect">
            <a:avLst>
              <a:gd name="adj" fmla="val 13333"/>
            </a:avLst>
          </a:prstGeom>
          <a:solidFill>
            <a:srgbClr val="E8F5E9"/>
          </a:solidFill>
          <a:ln w="12700">
            <a:solidFill>
              <a:srgbClr val="2E7D32"/>
            </a:solidFill>
            <a:prstDash val="solid"/>
          </a:ln>
        </p:spPr>
      </p:sp>
      <p:sp>
        <p:nvSpPr>
          <p:cNvPr id="21" name="Text 19"/>
          <p:cNvSpPr txBox="1"/>
          <p:nvPr/>
        </p:nvSpPr>
        <p:spPr>
          <a:xfrm>
            <a:off x="6089904" y="1435608"/>
            <a:ext cx="2505456" cy="548640"/>
          </a:xfrm>
          <a:prstGeom prst="rect">
            <a:avLst/>
          </a:prstGeom>
          <a:noFill/>
          <a:ln/>
        </p:spPr>
        <p:txBody>
          <a:bodyPr wrap="square" lIns="0" tIns="0" rIns="0" bIns="0" rtlCol="0" anchor="ctr"/>
          <a:lstStyle/>
          <a:p>
            <a:pPr algn="l" indent="0" marL="0">
              <a:buNone/>
            </a:pPr>
            <a:r>
              <a:rPr lang="en-US" sz="1050" b="1" dirty="0">
                <a:solidFill>
                  <a:srgbClr val="2E7D32"/>
                </a:solidFill>
              </a:rPr>
              <a:t>L12  </a:t>
            </a:r>
            <a:pPr algn="l" indent="0" marL="0">
              <a:buNone/>
            </a:pPr>
            <a:r>
              <a:rPr lang="en-US" sz="1050" dirty="0">
                <a:solidFill>
                  <a:srgbClr val="1F2430"/>
                </a:solidFill>
              </a:rPr>
              <a:t>Counter top-up, upward only</a:t>
            </a:r>
            <a:endParaRPr lang="en-US" sz="1050" dirty="0"/>
          </a:p>
        </p:txBody>
      </p:sp>
      <p:sp>
        <p:nvSpPr>
          <p:cNvPr id="22" name="Text 20"/>
          <p:cNvSpPr txBox="1"/>
          <p:nvPr/>
        </p:nvSpPr>
        <p:spPr>
          <a:xfrm>
            <a:off x="457200" y="2057400"/>
            <a:ext cx="5486400" cy="164592"/>
          </a:xfrm>
          <a:prstGeom prst="rect">
            <a:avLst/>
          </a:prstGeom>
          <a:noFill/>
          <a:ln/>
        </p:spPr>
        <p:txBody>
          <a:bodyPr wrap="square" lIns="0" tIns="0" rIns="0" bIns="0" rtlCol="0" anchor="t"/>
          <a:lstStyle/>
          <a:p>
            <a:pPr algn="l" indent="0" marL="0">
              <a:buNone/>
            </a:pPr>
            <a:r>
              <a:rPr lang="en-US" sz="900" b="1" spc="150" kern="0" dirty="0">
                <a:solidFill>
                  <a:srgbClr val="6A1B9A"/>
                </a:solidFill>
              </a:rPr>
              <a:t>CANDIDATE LOOPS, CLOSING LINK ASSUMED</a:t>
            </a:r>
            <a:endParaRPr lang="en-US" sz="900" dirty="0"/>
          </a:p>
        </p:txBody>
      </p:sp>
      <p:sp>
        <p:nvSpPr>
          <p:cNvPr id="23" name="Shape 21"/>
          <p:cNvSpPr/>
          <p:nvPr/>
        </p:nvSpPr>
        <p:spPr>
          <a:xfrm>
            <a:off x="457200" y="2258568"/>
            <a:ext cx="1609344" cy="548640"/>
          </a:xfrm>
          <a:prstGeom prst="roundRect">
            <a:avLst>
              <a:gd name="adj" fmla="val 13333"/>
            </a:avLst>
          </a:prstGeom>
          <a:solidFill>
            <a:srgbClr val="F3E5F5"/>
          </a:solidFill>
          <a:ln w="12700">
            <a:solidFill>
              <a:srgbClr val="6A1B9A"/>
            </a:solidFill>
            <a:prstDash val="dash"/>
          </a:ln>
        </p:spPr>
      </p:sp>
      <p:sp>
        <p:nvSpPr>
          <p:cNvPr id="24" name="Text 22"/>
          <p:cNvSpPr txBox="1"/>
          <p:nvPr/>
        </p:nvSpPr>
        <p:spPr>
          <a:xfrm>
            <a:off x="530352" y="2258568"/>
            <a:ext cx="1463040" cy="548640"/>
          </a:xfrm>
          <a:prstGeom prst="rect">
            <a:avLst/>
          </a:prstGeom>
          <a:noFill/>
          <a:ln/>
        </p:spPr>
        <p:txBody>
          <a:bodyPr wrap="square" lIns="0" tIns="0" rIns="0" bIns="0" rtlCol="0" anchor="ctr"/>
          <a:lstStyle/>
          <a:p>
            <a:pPr algn="l" indent="0" marL="0">
              <a:buNone/>
            </a:pPr>
            <a:r>
              <a:rPr lang="en-US" sz="1050" b="1" dirty="0">
                <a:solidFill>
                  <a:srgbClr val="6A1B9A"/>
                </a:solidFill>
              </a:rPr>
              <a:t>L1  </a:t>
            </a:r>
            <a:pPr algn="l" indent="0" marL="0">
              <a:buNone/>
            </a:pPr>
            <a:r>
              <a:rPr lang="en-US" sz="1050" dirty="0">
                <a:solidFill>
                  <a:srgbClr val="1F2430"/>
                </a:solidFill>
              </a:rPr>
              <a:t>Resale safety net</a:t>
            </a:r>
            <a:endParaRPr lang="en-US" sz="1050" dirty="0"/>
          </a:p>
        </p:txBody>
      </p:sp>
      <p:sp>
        <p:nvSpPr>
          <p:cNvPr id="25" name="Shape 23"/>
          <p:cNvSpPr/>
          <p:nvPr/>
        </p:nvSpPr>
        <p:spPr>
          <a:xfrm>
            <a:off x="2194560" y="2258568"/>
            <a:ext cx="1609344" cy="548640"/>
          </a:xfrm>
          <a:prstGeom prst="roundRect">
            <a:avLst>
              <a:gd name="adj" fmla="val 13333"/>
            </a:avLst>
          </a:prstGeom>
          <a:solidFill>
            <a:srgbClr val="F3E5F5"/>
          </a:solidFill>
          <a:ln w="12700">
            <a:solidFill>
              <a:srgbClr val="6A1B9A"/>
            </a:solidFill>
            <a:prstDash val="dash"/>
          </a:ln>
        </p:spPr>
      </p:sp>
      <p:sp>
        <p:nvSpPr>
          <p:cNvPr id="26" name="Text 24"/>
          <p:cNvSpPr txBox="1"/>
          <p:nvPr/>
        </p:nvSpPr>
        <p:spPr>
          <a:xfrm>
            <a:off x="2267712" y="2258568"/>
            <a:ext cx="1463040" cy="548640"/>
          </a:xfrm>
          <a:prstGeom prst="rect">
            <a:avLst/>
          </a:prstGeom>
          <a:noFill/>
          <a:ln/>
        </p:spPr>
        <p:txBody>
          <a:bodyPr wrap="square" lIns="0" tIns="0" rIns="0" bIns="0" rtlCol="0" anchor="ctr"/>
          <a:lstStyle/>
          <a:p>
            <a:pPr algn="l" indent="0" marL="0">
              <a:buNone/>
            </a:pPr>
            <a:r>
              <a:rPr lang="en-US" sz="1050" b="1" dirty="0">
                <a:solidFill>
                  <a:srgbClr val="6A1B9A"/>
                </a:solidFill>
              </a:rPr>
              <a:t>L3b  </a:t>
            </a:r>
            <a:pPr algn="l" indent="0" marL="0">
              <a:buNone/>
            </a:pPr>
            <a:r>
              <a:rPr lang="en-US" sz="1050" dirty="0">
                <a:solidFill>
                  <a:srgbClr val="1F2430"/>
                </a:solidFill>
              </a:rPr>
              <a:t>Kadamba demand lock-in</a:t>
            </a:r>
            <a:endParaRPr lang="en-US" sz="1050" dirty="0"/>
          </a:p>
        </p:txBody>
      </p:sp>
      <p:sp>
        <p:nvSpPr>
          <p:cNvPr id="27" name="Shape 25"/>
          <p:cNvSpPr/>
          <p:nvPr/>
        </p:nvSpPr>
        <p:spPr>
          <a:xfrm>
            <a:off x="3931920" y="2258568"/>
            <a:ext cx="1609344" cy="548640"/>
          </a:xfrm>
          <a:prstGeom prst="roundRect">
            <a:avLst>
              <a:gd name="adj" fmla="val 13333"/>
            </a:avLst>
          </a:prstGeom>
          <a:solidFill>
            <a:srgbClr val="F3E5F5"/>
          </a:solidFill>
          <a:ln w="12700">
            <a:solidFill>
              <a:srgbClr val="6A1B9A"/>
            </a:solidFill>
            <a:prstDash val="dash"/>
          </a:ln>
        </p:spPr>
      </p:sp>
      <p:sp>
        <p:nvSpPr>
          <p:cNvPr id="28" name="Text 26"/>
          <p:cNvSpPr txBox="1"/>
          <p:nvPr/>
        </p:nvSpPr>
        <p:spPr>
          <a:xfrm>
            <a:off x="4005072" y="2258568"/>
            <a:ext cx="1463040" cy="548640"/>
          </a:xfrm>
          <a:prstGeom prst="rect">
            <a:avLst/>
          </a:prstGeom>
          <a:noFill/>
          <a:ln/>
        </p:spPr>
        <p:txBody>
          <a:bodyPr wrap="square" lIns="0" tIns="0" rIns="0" bIns="0" rtlCol="0" anchor="ctr"/>
          <a:lstStyle/>
          <a:p>
            <a:pPr algn="l" indent="0" marL="0">
              <a:buNone/>
            </a:pPr>
            <a:r>
              <a:rPr lang="en-US" sz="1050" b="1" dirty="0">
                <a:solidFill>
                  <a:srgbClr val="6A1B9A"/>
                </a:solidFill>
              </a:rPr>
              <a:t>L9  </a:t>
            </a:r>
            <a:pPr algn="l" indent="0" marL="0">
              <a:buNone/>
            </a:pPr>
            <a:r>
              <a:rPr lang="en-US" sz="1050" dirty="0">
                <a:solidFill>
                  <a:srgbClr val="1F2430"/>
                </a:solidFill>
              </a:rPr>
              <a:t>Waste absorption</a:t>
            </a:r>
            <a:endParaRPr lang="en-US" sz="1050" dirty="0"/>
          </a:p>
        </p:txBody>
      </p:sp>
      <p:sp>
        <p:nvSpPr>
          <p:cNvPr id="29" name="Shape 27"/>
          <p:cNvSpPr/>
          <p:nvPr/>
        </p:nvSpPr>
        <p:spPr>
          <a:xfrm>
            <a:off x="5669280" y="2258568"/>
            <a:ext cx="1609344" cy="548640"/>
          </a:xfrm>
          <a:prstGeom prst="roundRect">
            <a:avLst>
              <a:gd name="adj" fmla="val 13333"/>
            </a:avLst>
          </a:prstGeom>
          <a:solidFill>
            <a:srgbClr val="F3E5F5"/>
          </a:solidFill>
          <a:ln w="12700">
            <a:solidFill>
              <a:srgbClr val="6A1B9A"/>
            </a:solidFill>
            <a:prstDash val="dash"/>
          </a:ln>
        </p:spPr>
      </p:sp>
      <p:sp>
        <p:nvSpPr>
          <p:cNvPr id="30" name="Text 28"/>
          <p:cNvSpPr txBox="1"/>
          <p:nvPr/>
        </p:nvSpPr>
        <p:spPr>
          <a:xfrm>
            <a:off x="5742432" y="2258568"/>
            <a:ext cx="1463040" cy="548640"/>
          </a:xfrm>
          <a:prstGeom prst="rect">
            <a:avLst/>
          </a:prstGeom>
          <a:noFill/>
          <a:ln/>
        </p:spPr>
        <p:txBody>
          <a:bodyPr wrap="square" lIns="0" tIns="0" rIns="0" bIns="0" rtlCol="0" anchor="ctr"/>
          <a:lstStyle/>
          <a:p>
            <a:pPr algn="l" indent="0" marL="0">
              <a:buNone/>
            </a:pPr>
            <a:r>
              <a:rPr lang="en-US" sz="1050" b="1" dirty="0">
                <a:solidFill>
                  <a:srgbClr val="6A1B9A"/>
                </a:solidFill>
              </a:rPr>
              <a:t>L15  </a:t>
            </a:r>
            <a:pPr algn="l" indent="0" marL="0">
              <a:buNone/>
            </a:pPr>
            <a:r>
              <a:rPr lang="en-US" sz="1050" dirty="0">
                <a:solidFill>
                  <a:srgbClr val="1F2430"/>
                </a:solidFill>
              </a:rPr>
              <a:t>Soft close</a:t>
            </a:r>
            <a:endParaRPr lang="en-US" sz="1050" dirty="0"/>
          </a:p>
        </p:txBody>
      </p:sp>
      <p:sp>
        <p:nvSpPr>
          <p:cNvPr id="31" name="Shape 29"/>
          <p:cNvSpPr/>
          <p:nvPr/>
        </p:nvSpPr>
        <p:spPr>
          <a:xfrm>
            <a:off x="7406640" y="2258568"/>
            <a:ext cx="1609344" cy="548640"/>
          </a:xfrm>
          <a:prstGeom prst="roundRect">
            <a:avLst>
              <a:gd name="adj" fmla="val 13333"/>
            </a:avLst>
          </a:prstGeom>
          <a:solidFill>
            <a:srgbClr val="F3E5F5"/>
          </a:solidFill>
          <a:ln w="12700">
            <a:solidFill>
              <a:srgbClr val="6A1B9A"/>
            </a:solidFill>
            <a:prstDash val="dash"/>
          </a:ln>
        </p:spPr>
      </p:sp>
      <p:sp>
        <p:nvSpPr>
          <p:cNvPr id="32" name="Text 30"/>
          <p:cNvSpPr txBox="1"/>
          <p:nvPr/>
        </p:nvSpPr>
        <p:spPr>
          <a:xfrm>
            <a:off x="7479792" y="2258568"/>
            <a:ext cx="1463040" cy="548640"/>
          </a:xfrm>
          <a:prstGeom prst="rect">
            <a:avLst/>
          </a:prstGeom>
          <a:noFill/>
          <a:ln/>
        </p:spPr>
        <p:txBody>
          <a:bodyPr wrap="square" lIns="0" tIns="0" rIns="0" bIns="0" rtlCol="0" anchor="ctr"/>
          <a:lstStyle/>
          <a:p>
            <a:pPr algn="l" indent="0" marL="0">
              <a:buNone/>
            </a:pPr>
            <a:r>
              <a:rPr lang="en-US" sz="1050" b="1" dirty="0">
                <a:solidFill>
                  <a:srgbClr val="6A1B9A"/>
                </a:solidFill>
              </a:rPr>
              <a:t>L17  </a:t>
            </a:r>
            <a:pPr algn="l" indent="0" marL="0">
              <a:buNone/>
            </a:pPr>
            <a:r>
              <a:rPr lang="en-US" sz="1050" dirty="0">
                <a:solidFill>
                  <a:srgbClr val="1F2430"/>
                </a:solidFill>
              </a:rPr>
              <a:t>Kitchen competence shifts the burden</a:t>
            </a:r>
            <a:endParaRPr lang="en-US" sz="1050" dirty="0"/>
          </a:p>
        </p:txBody>
      </p:sp>
      <p:sp>
        <p:nvSpPr>
          <p:cNvPr id="33" name="Text 31"/>
          <p:cNvSpPr txBox="1"/>
          <p:nvPr/>
        </p:nvSpPr>
        <p:spPr>
          <a:xfrm>
            <a:off x="457200" y="2880360"/>
            <a:ext cx="5486400" cy="164592"/>
          </a:xfrm>
          <a:prstGeom prst="rect">
            <a:avLst/>
          </a:prstGeom>
          <a:noFill/>
          <a:ln/>
        </p:spPr>
        <p:txBody>
          <a:bodyPr wrap="square" lIns="0" tIns="0" rIns="0" bIns="0" rtlCol="0" anchor="t"/>
          <a:lstStyle/>
          <a:p>
            <a:pPr algn="l" indent="0" marL="0">
              <a:buNone/>
            </a:pPr>
            <a:r>
              <a:rPr lang="en-US" sz="900" b="1" spc="150" kern="0" dirty="0">
                <a:solidFill>
                  <a:srgbClr val="8D4A00"/>
                </a:solidFill>
              </a:rPr>
              <a:t>CHAINS THAT DO NOT CLOSE</a:t>
            </a:r>
            <a:endParaRPr lang="en-US" sz="900" dirty="0"/>
          </a:p>
        </p:txBody>
      </p:sp>
      <p:sp>
        <p:nvSpPr>
          <p:cNvPr id="34" name="Shape 32"/>
          <p:cNvSpPr/>
          <p:nvPr/>
        </p:nvSpPr>
        <p:spPr>
          <a:xfrm>
            <a:off x="457200" y="3081528"/>
            <a:ext cx="1307592" cy="548640"/>
          </a:xfrm>
          <a:prstGeom prst="roundRect">
            <a:avLst>
              <a:gd name="adj" fmla="val 13333"/>
            </a:avLst>
          </a:prstGeom>
          <a:solidFill>
            <a:srgbClr val="FFF8E1"/>
          </a:solidFill>
          <a:ln w="31750">
            <a:solidFill>
              <a:srgbClr val="F57F17"/>
            </a:solidFill>
            <a:prstDash val="solid"/>
          </a:ln>
        </p:spPr>
      </p:sp>
      <p:sp>
        <p:nvSpPr>
          <p:cNvPr id="35" name="Text 33"/>
          <p:cNvSpPr txBox="1"/>
          <p:nvPr/>
        </p:nvSpPr>
        <p:spPr>
          <a:xfrm>
            <a:off x="530352" y="3081528"/>
            <a:ext cx="1161288" cy="548640"/>
          </a:xfrm>
          <a:prstGeom prst="rect">
            <a:avLst/>
          </a:prstGeom>
          <a:noFill/>
          <a:ln/>
        </p:spPr>
        <p:txBody>
          <a:bodyPr wrap="square" lIns="0" tIns="0" rIns="0" bIns="0" rtlCol="0" anchor="ctr"/>
          <a:lstStyle/>
          <a:p>
            <a:pPr algn="l" indent="0" marL="0">
              <a:buNone/>
            </a:pPr>
            <a:r>
              <a:rPr lang="en-US" sz="1050" b="1" dirty="0">
                <a:solidFill>
                  <a:srgbClr val="8D4A00"/>
                </a:solidFill>
              </a:rPr>
              <a:t>L13  </a:t>
            </a:r>
            <a:pPr algn="l" indent="0" marL="0">
              <a:buNone/>
            </a:pPr>
            <a:r>
              <a:rPr lang="en-US" sz="1050" dirty="0">
                <a:solidFill>
                  <a:srgbClr val="1F2430"/>
                </a:solidFill>
              </a:rPr>
              <a:t>Standing booking to fixed-ratio surplus (core)</a:t>
            </a:r>
            <a:endParaRPr lang="en-US" sz="1050" dirty="0"/>
          </a:p>
        </p:txBody>
      </p:sp>
      <p:sp>
        <p:nvSpPr>
          <p:cNvPr id="36" name="Shape 34"/>
          <p:cNvSpPr/>
          <p:nvPr/>
        </p:nvSpPr>
        <p:spPr>
          <a:xfrm>
            <a:off x="1841602" y="3081528"/>
            <a:ext cx="1307592" cy="548640"/>
          </a:xfrm>
          <a:prstGeom prst="roundRect">
            <a:avLst>
              <a:gd name="adj" fmla="val 13333"/>
            </a:avLst>
          </a:prstGeom>
          <a:solidFill>
            <a:srgbClr val="FFF8E1"/>
          </a:solidFill>
          <a:ln w="12700">
            <a:solidFill>
              <a:srgbClr val="F57F17"/>
            </a:solidFill>
            <a:prstDash val="solid"/>
          </a:ln>
        </p:spPr>
      </p:sp>
      <p:sp>
        <p:nvSpPr>
          <p:cNvPr id="37" name="Text 35"/>
          <p:cNvSpPr txBox="1"/>
          <p:nvPr/>
        </p:nvSpPr>
        <p:spPr>
          <a:xfrm>
            <a:off x="1914754" y="3081528"/>
            <a:ext cx="1161288" cy="548640"/>
          </a:xfrm>
          <a:prstGeom prst="rect">
            <a:avLst/>
          </a:prstGeom>
          <a:noFill/>
          <a:ln/>
        </p:spPr>
        <p:txBody>
          <a:bodyPr wrap="square" lIns="0" tIns="0" rIns="0" bIns="0" rtlCol="0" anchor="ctr"/>
          <a:lstStyle/>
          <a:p>
            <a:pPr algn="l" indent="0" marL="0">
              <a:buNone/>
            </a:pPr>
            <a:r>
              <a:rPr lang="en-US" sz="1050" b="1" dirty="0">
                <a:solidFill>
                  <a:srgbClr val="8D4A00"/>
                </a:solidFill>
              </a:rPr>
              <a:t>L14  </a:t>
            </a:r>
            <a:pPr algn="l" indent="0" marL="0">
              <a:buNone/>
            </a:pPr>
            <a:r>
              <a:rPr lang="en-US" sz="1050" dirty="0">
                <a:solidFill>
                  <a:srgbClr val="1F2430"/>
                </a:solidFill>
              </a:rPr>
              <a:t>Closing rush to just-in-case batch</a:t>
            </a:r>
            <a:endParaRPr lang="en-US" sz="1050" dirty="0"/>
          </a:p>
        </p:txBody>
      </p:sp>
      <p:sp>
        <p:nvSpPr>
          <p:cNvPr id="38" name="Shape 36"/>
          <p:cNvSpPr/>
          <p:nvPr/>
        </p:nvSpPr>
        <p:spPr>
          <a:xfrm>
            <a:off x="3226003" y="3081528"/>
            <a:ext cx="1307592" cy="548640"/>
          </a:xfrm>
          <a:prstGeom prst="roundRect">
            <a:avLst>
              <a:gd name="adj" fmla="val 13333"/>
            </a:avLst>
          </a:prstGeom>
          <a:solidFill>
            <a:srgbClr val="FFF8E1"/>
          </a:solidFill>
          <a:ln w="12700">
            <a:solidFill>
              <a:srgbClr val="F57F17"/>
            </a:solidFill>
            <a:prstDash val="solid"/>
          </a:ln>
        </p:spPr>
      </p:sp>
      <p:sp>
        <p:nvSpPr>
          <p:cNvPr id="39" name="Text 37"/>
          <p:cNvSpPr txBox="1"/>
          <p:nvPr/>
        </p:nvSpPr>
        <p:spPr>
          <a:xfrm>
            <a:off x="3299155" y="3081528"/>
            <a:ext cx="1161288" cy="548640"/>
          </a:xfrm>
          <a:prstGeom prst="rect">
            <a:avLst/>
          </a:prstGeom>
          <a:noFill/>
          <a:ln/>
        </p:spPr>
        <p:txBody>
          <a:bodyPr wrap="square" lIns="0" tIns="0" rIns="0" bIns="0" rtlCol="0" anchor="ctr"/>
          <a:lstStyle/>
          <a:p>
            <a:pPr algn="l" indent="0" marL="0">
              <a:buNone/>
            </a:pPr>
            <a:r>
              <a:rPr lang="en-US" sz="1050" b="1" dirty="0">
                <a:solidFill>
                  <a:srgbClr val="8D4A00"/>
                </a:solidFill>
              </a:rPr>
              <a:t>L2  </a:t>
            </a:r>
            <a:pPr algn="l" indent="0" marL="0">
              <a:buNone/>
            </a:pPr>
            <a:r>
              <a:rPr lang="en-US" sz="1050" dirty="0">
                <a:solidFill>
                  <a:srgbClr val="1F2430"/>
                </a:solidFill>
              </a:rPr>
              <a:t>Skip Meal</a:t>
            </a:r>
            <a:endParaRPr lang="en-US" sz="1050" dirty="0"/>
          </a:p>
        </p:txBody>
      </p:sp>
      <p:sp>
        <p:nvSpPr>
          <p:cNvPr id="40" name="Shape 38"/>
          <p:cNvSpPr/>
          <p:nvPr/>
        </p:nvSpPr>
        <p:spPr>
          <a:xfrm>
            <a:off x="4610405" y="3081528"/>
            <a:ext cx="1307592" cy="548640"/>
          </a:xfrm>
          <a:prstGeom prst="roundRect">
            <a:avLst>
              <a:gd name="adj" fmla="val 13333"/>
            </a:avLst>
          </a:prstGeom>
          <a:solidFill>
            <a:srgbClr val="FFF8E1"/>
          </a:solidFill>
          <a:ln w="12700">
            <a:solidFill>
              <a:srgbClr val="F57F17"/>
            </a:solidFill>
            <a:prstDash val="solid"/>
          </a:ln>
        </p:spPr>
      </p:sp>
      <p:sp>
        <p:nvSpPr>
          <p:cNvPr id="41" name="Text 39"/>
          <p:cNvSpPr txBox="1"/>
          <p:nvPr/>
        </p:nvSpPr>
        <p:spPr>
          <a:xfrm>
            <a:off x="4683557" y="3081528"/>
            <a:ext cx="1161288" cy="548640"/>
          </a:xfrm>
          <a:prstGeom prst="rect">
            <a:avLst/>
          </a:prstGeom>
          <a:noFill/>
          <a:ln/>
        </p:spPr>
        <p:txBody>
          <a:bodyPr wrap="square" lIns="0" tIns="0" rIns="0" bIns="0" rtlCol="0" anchor="ctr"/>
          <a:lstStyle/>
          <a:p>
            <a:pPr algn="l" indent="0" marL="0">
              <a:buNone/>
            </a:pPr>
            <a:r>
              <a:rPr lang="en-US" sz="1050" b="1" dirty="0">
                <a:solidFill>
                  <a:srgbClr val="8D4A00"/>
                </a:solidFill>
              </a:rPr>
              <a:t>L5  </a:t>
            </a:r>
            <a:pPr algn="l" indent="0" marL="0">
              <a:buNone/>
            </a:pPr>
            <a:r>
              <a:rPr lang="en-US" sz="1050" dirty="0">
                <a:solidFill>
                  <a:srgbClr val="1F2430"/>
                </a:solidFill>
              </a:rPr>
              <a:t>Menu transparency</a:t>
            </a:r>
            <a:endParaRPr lang="en-US" sz="1050" dirty="0"/>
          </a:p>
        </p:txBody>
      </p:sp>
      <p:sp>
        <p:nvSpPr>
          <p:cNvPr id="42" name="Shape 40"/>
          <p:cNvSpPr/>
          <p:nvPr/>
        </p:nvSpPr>
        <p:spPr>
          <a:xfrm>
            <a:off x="5994806" y="3081528"/>
            <a:ext cx="1307592" cy="548640"/>
          </a:xfrm>
          <a:prstGeom prst="roundRect">
            <a:avLst>
              <a:gd name="adj" fmla="val 13333"/>
            </a:avLst>
          </a:prstGeom>
          <a:solidFill>
            <a:srgbClr val="FFF8E1"/>
          </a:solidFill>
          <a:ln w="12700">
            <a:solidFill>
              <a:srgbClr val="F57F17"/>
            </a:solidFill>
            <a:prstDash val="solid"/>
          </a:ln>
        </p:spPr>
      </p:sp>
      <p:sp>
        <p:nvSpPr>
          <p:cNvPr id="43" name="Text 41"/>
          <p:cNvSpPr txBox="1"/>
          <p:nvPr/>
        </p:nvSpPr>
        <p:spPr>
          <a:xfrm>
            <a:off x="6067958" y="3081528"/>
            <a:ext cx="1161288" cy="548640"/>
          </a:xfrm>
          <a:prstGeom prst="rect">
            <a:avLst/>
          </a:prstGeom>
          <a:noFill/>
          <a:ln/>
        </p:spPr>
        <p:txBody>
          <a:bodyPr wrap="square" lIns="0" tIns="0" rIns="0" bIns="0" rtlCol="0" anchor="ctr"/>
          <a:lstStyle/>
          <a:p>
            <a:pPr algn="l" indent="0" marL="0">
              <a:buNone/>
            </a:pPr>
            <a:r>
              <a:rPr lang="en-US" sz="1050" b="1" dirty="0">
                <a:solidFill>
                  <a:srgbClr val="8D4A00"/>
                </a:solidFill>
              </a:rPr>
              <a:t>L6  </a:t>
            </a:r>
            <a:pPr algn="l" indent="0" marL="0">
              <a:buNone/>
            </a:pPr>
            <a:r>
              <a:rPr lang="en-US" sz="1050" dirty="0">
                <a:solidFill>
                  <a:srgbClr val="1F2430"/>
                </a:solidFill>
              </a:rPr>
              <a:t>Shock relaxation</a:t>
            </a:r>
            <a:endParaRPr lang="en-US" sz="1050" dirty="0"/>
          </a:p>
        </p:txBody>
      </p:sp>
      <p:sp>
        <p:nvSpPr>
          <p:cNvPr id="44" name="Shape 42"/>
          <p:cNvSpPr/>
          <p:nvPr/>
        </p:nvSpPr>
        <p:spPr>
          <a:xfrm>
            <a:off x="7379208" y="3081528"/>
            <a:ext cx="1307592" cy="548640"/>
          </a:xfrm>
          <a:prstGeom prst="roundRect">
            <a:avLst>
              <a:gd name="adj" fmla="val 13333"/>
            </a:avLst>
          </a:prstGeom>
          <a:solidFill>
            <a:srgbClr val="FFF8E1"/>
          </a:solidFill>
          <a:ln w="12700">
            <a:solidFill>
              <a:srgbClr val="F57F17"/>
            </a:solidFill>
            <a:prstDash val="solid"/>
          </a:ln>
        </p:spPr>
      </p:sp>
      <p:sp>
        <p:nvSpPr>
          <p:cNvPr id="45" name="Text 43"/>
          <p:cNvSpPr txBox="1"/>
          <p:nvPr/>
        </p:nvSpPr>
        <p:spPr>
          <a:xfrm>
            <a:off x="7452360" y="3081528"/>
            <a:ext cx="1161288" cy="548640"/>
          </a:xfrm>
          <a:prstGeom prst="rect">
            <a:avLst/>
          </a:prstGeom>
          <a:noFill/>
          <a:ln/>
        </p:spPr>
        <p:txBody>
          <a:bodyPr wrap="square" lIns="0" tIns="0" rIns="0" bIns="0" rtlCol="0" anchor="ctr"/>
          <a:lstStyle/>
          <a:p>
            <a:pPr algn="l" indent="0" marL="0">
              <a:buNone/>
            </a:pPr>
            <a:r>
              <a:rPr lang="en-US" sz="1050" b="1" dirty="0">
                <a:solidFill>
                  <a:srgbClr val="8D4A00"/>
                </a:solidFill>
              </a:rPr>
              <a:t>L7  </a:t>
            </a:r>
            <a:pPr algn="l" indent="0" marL="0">
              <a:buNone/>
            </a:pPr>
            <a:r>
              <a:rPr lang="en-US" sz="1050" dirty="0">
                <a:solidFill>
                  <a:srgbClr val="1F2430"/>
                </a:solidFill>
              </a:rPr>
              <a:t>Late-night workload to skip</a:t>
            </a:r>
            <a:endParaRPr lang="en-US" sz="1050" dirty="0"/>
          </a:p>
        </p:txBody>
      </p:sp>
      <p:sp>
        <p:nvSpPr>
          <p:cNvPr id="46" name="Text 44"/>
          <p:cNvSpPr txBox="1"/>
          <p:nvPr/>
        </p:nvSpPr>
        <p:spPr>
          <a:xfrm>
            <a:off x="457200" y="3703320"/>
            <a:ext cx="5486400" cy="164592"/>
          </a:xfrm>
          <a:prstGeom prst="rect">
            <a:avLst/>
          </a:prstGeom>
          <a:noFill/>
          <a:ln/>
        </p:spPr>
        <p:txBody>
          <a:bodyPr wrap="square" lIns="0" tIns="0" rIns="0" bIns="0" rtlCol="0" anchor="t"/>
          <a:lstStyle/>
          <a:p>
            <a:pPr algn="l" indent="0" marL="0">
              <a:buNone/>
            </a:pPr>
            <a:r>
              <a:rPr lang="en-US" sz="900" b="1" spc="150" kern="0" dirty="0">
                <a:solidFill>
                  <a:srgbClr val="C62828"/>
                </a:solidFill>
              </a:rPr>
              <a:t>CONTRAINDICATED, UNRESOLVED, ABSENT OR STATIC</a:t>
            </a:r>
            <a:endParaRPr lang="en-US" sz="900" dirty="0"/>
          </a:p>
        </p:txBody>
      </p:sp>
      <p:sp>
        <p:nvSpPr>
          <p:cNvPr id="47" name="Shape 45"/>
          <p:cNvSpPr/>
          <p:nvPr/>
        </p:nvSpPr>
        <p:spPr>
          <a:xfrm>
            <a:off x="457200" y="3904488"/>
            <a:ext cx="1956816" cy="548640"/>
          </a:xfrm>
          <a:prstGeom prst="roundRect">
            <a:avLst>
              <a:gd name="adj" fmla="val 13333"/>
            </a:avLst>
          </a:prstGeom>
          <a:solidFill>
            <a:srgbClr val="FDECEA"/>
          </a:solidFill>
          <a:ln w="12700">
            <a:solidFill>
              <a:srgbClr val="C62828"/>
            </a:solidFill>
            <a:prstDash val="solid"/>
          </a:ln>
        </p:spPr>
      </p:sp>
      <p:sp>
        <p:nvSpPr>
          <p:cNvPr id="48" name="Text 46"/>
          <p:cNvSpPr txBox="1"/>
          <p:nvPr/>
        </p:nvSpPr>
        <p:spPr>
          <a:xfrm>
            <a:off x="530352" y="3904488"/>
            <a:ext cx="1810512" cy="548640"/>
          </a:xfrm>
          <a:prstGeom prst="rect">
            <a:avLst/>
          </a:prstGeom>
          <a:noFill/>
          <a:ln/>
        </p:spPr>
        <p:txBody>
          <a:bodyPr wrap="square" lIns="0" tIns="0" rIns="0" bIns="0" rtlCol="0" anchor="ctr"/>
          <a:lstStyle/>
          <a:p>
            <a:pPr algn="l" indent="0" marL="0">
              <a:buNone/>
            </a:pPr>
            <a:r>
              <a:rPr lang="en-US" sz="1050" b="1" dirty="0">
                <a:solidFill>
                  <a:srgbClr val="C62828"/>
                </a:solidFill>
              </a:rPr>
              <a:t>L3  </a:t>
            </a:r>
            <a:pPr algn="l" indent="0" marL="0">
              <a:buNone/>
            </a:pPr>
            <a:r>
              <a:rPr lang="en-US" sz="1050" dirty="0">
                <a:solidFill>
                  <a:srgbClr val="1F2430"/>
                </a:solidFill>
              </a:rPr>
              <a:t>Capacity redistribution</a:t>
            </a:r>
            <a:endParaRPr lang="en-US" sz="1050" dirty="0"/>
          </a:p>
        </p:txBody>
      </p:sp>
      <p:sp>
        <p:nvSpPr>
          <p:cNvPr id="49" name="Shape 47"/>
          <p:cNvSpPr/>
          <p:nvPr/>
        </p:nvSpPr>
        <p:spPr>
          <a:xfrm>
            <a:off x="2542032" y="3904488"/>
            <a:ext cx="1956816" cy="548640"/>
          </a:xfrm>
          <a:prstGeom prst="roundRect">
            <a:avLst>
              <a:gd name="adj" fmla="val 13333"/>
            </a:avLst>
          </a:prstGeom>
          <a:solidFill>
            <a:srgbClr val="FDECEA"/>
          </a:solidFill>
          <a:ln w="12700">
            <a:solidFill>
              <a:srgbClr val="C62828"/>
            </a:solidFill>
            <a:prstDash val="solid"/>
          </a:ln>
        </p:spPr>
      </p:sp>
      <p:sp>
        <p:nvSpPr>
          <p:cNvPr id="50" name="Text 48"/>
          <p:cNvSpPr txBox="1"/>
          <p:nvPr/>
        </p:nvSpPr>
        <p:spPr>
          <a:xfrm>
            <a:off x="2615184" y="3904488"/>
            <a:ext cx="1810512" cy="548640"/>
          </a:xfrm>
          <a:prstGeom prst="rect">
            <a:avLst/>
          </a:prstGeom>
          <a:noFill/>
          <a:ln/>
        </p:spPr>
        <p:txBody>
          <a:bodyPr wrap="square" lIns="0" tIns="0" rIns="0" bIns="0" rtlCol="0" anchor="ctr"/>
          <a:lstStyle/>
          <a:p>
            <a:pPr algn="l" indent="0" marL="0">
              <a:buNone/>
            </a:pPr>
            <a:r>
              <a:rPr lang="en-US" sz="1050" b="1" dirty="0">
                <a:solidFill>
                  <a:srgbClr val="C62828"/>
                </a:solidFill>
              </a:rPr>
              <a:t>L8  </a:t>
            </a:r>
            <a:pPr algn="l" indent="0" marL="0">
              <a:buNone/>
            </a:pPr>
            <a:r>
              <a:rPr lang="en-US" sz="1050" dirty="0">
                <a:solidFill>
                  <a:srgbClr val="1F2430"/>
                </a:solidFill>
              </a:rPr>
              <a:t>Vendor discipline</a:t>
            </a:r>
            <a:endParaRPr lang="en-US" sz="1050" dirty="0"/>
          </a:p>
        </p:txBody>
      </p:sp>
      <p:sp>
        <p:nvSpPr>
          <p:cNvPr id="51" name="Shape 49"/>
          <p:cNvSpPr/>
          <p:nvPr/>
        </p:nvSpPr>
        <p:spPr>
          <a:xfrm>
            <a:off x="4626864" y="3904488"/>
            <a:ext cx="1956816" cy="548640"/>
          </a:xfrm>
          <a:prstGeom prst="roundRect">
            <a:avLst>
              <a:gd name="adj" fmla="val 13333"/>
            </a:avLst>
          </a:prstGeom>
          <a:solidFill>
            <a:srgbClr val="FDECEA"/>
          </a:solidFill>
          <a:ln w="12700">
            <a:solidFill>
              <a:srgbClr val="C62828"/>
            </a:solidFill>
            <a:prstDash val="solid"/>
          </a:ln>
        </p:spPr>
      </p:sp>
      <p:sp>
        <p:nvSpPr>
          <p:cNvPr id="52" name="Text 50"/>
          <p:cNvSpPr txBox="1"/>
          <p:nvPr/>
        </p:nvSpPr>
        <p:spPr>
          <a:xfrm>
            <a:off x="4700016" y="3904488"/>
            <a:ext cx="1810512" cy="548640"/>
          </a:xfrm>
          <a:prstGeom prst="rect">
            <a:avLst/>
          </a:prstGeom>
          <a:noFill/>
          <a:ln/>
        </p:spPr>
        <p:txBody>
          <a:bodyPr wrap="square" lIns="0" tIns="0" rIns="0" bIns="0" rtlCol="0" anchor="ctr"/>
          <a:lstStyle/>
          <a:p>
            <a:pPr algn="l" indent="0" marL="0">
              <a:buNone/>
            </a:pPr>
            <a:r>
              <a:rPr lang="en-US" sz="1050" b="1" dirty="0">
                <a:solidFill>
                  <a:srgbClr val="C62828"/>
                </a:solidFill>
              </a:rPr>
              <a:t>L16  </a:t>
            </a:r>
            <a:pPr algn="l" indent="0" marL="0">
              <a:buNone/>
            </a:pPr>
            <a:r>
              <a:rPr lang="en-US" sz="1050" dirty="0">
                <a:solidFill>
                  <a:srgbClr val="1F2430"/>
                </a:solidFill>
              </a:rPr>
              <a:t>Operator waste to menu</a:t>
            </a:r>
            <a:endParaRPr lang="en-US" sz="1050" dirty="0"/>
          </a:p>
        </p:txBody>
      </p:sp>
      <p:sp>
        <p:nvSpPr>
          <p:cNvPr id="53" name="Shape 51"/>
          <p:cNvSpPr/>
          <p:nvPr/>
        </p:nvSpPr>
        <p:spPr>
          <a:xfrm>
            <a:off x="6711696" y="3904488"/>
            <a:ext cx="1956816" cy="548640"/>
          </a:xfrm>
          <a:prstGeom prst="roundRect">
            <a:avLst>
              <a:gd name="adj" fmla="val 13333"/>
            </a:avLst>
          </a:prstGeom>
          <a:solidFill>
            <a:srgbClr val="FDECEA"/>
          </a:solidFill>
          <a:ln w="31750">
            <a:solidFill>
              <a:srgbClr val="C62828"/>
            </a:solidFill>
            <a:prstDash val="solid"/>
          </a:ln>
        </p:spPr>
      </p:sp>
      <p:sp>
        <p:nvSpPr>
          <p:cNvPr id="54" name="Text 52"/>
          <p:cNvSpPr txBox="1"/>
          <p:nvPr/>
        </p:nvSpPr>
        <p:spPr>
          <a:xfrm>
            <a:off x="6784848" y="3904488"/>
            <a:ext cx="1810512" cy="548640"/>
          </a:xfrm>
          <a:prstGeom prst="rect">
            <a:avLst/>
          </a:prstGeom>
          <a:noFill/>
          <a:ln/>
        </p:spPr>
        <p:txBody>
          <a:bodyPr wrap="square" lIns="0" tIns="0" rIns="0" bIns="0" rtlCol="0" anchor="ctr"/>
          <a:lstStyle/>
          <a:p>
            <a:pPr algn="l" indent="0" marL="0">
              <a:buNone/>
            </a:pPr>
            <a:r>
              <a:rPr lang="en-US" sz="1050" b="1" dirty="0">
                <a:solidFill>
                  <a:srgbClr val="C62828"/>
                </a:solidFill>
              </a:rPr>
              <a:t>L10  </a:t>
            </a:r>
            <a:pPr algn="l" indent="0" marL="0">
              <a:buNone/>
            </a:pPr>
            <a:r>
              <a:rPr lang="en-US" sz="1050" dirty="0">
                <a:solidFill>
                  <a:srgbClr val="1F2430"/>
                </a:solidFill>
              </a:rPr>
              <a:t>Measured but unrouted</a:t>
            </a:r>
            <a:endParaRPr lang="en-US" sz="1050" dirty="0"/>
          </a:p>
        </p:txBody>
      </p:sp>
      <p:sp>
        <p:nvSpPr>
          <p:cNvPr id="55" name="Text 53"/>
          <p:cNvSpPr txBox="1"/>
          <p:nvPr/>
        </p:nvSpPr>
        <p:spPr>
          <a:xfrm>
            <a:off x="457200" y="4553712"/>
            <a:ext cx="7315200" cy="228600"/>
          </a:xfrm>
          <a:prstGeom prst="rect">
            <a:avLst/>
          </a:prstGeom>
          <a:noFill/>
          <a:ln/>
        </p:spPr>
        <p:txBody>
          <a:bodyPr wrap="square" lIns="0" tIns="0" rIns="0" bIns="0" rtlCol="0" anchor="t"/>
          <a:lstStyle/>
          <a:p>
            <a:pPr algn="l" indent="0" marL="0">
              <a:buNone/>
            </a:pPr>
            <a:r>
              <a:rPr lang="en-US" sz="1200" b="1" dirty="0">
                <a:solidFill>
                  <a:srgbClr val="1F2430"/>
                </a:solidFill>
              </a:rPr>
              <a:t>Every working loop corrects the kitchen. None corrects the booking.</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A loop is drawn as closed only where every link has direct evidence</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982980" y="4841748"/>
            <a:ext cx="146304" cy="146304"/>
          </a:xfrm>
          <a:prstGeom prst="ellipse">
            <a:avLst/>
          </a:prstGeom>
          <a:solidFill>
            <a:srgbClr val="1A237E"/>
          </a:solidFill>
          <a:ln/>
        </p:spPr>
      </p:sp>
      <p:sp>
        <p:nvSpPr>
          <p:cNvPr id="7" name="Shape 5"/>
          <p:cNvSpPr/>
          <p:nvPr/>
        </p:nvSpPr>
        <p:spPr>
          <a:xfrm>
            <a:off x="946404" y="4805172"/>
            <a:ext cx="219456" cy="219456"/>
          </a:xfrm>
          <a:prstGeom prst="ellipse">
            <a:avLst/>
          </a:prstGeom>
          <a:ln w="9525">
            <a:solidFill>
              <a:srgbClr val="1A237E"/>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4 Modelling the system</a:t>
            </a:r>
            <a:endParaRPr lang="en-US" sz="1000" dirty="0"/>
          </a:p>
        </p:txBody>
      </p:sp>
      <p:sp>
        <p:nvSpPr>
          <p:cNvPr id="15" name="Shape 13"/>
          <p:cNvSpPr/>
          <p:nvPr/>
        </p:nvSpPr>
        <p:spPr>
          <a:xfrm>
            <a:off x="6839712" y="109728"/>
            <a:ext cx="91440" cy="91440"/>
          </a:xfrm>
          <a:prstGeom prst="ellipse">
            <a:avLst/>
          </a:prstGeom>
          <a:ln w="9525">
            <a:solidFill>
              <a:srgbClr val="1A237E"/>
            </a:solidFill>
            <a:prstDash val="solid"/>
          </a:ln>
        </p:spPr>
      </p:sp>
      <p:sp>
        <p:nvSpPr>
          <p:cNvPr id="16" name="Shape 14"/>
          <p:cNvSpPr/>
          <p:nvPr/>
        </p:nvSpPr>
        <p:spPr>
          <a:xfrm>
            <a:off x="6986016" y="109728"/>
            <a:ext cx="91440" cy="91440"/>
          </a:xfrm>
          <a:prstGeom prst="ellipse">
            <a:avLst/>
          </a:prstGeom>
          <a:ln w="9525">
            <a:solidFill>
              <a:srgbClr val="1A237E"/>
            </a:solidFill>
            <a:prstDash val="solid"/>
          </a:ln>
        </p:spPr>
      </p:sp>
      <p:sp>
        <p:nvSpPr>
          <p:cNvPr id="17" name="Shape 15"/>
          <p:cNvSpPr/>
          <p:nvPr/>
        </p:nvSpPr>
        <p:spPr>
          <a:xfrm>
            <a:off x="7132320" y="109728"/>
            <a:ext cx="91440" cy="91440"/>
          </a:xfrm>
          <a:prstGeom prst="ellipse">
            <a:avLst/>
          </a:prstGeom>
          <a:ln w="9525">
            <a:solidFill>
              <a:srgbClr val="1A237E"/>
            </a:solidFill>
            <a:prstDash val="solid"/>
          </a:ln>
        </p:spPr>
      </p:sp>
      <p:sp>
        <p:nvSpPr>
          <p:cNvPr id="18" name="Shape 16"/>
          <p:cNvSpPr/>
          <p:nvPr/>
        </p:nvSpPr>
        <p:spPr>
          <a:xfrm>
            <a:off x="7278624" y="109728"/>
            <a:ext cx="91440" cy="91440"/>
          </a:xfrm>
          <a:prstGeom prst="ellipse">
            <a:avLst/>
          </a:prstGeom>
          <a:ln w="9525">
            <a:solidFill>
              <a:srgbClr val="1A237E"/>
            </a:solidFill>
            <a:prstDash val="solid"/>
          </a:ln>
        </p:spPr>
      </p:sp>
      <p:sp>
        <p:nvSpPr>
          <p:cNvPr id="19" name="Shape 17"/>
          <p:cNvSpPr/>
          <p:nvPr/>
        </p:nvSpPr>
        <p:spPr>
          <a:xfrm>
            <a:off x="7424928" y="109728"/>
            <a:ext cx="91440" cy="91440"/>
          </a:xfrm>
          <a:prstGeom prst="ellipse">
            <a:avLst/>
          </a:prstGeom>
          <a:ln w="9525">
            <a:solidFill>
              <a:srgbClr val="1A237E"/>
            </a:solidFill>
            <a:prstDash val="solid"/>
          </a:ln>
        </p:spPr>
      </p:sp>
      <p:sp>
        <p:nvSpPr>
          <p:cNvPr id="20" name="Shape 18"/>
          <p:cNvSpPr/>
          <p:nvPr/>
        </p:nvSpPr>
        <p:spPr>
          <a:xfrm>
            <a:off x="7571232" y="109728"/>
            <a:ext cx="91440" cy="91440"/>
          </a:xfrm>
          <a:prstGeom prst="ellipse">
            <a:avLst/>
          </a:prstGeom>
          <a:ln w="9525">
            <a:solidFill>
              <a:srgbClr val="1A237E"/>
            </a:solidFill>
            <a:prstDash val="solid"/>
          </a:ln>
        </p:spPr>
      </p:sp>
      <p:sp>
        <p:nvSpPr>
          <p:cNvPr id="21" name="Shape 19"/>
          <p:cNvSpPr/>
          <p:nvPr/>
        </p:nvSpPr>
        <p:spPr>
          <a:xfrm>
            <a:off x="7717536" y="109728"/>
            <a:ext cx="91440" cy="91440"/>
          </a:xfrm>
          <a:prstGeom prst="ellipse">
            <a:avLst/>
          </a:prstGeom>
          <a:solidFill>
            <a:srgbClr val="1A237E"/>
          </a:solidFill>
          <a:ln w="9525">
            <a:solidFill>
              <a:srgbClr val="1A237E"/>
            </a:solidFill>
            <a:prstDash val="solid"/>
          </a:ln>
        </p:spPr>
      </p:sp>
      <p:sp>
        <p:nvSpPr>
          <p:cNvPr id="22" name="Shape 20"/>
          <p:cNvSpPr/>
          <p:nvPr/>
        </p:nvSpPr>
        <p:spPr>
          <a:xfrm>
            <a:off x="7863840" y="109728"/>
            <a:ext cx="91440" cy="91440"/>
          </a:xfrm>
          <a:prstGeom prst="ellipse">
            <a:avLst/>
          </a:prstGeom>
          <a:ln w="9525">
            <a:solidFill>
              <a:srgbClr val="1A237E"/>
            </a:solidFill>
            <a:prstDash val="solid"/>
          </a:ln>
        </p:spPr>
      </p:sp>
      <p:sp>
        <p:nvSpPr>
          <p:cNvPr id="23" name="Shape 21"/>
          <p:cNvSpPr/>
          <p:nvPr/>
        </p:nvSpPr>
        <p:spPr>
          <a:xfrm>
            <a:off x="8010144" y="109728"/>
            <a:ext cx="91440" cy="91440"/>
          </a:xfrm>
          <a:prstGeom prst="ellipse">
            <a:avLst/>
          </a:prstGeom>
          <a:ln w="9525">
            <a:solidFill>
              <a:srgbClr val="1A237E"/>
            </a:solidFill>
            <a:prstDash val="solid"/>
          </a:ln>
        </p:spPr>
      </p:sp>
      <p:sp>
        <p:nvSpPr>
          <p:cNvPr id="24" name="Shape 22"/>
          <p:cNvSpPr/>
          <p:nvPr/>
        </p:nvSpPr>
        <p:spPr>
          <a:xfrm>
            <a:off x="8156448" y="109728"/>
            <a:ext cx="91440" cy="91440"/>
          </a:xfrm>
          <a:prstGeom prst="ellipse">
            <a:avLst/>
          </a:prstGeom>
          <a:ln w="9525">
            <a:solidFill>
              <a:srgbClr val="1A237E"/>
            </a:solidFill>
            <a:prstDash val="solid"/>
          </a:ln>
        </p:spPr>
      </p:sp>
      <p:sp>
        <p:nvSpPr>
          <p:cNvPr id="25" name="Shape 23"/>
          <p:cNvSpPr/>
          <p:nvPr/>
        </p:nvSpPr>
        <p:spPr>
          <a:xfrm>
            <a:off x="8302752" y="109728"/>
            <a:ext cx="91440" cy="91440"/>
          </a:xfrm>
          <a:prstGeom prst="ellipse">
            <a:avLst/>
          </a:prstGeom>
          <a:ln w="9525">
            <a:solidFill>
              <a:srgbClr val="1A237E"/>
            </a:solidFill>
            <a:prstDash val="solid"/>
          </a:ln>
        </p:spPr>
      </p:sp>
      <p:sp>
        <p:nvSpPr>
          <p:cNvPr id="26" name="Shape 24"/>
          <p:cNvSpPr/>
          <p:nvPr/>
        </p:nvSpPr>
        <p:spPr>
          <a:xfrm>
            <a:off x="8449056" y="109728"/>
            <a:ext cx="91440" cy="91440"/>
          </a:xfrm>
          <a:prstGeom prst="ellipse">
            <a:avLst/>
          </a:prstGeom>
          <a:ln w="9525">
            <a:solidFill>
              <a:srgbClr val="1A237E"/>
            </a:solidFill>
            <a:prstDash val="solid"/>
          </a:ln>
        </p:spPr>
      </p:sp>
      <p:sp>
        <p:nvSpPr>
          <p:cNvPr id="27" name="Shape 25"/>
          <p:cNvSpPr/>
          <p:nvPr/>
        </p:nvSpPr>
        <p:spPr>
          <a:xfrm>
            <a:off x="8595360" y="109728"/>
            <a:ext cx="91440" cy="91440"/>
          </a:xfrm>
          <a:prstGeom prst="ellipse">
            <a:avLst/>
          </a:prstGeom>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7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Draw a loop as closed only if every link, including the last, is evidenced</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7</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Drawing every plausible loop, as the first map did</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Plausible loops would imply feedback where none reaches the booking</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Only three loops are confirmed; the count describes the evidence, not the system</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Three earlier loops became open chains and one was disconfirmed</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institution has run attendance billing twice and kept the model that bills the booking</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982980" y="4841748"/>
            <a:ext cx="146304" cy="146304"/>
          </a:xfrm>
          <a:prstGeom prst="ellipse">
            <a:avLst/>
          </a:prstGeom>
          <a:solidFill>
            <a:srgbClr val="1A237E"/>
          </a:solidFill>
          <a:ln/>
        </p:spPr>
      </p:sp>
      <p:sp>
        <p:nvSpPr>
          <p:cNvPr id="7" name="Shape 5"/>
          <p:cNvSpPr/>
          <p:nvPr/>
        </p:nvSpPr>
        <p:spPr>
          <a:xfrm>
            <a:off x="946404" y="4805172"/>
            <a:ext cx="219456" cy="219456"/>
          </a:xfrm>
          <a:prstGeom prst="ellipse">
            <a:avLst/>
          </a:prstGeom>
          <a:ln w="9525">
            <a:solidFill>
              <a:srgbClr val="1A237E"/>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4 Modelling the system</a:t>
            </a:r>
            <a:endParaRPr lang="en-US" sz="1000" dirty="0"/>
          </a:p>
        </p:txBody>
      </p:sp>
      <p:sp>
        <p:nvSpPr>
          <p:cNvPr id="15" name="Shape 13"/>
          <p:cNvSpPr/>
          <p:nvPr/>
        </p:nvSpPr>
        <p:spPr>
          <a:xfrm>
            <a:off x="457200" y="1280160"/>
            <a:ext cx="3840480" cy="2743200"/>
          </a:xfrm>
          <a:prstGeom prst="roundRect">
            <a:avLst>
              <a:gd name="adj" fmla="val 2667"/>
            </a:avLst>
          </a:prstGeom>
          <a:solidFill>
            <a:srgbClr val="F2F2F2"/>
          </a:solidFill>
          <a:ln/>
        </p:spPr>
      </p:sp>
      <p:sp>
        <p:nvSpPr>
          <p:cNvPr id="16" name="Text 14"/>
          <p:cNvSpPr txBox="1"/>
          <p:nvPr/>
        </p:nvSpPr>
        <p:spPr>
          <a:xfrm>
            <a:off x="640080" y="1371600"/>
            <a:ext cx="347472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BILL THE BOOKING</a:t>
            </a:r>
            <a:endParaRPr lang="en-US" sz="1000" dirty="0"/>
          </a:p>
        </p:txBody>
      </p:sp>
      <p:sp>
        <p:nvSpPr>
          <p:cNvPr id="17" name="Text 15"/>
          <p:cNvSpPr txBox="1"/>
          <p:nvPr/>
        </p:nvSpPr>
        <p:spPr>
          <a:xfrm>
            <a:off x="640080" y="1572768"/>
            <a:ext cx="3474720" cy="274320"/>
          </a:xfrm>
          <a:prstGeom prst="rect">
            <a:avLst/>
          </a:prstGeom>
          <a:noFill/>
          <a:ln/>
        </p:spPr>
        <p:txBody>
          <a:bodyPr wrap="square" lIns="0" tIns="0" rIns="0" bIns="0" rtlCol="0" anchor="t"/>
          <a:lstStyle/>
          <a:p>
            <a:pPr algn="l" indent="0" marL="0">
              <a:buNone/>
            </a:pPr>
            <a:r>
              <a:rPr lang="en-US" sz="1600" b="1" dirty="0">
                <a:solidFill>
                  <a:srgbClr val="1F2430"/>
                </a:solidFill>
              </a:rPr>
              <a:t>The model in force</a:t>
            </a:r>
            <a:endParaRPr lang="en-US" sz="1600" dirty="0"/>
          </a:p>
        </p:txBody>
      </p:sp>
      <p:sp>
        <p:nvSpPr>
          <p:cNvPr id="18" name="Shape 16"/>
          <p:cNvSpPr/>
          <p:nvPr/>
        </p:nvSpPr>
        <p:spPr>
          <a:xfrm>
            <a:off x="640080" y="2011680"/>
            <a:ext cx="1554480" cy="457200"/>
          </a:xfrm>
          <a:prstGeom prst="roundRect">
            <a:avLst>
              <a:gd name="adj" fmla="val 12000"/>
            </a:avLst>
          </a:prstGeom>
          <a:solidFill>
            <a:srgbClr val="E3F2FD"/>
          </a:solidFill>
          <a:ln w="12700">
            <a:solidFill>
              <a:srgbClr val="1565C0"/>
            </a:solidFill>
            <a:prstDash val="solid"/>
          </a:ln>
        </p:spPr>
      </p:sp>
      <p:sp>
        <p:nvSpPr>
          <p:cNvPr id="19" name="Text 17"/>
          <p:cNvSpPr txBox="1"/>
          <p:nvPr/>
        </p:nvSpPr>
        <p:spPr>
          <a:xfrm>
            <a:off x="704088" y="2011680"/>
            <a:ext cx="1426464" cy="457200"/>
          </a:xfrm>
          <a:prstGeom prst="rect">
            <a:avLst/>
          </a:prstGeom>
          <a:noFill/>
          <a:ln/>
        </p:spPr>
        <p:txBody>
          <a:bodyPr wrap="square" lIns="0" tIns="0" rIns="0" bIns="0" rtlCol="0" anchor="ctr"/>
          <a:lstStyle/>
          <a:p>
            <a:pPr algn="ctr" indent="0" marL="0">
              <a:buNone/>
            </a:pPr>
            <a:r>
              <a:rPr lang="en-US" sz="1200" dirty="0">
                <a:solidFill>
                  <a:srgbClr val="1F2430"/>
                </a:solidFill>
              </a:rPr>
              <a:t>Standing booking</a:t>
            </a:r>
            <a:endParaRPr lang="en-US" sz="1200" dirty="0"/>
          </a:p>
        </p:txBody>
      </p:sp>
      <p:sp>
        <p:nvSpPr>
          <p:cNvPr id="20" name="Shape 18"/>
          <p:cNvSpPr/>
          <p:nvPr/>
        </p:nvSpPr>
        <p:spPr>
          <a:xfrm>
            <a:off x="2194560" y="2240280"/>
            <a:ext cx="320040" cy="0"/>
          </a:xfrm>
          <a:prstGeom prst="line">
            <a:avLst/>
          </a:prstGeom>
          <a:noFill/>
          <a:ln w="25400">
            <a:solidFill>
              <a:srgbClr val="1A237E"/>
            </a:solidFill>
            <a:prstDash val="solid"/>
            <a:tailEnd type="triangle"/>
          </a:ln>
        </p:spPr>
      </p:sp>
      <p:sp>
        <p:nvSpPr>
          <p:cNvPr id="21" name="Shape 19"/>
          <p:cNvSpPr/>
          <p:nvPr/>
        </p:nvSpPr>
        <p:spPr>
          <a:xfrm>
            <a:off x="2514600" y="2011680"/>
            <a:ext cx="1554480" cy="457200"/>
          </a:xfrm>
          <a:prstGeom prst="roundRect">
            <a:avLst>
              <a:gd name="adj" fmla="val 12000"/>
            </a:avLst>
          </a:prstGeom>
          <a:solidFill>
            <a:srgbClr val="FDECEA"/>
          </a:solidFill>
          <a:ln w="12700">
            <a:solidFill>
              <a:srgbClr val="C62828"/>
            </a:solidFill>
            <a:prstDash val="solid"/>
          </a:ln>
        </p:spPr>
      </p:sp>
      <p:sp>
        <p:nvSpPr>
          <p:cNvPr id="22" name="Text 20"/>
          <p:cNvSpPr txBox="1"/>
          <p:nvPr/>
        </p:nvSpPr>
        <p:spPr>
          <a:xfrm>
            <a:off x="2578608" y="2011680"/>
            <a:ext cx="1426464" cy="457200"/>
          </a:xfrm>
          <a:prstGeom prst="rect">
            <a:avLst/>
          </a:prstGeom>
          <a:noFill/>
          <a:ln/>
        </p:spPr>
        <p:txBody>
          <a:bodyPr wrap="square" lIns="0" tIns="0" rIns="0" bIns="0" rtlCol="0" anchor="ctr"/>
          <a:lstStyle/>
          <a:p>
            <a:pPr algn="ctr" indent="0" marL="0">
              <a:buNone/>
            </a:pPr>
            <a:r>
              <a:rPr lang="en-US" sz="1200" dirty="0">
                <a:solidFill>
                  <a:srgbClr val="1F2430"/>
                </a:solidFill>
              </a:rPr>
              <a:t>A charge</a:t>
            </a:r>
            <a:endParaRPr lang="en-US" sz="1200" dirty="0"/>
          </a:p>
        </p:txBody>
      </p:sp>
      <p:sp>
        <p:nvSpPr>
          <p:cNvPr id="23" name="Shape 21"/>
          <p:cNvSpPr/>
          <p:nvPr/>
        </p:nvSpPr>
        <p:spPr>
          <a:xfrm>
            <a:off x="640080" y="2788920"/>
            <a:ext cx="3429000" cy="1005840"/>
          </a:xfrm>
          <a:prstGeom prst="roundRect">
            <a:avLst>
              <a:gd name="adj" fmla="val 7273"/>
            </a:avLst>
          </a:prstGeom>
          <a:solidFill>
            <a:srgbClr val="FDECEA"/>
          </a:solidFill>
          <a:ln w="12700">
            <a:solidFill>
              <a:srgbClr val="C62828"/>
            </a:solidFill>
            <a:prstDash val="solid"/>
          </a:ln>
        </p:spPr>
      </p:sp>
      <p:sp>
        <p:nvSpPr>
          <p:cNvPr id="24" name="Text 22"/>
          <p:cNvSpPr txBox="1"/>
          <p:nvPr/>
        </p:nvSpPr>
        <p:spPr>
          <a:xfrm>
            <a:off x="777240" y="2788920"/>
            <a:ext cx="3154680" cy="1005840"/>
          </a:xfrm>
          <a:prstGeom prst="rect">
            <a:avLst/>
          </a:prstGeom>
          <a:noFill/>
          <a:ln/>
        </p:spPr>
        <p:txBody>
          <a:bodyPr wrap="square" lIns="0" tIns="0" rIns="0" bIns="0" rtlCol="0" anchor="ctr"/>
          <a:lstStyle/>
          <a:p>
            <a:pPr algn="l" indent="0" marL="0">
              <a:buNone/>
            </a:pPr>
            <a:r>
              <a:rPr lang="en-US" sz="1400" b="1" dirty="0">
                <a:solidFill>
                  <a:srgbClr val="1F2430"/>
                </a:solidFill>
              </a:rPr>
              <a:t>Sunday 6 September, Yuktāhār: 267 registered, 50 ate</a:t>
            </a:r>
            <a:endParaRPr lang="en-US" sz="1400" dirty="0"/>
          </a:p>
        </p:txBody>
      </p:sp>
      <p:sp>
        <p:nvSpPr>
          <p:cNvPr id="25" name="Shape 23"/>
          <p:cNvSpPr/>
          <p:nvPr/>
        </p:nvSpPr>
        <p:spPr>
          <a:xfrm>
            <a:off x="4572000" y="1280160"/>
            <a:ext cx="4114800" cy="2743200"/>
          </a:xfrm>
          <a:prstGeom prst="roundRect">
            <a:avLst>
              <a:gd name="adj" fmla="val 2667"/>
            </a:avLst>
          </a:prstGeom>
          <a:solidFill>
            <a:srgbClr val="E8F5E9"/>
          </a:solidFill>
          <a:ln/>
        </p:spPr>
      </p:sp>
      <p:sp>
        <p:nvSpPr>
          <p:cNvPr id="26" name="Text 24"/>
          <p:cNvSpPr txBox="1"/>
          <p:nvPr/>
        </p:nvSpPr>
        <p:spPr>
          <a:xfrm>
            <a:off x="4754880" y="1371600"/>
            <a:ext cx="3749040" cy="182880"/>
          </a:xfrm>
          <a:prstGeom prst="rect">
            <a:avLst/>
          </a:prstGeom>
          <a:noFill/>
          <a:ln/>
        </p:spPr>
        <p:txBody>
          <a:bodyPr wrap="square" lIns="0" tIns="0" rIns="0" bIns="0" rtlCol="0" anchor="t"/>
          <a:lstStyle/>
          <a:p>
            <a:pPr algn="l" indent="0" marL="0">
              <a:buNone/>
            </a:pPr>
            <a:r>
              <a:rPr lang="en-US" sz="1000" b="1" spc="200" kern="0" dirty="0">
                <a:solidFill>
                  <a:srgbClr val="2E7D32"/>
                </a:solidFill>
              </a:rPr>
              <a:t>BILL ATTENDANCE</a:t>
            </a:r>
            <a:endParaRPr lang="en-US" sz="1000" dirty="0"/>
          </a:p>
        </p:txBody>
      </p:sp>
      <p:sp>
        <p:nvSpPr>
          <p:cNvPr id="27" name="Text 25"/>
          <p:cNvSpPr txBox="1"/>
          <p:nvPr/>
        </p:nvSpPr>
        <p:spPr>
          <a:xfrm>
            <a:off x="4754880" y="1572768"/>
            <a:ext cx="3749040" cy="274320"/>
          </a:xfrm>
          <a:prstGeom prst="rect">
            <a:avLst/>
          </a:prstGeom>
          <a:noFill/>
          <a:ln/>
        </p:spPr>
        <p:txBody>
          <a:bodyPr wrap="square" lIns="0" tIns="0" rIns="0" bIns="0" rtlCol="0" anchor="t"/>
          <a:lstStyle/>
          <a:p>
            <a:pPr algn="l" indent="0" marL="0">
              <a:buNone/>
            </a:pPr>
            <a:r>
              <a:rPr lang="en-US" sz="1600" b="1" dirty="0">
                <a:solidFill>
                  <a:srgbClr val="1F2430"/>
                </a:solidFill>
              </a:rPr>
              <a:t>Run twice</a:t>
            </a:r>
            <a:endParaRPr lang="en-US" sz="1600" dirty="0"/>
          </a:p>
        </p:txBody>
      </p:sp>
      <p:sp>
        <p:nvSpPr>
          <p:cNvPr id="28" name="Shape 26"/>
          <p:cNvSpPr/>
          <p:nvPr/>
        </p:nvSpPr>
        <p:spPr>
          <a:xfrm>
            <a:off x="4754880" y="1965960"/>
            <a:ext cx="3749040" cy="914400"/>
          </a:xfrm>
          <a:prstGeom prst="roundRect">
            <a:avLst>
              <a:gd name="adj" fmla="val 8000"/>
            </a:avLst>
          </a:prstGeom>
          <a:solidFill>
            <a:srgbClr val="E8F5E9"/>
          </a:solidFill>
          <a:ln w="12700">
            <a:solidFill>
              <a:srgbClr val="2E7D32"/>
            </a:solidFill>
            <a:prstDash val="solid"/>
          </a:ln>
        </p:spPr>
      </p:sp>
      <p:sp>
        <p:nvSpPr>
          <p:cNvPr id="29" name="Shape 27"/>
          <p:cNvSpPr/>
          <p:nvPr/>
        </p:nvSpPr>
        <p:spPr>
          <a:xfrm>
            <a:off x="4914900" y="2217420"/>
            <a:ext cx="411480" cy="411480"/>
          </a:xfrm>
          <a:prstGeom prst="ellipse">
            <a:avLst/>
          </a:prstGeom>
          <a:solidFill>
            <a:srgbClr val="2E7D32"/>
          </a:solidFill>
          <a:ln/>
        </p:spPr>
      </p:sp>
      <p:pic>
        <p:nvPicPr>
          <p:cNvPr id="30" name="Image 0" descr="WaterDrop">    </p:cNvPr>
          <p:cNvPicPr>
            <a:picLocks noChangeAspect="1"/>
          </p:cNvPicPr>
          <p:nvPr/>
        </p:nvPicPr>
        <p:blipFill>
          <a:blip r:embed="rId1"/>
          <a:stretch>
            <a:fillRect/>
          </a:stretch>
        </p:blipFill>
        <p:spPr>
          <a:xfrm>
            <a:off x="4997196" y="2299716"/>
            <a:ext cx="246888" cy="246888"/>
          </a:xfrm>
          <a:prstGeom prst="rect">
            <a:avLst/>
          </a:prstGeom>
        </p:spPr>
      </p:pic>
      <p:sp>
        <p:nvSpPr>
          <p:cNvPr id="31" name="Text 28"/>
          <p:cNvSpPr txBox="1"/>
          <p:nvPr/>
        </p:nvSpPr>
        <p:spPr>
          <a:xfrm>
            <a:off x="5440680" y="1965960"/>
            <a:ext cx="3017520" cy="914400"/>
          </a:xfrm>
          <a:prstGeom prst="rect">
            <a:avLst/>
          </a:prstGeom>
          <a:noFill/>
          <a:ln/>
        </p:spPr>
        <p:txBody>
          <a:bodyPr wrap="square" lIns="0" tIns="0" rIns="0" bIns="0" rtlCol="0" anchor="ctr"/>
          <a:lstStyle/>
          <a:p>
            <a:pPr algn="l" indent="0" marL="0">
              <a:buNone/>
            </a:pPr>
            <a:r>
              <a:rPr lang="en-US" sz="1100" dirty="0">
                <a:solidFill>
                  <a:srgbClr val="1F2430"/>
                </a:solidFill>
              </a:rPr>
              <a:t>Gas shortage: one item at the same price, cancellation cap raised from five to ten, registration no longer compulsory</a:t>
            </a:r>
            <a:endParaRPr lang="en-US" sz="1100" dirty="0"/>
          </a:p>
        </p:txBody>
      </p:sp>
      <p:sp>
        <p:nvSpPr>
          <p:cNvPr id="32" name="Shape 29"/>
          <p:cNvSpPr/>
          <p:nvPr/>
        </p:nvSpPr>
        <p:spPr>
          <a:xfrm>
            <a:off x="4754880" y="3017520"/>
            <a:ext cx="3749040" cy="868680"/>
          </a:xfrm>
          <a:prstGeom prst="roundRect">
            <a:avLst>
              <a:gd name="adj" fmla="val 8421"/>
            </a:avLst>
          </a:prstGeom>
          <a:solidFill>
            <a:srgbClr val="E8F5E9"/>
          </a:solidFill>
          <a:ln w="12700">
            <a:solidFill>
              <a:srgbClr val="2E7D32"/>
            </a:solidFill>
            <a:prstDash val="dash"/>
          </a:ln>
        </p:spPr>
      </p:sp>
      <p:sp>
        <p:nvSpPr>
          <p:cNvPr id="33" name="Shape 30"/>
          <p:cNvSpPr/>
          <p:nvPr/>
        </p:nvSpPr>
        <p:spPr>
          <a:xfrm>
            <a:off x="4914900" y="3246120"/>
            <a:ext cx="411480" cy="411480"/>
          </a:xfrm>
          <a:prstGeom prst="ellipse">
            <a:avLst/>
          </a:prstGeom>
          <a:solidFill>
            <a:srgbClr val="2E7D32"/>
          </a:solidFill>
          <a:ln/>
        </p:spPr>
      </p:sp>
      <p:pic>
        <p:nvPicPr>
          <p:cNvPr id="34" name="Image 1" descr="Event">    </p:cNvPr>
          <p:cNvPicPr>
            <a:picLocks noChangeAspect="1"/>
          </p:cNvPicPr>
          <p:nvPr/>
        </p:nvPicPr>
        <p:blipFill>
          <a:blip r:embed="rId2"/>
          <a:stretch>
            <a:fillRect/>
          </a:stretch>
        </p:blipFill>
        <p:spPr>
          <a:xfrm>
            <a:off x="4997196" y="3328416"/>
            <a:ext cx="246888" cy="246888"/>
          </a:xfrm>
          <a:prstGeom prst="rect">
            <a:avLst/>
          </a:prstGeom>
        </p:spPr>
      </p:pic>
      <p:sp>
        <p:nvSpPr>
          <p:cNvPr id="35" name="Text 31"/>
          <p:cNvSpPr txBox="1"/>
          <p:nvPr/>
        </p:nvSpPr>
        <p:spPr>
          <a:xfrm>
            <a:off x="5440680" y="3017520"/>
            <a:ext cx="3017520" cy="868680"/>
          </a:xfrm>
          <a:prstGeom prst="rect">
            <a:avLst/>
          </a:prstGeom>
          <a:noFill/>
          <a:ln/>
        </p:spPr>
        <p:txBody>
          <a:bodyPr wrap="square" lIns="0" tIns="0" rIns="0" bIns="0" rtlCol="0" anchor="ctr"/>
          <a:lstStyle/>
          <a:p>
            <a:pPr algn="l" indent="0" marL="0">
              <a:buNone/>
            </a:pPr>
            <a:r>
              <a:rPr lang="en-US" sz="1050" dirty="0">
                <a:solidFill>
                  <a:srgbClr val="1F2430"/>
                </a:solidFill>
              </a:rPr>
              <a:t>Holidays and long weekends: students walked in and scanned, nobody who neither registered nor came was charged. This part is disputed.</a:t>
            </a:r>
            <a:endParaRPr lang="en-US" sz="1050" dirty="0"/>
          </a:p>
        </p:txBody>
      </p:sp>
      <p:sp>
        <p:nvSpPr>
          <p:cNvPr id="36" name="Shape 32"/>
          <p:cNvSpPr/>
          <p:nvPr/>
        </p:nvSpPr>
        <p:spPr>
          <a:xfrm>
            <a:off x="457200" y="4160520"/>
            <a:ext cx="8229600" cy="384048"/>
          </a:xfrm>
          <a:prstGeom prst="roundRect">
            <a:avLst>
              <a:gd name="adj" fmla="val 14286"/>
            </a:avLst>
          </a:prstGeom>
          <a:solidFill>
            <a:srgbClr val="C62828"/>
          </a:solidFill>
          <a:ln/>
        </p:spPr>
      </p:sp>
      <p:sp>
        <p:nvSpPr>
          <p:cNvPr id="37" name="Text 33"/>
          <p:cNvSpPr txBox="1"/>
          <p:nvPr/>
        </p:nvSpPr>
        <p:spPr>
          <a:xfrm>
            <a:off x="548640" y="4160520"/>
            <a:ext cx="8046720" cy="384048"/>
          </a:xfrm>
          <a:prstGeom prst="rect">
            <a:avLst/>
          </a:prstGeom>
          <a:noFill/>
          <a:ln/>
        </p:spPr>
        <p:txBody>
          <a:bodyPr wrap="square" lIns="0" tIns="0" rIns="0" bIns="0" rtlCol="0" anchor="ctr"/>
          <a:lstStyle/>
          <a:p>
            <a:pPr algn="ctr" indent="0" marL="0">
              <a:buNone/>
            </a:pPr>
            <a:r>
              <a:rPr lang="en-US" sz="1400" b="1" dirty="0">
                <a:solidFill>
                  <a:srgbClr val="FFFFFF"/>
                </a:solidFill>
              </a:rPr>
              <a:t>Switched off when the trigger passed, with no review. Why it was dropped is unchecked.</a:t>
            </a:r>
            <a:endParaRPr lang="en-US" sz="1400" dirty="0"/>
          </a:p>
        </p:txBody>
      </p:sp>
      <p:sp>
        <p:nvSpPr>
          <p:cNvPr id="38" name="Shape 34"/>
          <p:cNvSpPr/>
          <p:nvPr/>
        </p:nvSpPr>
        <p:spPr>
          <a:xfrm>
            <a:off x="7415784" y="1033272"/>
            <a:ext cx="1271016" cy="201168"/>
          </a:xfrm>
          <a:prstGeom prst="roundRect">
            <a:avLst>
              <a:gd name="adj" fmla="val 22727"/>
            </a:avLst>
          </a:prstGeom>
          <a:solidFill>
            <a:srgbClr val="616161"/>
          </a:solidFill>
          <a:ln/>
        </p:spPr>
      </p:sp>
      <p:sp>
        <p:nvSpPr>
          <p:cNvPr id="39" name="Text 35"/>
          <p:cNvSpPr txBox="1"/>
          <p:nvPr/>
        </p:nvSpPr>
        <p:spPr>
          <a:xfrm>
            <a:off x="7415784" y="1033272"/>
            <a:ext cx="12710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SINGLE-SOURCED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Three structural causes recur, and two conditions keep them in place</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982980" y="4841748"/>
            <a:ext cx="146304" cy="146304"/>
          </a:xfrm>
          <a:prstGeom prst="ellipse">
            <a:avLst/>
          </a:prstGeom>
          <a:solidFill>
            <a:srgbClr val="1A237E"/>
          </a:solidFill>
          <a:ln/>
        </p:spPr>
      </p:sp>
      <p:sp>
        <p:nvSpPr>
          <p:cNvPr id="7" name="Shape 5"/>
          <p:cNvSpPr/>
          <p:nvPr/>
        </p:nvSpPr>
        <p:spPr>
          <a:xfrm>
            <a:off x="946404" y="4805172"/>
            <a:ext cx="219456" cy="219456"/>
          </a:xfrm>
          <a:prstGeom prst="ellipse">
            <a:avLst/>
          </a:prstGeom>
          <a:ln w="9525">
            <a:solidFill>
              <a:srgbClr val="1A237E"/>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4 Modelling the system</a:t>
            </a:r>
            <a:endParaRPr lang="en-US" sz="1000" dirty="0"/>
          </a:p>
        </p:txBody>
      </p:sp>
      <p:sp>
        <p:nvSpPr>
          <p:cNvPr id="15" name="Shape 13"/>
          <p:cNvSpPr/>
          <p:nvPr/>
        </p:nvSpPr>
        <p:spPr>
          <a:xfrm>
            <a:off x="457200" y="1280160"/>
            <a:ext cx="2651760" cy="1051560"/>
          </a:xfrm>
          <a:prstGeom prst="roundRect">
            <a:avLst>
              <a:gd name="adj" fmla="val 6957"/>
            </a:avLst>
          </a:prstGeom>
          <a:solidFill>
            <a:srgbClr val="FDECEA"/>
          </a:solidFill>
          <a:ln w="12700">
            <a:solidFill>
              <a:srgbClr val="C62828"/>
            </a:solidFill>
            <a:prstDash val="solid"/>
          </a:ln>
        </p:spPr>
      </p:sp>
      <p:sp>
        <p:nvSpPr>
          <p:cNvPr id="16" name="Shape 14"/>
          <p:cNvSpPr/>
          <p:nvPr/>
        </p:nvSpPr>
        <p:spPr>
          <a:xfrm>
            <a:off x="585216" y="1609344"/>
            <a:ext cx="384048" cy="384048"/>
          </a:xfrm>
          <a:prstGeom prst="ellipse">
            <a:avLst/>
          </a:prstGeom>
          <a:solidFill>
            <a:srgbClr val="C62828"/>
          </a:solidFill>
          <a:ln/>
        </p:spPr>
      </p:sp>
      <p:sp>
        <p:nvSpPr>
          <p:cNvPr id="17" name="Text 15"/>
          <p:cNvSpPr txBox="1"/>
          <p:nvPr/>
        </p:nvSpPr>
        <p:spPr>
          <a:xfrm>
            <a:off x="585216" y="16093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8" name="Text 16"/>
          <p:cNvSpPr txBox="1"/>
          <p:nvPr/>
        </p:nvSpPr>
        <p:spPr>
          <a:xfrm>
            <a:off x="1078992" y="1325880"/>
            <a:ext cx="1965960" cy="960120"/>
          </a:xfrm>
          <a:prstGeom prst="rect">
            <a:avLst/>
          </a:prstGeom>
          <a:noFill/>
          <a:ln/>
        </p:spPr>
        <p:txBody>
          <a:bodyPr wrap="square" lIns="0" tIns="0" rIns="0" bIns="0" rtlCol="0" anchor="ctr"/>
          <a:lstStyle/>
          <a:p>
            <a:pPr algn="l" indent="0" marL="0">
              <a:buNone/>
            </a:pPr>
            <a:r>
              <a:rPr lang="en-US" sz="1300" b="1" dirty="0">
                <a:solidFill>
                  <a:srgbClr val="1F2430"/>
                </a:solidFill>
              </a:rPr>
              <a:t>A standing default with a narrow, early exit</a:t>
            </a:r>
            <a:endParaRPr lang="en-US" sz="1300" dirty="0"/>
          </a:p>
        </p:txBody>
      </p:sp>
      <p:sp>
        <p:nvSpPr>
          <p:cNvPr id="19" name="Shape 17"/>
          <p:cNvSpPr/>
          <p:nvPr/>
        </p:nvSpPr>
        <p:spPr>
          <a:xfrm>
            <a:off x="1783080" y="2331720"/>
            <a:ext cx="0" cy="274320"/>
          </a:xfrm>
          <a:prstGeom prst="line">
            <a:avLst/>
          </a:prstGeom>
          <a:noFill/>
          <a:ln w="19050">
            <a:solidFill>
              <a:srgbClr val="C62828"/>
            </a:solidFill>
            <a:prstDash val="solid"/>
            <a:tailEnd type="triangle"/>
          </a:ln>
        </p:spPr>
      </p:sp>
      <p:sp>
        <p:nvSpPr>
          <p:cNvPr id="20" name="Shape 18"/>
          <p:cNvSpPr/>
          <p:nvPr/>
        </p:nvSpPr>
        <p:spPr>
          <a:xfrm>
            <a:off x="3246120" y="1280160"/>
            <a:ext cx="2651760" cy="1051560"/>
          </a:xfrm>
          <a:prstGeom prst="roundRect">
            <a:avLst>
              <a:gd name="adj" fmla="val 6957"/>
            </a:avLst>
          </a:prstGeom>
          <a:solidFill>
            <a:srgbClr val="FDECEA"/>
          </a:solidFill>
          <a:ln w="12700">
            <a:solidFill>
              <a:srgbClr val="C62828"/>
            </a:solidFill>
            <a:prstDash val="solid"/>
          </a:ln>
        </p:spPr>
      </p:sp>
      <p:sp>
        <p:nvSpPr>
          <p:cNvPr id="21" name="Shape 19"/>
          <p:cNvSpPr/>
          <p:nvPr/>
        </p:nvSpPr>
        <p:spPr>
          <a:xfrm>
            <a:off x="3374136" y="1609344"/>
            <a:ext cx="384048" cy="384048"/>
          </a:xfrm>
          <a:prstGeom prst="ellipse">
            <a:avLst/>
          </a:prstGeom>
          <a:solidFill>
            <a:srgbClr val="C62828"/>
          </a:solidFill>
          <a:ln/>
        </p:spPr>
      </p:sp>
      <p:sp>
        <p:nvSpPr>
          <p:cNvPr id="22" name="Text 20"/>
          <p:cNvSpPr txBox="1"/>
          <p:nvPr/>
        </p:nvSpPr>
        <p:spPr>
          <a:xfrm>
            <a:off x="3374136" y="16093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23" name="Text 21"/>
          <p:cNvSpPr txBox="1"/>
          <p:nvPr/>
        </p:nvSpPr>
        <p:spPr>
          <a:xfrm>
            <a:off x="3867912" y="1325880"/>
            <a:ext cx="1965960" cy="960120"/>
          </a:xfrm>
          <a:prstGeom prst="rect">
            <a:avLst/>
          </a:prstGeom>
          <a:noFill/>
          <a:ln/>
        </p:spPr>
        <p:txBody>
          <a:bodyPr wrap="square" lIns="0" tIns="0" rIns="0" bIns="0" rtlCol="0" anchor="ctr"/>
          <a:lstStyle/>
          <a:p>
            <a:pPr algn="l" indent="0" marL="0">
              <a:buNone/>
            </a:pPr>
            <a:r>
              <a:rPr lang="en-US" sz="1300" b="1" dirty="0">
                <a:solidFill>
                  <a:srgbClr val="1F2430"/>
                </a:solidFill>
              </a:rPr>
              <a:t>Billing fires at the booking, not at consumption</a:t>
            </a:r>
            <a:endParaRPr lang="en-US" sz="1300" dirty="0"/>
          </a:p>
        </p:txBody>
      </p:sp>
      <p:sp>
        <p:nvSpPr>
          <p:cNvPr id="24" name="Shape 22"/>
          <p:cNvSpPr/>
          <p:nvPr/>
        </p:nvSpPr>
        <p:spPr>
          <a:xfrm>
            <a:off x="4572000" y="2331720"/>
            <a:ext cx="0" cy="274320"/>
          </a:xfrm>
          <a:prstGeom prst="line">
            <a:avLst/>
          </a:prstGeom>
          <a:noFill/>
          <a:ln w="19050">
            <a:solidFill>
              <a:srgbClr val="C62828"/>
            </a:solidFill>
            <a:prstDash val="solid"/>
            <a:tailEnd type="triangle"/>
          </a:ln>
        </p:spPr>
      </p:sp>
      <p:sp>
        <p:nvSpPr>
          <p:cNvPr id="25" name="Shape 23"/>
          <p:cNvSpPr/>
          <p:nvPr/>
        </p:nvSpPr>
        <p:spPr>
          <a:xfrm>
            <a:off x="6035040" y="1280160"/>
            <a:ext cx="2651760" cy="1051560"/>
          </a:xfrm>
          <a:prstGeom prst="roundRect">
            <a:avLst>
              <a:gd name="adj" fmla="val 6957"/>
            </a:avLst>
          </a:prstGeom>
          <a:solidFill>
            <a:srgbClr val="FDECEA"/>
          </a:solidFill>
          <a:ln w="12700">
            <a:solidFill>
              <a:srgbClr val="C62828"/>
            </a:solidFill>
            <a:prstDash val="solid"/>
          </a:ln>
        </p:spPr>
      </p:sp>
      <p:sp>
        <p:nvSpPr>
          <p:cNvPr id="26" name="Shape 24"/>
          <p:cNvSpPr/>
          <p:nvPr/>
        </p:nvSpPr>
        <p:spPr>
          <a:xfrm>
            <a:off x="6163056" y="1609344"/>
            <a:ext cx="384048" cy="384048"/>
          </a:xfrm>
          <a:prstGeom prst="ellipse">
            <a:avLst/>
          </a:prstGeom>
          <a:solidFill>
            <a:srgbClr val="C62828"/>
          </a:solidFill>
          <a:ln/>
        </p:spPr>
      </p:sp>
      <p:sp>
        <p:nvSpPr>
          <p:cNvPr id="27" name="Text 25"/>
          <p:cNvSpPr txBox="1"/>
          <p:nvPr/>
        </p:nvSpPr>
        <p:spPr>
          <a:xfrm>
            <a:off x="6163056" y="16093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8" name="Text 26"/>
          <p:cNvSpPr txBox="1"/>
          <p:nvPr/>
        </p:nvSpPr>
        <p:spPr>
          <a:xfrm>
            <a:off x="6656832" y="1325880"/>
            <a:ext cx="1965960" cy="960120"/>
          </a:xfrm>
          <a:prstGeom prst="rect">
            <a:avLst/>
          </a:prstGeom>
          <a:noFill/>
          <a:ln/>
        </p:spPr>
        <p:txBody>
          <a:bodyPr wrap="square" lIns="0" tIns="0" rIns="0" bIns="0" rtlCol="0" anchor="ctr"/>
          <a:lstStyle/>
          <a:p>
            <a:pPr algn="l" indent="0" marL="0">
              <a:buNone/>
            </a:pPr>
            <a:r>
              <a:rPr lang="en-US" sz="1300" b="1" dirty="0">
                <a:solidFill>
                  <a:srgbClr val="1F2430"/>
                </a:solidFill>
              </a:rPr>
              <a:t>The gap is measured but unrouted</a:t>
            </a:r>
            <a:endParaRPr lang="en-US" sz="1300" dirty="0"/>
          </a:p>
        </p:txBody>
      </p:sp>
      <p:sp>
        <p:nvSpPr>
          <p:cNvPr id="29" name="Shape 27"/>
          <p:cNvSpPr/>
          <p:nvPr/>
        </p:nvSpPr>
        <p:spPr>
          <a:xfrm>
            <a:off x="7360920" y="2331720"/>
            <a:ext cx="0" cy="274320"/>
          </a:xfrm>
          <a:prstGeom prst="line">
            <a:avLst/>
          </a:prstGeom>
          <a:noFill/>
          <a:ln w="19050">
            <a:solidFill>
              <a:srgbClr val="C62828"/>
            </a:solidFill>
            <a:prstDash val="solid"/>
            <a:tailEnd type="triangle"/>
          </a:ln>
        </p:spPr>
      </p:sp>
      <p:sp>
        <p:nvSpPr>
          <p:cNvPr id="30" name="Text 28"/>
          <p:cNvSpPr txBox="1"/>
          <p:nvPr/>
        </p:nvSpPr>
        <p:spPr>
          <a:xfrm>
            <a:off x="4937760" y="1024128"/>
            <a:ext cx="3749040" cy="182880"/>
          </a:xfrm>
          <a:prstGeom prst="rect">
            <a:avLst/>
          </a:prstGeom>
          <a:noFill/>
          <a:ln/>
        </p:spPr>
        <p:txBody>
          <a:bodyPr wrap="square" lIns="0" tIns="0" rIns="0" bIns="0" rtlCol="0" anchor="t"/>
          <a:lstStyle/>
          <a:p>
            <a:pPr algn="r" indent="0" marL="0">
              <a:buNone/>
            </a:pPr>
            <a:r>
              <a:rPr lang="en-US" sz="950" b="1" spc="200" kern="0" dirty="0">
                <a:solidFill>
                  <a:srgbClr val="C62828"/>
                </a:solidFill>
              </a:rPr>
              <a:t>THREE STRUCTURAL CAUSES</a:t>
            </a:r>
            <a:endParaRPr lang="en-US" sz="950" dirty="0"/>
          </a:p>
        </p:txBody>
      </p:sp>
      <p:sp>
        <p:nvSpPr>
          <p:cNvPr id="31" name="Shape 29"/>
          <p:cNvSpPr/>
          <p:nvPr/>
        </p:nvSpPr>
        <p:spPr>
          <a:xfrm>
            <a:off x="457200" y="2651760"/>
            <a:ext cx="8229600" cy="566928"/>
          </a:xfrm>
          <a:prstGeom prst="roundRect">
            <a:avLst>
              <a:gd name="adj" fmla="val 12903"/>
            </a:avLst>
          </a:prstGeom>
          <a:solidFill>
            <a:srgbClr val="FFF8E1"/>
          </a:solidFill>
          <a:ln w="12700">
            <a:solidFill>
              <a:srgbClr val="F57F17"/>
            </a:solidFill>
            <a:prstDash val="solid"/>
          </a:ln>
        </p:spPr>
      </p:sp>
      <p:sp>
        <p:nvSpPr>
          <p:cNvPr id="32" name="Text 30"/>
          <p:cNvSpPr txBox="1"/>
          <p:nvPr/>
        </p:nvSpPr>
        <p:spPr>
          <a:xfrm>
            <a:off x="640080" y="2651760"/>
            <a:ext cx="7863840" cy="566928"/>
          </a:xfrm>
          <a:prstGeom prst="rect">
            <a:avLst/>
          </a:prstGeom>
          <a:noFill/>
          <a:ln/>
        </p:spPr>
        <p:txBody>
          <a:bodyPr wrap="square" lIns="0" tIns="0" rIns="0" bIns="0" rtlCol="0" anchor="ctr"/>
          <a:lstStyle/>
          <a:p>
            <a:pPr algn="l" indent="0" marL="0">
              <a:buNone/>
            </a:pPr>
            <a:r>
              <a:rPr lang="en-US" sz="1400" b="1" dirty="0">
                <a:solidFill>
                  <a:srgbClr val="8D4A00"/>
                </a:solidFill>
              </a:rPr>
              <a:t>Condition 1   </a:t>
            </a:r>
            <a:pPr algn="l" indent="0" marL="0">
              <a:buNone/>
            </a:pPr>
            <a:r>
              <a:rPr lang="en-US" sz="1400" dirty="0">
                <a:solidFill>
                  <a:srgbClr val="1F2430"/>
                </a:solidFill>
              </a:rPr>
              <a:t>Action follows loudness</a:t>
            </a:r>
            <a:endParaRPr lang="en-US" sz="1400" dirty="0"/>
          </a:p>
        </p:txBody>
      </p:sp>
      <p:sp>
        <p:nvSpPr>
          <p:cNvPr id="33" name="Shape 31"/>
          <p:cNvSpPr/>
          <p:nvPr/>
        </p:nvSpPr>
        <p:spPr>
          <a:xfrm>
            <a:off x="457200" y="3291840"/>
            <a:ext cx="8229600" cy="566928"/>
          </a:xfrm>
          <a:prstGeom prst="roundRect">
            <a:avLst>
              <a:gd name="adj" fmla="val 12903"/>
            </a:avLst>
          </a:prstGeom>
          <a:solidFill>
            <a:srgbClr val="FFF8E1"/>
          </a:solidFill>
          <a:ln w="12700">
            <a:solidFill>
              <a:srgbClr val="F57F17"/>
            </a:solidFill>
            <a:prstDash val="solid"/>
          </a:ln>
        </p:spPr>
      </p:sp>
      <p:sp>
        <p:nvSpPr>
          <p:cNvPr id="34" name="Text 32"/>
          <p:cNvSpPr txBox="1"/>
          <p:nvPr/>
        </p:nvSpPr>
        <p:spPr>
          <a:xfrm>
            <a:off x="640080" y="3291840"/>
            <a:ext cx="7863840" cy="566928"/>
          </a:xfrm>
          <a:prstGeom prst="rect">
            <a:avLst/>
          </a:prstGeom>
          <a:noFill/>
          <a:ln/>
        </p:spPr>
        <p:txBody>
          <a:bodyPr wrap="square" lIns="0" tIns="0" rIns="0" bIns="0" rtlCol="0" anchor="ctr"/>
          <a:lstStyle/>
          <a:p>
            <a:pPr algn="l" indent="0" marL="0">
              <a:buNone/>
            </a:pPr>
            <a:r>
              <a:rPr lang="en-US" sz="1400" b="1" dirty="0">
                <a:solidFill>
                  <a:srgbClr val="8D4A00"/>
                </a:solidFill>
              </a:rPr>
              <a:t>Condition 2   </a:t>
            </a:r>
            <a:pPr algn="l" indent="0" marL="0">
              <a:buNone/>
            </a:pPr>
            <a:r>
              <a:rPr lang="en-US" sz="1400" dirty="0">
                <a:solidFill>
                  <a:srgbClr val="1F2430"/>
                </a:solidFill>
              </a:rPr>
              <a:t>Absorption takes up each consequence before authority sees it</a:t>
            </a:r>
            <a:endParaRPr lang="en-US" sz="1400" dirty="0"/>
          </a:p>
        </p:txBody>
      </p:sp>
      <p:sp>
        <p:nvSpPr>
          <p:cNvPr id="35" name="Shape 33"/>
          <p:cNvSpPr/>
          <p:nvPr/>
        </p:nvSpPr>
        <p:spPr>
          <a:xfrm>
            <a:off x="457200" y="3931920"/>
            <a:ext cx="8229600" cy="502920"/>
          </a:xfrm>
          <a:prstGeom prst="roundRect">
            <a:avLst>
              <a:gd name="adj" fmla="val 14545"/>
            </a:avLst>
          </a:prstGeom>
          <a:solidFill>
            <a:srgbClr val="F2F2F2"/>
          </a:solidFill>
          <a:ln w="12700">
            <a:solidFill>
              <a:srgbClr val="616161"/>
            </a:solidFill>
            <a:prstDash val="solid"/>
          </a:ln>
        </p:spPr>
      </p:sp>
      <p:sp>
        <p:nvSpPr>
          <p:cNvPr id="36" name="Text 34"/>
          <p:cNvSpPr txBox="1"/>
          <p:nvPr/>
        </p:nvSpPr>
        <p:spPr>
          <a:xfrm>
            <a:off x="640080" y="3931920"/>
            <a:ext cx="7863840" cy="502920"/>
          </a:xfrm>
          <a:prstGeom prst="rect">
            <a:avLst/>
          </a:prstGeom>
          <a:noFill/>
          <a:ln/>
        </p:spPr>
        <p:txBody>
          <a:bodyPr wrap="square" lIns="0" tIns="0" rIns="0" bIns="0" rtlCol="0" anchor="ctr"/>
          <a:lstStyle/>
          <a:p>
            <a:pPr algn="l" indent="0" marL="0">
              <a:buNone/>
            </a:pPr>
            <a:r>
              <a:rPr lang="en-US" sz="1300" dirty="0">
                <a:solidFill>
                  <a:srgbClr val="616161"/>
                </a:solidFill>
              </a:rPr>
              <a:t>The uncalibrated conversion ratio, three regimes: not a root cause, but the most actionable</a:t>
            </a:r>
            <a:endParaRPr lang="en-US" sz="1300" dirty="0"/>
          </a:p>
        </p:txBody>
      </p:sp>
      <p:sp>
        <p:nvSpPr>
          <p:cNvPr id="37" name="Text 35"/>
          <p:cNvSpPr txBox="1"/>
          <p:nvPr/>
        </p:nvSpPr>
        <p:spPr>
          <a:xfrm>
            <a:off x="457200" y="4526280"/>
            <a:ext cx="7315200" cy="228600"/>
          </a:xfrm>
          <a:prstGeom prst="rect">
            <a:avLst/>
          </a:prstGeom>
          <a:noFill/>
          <a:ln/>
        </p:spPr>
        <p:txBody>
          <a:bodyPr wrap="square" lIns="0" tIns="0" rIns="0" bIns="0" rtlCol="0" anchor="t"/>
          <a:lstStyle/>
          <a:p>
            <a:pPr algn="l" indent="0" marL="0">
              <a:buNone/>
            </a:pPr>
            <a:r>
              <a:rPr lang="en-US" sz="1200" i="1" dirty="0">
                <a:solidFill>
                  <a:srgbClr val="616161"/>
                </a:solidFill>
              </a:rPr>
              <a:t>Menu fatigue was loud and got fixed. The registration gap is quiet.</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first reframing was rejected and rebuilt</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982980" y="4841748"/>
            <a:ext cx="146304" cy="146304"/>
          </a:xfrm>
          <a:prstGeom prst="ellipse">
            <a:avLst/>
          </a:prstGeom>
          <a:solidFill>
            <a:srgbClr val="1A237E"/>
          </a:solidFill>
          <a:ln/>
        </p:spPr>
      </p:sp>
      <p:sp>
        <p:nvSpPr>
          <p:cNvPr id="7" name="Shape 5"/>
          <p:cNvSpPr/>
          <p:nvPr/>
        </p:nvSpPr>
        <p:spPr>
          <a:xfrm>
            <a:off x="946404" y="4805172"/>
            <a:ext cx="219456" cy="219456"/>
          </a:xfrm>
          <a:prstGeom prst="ellipse">
            <a:avLst/>
          </a:prstGeom>
          <a:ln w="9525">
            <a:solidFill>
              <a:srgbClr val="1A237E"/>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4 Modelling the system</a:t>
            </a:r>
            <a:endParaRPr lang="en-US" sz="1000" dirty="0"/>
          </a:p>
        </p:txBody>
      </p:sp>
      <p:sp>
        <p:nvSpPr>
          <p:cNvPr id="15" name="Shape 13"/>
          <p:cNvSpPr/>
          <p:nvPr/>
        </p:nvSpPr>
        <p:spPr>
          <a:xfrm>
            <a:off x="6839712" y="109728"/>
            <a:ext cx="91440" cy="91440"/>
          </a:xfrm>
          <a:prstGeom prst="ellipse">
            <a:avLst/>
          </a:prstGeom>
          <a:ln w="9525">
            <a:solidFill>
              <a:srgbClr val="1A237E"/>
            </a:solidFill>
            <a:prstDash val="solid"/>
          </a:ln>
        </p:spPr>
      </p:sp>
      <p:sp>
        <p:nvSpPr>
          <p:cNvPr id="16" name="Shape 14"/>
          <p:cNvSpPr/>
          <p:nvPr/>
        </p:nvSpPr>
        <p:spPr>
          <a:xfrm>
            <a:off x="6986016" y="109728"/>
            <a:ext cx="91440" cy="91440"/>
          </a:xfrm>
          <a:prstGeom prst="ellipse">
            <a:avLst/>
          </a:prstGeom>
          <a:ln w="9525">
            <a:solidFill>
              <a:srgbClr val="1A237E"/>
            </a:solidFill>
            <a:prstDash val="solid"/>
          </a:ln>
        </p:spPr>
      </p:sp>
      <p:sp>
        <p:nvSpPr>
          <p:cNvPr id="17" name="Shape 15"/>
          <p:cNvSpPr/>
          <p:nvPr/>
        </p:nvSpPr>
        <p:spPr>
          <a:xfrm>
            <a:off x="7132320" y="109728"/>
            <a:ext cx="91440" cy="91440"/>
          </a:xfrm>
          <a:prstGeom prst="ellipse">
            <a:avLst/>
          </a:prstGeom>
          <a:ln w="9525">
            <a:solidFill>
              <a:srgbClr val="1A237E"/>
            </a:solidFill>
            <a:prstDash val="solid"/>
          </a:ln>
        </p:spPr>
      </p:sp>
      <p:sp>
        <p:nvSpPr>
          <p:cNvPr id="18" name="Shape 16"/>
          <p:cNvSpPr/>
          <p:nvPr/>
        </p:nvSpPr>
        <p:spPr>
          <a:xfrm>
            <a:off x="7278624" y="109728"/>
            <a:ext cx="91440" cy="91440"/>
          </a:xfrm>
          <a:prstGeom prst="ellipse">
            <a:avLst/>
          </a:prstGeom>
          <a:ln w="9525">
            <a:solidFill>
              <a:srgbClr val="1A237E"/>
            </a:solidFill>
            <a:prstDash val="solid"/>
          </a:ln>
        </p:spPr>
      </p:sp>
      <p:sp>
        <p:nvSpPr>
          <p:cNvPr id="19" name="Shape 17"/>
          <p:cNvSpPr/>
          <p:nvPr/>
        </p:nvSpPr>
        <p:spPr>
          <a:xfrm>
            <a:off x="7424928" y="109728"/>
            <a:ext cx="91440" cy="91440"/>
          </a:xfrm>
          <a:prstGeom prst="ellipse">
            <a:avLst/>
          </a:prstGeom>
          <a:ln w="9525">
            <a:solidFill>
              <a:srgbClr val="1A237E"/>
            </a:solidFill>
            <a:prstDash val="solid"/>
          </a:ln>
        </p:spPr>
      </p:sp>
      <p:sp>
        <p:nvSpPr>
          <p:cNvPr id="20" name="Shape 18"/>
          <p:cNvSpPr/>
          <p:nvPr/>
        </p:nvSpPr>
        <p:spPr>
          <a:xfrm>
            <a:off x="7571232" y="109728"/>
            <a:ext cx="91440" cy="91440"/>
          </a:xfrm>
          <a:prstGeom prst="ellipse">
            <a:avLst/>
          </a:prstGeom>
          <a:ln w="9525">
            <a:solidFill>
              <a:srgbClr val="1A237E"/>
            </a:solidFill>
            <a:prstDash val="solid"/>
          </a:ln>
        </p:spPr>
      </p:sp>
      <p:sp>
        <p:nvSpPr>
          <p:cNvPr id="21" name="Shape 19"/>
          <p:cNvSpPr/>
          <p:nvPr/>
        </p:nvSpPr>
        <p:spPr>
          <a:xfrm>
            <a:off x="7717536" y="109728"/>
            <a:ext cx="91440" cy="91440"/>
          </a:xfrm>
          <a:prstGeom prst="ellipse">
            <a:avLst/>
          </a:prstGeom>
          <a:ln w="9525">
            <a:solidFill>
              <a:srgbClr val="1A237E"/>
            </a:solidFill>
            <a:prstDash val="solid"/>
          </a:ln>
        </p:spPr>
      </p:sp>
      <p:sp>
        <p:nvSpPr>
          <p:cNvPr id="22" name="Shape 20"/>
          <p:cNvSpPr/>
          <p:nvPr/>
        </p:nvSpPr>
        <p:spPr>
          <a:xfrm>
            <a:off x="7863840" y="109728"/>
            <a:ext cx="91440" cy="91440"/>
          </a:xfrm>
          <a:prstGeom prst="ellipse">
            <a:avLst/>
          </a:prstGeom>
          <a:solidFill>
            <a:srgbClr val="1A237E"/>
          </a:solidFill>
          <a:ln w="9525">
            <a:solidFill>
              <a:srgbClr val="1A237E"/>
            </a:solidFill>
            <a:prstDash val="solid"/>
          </a:ln>
        </p:spPr>
      </p:sp>
      <p:sp>
        <p:nvSpPr>
          <p:cNvPr id="23" name="Shape 21"/>
          <p:cNvSpPr/>
          <p:nvPr/>
        </p:nvSpPr>
        <p:spPr>
          <a:xfrm>
            <a:off x="8010144" y="109728"/>
            <a:ext cx="91440" cy="91440"/>
          </a:xfrm>
          <a:prstGeom prst="ellipse">
            <a:avLst/>
          </a:prstGeom>
          <a:ln w="9525">
            <a:solidFill>
              <a:srgbClr val="1A237E"/>
            </a:solidFill>
            <a:prstDash val="solid"/>
          </a:ln>
        </p:spPr>
      </p:sp>
      <p:sp>
        <p:nvSpPr>
          <p:cNvPr id="24" name="Shape 22"/>
          <p:cNvSpPr/>
          <p:nvPr/>
        </p:nvSpPr>
        <p:spPr>
          <a:xfrm>
            <a:off x="8156448" y="109728"/>
            <a:ext cx="91440" cy="91440"/>
          </a:xfrm>
          <a:prstGeom prst="ellipse">
            <a:avLst/>
          </a:prstGeom>
          <a:ln w="9525">
            <a:solidFill>
              <a:srgbClr val="1A237E"/>
            </a:solidFill>
            <a:prstDash val="solid"/>
          </a:ln>
        </p:spPr>
      </p:sp>
      <p:sp>
        <p:nvSpPr>
          <p:cNvPr id="25" name="Shape 23"/>
          <p:cNvSpPr/>
          <p:nvPr/>
        </p:nvSpPr>
        <p:spPr>
          <a:xfrm>
            <a:off x="8302752" y="109728"/>
            <a:ext cx="91440" cy="91440"/>
          </a:xfrm>
          <a:prstGeom prst="ellipse">
            <a:avLst/>
          </a:prstGeom>
          <a:ln w="9525">
            <a:solidFill>
              <a:srgbClr val="1A237E"/>
            </a:solidFill>
            <a:prstDash val="solid"/>
          </a:ln>
        </p:spPr>
      </p:sp>
      <p:sp>
        <p:nvSpPr>
          <p:cNvPr id="26" name="Shape 24"/>
          <p:cNvSpPr/>
          <p:nvPr/>
        </p:nvSpPr>
        <p:spPr>
          <a:xfrm>
            <a:off x="8449056" y="109728"/>
            <a:ext cx="91440" cy="91440"/>
          </a:xfrm>
          <a:prstGeom prst="ellipse">
            <a:avLst/>
          </a:prstGeom>
          <a:ln w="9525">
            <a:solidFill>
              <a:srgbClr val="1A237E"/>
            </a:solidFill>
            <a:prstDash val="solid"/>
          </a:ln>
        </p:spPr>
      </p:sp>
      <p:sp>
        <p:nvSpPr>
          <p:cNvPr id="27" name="Shape 25"/>
          <p:cNvSpPr/>
          <p:nvPr/>
        </p:nvSpPr>
        <p:spPr>
          <a:xfrm>
            <a:off x="8595360" y="109728"/>
            <a:ext cx="91440" cy="91440"/>
          </a:xfrm>
          <a:prstGeom prst="ellipse">
            <a:avLst/>
          </a:prstGeom>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8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Reject the first reframed problem statement of 14 September and rebuild it</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8</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Keeping it and moving on to design</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It named a fix and an owner before asking what would make anyone want to fix the gap</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It cost time in a short project, and design waited for a filtered shortlist</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Reframing and opportunity statement kept apart</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Five starting assumptions were tested against interviews, books and 11,941 scans</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982980" y="4841748"/>
            <a:ext cx="146304" cy="146304"/>
          </a:xfrm>
          <a:prstGeom prst="ellipse">
            <a:avLst/>
          </a:prstGeom>
          <a:solidFill>
            <a:srgbClr val="1A237E"/>
          </a:solidFill>
          <a:ln/>
        </p:spPr>
      </p:sp>
      <p:sp>
        <p:nvSpPr>
          <p:cNvPr id="7" name="Shape 5"/>
          <p:cNvSpPr/>
          <p:nvPr/>
        </p:nvSpPr>
        <p:spPr>
          <a:xfrm>
            <a:off x="946404" y="4805172"/>
            <a:ext cx="219456" cy="219456"/>
          </a:xfrm>
          <a:prstGeom prst="ellipse">
            <a:avLst/>
          </a:prstGeom>
          <a:ln w="9525">
            <a:solidFill>
              <a:srgbClr val="1A237E"/>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4 Modelling the system</a:t>
            </a:r>
            <a:endParaRPr lang="en-US" sz="1000" dirty="0"/>
          </a:p>
        </p:txBody>
      </p:sp>
      <p:sp>
        <p:nvSpPr>
          <p:cNvPr id="15" name="Shape 13"/>
          <p:cNvSpPr/>
          <p:nvPr/>
        </p:nvSpPr>
        <p:spPr>
          <a:xfrm>
            <a:off x="457200" y="1280160"/>
            <a:ext cx="3383280" cy="548640"/>
          </a:xfrm>
          <a:prstGeom prst="roundRect">
            <a:avLst>
              <a:gd name="adj" fmla="val 13333"/>
            </a:avLst>
          </a:prstGeom>
          <a:solidFill>
            <a:srgbClr val="F2F2F2"/>
          </a:solidFill>
          <a:ln/>
        </p:spPr>
      </p:sp>
      <p:sp>
        <p:nvSpPr>
          <p:cNvPr id="16" name="Text 14"/>
          <p:cNvSpPr txBox="1"/>
          <p:nvPr/>
        </p:nvSpPr>
        <p:spPr>
          <a:xfrm>
            <a:off x="594360" y="1280160"/>
            <a:ext cx="3108960" cy="548640"/>
          </a:xfrm>
          <a:prstGeom prst="rect">
            <a:avLst/>
          </a:prstGeom>
          <a:noFill/>
          <a:ln/>
        </p:spPr>
        <p:txBody>
          <a:bodyPr wrap="square" lIns="0" tIns="0" rIns="0" bIns="0" rtlCol="0" anchor="ctr"/>
          <a:lstStyle/>
          <a:p>
            <a:pPr algn="l" indent="0" marL="0">
              <a:buNone/>
            </a:pPr>
            <a:r>
              <a:rPr lang="en-US" sz="1300" dirty="0">
                <a:solidFill>
                  <a:srgbClr val="616161"/>
                </a:solidFill>
              </a:rPr>
              <a:t>Students not showing up is the problem</a:t>
            </a:r>
            <a:endParaRPr lang="en-US" sz="1300" dirty="0"/>
          </a:p>
        </p:txBody>
      </p:sp>
      <p:sp>
        <p:nvSpPr>
          <p:cNvPr id="17" name="Shape 15"/>
          <p:cNvSpPr/>
          <p:nvPr/>
        </p:nvSpPr>
        <p:spPr>
          <a:xfrm>
            <a:off x="3886200" y="1554480"/>
            <a:ext cx="320040" cy="0"/>
          </a:xfrm>
          <a:prstGeom prst="line">
            <a:avLst/>
          </a:prstGeom>
          <a:noFill/>
          <a:ln w="25400">
            <a:solidFill>
              <a:srgbClr val="1A237E"/>
            </a:solidFill>
            <a:prstDash val="solid"/>
            <a:tailEnd type="triangle"/>
          </a:ln>
        </p:spPr>
      </p:sp>
      <p:sp>
        <p:nvSpPr>
          <p:cNvPr id="18" name="Shape 16"/>
          <p:cNvSpPr/>
          <p:nvPr/>
        </p:nvSpPr>
        <p:spPr>
          <a:xfrm>
            <a:off x="4343400" y="1371600"/>
            <a:ext cx="365760" cy="365760"/>
          </a:xfrm>
          <a:prstGeom prst="ellipse">
            <a:avLst/>
          </a:prstGeom>
          <a:solidFill>
            <a:srgbClr val="F57F17"/>
          </a:solidFill>
          <a:ln/>
        </p:spPr>
      </p:sp>
      <p:pic>
        <p:nvPicPr>
          <p:cNvPr id="19" name="Image 0" descr="Help">    </p:cNvPr>
          <p:cNvPicPr>
            <a:picLocks noChangeAspect="1"/>
          </p:cNvPicPr>
          <p:nvPr/>
        </p:nvPicPr>
        <p:blipFill>
          <a:blip r:embed="rId1"/>
          <a:stretch>
            <a:fillRect/>
          </a:stretch>
        </p:blipFill>
        <p:spPr>
          <a:xfrm>
            <a:off x="4416552" y="1444752"/>
            <a:ext cx="219456" cy="219456"/>
          </a:xfrm>
          <a:prstGeom prst="rect">
            <a:avLst/>
          </a:prstGeom>
        </p:spPr>
      </p:pic>
      <p:sp>
        <p:nvSpPr>
          <p:cNvPr id="20" name="Shape 17"/>
          <p:cNvSpPr/>
          <p:nvPr/>
        </p:nvSpPr>
        <p:spPr>
          <a:xfrm>
            <a:off x="4846320" y="1280160"/>
            <a:ext cx="3840480" cy="548640"/>
          </a:xfrm>
          <a:prstGeom prst="roundRect">
            <a:avLst>
              <a:gd name="adj" fmla="val 13333"/>
            </a:avLst>
          </a:prstGeom>
          <a:solidFill>
            <a:srgbClr val="FFF8E1"/>
          </a:solidFill>
          <a:ln w="12700">
            <a:solidFill>
              <a:srgbClr val="F57F17"/>
            </a:solidFill>
            <a:prstDash val="solid"/>
          </a:ln>
        </p:spPr>
      </p:sp>
      <p:sp>
        <p:nvSpPr>
          <p:cNvPr id="21" name="Text 18"/>
          <p:cNvSpPr txBox="1"/>
          <p:nvPr/>
        </p:nvSpPr>
        <p:spPr>
          <a:xfrm>
            <a:off x="4956048" y="1280160"/>
            <a:ext cx="3611880" cy="548640"/>
          </a:xfrm>
          <a:prstGeom prst="rect">
            <a:avLst/>
          </a:prstGeom>
          <a:noFill/>
          <a:ln/>
        </p:spPr>
        <p:txBody>
          <a:bodyPr wrap="square" lIns="0" tIns="0" rIns="0" bIns="0" rtlCol="0" anchor="ctr"/>
          <a:lstStyle/>
          <a:p>
            <a:pPr algn="l" indent="0" marL="0">
              <a:buNone/>
            </a:pPr>
            <a:r>
              <a:rPr lang="en-US" sz="1200" dirty="0">
                <a:solidFill>
                  <a:srgbClr val="1F2430"/>
                </a:solidFill>
              </a:rPr>
              <a:t>A symptom, and partly no problem: one respondent fasts by choice</a:t>
            </a:r>
            <a:endParaRPr lang="en-US" sz="1200" dirty="0"/>
          </a:p>
        </p:txBody>
      </p:sp>
      <p:sp>
        <p:nvSpPr>
          <p:cNvPr id="22" name="Shape 19"/>
          <p:cNvSpPr/>
          <p:nvPr/>
        </p:nvSpPr>
        <p:spPr>
          <a:xfrm>
            <a:off x="457200" y="1920240"/>
            <a:ext cx="3383280" cy="548640"/>
          </a:xfrm>
          <a:prstGeom prst="roundRect">
            <a:avLst>
              <a:gd name="adj" fmla="val 13333"/>
            </a:avLst>
          </a:prstGeom>
          <a:solidFill>
            <a:srgbClr val="F2F2F2"/>
          </a:solidFill>
          <a:ln/>
        </p:spPr>
      </p:sp>
      <p:sp>
        <p:nvSpPr>
          <p:cNvPr id="23" name="Text 20"/>
          <p:cNvSpPr txBox="1"/>
          <p:nvPr/>
        </p:nvSpPr>
        <p:spPr>
          <a:xfrm>
            <a:off x="594360" y="1920240"/>
            <a:ext cx="3108960" cy="548640"/>
          </a:xfrm>
          <a:prstGeom prst="rect">
            <a:avLst/>
          </a:prstGeom>
          <a:noFill/>
          <a:ln/>
        </p:spPr>
        <p:txBody>
          <a:bodyPr wrap="square" lIns="0" tIns="0" rIns="0" bIns="0" rtlCol="0" anchor="ctr"/>
          <a:lstStyle/>
          <a:p>
            <a:pPr algn="l" indent="0" marL="0">
              <a:buNone/>
            </a:pPr>
            <a:r>
              <a:rPr lang="en-US" sz="1300" dirty="0">
                <a:solidFill>
                  <a:srgbClr val="616161"/>
                </a:solidFill>
              </a:rPr>
              <a:t>Students are careless or irrational</a:t>
            </a:r>
            <a:endParaRPr lang="en-US" sz="1300" dirty="0"/>
          </a:p>
        </p:txBody>
      </p:sp>
      <p:sp>
        <p:nvSpPr>
          <p:cNvPr id="24" name="Shape 21"/>
          <p:cNvSpPr/>
          <p:nvPr/>
        </p:nvSpPr>
        <p:spPr>
          <a:xfrm>
            <a:off x="3886200" y="2194560"/>
            <a:ext cx="320040" cy="0"/>
          </a:xfrm>
          <a:prstGeom prst="line">
            <a:avLst/>
          </a:prstGeom>
          <a:noFill/>
          <a:ln w="25400">
            <a:solidFill>
              <a:srgbClr val="1A237E"/>
            </a:solidFill>
            <a:prstDash val="solid"/>
            <a:tailEnd type="triangle"/>
          </a:ln>
        </p:spPr>
      </p:sp>
      <p:sp>
        <p:nvSpPr>
          <p:cNvPr id="25" name="Shape 22"/>
          <p:cNvSpPr/>
          <p:nvPr/>
        </p:nvSpPr>
        <p:spPr>
          <a:xfrm>
            <a:off x="4343400" y="2011680"/>
            <a:ext cx="365760" cy="365760"/>
          </a:xfrm>
          <a:prstGeom prst="ellipse">
            <a:avLst/>
          </a:prstGeom>
          <a:solidFill>
            <a:srgbClr val="C62828"/>
          </a:solidFill>
          <a:ln/>
        </p:spPr>
      </p:sp>
      <p:pic>
        <p:nvPicPr>
          <p:cNvPr id="26" name="Image 1" descr="Close">    </p:cNvPr>
          <p:cNvPicPr>
            <a:picLocks noChangeAspect="1"/>
          </p:cNvPicPr>
          <p:nvPr/>
        </p:nvPicPr>
        <p:blipFill>
          <a:blip r:embed="rId2"/>
          <a:stretch>
            <a:fillRect/>
          </a:stretch>
        </p:blipFill>
        <p:spPr>
          <a:xfrm>
            <a:off x="4416552" y="2084832"/>
            <a:ext cx="219456" cy="219456"/>
          </a:xfrm>
          <a:prstGeom prst="rect">
            <a:avLst/>
          </a:prstGeom>
        </p:spPr>
      </p:pic>
      <p:sp>
        <p:nvSpPr>
          <p:cNvPr id="27" name="Shape 23"/>
          <p:cNvSpPr/>
          <p:nvPr/>
        </p:nvSpPr>
        <p:spPr>
          <a:xfrm>
            <a:off x="4846320" y="1920240"/>
            <a:ext cx="3840480" cy="548640"/>
          </a:xfrm>
          <a:prstGeom prst="roundRect">
            <a:avLst>
              <a:gd name="adj" fmla="val 13333"/>
            </a:avLst>
          </a:prstGeom>
          <a:solidFill>
            <a:srgbClr val="FDECEA"/>
          </a:solidFill>
          <a:ln w="12700">
            <a:solidFill>
              <a:srgbClr val="C62828"/>
            </a:solidFill>
            <a:prstDash val="solid"/>
          </a:ln>
        </p:spPr>
      </p:sp>
      <p:sp>
        <p:nvSpPr>
          <p:cNvPr id="28" name="Text 24"/>
          <p:cNvSpPr txBox="1"/>
          <p:nvPr/>
        </p:nvSpPr>
        <p:spPr>
          <a:xfrm>
            <a:off x="4956048" y="1920240"/>
            <a:ext cx="3611880" cy="548640"/>
          </a:xfrm>
          <a:prstGeom prst="rect">
            <a:avLst/>
          </a:prstGeom>
          <a:noFill/>
          <a:ln/>
        </p:spPr>
        <p:txBody>
          <a:bodyPr wrap="square" lIns="0" tIns="0" rIns="0" bIns="0" rtlCol="0" anchor="ctr"/>
          <a:lstStyle/>
          <a:p>
            <a:pPr algn="l" indent="0" marL="0">
              <a:buNone/>
            </a:pPr>
            <a:r>
              <a:rPr lang="en-US" sz="1200" dirty="0">
                <a:solidFill>
                  <a:srgbClr val="1F2430"/>
                </a:solidFill>
              </a:rPr>
              <a:t>Fails: most never choose the booking, and the exit is narrow and early</a:t>
            </a:r>
            <a:endParaRPr lang="en-US" sz="1200" dirty="0"/>
          </a:p>
        </p:txBody>
      </p:sp>
      <p:sp>
        <p:nvSpPr>
          <p:cNvPr id="29" name="Shape 25"/>
          <p:cNvSpPr/>
          <p:nvPr/>
        </p:nvSpPr>
        <p:spPr>
          <a:xfrm>
            <a:off x="457200" y="2560320"/>
            <a:ext cx="3383280" cy="548640"/>
          </a:xfrm>
          <a:prstGeom prst="roundRect">
            <a:avLst>
              <a:gd name="adj" fmla="val 13333"/>
            </a:avLst>
          </a:prstGeom>
          <a:solidFill>
            <a:srgbClr val="F2F2F2"/>
          </a:solidFill>
          <a:ln/>
        </p:spPr>
      </p:sp>
      <p:sp>
        <p:nvSpPr>
          <p:cNvPr id="30" name="Text 26"/>
          <p:cNvSpPr txBox="1"/>
          <p:nvPr/>
        </p:nvSpPr>
        <p:spPr>
          <a:xfrm>
            <a:off x="594360" y="2560320"/>
            <a:ext cx="3108960" cy="548640"/>
          </a:xfrm>
          <a:prstGeom prst="rect">
            <a:avLst/>
          </a:prstGeom>
          <a:noFill/>
          <a:ln/>
        </p:spPr>
        <p:txBody>
          <a:bodyPr wrap="square" lIns="0" tIns="0" rIns="0" bIns="0" rtlCol="0" anchor="ctr"/>
          <a:lstStyle/>
          <a:p>
            <a:pPr algn="l" indent="0" marL="0">
              <a:buNone/>
            </a:pPr>
            <a:r>
              <a:rPr lang="en-US" sz="1300" dirty="0">
                <a:solidFill>
                  <a:srgbClr val="616161"/>
                </a:solidFill>
              </a:rPr>
              <a:t>Nobody has solved this</a:t>
            </a:r>
            <a:endParaRPr lang="en-US" sz="1300" dirty="0"/>
          </a:p>
        </p:txBody>
      </p:sp>
      <p:sp>
        <p:nvSpPr>
          <p:cNvPr id="31" name="Shape 27"/>
          <p:cNvSpPr/>
          <p:nvPr/>
        </p:nvSpPr>
        <p:spPr>
          <a:xfrm>
            <a:off x="3886200" y="2834640"/>
            <a:ext cx="320040" cy="0"/>
          </a:xfrm>
          <a:prstGeom prst="line">
            <a:avLst/>
          </a:prstGeom>
          <a:noFill/>
          <a:ln w="25400">
            <a:solidFill>
              <a:srgbClr val="1A237E"/>
            </a:solidFill>
            <a:prstDash val="solid"/>
            <a:tailEnd type="triangle"/>
          </a:ln>
        </p:spPr>
      </p:sp>
      <p:sp>
        <p:nvSpPr>
          <p:cNvPr id="32" name="Shape 28"/>
          <p:cNvSpPr/>
          <p:nvPr/>
        </p:nvSpPr>
        <p:spPr>
          <a:xfrm>
            <a:off x="4343400" y="2651760"/>
            <a:ext cx="365760" cy="365760"/>
          </a:xfrm>
          <a:prstGeom prst="ellipse">
            <a:avLst/>
          </a:prstGeom>
          <a:solidFill>
            <a:srgbClr val="C62828"/>
          </a:solidFill>
          <a:ln/>
        </p:spPr>
      </p:sp>
      <p:pic>
        <p:nvPicPr>
          <p:cNvPr id="33" name="Image 2" descr="Close">    </p:cNvPr>
          <p:cNvPicPr>
            <a:picLocks noChangeAspect="1"/>
          </p:cNvPicPr>
          <p:nvPr/>
        </p:nvPicPr>
        <p:blipFill>
          <a:blip r:embed="rId3"/>
          <a:stretch>
            <a:fillRect/>
          </a:stretch>
        </p:blipFill>
        <p:spPr>
          <a:xfrm>
            <a:off x="4416552" y="2724912"/>
            <a:ext cx="219456" cy="219456"/>
          </a:xfrm>
          <a:prstGeom prst="rect">
            <a:avLst/>
          </a:prstGeom>
        </p:spPr>
      </p:pic>
      <p:sp>
        <p:nvSpPr>
          <p:cNvPr id="34" name="Shape 29"/>
          <p:cNvSpPr/>
          <p:nvPr/>
        </p:nvSpPr>
        <p:spPr>
          <a:xfrm>
            <a:off x="4846320" y="2560320"/>
            <a:ext cx="3840480" cy="548640"/>
          </a:xfrm>
          <a:prstGeom prst="roundRect">
            <a:avLst>
              <a:gd name="adj" fmla="val 13333"/>
            </a:avLst>
          </a:prstGeom>
          <a:solidFill>
            <a:srgbClr val="FDECEA"/>
          </a:solidFill>
          <a:ln w="12700">
            <a:solidFill>
              <a:srgbClr val="C62828"/>
            </a:solidFill>
            <a:prstDash val="solid"/>
          </a:ln>
        </p:spPr>
      </p:sp>
      <p:sp>
        <p:nvSpPr>
          <p:cNvPr id="35" name="Text 30"/>
          <p:cNvSpPr txBox="1"/>
          <p:nvPr/>
        </p:nvSpPr>
        <p:spPr>
          <a:xfrm>
            <a:off x="4956048" y="2560320"/>
            <a:ext cx="3611880" cy="548640"/>
          </a:xfrm>
          <a:prstGeom prst="rect">
            <a:avLst/>
          </a:prstGeom>
          <a:noFill/>
          <a:ln/>
        </p:spPr>
        <p:txBody>
          <a:bodyPr wrap="square" lIns="0" tIns="0" rIns="0" bIns="0" rtlCol="0" anchor="ctr"/>
          <a:lstStyle/>
          <a:p>
            <a:pPr algn="l" indent="0" marL="0">
              <a:buNone/>
            </a:pPr>
            <a:r>
              <a:rPr lang="en-US" sz="1200" dirty="0">
                <a:solidFill>
                  <a:srgbClr val="1F2430"/>
                </a:solidFill>
              </a:rPr>
              <a:t>Fails: attendance-tracked billing ran twice</a:t>
            </a:r>
            <a:endParaRPr lang="en-US" sz="1200" dirty="0"/>
          </a:p>
        </p:txBody>
      </p:sp>
      <p:sp>
        <p:nvSpPr>
          <p:cNvPr id="36" name="Shape 31"/>
          <p:cNvSpPr/>
          <p:nvPr/>
        </p:nvSpPr>
        <p:spPr>
          <a:xfrm>
            <a:off x="457200" y="3200400"/>
            <a:ext cx="3383280" cy="548640"/>
          </a:xfrm>
          <a:prstGeom prst="roundRect">
            <a:avLst>
              <a:gd name="adj" fmla="val 13333"/>
            </a:avLst>
          </a:prstGeom>
          <a:solidFill>
            <a:srgbClr val="F2F2F2"/>
          </a:solidFill>
          <a:ln/>
        </p:spPr>
      </p:sp>
      <p:sp>
        <p:nvSpPr>
          <p:cNvPr id="37" name="Text 32"/>
          <p:cNvSpPr txBox="1"/>
          <p:nvPr/>
        </p:nvSpPr>
        <p:spPr>
          <a:xfrm>
            <a:off x="594360" y="3200400"/>
            <a:ext cx="3108960" cy="548640"/>
          </a:xfrm>
          <a:prstGeom prst="rect">
            <a:avLst/>
          </a:prstGeom>
          <a:noFill/>
          <a:ln/>
        </p:spPr>
        <p:txBody>
          <a:bodyPr wrap="square" lIns="0" tIns="0" rIns="0" bIns="0" rtlCol="0" anchor="ctr"/>
          <a:lstStyle/>
          <a:p>
            <a:pPr algn="l" indent="0" marL="0">
              <a:buNone/>
            </a:pPr>
            <a:r>
              <a:rPr lang="en-US" sz="1300" dirty="0">
                <a:solidFill>
                  <a:srgbClr val="616161"/>
                </a:solidFill>
              </a:rPr>
              <a:t>Nobody knows how big the gap is</a:t>
            </a:r>
            <a:endParaRPr lang="en-US" sz="1300" dirty="0"/>
          </a:p>
        </p:txBody>
      </p:sp>
      <p:sp>
        <p:nvSpPr>
          <p:cNvPr id="38" name="Shape 33"/>
          <p:cNvSpPr/>
          <p:nvPr/>
        </p:nvSpPr>
        <p:spPr>
          <a:xfrm>
            <a:off x="3886200" y="3474720"/>
            <a:ext cx="320040" cy="0"/>
          </a:xfrm>
          <a:prstGeom prst="line">
            <a:avLst/>
          </a:prstGeom>
          <a:noFill/>
          <a:ln w="25400">
            <a:solidFill>
              <a:srgbClr val="1A237E"/>
            </a:solidFill>
            <a:prstDash val="solid"/>
            <a:tailEnd type="triangle"/>
          </a:ln>
        </p:spPr>
      </p:sp>
      <p:sp>
        <p:nvSpPr>
          <p:cNvPr id="39" name="Shape 34"/>
          <p:cNvSpPr/>
          <p:nvPr/>
        </p:nvSpPr>
        <p:spPr>
          <a:xfrm>
            <a:off x="4343400" y="3291840"/>
            <a:ext cx="365760" cy="365760"/>
          </a:xfrm>
          <a:prstGeom prst="ellipse">
            <a:avLst/>
          </a:prstGeom>
          <a:solidFill>
            <a:srgbClr val="C62828"/>
          </a:solidFill>
          <a:ln/>
        </p:spPr>
      </p:sp>
      <p:pic>
        <p:nvPicPr>
          <p:cNvPr id="40" name="Image 3" descr="Close">    </p:cNvPr>
          <p:cNvPicPr>
            <a:picLocks noChangeAspect="1"/>
          </p:cNvPicPr>
          <p:nvPr/>
        </p:nvPicPr>
        <p:blipFill>
          <a:blip r:embed="rId4"/>
          <a:stretch>
            <a:fillRect/>
          </a:stretch>
        </p:blipFill>
        <p:spPr>
          <a:xfrm>
            <a:off x="4416552" y="3364992"/>
            <a:ext cx="219456" cy="219456"/>
          </a:xfrm>
          <a:prstGeom prst="rect">
            <a:avLst/>
          </a:prstGeom>
        </p:spPr>
      </p:pic>
      <p:sp>
        <p:nvSpPr>
          <p:cNvPr id="41" name="Shape 35"/>
          <p:cNvSpPr/>
          <p:nvPr/>
        </p:nvSpPr>
        <p:spPr>
          <a:xfrm>
            <a:off x="4846320" y="3200400"/>
            <a:ext cx="3840480" cy="548640"/>
          </a:xfrm>
          <a:prstGeom prst="roundRect">
            <a:avLst>
              <a:gd name="adj" fmla="val 13333"/>
            </a:avLst>
          </a:prstGeom>
          <a:solidFill>
            <a:srgbClr val="FDECEA"/>
          </a:solidFill>
          <a:ln w="12700">
            <a:solidFill>
              <a:srgbClr val="C62828"/>
            </a:solidFill>
            <a:prstDash val="solid"/>
          </a:ln>
        </p:spPr>
      </p:sp>
      <p:sp>
        <p:nvSpPr>
          <p:cNvPr id="42" name="Text 36"/>
          <p:cNvSpPr txBox="1"/>
          <p:nvPr/>
        </p:nvSpPr>
        <p:spPr>
          <a:xfrm>
            <a:off x="4956048" y="3200400"/>
            <a:ext cx="3611880" cy="548640"/>
          </a:xfrm>
          <a:prstGeom prst="rect">
            <a:avLst/>
          </a:prstGeom>
          <a:noFill/>
          <a:ln/>
        </p:spPr>
        <p:txBody>
          <a:bodyPr wrap="square" lIns="0" tIns="0" rIns="0" bIns="0" rtlCol="0" anchor="ctr"/>
          <a:lstStyle/>
          <a:p>
            <a:pPr algn="l" indent="0" marL="0">
              <a:buNone/>
            </a:pPr>
            <a:r>
              <a:rPr lang="en-US" sz="1200" dirty="0">
                <a:solidFill>
                  <a:srgbClr val="1F2430"/>
                </a:solidFill>
              </a:rPr>
              <a:t>Fails: it is measured in at least three places</a:t>
            </a:r>
            <a:endParaRPr lang="en-US" sz="1200" dirty="0"/>
          </a:p>
        </p:txBody>
      </p:sp>
      <p:sp>
        <p:nvSpPr>
          <p:cNvPr id="43" name="Shape 37"/>
          <p:cNvSpPr/>
          <p:nvPr/>
        </p:nvSpPr>
        <p:spPr>
          <a:xfrm>
            <a:off x="457200" y="3840480"/>
            <a:ext cx="3383280" cy="548640"/>
          </a:xfrm>
          <a:prstGeom prst="roundRect">
            <a:avLst>
              <a:gd name="adj" fmla="val 13333"/>
            </a:avLst>
          </a:prstGeom>
          <a:solidFill>
            <a:srgbClr val="F2F2F2"/>
          </a:solidFill>
          <a:ln/>
        </p:spPr>
      </p:sp>
      <p:sp>
        <p:nvSpPr>
          <p:cNvPr id="44" name="Text 38"/>
          <p:cNvSpPr txBox="1"/>
          <p:nvPr/>
        </p:nvSpPr>
        <p:spPr>
          <a:xfrm>
            <a:off x="594360" y="3840480"/>
            <a:ext cx="3108960" cy="548640"/>
          </a:xfrm>
          <a:prstGeom prst="rect">
            <a:avLst/>
          </a:prstGeom>
          <a:noFill/>
          <a:ln/>
        </p:spPr>
        <p:txBody>
          <a:bodyPr wrap="square" lIns="0" tIns="0" rIns="0" bIns="0" rtlCol="0" anchor="ctr"/>
          <a:lstStyle/>
          <a:p>
            <a:pPr algn="l" indent="0" marL="0">
              <a:buNone/>
            </a:pPr>
            <a:r>
              <a:rPr lang="en-US" sz="1300" dirty="0">
                <a:solidFill>
                  <a:srgbClr val="616161"/>
                </a:solidFill>
              </a:rPr>
              <a:t>This is one problem</a:t>
            </a:r>
            <a:endParaRPr lang="en-US" sz="1300" dirty="0"/>
          </a:p>
        </p:txBody>
      </p:sp>
      <p:sp>
        <p:nvSpPr>
          <p:cNvPr id="45" name="Shape 39"/>
          <p:cNvSpPr/>
          <p:nvPr/>
        </p:nvSpPr>
        <p:spPr>
          <a:xfrm>
            <a:off x="3886200" y="4114800"/>
            <a:ext cx="320040" cy="0"/>
          </a:xfrm>
          <a:prstGeom prst="line">
            <a:avLst/>
          </a:prstGeom>
          <a:noFill/>
          <a:ln w="25400">
            <a:solidFill>
              <a:srgbClr val="1A237E"/>
            </a:solidFill>
            <a:prstDash val="solid"/>
            <a:tailEnd type="triangle"/>
          </a:ln>
        </p:spPr>
      </p:sp>
      <p:sp>
        <p:nvSpPr>
          <p:cNvPr id="46" name="Shape 40"/>
          <p:cNvSpPr/>
          <p:nvPr/>
        </p:nvSpPr>
        <p:spPr>
          <a:xfrm>
            <a:off x="4343400" y="3931920"/>
            <a:ext cx="365760" cy="365760"/>
          </a:xfrm>
          <a:prstGeom prst="ellipse">
            <a:avLst/>
          </a:prstGeom>
          <a:solidFill>
            <a:srgbClr val="C62828"/>
          </a:solidFill>
          <a:ln/>
        </p:spPr>
      </p:sp>
      <p:pic>
        <p:nvPicPr>
          <p:cNvPr id="47" name="Image 4" descr="Close">    </p:cNvPr>
          <p:cNvPicPr>
            <a:picLocks noChangeAspect="1"/>
          </p:cNvPicPr>
          <p:nvPr/>
        </p:nvPicPr>
        <p:blipFill>
          <a:blip r:embed="rId5"/>
          <a:stretch>
            <a:fillRect/>
          </a:stretch>
        </p:blipFill>
        <p:spPr>
          <a:xfrm>
            <a:off x="4416552" y="4005072"/>
            <a:ext cx="219456" cy="219456"/>
          </a:xfrm>
          <a:prstGeom prst="rect">
            <a:avLst/>
          </a:prstGeom>
        </p:spPr>
      </p:pic>
      <p:sp>
        <p:nvSpPr>
          <p:cNvPr id="48" name="Shape 41"/>
          <p:cNvSpPr/>
          <p:nvPr/>
        </p:nvSpPr>
        <p:spPr>
          <a:xfrm>
            <a:off x="4846320" y="3840480"/>
            <a:ext cx="3840480" cy="548640"/>
          </a:xfrm>
          <a:prstGeom prst="roundRect">
            <a:avLst>
              <a:gd name="adj" fmla="val 13333"/>
            </a:avLst>
          </a:prstGeom>
          <a:solidFill>
            <a:srgbClr val="FDECEA"/>
          </a:solidFill>
          <a:ln w="12700">
            <a:solidFill>
              <a:srgbClr val="C62828"/>
            </a:solidFill>
            <a:prstDash val="solid"/>
          </a:ln>
        </p:spPr>
      </p:sp>
      <p:sp>
        <p:nvSpPr>
          <p:cNvPr id="49" name="Text 42"/>
          <p:cNvSpPr txBox="1"/>
          <p:nvPr/>
        </p:nvSpPr>
        <p:spPr>
          <a:xfrm>
            <a:off x="4956048" y="3840480"/>
            <a:ext cx="3611880" cy="548640"/>
          </a:xfrm>
          <a:prstGeom prst="rect">
            <a:avLst/>
          </a:prstGeom>
          <a:noFill/>
          <a:ln/>
        </p:spPr>
        <p:txBody>
          <a:bodyPr wrap="square" lIns="0" tIns="0" rIns="0" bIns="0" rtlCol="0" anchor="ctr"/>
          <a:lstStyle/>
          <a:p>
            <a:pPr algn="l" indent="0" marL="0">
              <a:buNone/>
            </a:pPr>
            <a:r>
              <a:rPr lang="en-US" sz="1200" dirty="0">
                <a:solidFill>
                  <a:srgbClr val="1F2430"/>
                </a:solidFill>
              </a:rPr>
              <a:t>Fails: three structural causes plus one thing that is no problem</a:t>
            </a:r>
            <a:endParaRPr lang="en-US" sz="1200" dirty="0"/>
          </a:p>
        </p:txBody>
      </p:sp>
      <p:sp>
        <p:nvSpPr>
          <p:cNvPr id="50" name="Text 43"/>
          <p:cNvSpPr txBox="1"/>
          <p:nvPr/>
        </p:nvSpPr>
        <p:spPr>
          <a:xfrm>
            <a:off x="457200" y="4526280"/>
            <a:ext cx="5486400" cy="228600"/>
          </a:xfrm>
          <a:prstGeom prst="rect">
            <a:avLst/>
          </a:prstGeom>
          <a:noFill/>
          <a:ln/>
        </p:spPr>
        <p:txBody>
          <a:bodyPr wrap="square" lIns="0" tIns="0" rIns="0" bIns="0" rtlCol="0" anchor="t"/>
          <a:lstStyle/>
          <a:p>
            <a:pPr algn="l" indent="0" marL="0">
              <a:buNone/>
            </a:pPr>
            <a:r>
              <a:rPr lang="en-US" sz="1200" i="1" dirty="0">
                <a:solidFill>
                  <a:srgbClr val="616161"/>
                </a:solidFill>
              </a:rPr>
              <a:t>Challenged before any reframing was accepted.</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Only the stable equilibrium framing passes all four tests</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982980" y="4841748"/>
            <a:ext cx="146304" cy="146304"/>
          </a:xfrm>
          <a:prstGeom prst="ellipse">
            <a:avLst/>
          </a:prstGeom>
          <a:solidFill>
            <a:srgbClr val="1A237E"/>
          </a:solidFill>
          <a:ln/>
        </p:spPr>
      </p:sp>
      <p:sp>
        <p:nvSpPr>
          <p:cNvPr id="7" name="Shape 5"/>
          <p:cNvSpPr/>
          <p:nvPr/>
        </p:nvSpPr>
        <p:spPr>
          <a:xfrm>
            <a:off x="946404" y="4805172"/>
            <a:ext cx="219456" cy="219456"/>
          </a:xfrm>
          <a:prstGeom prst="ellipse">
            <a:avLst/>
          </a:prstGeom>
          <a:ln w="9525">
            <a:solidFill>
              <a:srgbClr val="1A237E"/>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4 Modelling the system</a:t>
            </a:r>
            <a:endParaRPr lang="en-US" sz="1000" dirty="0"/>
          </a:p>
        </p:txBody>
      </p:sp>
      <p:sp>
        <p:nvSpPr>
          <p:cNvPr id="15" name="Text 13"/>
          <p:cNvSpPr txBox="1"/>
          <p:nvPr/>
        </p:nvSpPr>
        <p:spPr>
          <a:xfrm>
            <a:off x="4023360" y="1188720"/>
            <a:ext cx="1097280" cy="457200"/>
          </a:xfrm>
          <a:prstGeom prst="rect">
            <a:avLst/>
          </a:prstGeom>
          <a:noFill/>
          <a:ln/>
        </p:spPr>
        <p:txBody>
          <a:bodyPr wrap="square" lIns="0" tIns="0" rIns="0" bIns="0" rtlCol="0" anchor="b"/>
          <a:lstStyle/>
          <a:p>
            <a:pPr algn="ctr" indent="0" marL="0">
              <a:buNone/>
            </a:pPr>
            <a:r>
              <a:rPr lang="en-US" sz="1050" b="1" dirty="0">
                <a:solidFill>
                  <a:srgbClr val="616161"/>
                </a:solidFill>
              </a:rPr>
              <a:t>Explains why breakfast and not lunch</a:t>
            </a:r>
            <a:endParaRPr lang="en-US" sz="1050" dirty="0"/>
          </a:p>
        </p:txBody>
      </p:sp>
      <p:sp>
        <p:nvSpPr>
          <p:cNvPr id="16" name="Text 14"/>
          <p:cNvSpPr txBox="1"/>
          <p:nvPr/>
        </p:nvSpPr>
        <p:spPr>
          <a:xfrm>
            <a:off x="5193792" y="1188720"/>
            <a:ext cx="1097280" cy="457200"/>
          </a:xfrm>
          <a:prstGeom prst="rect">
            <a:avLst/>
          </a:prstGeom>
          <a:noFill/>
          <a:ln/>
        </p:spPr>
        <p:txBody>
          <a:bodyPr wrap="square" lIns="0" tIns="0" rIns="0" bIns="0" rtlCol="0" anchor="b"/>
          <a:lstStyle/>
          <a:p>
            <a:pPr algn="ctr" indent="0" marL="0">
              <a:buNone/>
            </a:pPr>
            <a:r>
              <a:rPr lang="en-US" sz="1050" b="1" dirty="0">
                <a:solidFill>
                  <a:srgbClr val="616161"/>
                </a:solidFill>
              </a:rPr>
              <a:t>Explains why it persists unseen</a:t>
            </a:r>
            <a:endParaRPr lang="en-US" sz="1050" dirty="0"/>
          </a:p>
        </p:txBody>
      </p:sp>
      <p:sp>
        <p:nvSpPr>
          <p:cNvPr id="17" name="Text 15"/>
          <p:cNvSpPr txBox="1"/>
          <p:nvPr/>
        </p:nvSpPr>
        <p:spPr>
          <a:xfrm>
            <a:off x="6364224" y="1188720"/>
            <a:ext cx="1097280" cy="457200"/>
          </a:xfrm>
          <a:prstGeom prst="rect">
            <a:avLst/>
          </a:prstGeom>
          <a:noFill/>
          <a:ln/>
        </p:spPr>
        <p:txBody>
          <a:bodyPr wrap="square" lIns="0" tIns="0" rIns="0" bIns="0" rtlCol="0" anchor="b"/>
          <a:lstStyle/>
          <a:p>
            <a:pPr algn="ctr" indent="0" marL="0">
              <a:buNone/>
            </a:pPr>
            <a:r>
              <a:rPr lang="en-US" sz="1050" b="1" dirty="0">
                <a:solidFill>
                  <a:srgbClr val="616161"/>
                </a:solidFill>
              </a:rPr>
              <a:t>Reaches the booking</a:t>
            </a:r>
            <a:endParaRPr lang="en-US" sz="1050" dirty="0"/>
          </a:p>
        </p:txBody>
      </p:sp>
      <p:sp>
        <p:nvSpPr>
          <p:cNvPr id="18" name="Text 16"/>
          <p:cNvSpPr txBox="1"/>
          <p:nvPr/>
        </p:nvSpPr>
        <p:spPr>
          <a:xfrm>
            <a:off x="7534656" y="1188720"/>
            <a:ext cx="1097280" cy="457200"/>
          </a:xfrm>
          <a:prstGeom prst="rect">
            <a:avLst/>
          </a:prstGeom>
          <a:noFill/>
          <a:ln/>
        </p:spPr>
        <p:txBody>
          <a:bodyPr wrap="square" lIns="0" tIns="0" rIns="0" bIns="0" rtlCol="0" anchor="b"/>
          <a:lstStyle/>
          <a:p>
            <a:pPr algn="ctr" indent="0" marL="0">
              <a:buNone/>
            </a:pPr>
            <a:r>
              <a:rPr lang="en-US" sz="1050" b="1" dirty="0">
                <a:solidFill>
                  <a:srgbClr val="616161"/>
                </a:solidFill>
              </a:rPr>
              <a:t>Fits the evidence</a:t>
            </a:r>
            <a:endParaRPr lang="en-US" sz="1050" dirty="0"/>
          </a:p>
        </p:txBody>
      </p:sp>
      <p:sp>
        <p:nvSpPr>
          <p:cNvPr id="19" name="Text 17"/>
          <p:cNvSpPr txBox="1"/>
          <p:nvPr/>
        </p:nvSpPr>
        <p:spPr>
          <a:xfrm>
            <a:off x="594360" y="1737360"/>
            <a:ext cx="3383280" cy="347472"/>
          </a:xfrm>
          <a:prstGeom prst="rect">
            <a:avLst/>
          </a:prstGeom>
          <a:noFill/>
          <a:ln/>
        </p:spPr>
        <p:txBody>
          <a:bodyPr wrap="square" lIns="0" tIns="0" rIns="0" bIns="0" rtlCol="0" anchor="ctr"/>
          <a:lstStyle/>
          <a:p>
            <a:pPr algn="l" indent="0" marL="0">
              <a:buNone/>
            </a:pPr>
            <a:r>
              <a:rPr lang="en-US" sz="1250" dirty="0">
                <a:solidFill>
                  <a:srgbClr val="1F2430"/>
                </a:solidFill>
              </a:rPr>
              <a:t>More registered students attend</a:t>
            </a:r>
            <a:endParaRPr lang="en-US" sz="1250" dirty="0"/>
          </a:p>
        </p:txBody>
      </p:sp>
      <p:sp>
        <p:nvSpPr>
          <p:cNvPr id="20" name="Shape 18"/>
          <p:cNvSpPr/>
          <p:nvPr/>
        </p:nvSpPr>
        <p:spPr>
          <a:xfrm>
            <a:off x="4453128" y="1792224"/>
            <a:ext cx="237744" cy="237744"/>
          </a:xfrm>
          <a:prstGeom prst="ellipse">
            <a:avLst/>
          </a:prstGeom>
          <a:ln w="19050">
            <a:solidFill>
              <a:srgbClr val="2E7D32"/>
            </a:solidFill>
            <a:prstDash val="solid"/>
          </a:ln>
        </p:spPr>
      </p:sp>
      <p:sp>
        <p:nvSpPr>
          <p:cNvPr id="21" name="Shape 19"/>
          <p:cNvSpPr/>
          <p:nvPr/>
        </p:nvSpPr>
        <p:spPr>
          <a:xfrm>
            <a:off x="5623560" y="1792224"/>
            <a:ext cx="237744" cy="237744"/>
          </a:xfrm>
          <a:prstGeom prst="ellipse">
            <a:avLst/>
          </a:prstGeom>
          <a:ln w="19050">
            <a:solidFill>
              <a:srgbClr val="2E7D32"/>
            </a:solidFill>
            <a:prstDash val="solid"/>
          </a:ln>
        </p:spPr>
      </p:sp>
      <p:sp>
        <p:nvSpPr>
          <p:cNvPr id="22" name="Shape 20"/>
          <p:cNvSpPr/>
          <p:nvPr/>
        </p:nvSpPr>
        <p:spPr>
          <a:xfrm>
            <a:off x="6793992" y="1792224"/>
            <a:ext cx="237744" cy="237744"/>
          </a:xfrm>
          <a:prstGeom prst="ellipse">
            <a:avLst/>
          </a:prstGeom>
          <a:ln w="19050">
            <a:solidFill>
              <a:srgbClr val="2E7D32"/>
            </a:solidFill>
            <a:prstDash val="solid"/>
          </a:ln>
        </p:spPr>
      </p:sp>
      <p:sp>
        <p:nvSpPr>
          <p:cNvPr id="23" name="Shape 21"/>
          <p:cNvSpPr/>
          <p:nvPr/>
        </p:nvSpPr>
        <p:spPr>
          <a:xfrm>
            <a:off x="7964424" y="1792224"/>
            <a:ext cx="237744" cy="237744"/>
          </a:xfrm>
          <a:prstGeom prst="ellipse">
            <a:avLst/>
          </a:prstGeom>
          <a:ln w="19050">
            <a:solidFill>
              <a:srgbClr val="2E7D32"/>
            </a:solidFill>
            <a:prstDash val="solid"/>
          </a:ln>
        </p:spPr>
      </p:sp>
      <p:sp>
        <p:nvSpPr>
          <p:cNvPr id="24" name="Text 22"/>
          <p:cNvSpPr txBox="1"/>
          <p:nvPr/>
        </p:nvSpPr>
        <p:spPr>
          <a:xfrm>
            <a:off x="594360" y="2139696"/>
            <a:ext cx="3383280" cy="347472"/>
          </a:xfrm>
          <a:prstGeom prst="rect">
            <a:avLst/>
          </a:prstGeom>
          <a:noFill/>
          <a:ln/>
        </p:spPr>
        <p:txBody>
          <a:bodyPr wrap="square" lIns="0" tIns="0" rIns="0" bIns="0" rtlCol="0" anchor="ctr"/>
          <a:lstStyle/>
          <a:p>
            <a:pPr algn="l" indent="0" marL="0">
              <a:buNone/>
            </a:pPr>
            <a:r>
              <a:rPr lang="en-US" sz="1250" dirty="0">
                <a:solidFill>
                  <a:srgbClr val="1F2430"/>
                </a:solidFill>
              </a:rPr>
              <a:t>Registration as a truer signal of intent</a:t>
            </a:r>
            <a:endParaRPr lang="en-US" sz="1250" dirty="0"/>
          </a:p>
        </p:txBody>
      </p:sp>
      <p:sp>
        <p:nvSpPr>
          <p:cNvPr id="25" name="Shape 23"/>
          <p:cNvSpPr/>
          <p:nvPr/>
        </p:nvSpPr>
        <p:spPr>
          <a:xfrm>
            <a:off x="4453128" y="2194560"/>
            <a:ext cx="237744" cy="237744"/>
          </a:xfrm>
          <a:prstGeom prst="ellipse">
            <a:avLst/>
          </a:prstGeom>
          <a:ln w="19050">
            <a:solidFill>
              <a:srgbClr val="2E7D32"/>
            </a:solidFill>
            <a:prstDash val="solid"/>
          </a:ln>
        </p:spPr>
      </p:sp>
      <p:sp>
        <p:nvSpPr>
          <p:cNvPr id="26" name="Shape 24"/>
          <p:cNvSpPr/>
          <p:nvPr/>
        </p:nvSpPr>
        <p:spPr>
          <a:xfrm>
            <a:off x="5623560" y="2194560"/>
            <a:ext cx="237744" cy="237744"/>
          </a:xfrm>
          <a:prstGeom prst="ellipse">
            <a:avLst/>
          </a:prstGeom>
          <a:ln w="19050">
            <a:solidFill>
              <a:srgbClr val="2E7D32"/>
            </a:solidFill>
            <a:prstDash val="solid"/>
          </a:ln>
        </p:spPr>
      </p:sp>
      <p:sp>
        <p:nvSpPr>
          <p:cNvPr id="27" name="Shape 25"/>
          <p:cNvSpPr/>
          <p:nvPr/>
        </p:nvSpPr>
        <p:spPr>
          <a:xfrm>
            <a:off x="6793992" y="2194560"/>
            <a:ext cx="237744" cy="237744"/>
          </a:xfrm>
          <a:prstGeom prst="ellipse">
            <a:avLst/>
          </a:prstGeom>
          <a:ln w="19050">
            <a:solidFill>
              <a:srgbClr val="2E7D32"/>
            </a:solidFill>
            <a:prstDash val="solid"/>
          </a:ln>
        </p:spPr>
      </p:sp>
      <p:sp>
        <p:nvSpPr>
          <p:cNvPr id="28" name="Shape 26"/>
          <p:cNvSpPr/>
          <p:nvPr/>
        </p:nvSpPr>
        <p:spPr>
          <a:xfrm>
            <a:off x="6793992" y="2194560"/>
            <a:ext cx="237744" cy="237744"/>
          </a:xfrm>
          <a:prstGeom prst="pie">
            <a:avLst>
              <a:gd name="adj1" fmla="val 16200000"/>
              <a:gd name="adj2" fmla="val 5400000"/>
            </a:avLst>
          </a:prstGeom>
          <a:solidFill>
            <a:srgbClr val="2E7D32"/>
          </a:solidFill>
          <a:ln/>
        </p:spPr>
      </p:sp>
      <p:sp>
        <p:nvSpPr>
          <p:cNvPr id="29" name="Shape 27"/>
          <p:cNvSpPr/>
          <p:nvPr/>
        </p:nvSpPr>
        <p:spPr>
          <a:xfrm>
            <a:off x="7964424" y="2194560"/>
            <a:ext cx="237744" cy="237744"/>
          </a:xfrm>
          <a:prstGeom prst="ellipse">
            <a:avLst/>
          </a:prstGeom>
          <a:ln w="19050">
            <a:solidFill>
              <a:srgbClr val="2E7D32"/>
            </a:solidFill>
            <a:prstDash val="solid"/>
          </a:ln>
        </p:spPr>
      </p:sp>
      <p:sp>
        <p:nvSpPr>
          <p:cNvPr id="30" name="Text 28"/>
          <p:cNvSpPr txBox="1"/>
          <p:nvPr/>
        </p:nvSpPr>
        <p:spPr>
          <a:xfrm>
            <a:off x="594360" y="2542032"/>
            <a:ext cx="3383280" cy="347472"/>
          </a:xfrm>
          <a:prstGeom prst="rect">
            <a:avLst/>
          </a:prstGeom>
          <a:noFill/>
          <a:ln/>
        </p:spPr>
        <p:txBody>
          <a:bodyPr wrap="square" lIns="0" tIns="0" rIns="0" bIns="0" rtlCol="0" anchor="ctr"/>
          <a:lstStyle/>
          <a:p>
            <a:pPr algn="l" indent="0" marL="0">
              <a:buNone/>
            </a:pPr>
            <a:r>
              <a:rPr lang="en-US" sz="1250" dirty="0">
                <a:solidFill>
                  <a:srgbClr val="1F2430"/>
                </a:solidFill>
              </a:rPr>
              <a:t>Kitchens forecast better</a:t>
            </a:r>
            <a:endParaRPr lang="en-US" sz="1250" dirty="0"/>
          </a:p>
        </p:txBody>
      </p:sp>
      <p:sp>
        <p:nvSpPr>
          <p:cNvPr id="31" name="Shape 29"/>
          <p:cNvSpPr/>
          <p:nvPr/>
        </p:nvSpPr>
        <p:spPr>
          <a:xfrm>
            <a:off x="4453128" y="2596896"/>
            <a:ext cx="237744" cy="237744"/>
          </a:xfrm>
          <a:prstGeom prst="ellipse">
            <a:avLst/>
          </a:prstGeom>
          <a:ln w="19050">
            <a:solidFill>
              <a:srgbClr val="2E7D32"/>
            </a:solidFill>
            <a:prstDash val="solid"/>
          </a:ln>
        </p:spPr>
      </p:sp>
      <p:sp>
        <p:nvSpPr>
          <p:cNvPr id="32" name="Shape 30"/>
          <p:cNvSpPr/>
          <p:nvPr/>
        </p:nvSpPr>
        <p:spPr>
          <a:xfrm>
            <a:off x="5623560" y="2596896"/>
            <a:ext cx="237744" cy="237744"/>
          </a:xfrm>
          <a:prstGeom prst="ellipse">
            <a:avLst/>
          </a:prstGeom>
          <a:ln w="19050">
            <a:solidFill>
              <a:srgbClr val="2E7D32"/>
            </a:solidFill>
            <a:prstDash val="solid"/>
          </a:ln>
        </p:spPr>
      </p:sp>
      <p:sp>
        <p:nvSpPr>
          <p:cNvPr id="33" name="Shape 31"/>
          <p:cNvSpPr/>
          <p:nvPr/>
        </p:nvSpPr>
        <p:spPr>
          <a:xfrm>
            <a:off x="6793992" y="2596896"/>
            <a:ext cx="237744" cy="237744"/>
          </a:xfrm>
          <a:prstGeom prst="ellipse">
            <a:avLst/>
          </a:prstGeom>
          <a:ln w="19050">
            <a:solidFill>
              <a:srgbClr val="2E7D32"/>
            </a:solidFill>
            <a:prstDash val="solid"/>
          </a:ln>
        </p:spPr>
      </p:sp>
      <p:sp>
        <p:nvSpPr>
          <p:cNvPr id="34" name="Shape 32"/>
          <p:cNvSpPr/>
          <p:nvPr/>
        </p:nvSpPr>
        <p:spPr>
          <a:xfrm>
            <a:off x="7964424" y="2596896"/>
            <a:ext cx="237744" cy="237744"/>
          </a:xfrm>
          <a:prstGeom prst="ellipse">
            <a:avLst/>
          </a:prstGeom>
          <a:ln w="19050">
            <a:solidFill>
              <a:srgbClr val="2E7D32"/>
            </a:solidFill>
            <a:prstDash val="solid"/>
          </a:ln>
        </p:spPr>
      </p:sp>
      <p:sp>
        <p:nvSpPr>
          <p:cNvPr id="35" name="Shape 33"/>
          <p:cNvSpPr/>
          <p:nvPr/>
        </p:nvSpPr>
        <p:spPr>
          <a:xfrm>
            <a:off x="7964424" y="2596896"/>
            <a:ext cx="237744" cy="237744"/>
          </a:xfrm>
          <a:prstGeom prst="pie">
            <a:avLst>
              <a:gd name="adj1" fmla="val 16200000"/>
              <a:gd name="adj2" fmla="val 5400000"/>
            </a:avLst>
          </a:prstGeom>
          <a:solidFill>
            <a:srgbClr val="2E7D32"/>
          </a:solidFill>
          <a:ln/>
        </p:spPr>
      </p:sp>
      <p:sp>
        <p:nvSpPr>
          <p:cNvPr id="36" name="Text 34"/>
          <p:cNvSpPr txBox="1"/>
          <p:nvPr/>
        </p:nvSpPr>
        <p:spPr>
          <a:xfrm>
            <a:off x="594360" y="2944368"/>
            <a:ext cx="3383280" cy="347472"/>
          </a:xfrm>
          <a:prstGeom prst="rect">
            <a:avLst/>
          </a:prstGeom>
          <a:noFill/>
          <a:ln/>
        </p:spPr>
        <p:txBody>
          <a:bodyPr wrap="square" lIns="0" tIns="0" rIns="0" bIns="0" rtlCol="0" anchor="ctr"/>
          <a:lstStyle/>
          <a:p>
            <a:pPr algn="l" indent="0" marL="0">
              <a:buNone/>
            </a:pPr>
            <a:r>
              <a:rPr lang="en-US" sz="1250" dirty="0">
                <a:solidFill>
                  <a:srgbClr val="1F2430"/>
                </a:solidFill>
              </a:rPr>
              <a:t>Every operator runs like Yuktāhār</a:t>
            </a:r>
            <a:endParaRPr lang="en-US" sz="1250" dirty="0"/>
          </a:p>
        </p:txBody>
      </p:sp>
      <p:sp>
        <p:nvSpPr>
          <p:cNvPr id="37" name="Shape 35"/>
          <p:cNvSpPr/>
          <p:nvPr/>
        </p:nvSpPr>
        <p:spPr>
          <a:xfrm>
            <a:off x="4453128" y="2999232"/>
            <a:ext cx="237744" cy="237744"/>
          </a:xfrm>
          <a:prstGeom prst="ellipse">
            <a:avLst/>
          </a:prstGeom>
          <a:ln w="19050">
            <a:solidFill>
              <a:srgbClr val="2E7D32"/>
            </a:solidFill>
            <a:prstDash val="solid"/>
          </a:ln>
        </p:spPr>
      </p:sp>
      <p:sp>
        <p:nvSpPr>
          <p:cNvPr id="38" name="Shape 36"/>
          <p:cNvSpPr/>
          <p:nvPr/>
        </p:nvSpPr>
        <p:spPr>
          <a:xfrm>
            <a:off x="5623560" y="2999232"/>
            <a:ext cx="237744" cy="237744"/>
          </a:xfrm>
          <a:prstGeom prst="ellipse">
            <a:avLst/>
          </a:prstGeom>
          <a:ln w="19050">
            <a:solidFill>
              <a:srgbClr val="2E7D32"/>
            </a:solidFill>
            <a:prstDash val="solid"/>
          </a:ln>
        </p:spPr>
      </p:sp>
      <p:sp>
        <p:nvSpPr>
          <p:cNvPr id="39" name="Shape 37"/>
          <p:cNvSpPr/>
          <p:nvPr/>
        </p:nvSpPr>
        <p:spPr>
          <a:xfrm>
            <a:off x="5623560" y="2999232"/>
            <a:ext cx="237744" cy="237744"/>
          </a:xfrm>
          <a:prstGeom prst="pie">
            <a:avLst>
              <a:gd name="adj1" fmla="val 16200000"/>
              <a:gd name="adj2" fmla="val 5400000"/>
            </a:avLst>
          </a:prstGeom>
          <a:solidFill>
            <a:srgbClr val="2E7D32"/>
          </a:solidFill>
          <a:ln/>
        </p:spPr>
      </p:sp>
      <p:sp>
        <p:nvSpPr>
          <p:cNvPr id="40" name="Shape 38"/>
          <p:cNvSpPr/>
          <p:nvPr/>
        </p:nvSpPr>
        <p:spPr>
          <a:xfrm>
            <a:off x="6793992" y="2999232"/>
            <a:ext cx="237744" cy="237744"/>
          </a:xfrm>
          <a:prstGeom prst="ellipse">
            <a:avLst/>
          </a:prstGeom>
          <a:ln w="19050">
            <a:solidFill>
              <a:srgbClr val="2E7D32"/>
            </a:solidFill>
            <a:prstDash val="solid"/>
          </a:ln>
        </p:spPr>
      </p:sp>
      <p:sp>
        <p:nvSpPr>
          <p:cNvPr id="41" name="Shape 39"/>
          <p:cNvSpPr/>
          <p:nvPr/>
        </p:nvSpPr>
        <p:spPr>
          <a:xfrm>
            <a:off x="7964424" y="2999232"/>
            <a:ext cx="237744" cy="237744"/>
          </a:xfrm>
          <a:prstGeom prst="ellipse">
            <a:avLst/>
          </a:prstGeom>
          <a:ln w="19050">
            <a:solidFill>
              <a:srgbClr val="2E7D32"/>
            </a:solidFill>
            <a:prstDash val="solid"/>
          </a:ln>
        </p:spPr>
      </p:sp>
      <p:sp>
        <p:nvSpPr>
          <p:cNvPr id="42" name="Shape 40"/>
          <p:cNvSpPr/>
          <p:nvPr/>
        </p:nvSpPr>
        <p:spPr>
          <a:xfrm>
            <a:off x="7964424" y="2999232"/>
            <a:ext cx="237744" cy="237744"/>
          </a:xfrm>
          <a:prstGeom prst="pie">
            <a:avLst>
              <a:gd name="adj1" fmla="val 16200000"/>
              <a:gd name="adj2" fmla="val 5400000"/>
            </a:avLst>
          </a:prstGeom>
          <a:solidFill>
            <a:srgbClr val="2E7D32"/>
          </a:solidFill>
          <a:ln/>
        </p:spPr>
      </p:sp>
      <p:sp>
        <p:nvSpPr>
          <p:cNvPr id="43" name="Text 41"/>
          <p:cNvSpPr txBox="1"/>
          <p:nvPr/>
        </p:nvSpPr>
        <p:spPr>
          <a:xfrm>
            <a:off x="594360" y="3346704"/>
            <a:ext cx="3383280" cy="347472"/>
          </a:xfrm>
          <a:prstGeom prst="rect">
            <a:avLst/>
          </a:prstGeom>
          <a:noFill/>
          <a:ln/>
        </p:spPr>
        <p:txBody>
          <a:bodyPr wrap="square" lIns="0" tIns="0" rIns="0" bIns="0" rtlCol="0" anchor="ctr"/>
          <a:lstStyle/>
          <a:p>
            <a:pPr algn="l" indent="0" marL="0">
              <a:buNone/>
            </a:pPr>
            <a:r>
              <a:rPr lang="en-US" sz="1250" dirty="0">
                <a:solidFill>
                  <a:srgbClr val="1F2430"/>
                </a:solidFill>
              </a:rPr>
              <a:t>Why breakfast fails when lunch works</a:t>
            </a:r>
            <a:endParaRPr lang="en-US" sz="1250" dirty="0"/>
          </a:p>
        </p:txBody>
      </p:sp>
      <p:sp>
        <p:nvSpPr>
          <p:cNvPr id="44" name="Shape 42"/>
          <p:cNvSpPr/>
          <p:nvPr/>
        </p:nvSpPr>
        <p:spPr>
          <a:xfrm>
            <a:off x="4453128" y="3401568"/>
            <a:ext cx="237744" cy="237744"/>
          </a:xfrm>
          <a:prstGeom prst="ellipse">
            <a:avLst/>
          </a:prstGeom>
          <a:solidFill>
            <a:srgbClr val="2E7D32"/>
          </a:solidFill>
          <a:ln/>
        </p:spPr>
      </p:sp>
      <p:sp>
        <p:nvSpPr>
          <p:cNvPr id="45" name="Shape 43"/>
          <p:cNvSpPr/>
          <p:nvPr/>
        </p:nvSpPr>
        <p:spPr>
          <a:xfrm>
            <a:off x="5623560" y="3401568"/>
            <a:ext cx="237744" cy="237744"/>
          </a:xfrm>
          <a:prstGeom prst="ellipse">
            <a:avLst/>
          </a:prstGeom>
          <a:ln w="19050">
            <a:solidFill>
              <a:srgbClr val="2E7D32"/>
            </a:solidFill>
            <a:prstDash val="solid"/>
          </a:ln>
        </p:spPr>
      </p:sp>
      <p:sp>
        <p:nvSpPr>
          <p:cNvPr id="46" name="Shape 44"/>
          <p:cNvSpPr/>
          <p:nvPr/>
        </p:nvSpPr>
        <p:spPr>
          <a:xfrm>
            <a:off x="6793992" y="3401568"/>
            <a:ext cx="237744" cy="237744"/>
          </a:xfrm>
          <a:prstGeom prst="ellipse">
            <a:avLst/>
          </a:prstGeom>
          <a:ln w="19050">
            <a:solidFill>
              <a:srgbClr val="2E7D32"/>
            </a:solidFill>
            <a:prstDash val="solid"/>
          </a:ln>
        </p:spPr>
      </p:sp>
      <p:sp>
        <p:nvSpPr>
          <p:cNvPr id="47" name="Shape 45"/>
          <p:cNvSpPr/>
          <p:nvPr/>
        </p:nvSpPr>
        <p:spPr>
          <a:xfrm>
            <a:off x="6793992" y="3401568"/>
            <a:ext cx="237744" cy="237744"/>
          </a:xfrm>
          <a:prstGeom prst="pie">
            <a:avLst>
              <a:gd name="adj1" fmla="val 16200000"/>
              <a:gd name="adj2" fmla="val 5400000"/>
            </a:avLst>
          </a:prstGeom>
          <a:solidFill>
            <a:srgbClr val="2E7D32"/>
          </a:solidFill>
          <a:ln/>
        </p:spPr>
      </p:sp>
      <p:sp>
        <p:nvSpPr>
          <p:cNvPr id="48" name="Shape 46"/>
          <p:cNvSpPr/>
          <p:nvPr/>
        </p:nvSpPr>
        <p:spPr>
          <a:xfrm>
            <a:off x="7964424" y="3401568"/>
            <a:ext cx="237744" cy="237744"/>
          </a:xfrm>
          <a:prstGeom prst="ellipse">
            <a:avLst/>
          </a:prstGeom>
          <a:solidFill>
            <a:srgbClr val="2E7D32"/>
          </a:solidFill>
          <a:ln/>
        </p:spPr>
      </p:sp>
      <p:sp>
        <p:nvSpPr>
          <p:cNvPr id="49" name="Text 47"/>
          <p:cNvSpPr txBox="1"/>
          <p:nvPr/>
        </p:nvSpPr>
        <p:spPr>
          <a:xfrm>
            <a:off x="594360" y="3749040"/>
            <a:ext cx="3383280" cy="347472"/>
          </a:xfrm>
          <a:prstGeom prst="rect">
            <a:avLst/>
          </a:prstGeom>
          <a:noFill/>
          <a:ln/>
        </p:spPr>
        <p:txBody>
          <a:bodyPr wrap="square" lIns="0" tIns="0" rIns="0" bIns="0" rtlCol="0" anchor="ctr"/>
          <a:lstStyle/>
          <a:p>
            <a:pPr algn="l" indent="0" marL="0">
              <a:buNone/>
            </a:pPr>
            <a:r>
              <a:rPr lang="en-US" sz="1250" dirty="0">
                <a:solidFill>
                  <a:srgbClr val="1F2430"/>
                </a:solidFill>
              </a:rPr>
              <a:t>Who should own the gap</a:t>
            </a:r>
            <a:endParaRPr lang="en-US" sz="1250" dirty="0"/>
          </a:p>
        </p:txBody>
      </p:sp>
      <p:sp>
        <p:nvSpPr>
          <p:cNvPr id="50" name="Shape 48"/>
          <p:cNvSpPr/>
          <p:nvPr/>
        </p:nvSpPr>
        <p:spPr>
          <a:xfrm>
            <a:off x="4453128" y="3803904"/>
            <a:ext cx="237744" cy="237744"/>
          </a:xfrm>
          <a:prstGeom prst="ellipse">
            <a:avLst/>
          </a:prstGeom>
          <a:ln w="19050">
            <a:solidFill>
              <a:srgbClr val="2E7D32"/>
            </a:solidFill>
            <a:prstDash val="solid"/>
          </a:ln>
        </p:spPr>
      </p:sp>
      <p:sp>
        <p:nvSpPr>
          <p:cNvPr id="51" name="Shape 49"/>
          <p:cNvSpPr/>
          <p:nvPr/>
        </p:nvSpPr>
        <p:spPr>
          <a:xfrm>
            <a:off x="5623560" y="3803904"/>
            <a:ext cx="237744" cy="237744"/>
          </a:xfrm>
          <a:prstGeom prst="ellipse">
            <a:avLst/>
          </a:prstGeom>
          <a:ln w="19050">
            <a:solidFill>
              <a:srgbClr val="2E7D32"/>
            </a:solidFill>
            <a:prstDash val="solid"/>
          </a:ln>
        </p:spPr>
      </p:sp>
      <p:sp>
        <p:nvSpPr>
          <p:cNvPr id="52" name="Shape 50"/>
          <p:cNvSpPr/>
          <p:nvPr/>
        </p:nvSpPr>
        <p:spPr>
          <a:xfrm>
            <a:off x="5623560" y="3803904"/>
            <a:ext cx="237744" cy="237744"/>
          </a:xfrm>
          <a:prstGeom prst="pie">
            <a:avLst>
              <a:gd name="adj1" fmla="val 16200000"/>
              <a:gd name="adj2" fmla="val 5400000"/>
            </a:avLst>
          </a:prstGeom>
          <a:solidFill>
            <a:srgbClr val="2E7D32"/>
          </a:solidFill>
          <a:ln/>
        </p:spPr>
      </p:sp>
      <p:sp>
        <p:nvSpPr>
          <p:cNvPr id="53" name="Shape 51"/>
          <p:cNvSpPr/>
          <p:nvPr/>
        </p:nvSpPr>
        <p:spPr>
          <a:xfrm>
            <a:off x="6793992" y="3803904"/>
            <a:ext cx="237744" cy="237744"/>
          </a:xfrm>
          <a:prstGeom prst="ellipse">
            <a:avLst/>
          </a:prstGeom>
          <a:ln w="19050">
            <a:solidFill>
              <a:srgbClr val="2E7D32"/>
            </a:solidFill>
            <a:prstDash val="solid"/>
          </a:ln>
        </p:spPr>
      </p:sp>
      <p:sp>
        <p:nvSpPr>
          <p:cNvPr id="54" name="Shape 52"/>
          <p:cNvSpPr/>
          <p:nvPr/>
        </p:nvSpPr>
        <p:spPr>
          <a:xfrm>
            <a:off x="6793992" y="3803904"/>
            <a:ext cx="237744" cy="237744"/>
          </a:xfrm>
          <a:prstGeom prst="pie">
            <a:avLst>
              <a:gd name="adj1" fmla="val 16200000"/>
              <a:gd name="adj2" fmla="val 5400000"/>
            </a:avLst>
          </a:prstGeom>
          <a:solidFill>
            <a:srgbClr val="2E7D32"/>
          </a:solidFill>
          <a:ln/>
        </p:spPr>
      </p:sp>
      <p:sp>
        <p:nvSpPr>
          <p:cNvPr id="55" name="Shape 53"/>
          <p:cNvSpPr/>
          <p:nvPr/>
        </p:nvSpPr>
        <p:spPr>
          <a:xfrm>
            <a:off x="7964424" y="3803904"/>
            <a:ext cx="237744" cy="237744"/>
          </a:xfrm>
          <a:prstGeom prst="ellipse">
            <a:avLst/>
          </a:prstGeom>
          <a:ln w="19050">
            <a:solidFill>
              <a:srgbClr val="2E7D32"/>
            </a:solidFill>
            <a:prstDash val="solid"/>
          </a:ln>
        </p:spPr>
      </p:sp>
      <p:sp>
        <p:nvSpPr>
          <p:cNvPr id="56" name="Shape 54"/>
          <p:cNvSpPr/>
          <p:nvPr/>
        </p:nvSpPr>
        <p:spPr>
          <a:xfrm>
            <a:off x="7964424" y="3803904"/>
            <a:ext cx="237744" cy="237744"/>
          </a:xfrm>
          <a:prstGeom prst="pie">
            <a:avLst>
              <a:gd name="adj1" fmla="val 16200000"/>
              <a:gd name="adj2" fmla="val 5400000"/>
            </a:avLst>
          </a:prstGeom>
          <a:solidFill>
            <a:srgbClr val="2E7D32"/>
          </a:solidFill>
          <a:ln/>
        </p:spPr>
      </p:sp>
      <p:sp>
        <p:nvSpPr>
          <p:cNvPr id="57" name="Shape 55"/>
          <p:cNvSpPr/>
          <p:nvPr/>
        </p:nvSpPr>
        <p:spPr>
          <a:xfrm>
            <a:off x="457200" y="4123944"/>
            <a:ext cx="8229600" cy="402336"/>
          </a:xfrm>
          <a:prstGeom prst="roundRect">
            <a:avLst>
              <a:gd name="adj" fmla="val 13636"/>
            </a:avLst>
          </a:prstGeom>
          <a:solidFill>
            <a:srgbClr val="E8F5E9"/>
          </a:solidFill>
          <a:ln w="12700">
            <a:solidFill>
              <a:srgbClr val="2E7D32"/>
            </a:solidFill>
            <a:prstDash val="solid"/>
          </a:ln>
        </p:spPr>
      </p:sp>
      <p:sp>
        <p:nvSpPr>
          <p:cNvPr id="58" name="Text 56"/>
          <p:cNvSpPr txBox="1"/>
          <p:nvPr/>
        </p:nvSpPr>
        <p:spPr>
          <a:xfrm>
            <a:off x="594360" y="4151376"/>
            <a:ext cx="3383280" cy="347472"/>
          </a:xfrm>
          <a:prstGeom prst="rect">
            <a:avLst/>
          </a:prstGeom>
          <a:noFill/>
          <a:ln/>
        </p:spPr>
        <p:txBody>
          <a:bodyPr wrap="square" lIns="0" tIns="0" rIns="0" bIns="0" rtlCol="0" anchor="ctr"/>
          <a:lstStyle/>
          <a:p>
            <a:pPr algn="l" indent="0" marL="0">
              <a:buNone/>
            </a:pPr>
            <a:r>
              <a:rPr lang="en-US" sz="1250" b="1" dirty="0">
                <a:solidFill>
                  <a:srgbClr val="1F2430"/>
                </a:solidFill>
              </a:rPr>
              <a:t>The reframing: a stable equilibrium</a:t>
            </a:r>
            <a:endParaRPr lang="en-US" sz="1250" dirty="0"/>
          </a:p>
        </p:txBody>
      </p:sp>
      <p:sp>
        <p:nvSpPr>
          <p:cNvPr id="59" name="Shape 57"/>
          <p:cNvSpPr/>
          <p:nvPr/>
        </p:nvSpPr>
        <p:spPr>
          <a:xfrm>
            <a:off x="4453128" y="4206240"/>
            <a:ext cx="237744" cy="237744"/>
          </a:xfrm>
          <a:prstGeom prst="ellipse">
            <a:avLst/>
          </a:prstGeom>
          <a:solidFill>
            <a:srgbClr val="2E7D32"/>
          </a:solidFill>
          <a:ln/>
        </p:spPr>
      </p:sp>
      <p:sp>
        <p:nvSpPr>
          <p:cNvPr id="60" name="Shape 58"/>
          <p:cNvSpPr/>
          <p:nvPr/>
        </p:nvSpPr>
        <p:spPr>
          <a:xfrm>
            <a:off x="5623560" y="4206240"/>
            <a:ext cx="237744" cy="237744"/>
          </a:xfrm>
          <a:prstGeom prst="ellipse">
            <a:avLst/>
          </a:prstGeom>
          <a:solidFill>
            <a:srgbClr val="2E7D32"/>
          </a:solidFill>
          <a:ln/>
        </p:spPr>
      </p:sp>
      <p:sp>
        <p:nvSpPr>
          <p:cNvPr id="61" name="Shape 59"/>
          <p:cNvSpPr/>
          <p:nvPr/>
        </p:nvSpPr>
        <p:spPr>
          <a:xfrm>
            <a:off x="6793992" y="4206240"/>
            <a:ext cx="237744" cy="237744"/>
          </a:xfrm>
          <a:prstGeom prst="ellipse">
            <a:avLst/>
          </a:prstGeom>
          <a:solidFill>
            <a:srgbClr val="2E7D32"/>
          </a:solidFill>
          <a:ln/>
        </p:spPr>
      </p:sp>
      <p:sp>
        <p:nvSpPr>
          <p:cNvPr id="62" name="Shape 60"/>
          <p:cNvSpPr/>
          <p:nvPr/>
        </p:nvSpPr>
        <p:spPr>
          <a:xfrm>
            <a:off x="7964424" y="4206240"/>
            <a:ext cx="237744" cy="237744"/>
          </a:xfrm>
          <a:prstGeom prst="ellipse">
            <a:avLst/>
          </a:prstGeom>
          <a:solidFill>
            <a:srgbClr val="2E7D32"/>
          </a:solidFill>
          <a:ln/>
        </p:spPr>
      </p:sp>
      <p:sp>
        <p:nvSpPr>
          <p:cNvPr id="63" name="Text 61"/>
          <p:cNvSpPr txBox="1"/>
          <p:nvPr/>
        </p:nvSpPr>
        <p:spPr>
          <a:xfrm>
            <a:off x="457200" y="4572000"/>
            <a:ext cx="5486400" cy="201168"/>
          </a:xfrm>
          <a:prstGeom prst="rect">
            <a:avLst/>
          </a:prstGeom>
          <a:noFill/>
          <a:ln/>
        </p:spPr>
        <p:txBody>
          <a:bodyPr wrap="square" lIns="0" tIns="0" rIns="0" bIns="0" rtlCol="0" anchor="t"/>
          <a:lstStyle/>
          <a:p>
            <a:pPr algn="l" indent="0" marL="0">
              <a:buNone/>
            </a:pPr>
            <a:r>
              <a:rPr lang="en-US" sz="1100" i="1" dirty="0">
                <a:solidFill>
                  <a:srgbClr val="616161"/>
                </a:solidFill>
              </a:rPr>
              <a:t>Full circle passes. Half partly. Empty fails.</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The gap holds steady because each actor acts reasonably and every cost is absorbed</a:t>
            </a:r>
            <a:endParaRPr lang="en-US" sz="2400" dirty="0"/>
          </a:p>
        </p:txBody>
      </p:sp>
      <p:sp>
        <p:nvSpPr>
          <p:cNvPr id="3" name="Shape 1"/>
          <p:cNvSpPr/>
          <p:nvPr/>
        </p:nvSpPr>
        <p:spPr>
          <a:xfrm>
            <a:off x="457200" y="4864608"/>
            <a:ext cx="100584" cy="100584"/>
          </a:xfrm>
          <a:prstGeom prst="ellipse">
            <a:avLst/>
          </a:prstGeom>
          <a:solidFill>
            <a:srgbClr val="FFFFFF"/>
          </a:solidFill>
          <a:ln/>
        </p:spPr>
      </p:sp>
      <p:sp>
        <p:nvSpPr>
          <p:cNvPr id="4" name="Shape 2"/>
          <p:cNvSpPr/>
          <p:nvPr/>
        </p:nvSpPr>
        <p:spPr>
          <a:xfrm>
            <a:off x="640080" y="4864608"/>
            <a:ext cx="100584" cy="100584"/>
          </a:xfrm>
          <a:prstGeom prst="ellipse">
            <a:avLst/>
          </a:prstGeom>
          <a:solidFill>
            <a:srgbClr val="FFFFFF"/>
          </a:solidFill>
          <a:ln/>
        </p:spPr>
      </p:sp>
      <p:sp>
        <p:nvSpPr>
          <p:cNvPr id="5" name="Shape 3"/>
          <p:cNvSpPr/>
          <p:nvPr/>
        </p:nvSpPr>
        <p:spPr>
          <a:xfrm>
            <a:off x="822960" y="4864608"/>
            <a:ext cx="100584" cy="100584"/>
          </a:xfrm>
          <a:prstGeom prst="ellipse">
            <a:avLst/>
          </a:prstGeom>
          <a:solidFill>
            <a:srgbClr val="FFFFFF"/>
          </a:solidFill>
          <a:ln/>
        </p:spPr>
      </p:sp>
      <p:sp>
        <p:nvSpPr>
          <p:cNvPr id="6" name="Shape 4"/>
          <p:cNvSpPr/>
          <p:nvPr/>
        </p:nvSpPr>
        <p:spPr>
          <a:xfrm>
            <a:off x="982980" y="4841748"/>
            <a:ext cx="146304" cy="146304"/>
          </a:xfrm>
          <a:prstGeom prst="ellipse">
            <a:avLst/>
          </a:prstGeom>
          <a:solidFill>
            <a:srgbClr val="FFFFFF"/>
          </a:solidFill>
          <a:ln/>
        </p:spPr>
      </p:sp>
      <p:sp>
        <p:nvSpPr>
          <p:cNvPr id="7" name="Shape 5"/>
          <p:cNvSpPr/>
          <p:nvPr/>
        </p:nvSpPr>
        <p:spPr>
          <a:xfrm>
            <a:off x="946404" y="4805172"/>
            <a:ext cx="219456" cy="219456"/>
          </a:xfrm>
          <a:prstGeom prst="ellipse">
            <a:avLst/>
          </a:prstGeom>
          <a:ln w="9525">
            <a:solidFill>
              <a:srgbClr val="FFFFFF"/>
            </a:solidFill>
            <a:prstDash val="solid"/>
          </a:ln>
        </p:spPr>
      </p:sp>
      <p:sp>
        <p:nvSpPr>
          <p:cNvPr id="8" name="Shape 6"/>
          <p:cNvSpPr/>
          <p:nvPr/>
        </p:nvSpPr>
        <p:spPr>
          <a:xfrm>
            <a:off x="1188720" y="4864608"/>
            <a:ext cx="100584" cy="100584"/>
          </a:xfrm>
          <a:prstGeom prst="ellipse">
            <a:avLst/>
          </a:prstGeom>
          <a:ln w="9525">
            <a:solidFill>
              <a:srgbClr val="6B74A8"/>
            </a:solidFill>
            <a:prstDash val="solid"/>
          </a:ln>
        </p:spPr>
      </p:sp>
      <p:sp>
        <p:nvSpPr>
          <p:cNvPr id="9" name="Shape 7"/>
          <p:cNvSpPr/>
          <p:nvPr/>
        </p:nvSpPr>
        <p:spPr>
          <a:xfrm>
            <a:off x="1371600" y="4864608"/>
            <a:ext cx="100584" cy="100584"/>
          </a:xfrm>
          <a:prstGeom prst="ellipse">
            <a:avLst/>
          </a:prstGeom>
          <a:ln w="9525">
            <a:solidFill>
              <a:srgbClr val="6B74A8"/>
            </a:solidFill>
            <a:prstDash val="solid"/>
          </a:ln>
        </p:spPr>
      </p:sp>
      <p:sp>
        <p:nvSpPr>
          <p:cNvPr id="10" name="Shape 8"/>
          <p:cNvSpPr/>
          <p:nvPr/>
        </p:nvSpPr>
        <p:spPr>
          <a:xfrm>
            <a:off x="1554480" y="4864608"/>
            <a:ext cx="100584" cy="100584"/>
          </a:xfrm>
          <a:prstGeom prst="ellipse">
            <a:avLst/>
          </a:prstGeom>
          <a:ln w="9525">
            <a:solidFill>
              <a:srgbClr val="6B74A8"/>
            </a:solidFill>
            <a:prstDash val="solid"/>
          </a:ln>
        </p:spPr>
      </p:sp>
      <p:sp>
        <p:nvSpPr>
          <p:cNvPr id="11" name="Shape 9"/>
          <p:cNvSpPr/>
          <p:nvPr/>
        </p:nvSpPr>
        <p:spPr>
          <a:xfrm>
            <a:off x="1737360" y="4864608"/>
            <a:ext cx="100584" cy="100584"/>
          </a:xfrm>
          <a:prstGeom prst="ellipse">
            <a:avLst/>
          </a:prstGeom>
          <a:ln w="9525">
            <a:solidFill>
              <a:srgbClr val="6B74A8"/>
            </a:solidFill>
            <a:prstDash val="solid"/>
          </a:ln>
        </p:spPr>
      </p:sp>
      <p:sp>
        <p:nvSpPr>
          <p:cNvPr id="12" name="Shape 10"/>
          <p:cNvSpPr/>
          <p:nvPr/>
        </p:nvSpPr>
        <p:spPr>
          <a:xfrm>
            <a:off x="1920240" y="4864608"/>
            <a:ext cx="100584" cy="100584"/>
          </a:xfrm>
          <a:prstGeom prst="ellipse">
            <a:avLst/>
          </a:prstGeom>
          <a:ln w="9525">
            <a:solidFill>
              <a:srgbClr val="6B74A8"/>
            </a:solidFill>
            <a:prstDash val="solid"/>
          </a:ln>
        </p:spPr>
      </p:sp>
      <p:sp>
        <p:nvSpPr>
          <p:cNvPr id="13" name="Shape 11"/>
          <p:cNvSpPr/>
          <p:nvPr/>
        </p:nvSpPr>
        <p:spPr>
          <a:xfrm>
            <a:off x="2103120" y="4864608"/>
            <a:ext cx="100584" cy="100584"/>
          </a:xfrm>
          <a:prstGeom prst="ellipse">
            <a:avLst/>
          </a:prstGeom>
          <a:ln w="9525">
            <a:solidFill>
              <a:srgbClr val="6B74A8"/>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B8BFE6"/>
                </a:solidFill>
              </a:rPr>
              <a:t>4 Modelling the system</a:t>
            </a:r>
            <a:endParaRPr lang="en-US" sz="1000" dirty="0"/>
          </a:p>
        </p:txBody>
      </p:sp>
      <p:sp>
        <p:nvSpPr>
          <p:cNvPr id="15" name="Shape 13"/>
          <p:cNvSpPr/>
          <p:nvPr/>
        </p:nvSpPr>
        <p:spPr>
          <a:xfrm>
            <a:off x="3566160" y="1261872"/>
            <a:ext cx="2011680" cy="502920"/>
          </a:xfrm>
          <a:prstGeom prst="roundRect">
            <a:avLst>
              <a:gd name="adj" fmla="val 14545"/>
            </a:avLst>
          </a:prstGeom>
          <a:solidFill>
            <a:srgbClr val="F3E5F5"/>
          </a:solidFill>
          <a:ln w="12700">
            <a:solidFill>
              <a:srgbClr val="6A1B9A"/>
            </a:solidFill>
            <a:prstDash val="solid"/>
          </a:ln>
        </p:spPr>
      </p:sp>
      <p:sp>
        <p:nvSpPr>
          <p:cNvPr id="16" name="Text 14"/>
          <p:cNvSpPr txBox="1"/>
          <p:nvPr/>
        </p:nvSpPr>
        <p:spPr>
          <a:xfrm>
            <a:off x="3566160" y="1261872"/>
            <a:ext cx="2011680" cy="502920"/>
          </a:xfrm>
          <a:prstGeom prst="rect">
            <a:avLst/>
          </a:prstGeom>
          <a:noFill/>
          <a:ln/>
        </p:spPr>
        <p:txBody>
          <a:bodyPr wrap="square" lIns="0" tIns="0" rIns="0" bIns="0" rtlCol="0" anchor="ctr"/>
          <a:lstStyle/>
          <a:p>
            <a:pPr algn="ctr" indent="0" marL="0">
              <a:buNone/>
            </a:pPr>
            <a:r>
              <a:rPr lang="en-US" sz="1300" b="1" dirty="0">
                <a:solidFill>
                  <a:srgbClr val="1F2430"/>
                </a:solidFill>
              </a:rPr>
              <a:t>Rule setters</a:t>
            </a:r>
            <a:endParaRPr lang="en-US" sz="1300" dirty="0"/>
          </a:p>
        </p:txBody>
      </p:sp>
      <p:sp>
        <p:nvSpPr>
          <p:cNvPr id="17" name="Shape 15"/>
          <p:cNvSpPr/>
          <p:nvPr/>
        </p:nvSpPr>
        <p:spPr>
          <a:xfrm flipV="1">
            <a:off x="4572000" y="1783080"/>
            <a:ext cx="0" cy="365760"/>
          </a:xfrm>
          <a:prstGeom prst="line">
            <a:avLst/>
          </a:prstGeom>
          <a:noFill/>
          <a:ln w="19050">
            <a:solidFill>
              <a:srgbClr val="FF8A80"/>
            </a:solidFill>
            <a:prstDash val="dash"/>
            <a:tailEnd type="triangle"/>
          </a:ln>
        </p:spPr>
      </p:sp>
      <p:sp>
        <p:nvSpPr>
          <p:cNvPr id="18" name="Text 16"/>
          <p:cNvSpPr txBox="1"/>
          <p:nvPr/>
        </p:nvSpPr>
        <p:spPr>
          <a:xfrm>
            <a:off x="2743200" y="1828800"/>
            <a:ext cx="1737360" cy="274320"/>
          </a:xfrm>
          <a:prstGeom prst="rect">
            <a:avLst/>
          </a:prstGeom>
          <a:noFill/>
          <a:ln/>
        </p:spPr>
        <p:txBody>
          <a:bodyPr wrap="square" lIns="0" tIns="0" rIns="0" bIns="0" rtlCol="0" anchor="t"/>
          <a:lstStyle/>
          <a:p>
            <a:pPr algn="r" indent="0" marL="0">
              <a:buNone/>
            </a:pPr>
            <a:r>
              <a:rPr lang="en-US" sz="1050" dirty="0">
                <a:solidFill>
                  <a:srgbClr val="FF8A80"/>
                </a:solidFill>
              </a:rPr>
              <a:t>only loud complaints arrive</a:t>
            </a:r>
            <a:endParaRPr lang="en-US" sz="1050" dirty="0"/>
          </a:p>
        </p:txBody>
      </p:sp>
      <p:sp>
        <p:nvSpPr>
          <p:cNvPr id="19" name="Shape 17"/>
          <p:cNvSpPr/>
          <p:nvPr/>
        </p:nvSpPr>
        <p:spPr>
          <a:xfrm>
            <a:off x="457200" y="1600200"/>
            <a:ext cx="2194560" cy="566928"/>
          </a:xfrm>
          <a:prstGeom prst="roundRect">
            <a:avLst>
              <a:gd name="adj" fmla="val 12903"/>
            </a:avLst>
          </a:prstGeom>
          <a:solidFill>
            <a:srgbClr val="FDECEA"/>
          </a:solidFill>
          <a:ln w="12700">
            <a:solidFill>
              <a:srgbClr val="C62828"/>
            </a:solidFill>
            <a:prstDash val="solid"/>
          </a:ln>
        </p:spPr>
      </p:sp>
      <p:sp>
        <p:nvSpPr>
          <p:cNvPr id="20" name="Text 18"/>
          <p:cNvSpPr txBox="1"/>
          <p:nvPr/>
        </p:nvSpPr>
        <p:spPr>
          <a:xfrm>
            <a:off x="548640" y="1600200"/>
            <a:ext cx="2011680" cy="566928"/>
          </a:xfrm>
          <a:prstGeom prst="rect">
            <a:avLst/>
          </a:prstGeom>
          <a:noFill/>
          <a:ln/>
        </p:spPr>
        <p:txBody>
          <a:bodyPr wrap="square" lIns="0" tIns="0" rIns="0" bIns="0" rtlCol="0" anchor="ctr"/>
          <a:lstStyle/>
          <a:p>
            <a:pPr algn="l" indent="0" marL="0">
              <a:buNone/>
            </a:pPr>
            <a:r>
              <a:rPr lang="en-US" sz="1200" b="1" dirty="0">
                <a:solidFill>
                  <a:srgbClr val="1F2430"/>
                </a:solidFill>
              </a:rPr>
              <a:t>Default booking, narrow exit</a:t>
            </a:r>
            <a:endParaRPr lang="en-US" sz="1200" dirty="0"/>
          </a:p>
        </p:txBody>
      </p:sp>
      <p:sp>
        <p:nvSpPr>
          <p:cNvPr id="21" name="Shape 19"/>
          <p:cNvSpPr/>
          <p:nvPr/>
        </p:nvSpPr>
        <p:spPr>
          <a:xfrm>
            <a:off x="2651760" y="1883664"/>
            <a:ext cx="1371600" cy="813816"/>
          </a:xfrm>
          <a:prstGeom prst="line">
            <a:avLst/>
          </a:prstGeom>
          <a:noFill/>
          <a:ln w="19050">
            <a:solidFill>
              <a:srgbClr val="B8BFE6"/>
            </a:solidFill>
            <a:prstDash val="solid"/>
            <a:tailEnd type="triangle"/>
          </a:ln>
        </p:spPr>
      </p:sp>
      <p:sp>
        <p:nvSpPr>
          <p:cNvPr id="22" name="Shape 20"/>
          <p:cNvSpPr/>
          <p:nvPr/>
        </p:nvSpPr>
        <p:spPr>
          <a:xfrm>
            <a:off x="457200" y="2286000"/>
            <a:ext cx="2194560" cy="566928"/>
          </a:xfrm>
          <a:prstGeom prst="roundRect">
            <a:avLst>
              <a:gd name="adj" fmla="val 12903"/>
            </a:avLst>
          </a:prstGeom>
          <a:solidFill>
            <a:srgbClr val="FDECEA"/>
          </a:solidFill>
          <a:ln w="12700">
            <a:solidFill>
              <a:srgbClr val="C62828"/>
            </a:solidFill>
            <a:prstDash val="solid"/>
          </a:ln>
        </p:spPr>
      </p:sp>
      <p:sp>
        <p:nvSpPr>
          <p:cNvPr id="23" name="Text 21"/>
          <p:cNvSpPr txBox="1"/>
          <p:nvPr/>
        </p:nvSpPr>
        <p:spPr>
          <a:xfrm>
            <a:off x="548640" y="2286000"/>
            <a:ext cx="2011680" cy="566928"/>
          </a:xfrm>
          <a:prstGeom prst="rect">
            <a:avLst/>
          </a:prstGeom>
          <a:noFill/>
          <a:ln/>
        </p:spPr>
        <p:txBody>
          <a:bodyPr wrap="square" lIns="0" tIns="0" rIns="0" bIns="0" rtlCol="0" anchor="ctr"/>
          <a:lstStyle/>
          <a:p>
            <a:pPr algn="l" indent="0" marL="0">
              <a:buNone/>
            </a:pPr>
            <a:r>
              <a:rPr lang="en-US" sz="1200" b="1" dirty="0">
                <a:solidFill>
                  <a:srgbClr val="1F2430"/>
                </a:solidFill>
              </a:rPr>
              <a:t>Billing at the booking</a:t>
            </a:r>
            <a:endParaRPr lang="en-US" sz="1200" dirty="0"/>
          </a:p>
        </p:txBody>
      </p:sp>
      <p:sp>
        <p:nvSpPr>
          <p:cNvPr id="24" name="Shape 22"/>
          <p:cNvSpPr/>
          <p:nvPr/>
        </p:nvSpPr>
        <p:spPr>
          <a:xfrm>
            <a:off x="2651760" y="2569464"/>
            <a:ext cx="1371600" cy="128016"/>
          </a:xfrm>
          <a:prstGeom prst="line">
            <a:avLst/>
          </a:prstGeom>
          <a:noFill/>
          <a:ln w="19050">
            <a:solidFill>
              <a:srgbClr val="B8BFE6"/>
            </a:solidFill>
            <a:prstDash val="solid"/>
            <a:tailEnd type="triangle"/>
          </a:ln>
        </p:spPr>
      </p:sp>
      <p:sp>
        <p:nvSpPr>
          <p:cNvPr id="25" name="Shape 23"/>
          <p:cNvSpPr/>
          <p:nvPr/>
        </p:nvSpPr>
        <p:spPr>
          <a:xfrm>
            <a:off x="457200" y="2971800"/>
            <a:ext cx="2194560" cy="566928"/>
          </a:xfrm>
          <a:prstGeom prst="roundRect">
            <a:avLst>
              <a:gd name="adj" fmla="val 12903"/>
            </a:avLst>
          </a:prstGeom>
          <a:solidFill>
            <a:srgbClr val="FDECEA"/>
          </a:solidFill>
          <a:ln w="12700">
            <a:solidFill>
              <a:srgbClr val="C62828"/>
            </a:solidFill>
            <a:prstDash val="solid"/>
          </a:ln>
        </p:spPr>
      </p:sp>
      <p:sp>
        <p:nvSpPr>
          <p:cNvPr id="26" name="Text 24"/>
          <p:cNvSpPr txBox="1"/>
          <p:nvPr/>
        </p:nvSpPr>
        <p:spPr>
          <a:xfrm>
            <a:off x="548640" y="2971800"/>
            <a:ext cx="2011680" cy="566928"/>
          </a:xfrm>
          <a:prstGeom prst="rect">
            <a:avLst/>
          </a:prstGeom>
          <a:noFill/>
          <a:ln/>
        </p:spPr>
        <p:txBody>
          <a:bodyPr wrap="square" lIns="0" tIns="0" rIns="0" bIns="0" rtlCol="0" anchor="ctr"/>
          <a:lstStyle/>
          <a:p>
            <a:pPr algn="l" indent="0" marL="0">
              <a:buNone/>
            </a:pPr>
            <a:r>
              <a:rPr lang="en-US" sz="1200" b="1" dirty="0">
                <a:solidFill>
                  <a:srgbClr val="1F2430"/>
                </a:solidFill>
              </a:rPr>
              <a:t>Gap measured, not routed</a:t>
            </a:r>
            <a:endParaRPr lang="en-US" sz="1200" dirty="0"/>
          </a:p>
        </p:txBody>
      </p:sp>
      <p:sp>
        <p:nvSpPr>
          <p:cNvPr id="27" name="Shape 25"/>
          <p:cNvSpPr/>
          <p:nvPr/>
        </p:nvSpPr>
        <p:spPr>
          <a:xfrm flipV="1">
            <a:off x="2651760" y="2697480"/>
            <a:ext cx="1371600" cy="557784"/>
          </a:xfrm>
          <a:prstGeom prst="line">
            <a:avLst/>
          </a:prstGeom>
          <a:noFill/>
          <a:ln w="19050">
            <a:solidFill>
              <a:srgbClr val="B8BFE6"/>
            </a:solidFill>
            <a:prstDash val="solid"/>
            <a:tailEnd type="triangle"/>
          </a:ln>
        </p:spPr>
      </p:sp>
      <p:sp>
        <p:nvSpPr>
          <p:cNvPr id="28" name="Shape 26"/>
          <p:cNvSpPr/>
          <p:nvPr/>
        </p:nvSpPr>
        <p:spPr>
          <a:xfrm>
            <a:off x="4023360" y="2148840"/>
            <a:ext cx="1097280" cy="1097280"/>
          </a:xfrm>
          <a:prstGeom prst="ellipse">
            <a:avLst/>
          </a:prstGeom>
          <a:solidFill>
            <a:srgbClr val="1A237E"/>
          </a:solidFill>
          <a:ln w="25400">
            <a:solidFill>
              <a:srgbClr val="B8BFE6"/>
            </a:solidFill>
            <a:prstDash val="solid"/>
          </a:ln>
        </p:spPr>
      </p:sp>
      <p:sp>
        <p:nvSpPr>
          <p:cNvPr id="29" name="Text 27"/>
          <p:cNvSpPr txBox="1"/>
          <p:nvPr/>
        </p:nvSpPr>
        <p:spPr>
          <a:xfrm>
            <a:off x="4023360" y="2286000"/>
            <a:ext cx="1097280" cy="822960"/>
          </a:xfrm>
          <a:prstGeom prst="rect">
            <a:avLst/>
          </a:prstGeom>
          <a:noFill/>
          <a:ln/>
        </p:spPr>
        <p:txBody>
          <a:bodyPr wrap="square" lIns="0" tIns="0" rIns="0" bIns="0" rtlCol="0" anchor="ctr"/>
          <a:lstStyle/>
          <a:p>
            <a:pPr algn="ctr" indent="0" marL="0">
              <a:buNone/>
            </a:pPr>
            <a:r>
              <a:rPr lang="en-US" sz="1500" b="1" dirty="0">
                <a:solidFill>
                  <a:srgbClr val="FFFFFF"/>
                </a:solidFill>
              </a:rPr>
              <a:t>The gap</a:t>
            </a:r>
            <a:endParaRPr lang="en-US" sz="1500" dirty="0"/>
          </a:p>
        </p:txBody>
      </p:sp>
      <p:sp>
        <p:nvSpPr>
          <p:cNvPr id="30" name="Shape 28"/>
          <p:cNvSpPr/>
          <p:nvPr/>
        </p:nvSpPr>
        <p:spPr>
          <a:xfrm>
            <a:off x="5989320" y="1417320"/>
            <a:ext cx="1298448" cy="420624"/>
          </a:xfrm>
          <a:prstGeom prst="roundRect">
            <a:avLst>
              <a:gd name="adj" fmla="val 13043"/>
            </a:avLst>
          </a:prstGeom>
          <a:solidFill>
            <a:srgbClr val="E8F5E9"/>
          </a:solidFill>
          <a:ln w="12700">
            <a:solidFill>
              <a:srgbClr val="2E7D32"/>
            </a:solidFill>
            <a:prstDash val="solid"/>
          </a:ln>
        </p:spPr>
      </p:sp>
      <p:sp>
        <p:nvSpPr>
          <p:cNvPr id="31" name="Text 29"/>
          <p:cNvSpPr txBox="1"/>
          <p:nvPr/>
        </p:nvSpPr>
        <p:spPr>
          <a:xfrm>
            <a:off x="6053328" y="1417320"/>
            <a:ext cx="1170432" cy="420624"/>
          </a:xfrm>
          <a:prstGeom prst="rect">
            <a:avLst/>
          </a:prstGeom>
          <a:noFill/>
          <a:ln/>
        </p:spPr>
        <p:txBody>
          <a:bodyPr wrap="square" lIns="0" tIns="0" rIns="0" bIns="0" rtlCol="0" anchor="ctr"/>
          <a:lstStyle/>
          <a:p>
            <a:pPr algn="ctr" indent="0" marL="0">
              <a:buNone/>
            </a:pPr>
            <a:r>
              <a:rPr lang="en-US" sz="1000" dirty="0">
                <a:solidFill>
                  <a:srgbClr val="1F2430"/>
                </a:solidFill>
              </a:rPr>
              <a:t>Resale on Mess Cell</a:t>
            </a:r>
            <a:endParaRPr lang="en-US" sz="1000" dirty="0"/>
          </a:p>
        </p:txBody>
      </p:sp>
      <p:sp>
        <p:nvSpPr>
          <p:cNvPr id="32" name="Shape 30"/>
          <p:cNvSpPr/>
          <p:nvPr/>
        </p:nvSpPr>
        <p:spPr>
          <a:xfrm>
            <a:off x="7360920" y="1417320"/>
            <a:ext cx="1298448" cy="420624"/>
          </a:xfrm>
          <a:prstGeom prst="roundRect">
            <a:avLst>
              <a:gd name="adj" fmla="val 13043"/>
            </a:avLst>
          </a:prstGeom>
          <a:solidFill>
            <a:srgbClr val="E8F5E9"/>
          </a:solidFill>
          <a:ln w="12700">
            <a:solidFill>
              <a:srgbClr val="2E7D32"/>
            </a:solidFill>
            <a:prstDash val="solid"/>
          </a:ln>
        </p:spPr>
      </p:sp>
      <p:sp>
        <p:nvSpPr>
          <p:cNvPr id="33" name="Text 31"/>
          <p:cNvSpPr txBox="1"/>
          <p:nvPr/>
        </p:nvSpPr>
        <p:spPr>
          <a:xfrm>
            <a:off x="7424928" y="1417320"/>
            <a:ext cx="1170432" cy="420624"/>
          </a:xfrm>
          <a:prstGeom prst="rect">
            <a:avLst/>
          </a:prstGeom>
          <a:noFill/>
          <a:ln/>
        </p:spPr>
        <p:txBody>
          <a:bodyPr wrap="square" lIns="0" tIns="0" rIns="0" bIns="0" rtlCol="0" anchor="ctr"/>
          <a:lstStyle/>
          <a:p>
            <a:pPr algn="ctr" indent="0" marL="0">
              <a:buNone/>
            </a:pPr>
            <a:r>
              <a:rPr lang="en-US" sz="1000" dirty="0">
                <a:solidFill>
                  <a:srgbClr val="1F2430"/>
                </a:solidFill>
              </a:rPr>
              <a:t>Operator top-ups</a:t>
            </a:r>
            <a:endParaRPr lang="en-US" sz="1000" dirty="0"/>
          </a:p>
        </p:txBody>
      </p:sp>
      <p:sp>
        <p:nvSpPr>
          <p:cNvPr id="34" name="Shape 32"/>
          <p:cNvSpPr/>
          <p:nvPr/>
        </p:nvSpPr>
        <p:spPr>
          <a:xfrm>
            <a:off x="5989320" y="1920240"/>
            <a:ext cx="1298448" cy="420624"/>
          </a:xfrm>
          <a:prstGeom prst="roundRect">
            <a:avLst>
              <a:gd name="adj" fmla="val 13043"/>
            </a:avLst>
          </a:prstGeom>
          <a:solidFill>
            <a:srgbClr val="E8F5E9"/>
          </a:solidFill>
          <a:ln w="12700">
            <a:solidFill>
              <a:srgbClr val="2E7D32"/>
            </a:solidFill>
            <a:prstDash val="solid"/>
          </a:ln>
        </p:spPr>
      </p:sp>
      <p:sp>
        <p:nvSpPr>
          <p:cNvPr id="35" name="Text 33"/>
          <p:cNvSpPr txBox="1"/>
          <p:nvPr/>
        </p:nvSpPr>
        <p:spPr>
          <a:xfrm>
            <a:off x="6053328" y="1920240"/>
            <a:ext cx="1170432" cy="420624"/>
          </a:xfrm>
          <a:prstGeom prst="rect">
            <a:avLst/>
          </a:prstGeom>
          <a:noFill/>
          <a:ln/>
        </p:spPr>
        <p:txBody>
          <a:bodyPr wrap="square" lIns="0" tIns="0" rIns="0" bIns="0" rtlCol="0" anchor="ctr"/>
          <a:lstStyle/>
          <a:p>
            <a:pPr algn="ctr" indent="0" marL="0">
              <a:buNone/>
            </a:pPr>
            <a:r>
              <a:rPr lang="en-US" sz="1000" dirty="0">
                <a:solidFill>
                  <a:srgbClr val="1F2430"/>
                </a:solidFill>
              </a:rPr>
              <a:t>Reuse</a:t>
            </a:r>
            <a:endParaRPr lang="en-US" sz="1000" dirty="0"/>
          </a:p>
        </p:txBody>
      </p:sp>
      <p:sp>
        <p:nvSpPr>
          <p:cNvPr id="36" name="Shape 34"/>
          <p:cNvSpPr/>
          <p:nvPr/>
        </p:nvSpPr>
        <p:spPr>
          <a:xfrm>
            <a:off x="7360920" y="1920240"/>
            <a:ext cx="1298448" cy="420624"/>
          </a:xfrm>
          <a:prstGeom prst="roundRect">
            <a:avLst>
              <a:gd name="adj" fmla="val 13043"/>
            </a:avLst>
          </a:prstGeom>
          <a:solidFill>
            <a:srgbClr val="E8F5E9"/>
          </a:solidFill>
          <a:ln w="12700">
            <a:solidFill>
              <a:srgbClr val="2E7D32"/>
            </a:solidFill>
            <a:prstDash val="solid"/>
          </a:ln>
        </p:spPr>
      </p:sp>
      <p:sp>
        <p:nvSpPr>
          <p:cNvPr id="37" name="Text 35"/>
          <p:cNvSpPr txBox="1"/>
          <p:nvPr/>
        </p:nvSpPr>
        <p:spPr>
          <a:xfrm>
            <a:off x="7424928" y="1920240"/>
            <a:ext cx="1170432" cy="420624"/>
          </a:xfrm>
          <a:prstGeom prst="rect">
            <a:avLst/>
          </a:prstGeom>
          <a:noFill/>
          <a:ln/>
        </p:spPr>
        <p:txBody>
          <a:bodyPr wrap="square" lIns="0" tIns="0" rIns="0" bIns="0" rtlCol="0" anchor="ctr"/>
          <a:lstStyle/>
          <a:p>
            <a:pPr algn="ctr" indent="0" marL="0">
              <a:buNone/>
            </a:pPr>
            <a:r>
              <a:rPr lang="en-US" sz="1000" dirty="0">
                <a:solidFill>
                  <a:srgbClr val="1F2430"/>
                </a:solidFill>
              </a:rPr>
              <a:t>Outside diners and staff</a:t>
            </a:r>
            <a:endParaRPr lang="en-US" sz="1000" dirty="0"/>
          </a:p>
        </p:txBody>
      </p:sp>
      <p:sp>
        <p:nvSpPr>
          <p:cNvPr id="38" name="Shape 36"/>
          <p:cNvSpPr/>
          <p:nvPr/>
        </p:nvSpPr>
        <p:spPr>
          <a:xfrm>
            <a:off x="5989320" y="2423160"/>
            <a:ext cx="1298448" cy="420624"/>
          </a:xfrm>
          <a:prstGeom prst="roundRect">
            <a:avLst>
              <a:gd name="adj" fmla="val 13043"/>
            </a:avLst>
          </a:prstGeom>
          <a:solidFill>
            <a:srgbClr val="FFF8E1"/>
          </a:solidFill>
          <a:ln w="12700">
            <a:solidFill>
              <a:srgbClr val="F57F17"/>
            </a:solidFill>
            <a:prstDash val="dash"/>
          </a:ln>
        </p:spPr>
      </p:sp>
      <p:sp>
        <p:nvSpPr>
          <p:cNvPr id="39" name="Text 37"/>
          <p:cNvSpPr txBox="1"/>
          <p:nvPr/>
        </p:nvSpPr>
        <p:spPr>
          <a:xfrm>
            <a:off x="6053328" y="2423160"/>
            <a:ext cx="1170432" cy="420624"/>
          </a:xfrm>
          <a:prstGeom prst="rect">
            <a:avLst/>
          </a:prstGeom>
          <a:noFill/>
          <a:ln/>
        </p:spPr>
        <p:txBody>
          <a:bodyPr wrap="square" lIns="0" tIns="0" rIns="0" bIns="0" rtlCol="0" anchor="ctr"/>
          <a:lstStyle/>
          <a:p>
            <a:pPr algn="ctr" indent="0" marL="0">
              <a:buNone/>
            </a:pPr>
            <a:r>
              <a:rPr lang="en-US" sz="1000" dirty="0">
                <a:solidFill>
                  <a:srgbClr val="1F2430"/>
                </a:solidFill>
              </a:rPr>
              <a:t>Held and reheated food</a:t>
            </a:r>
            <a:endParaRPr lang="en-US" sz="1000" dirty="0"/>
          </a:p>
        </p:txBody>
      </p:sp>
      <p:sp>
        <p:nvSpPr>
          <p:cNvPr id="40" name="Shape 38"/>
          <p:cNvSpPr/>
          <p:nvPr/>
        </p:nvSpPr>
        <p:spPr>
          <a:xfrm>
            <a:off x="7360920" y="2423160"/>
            <a:ext cx="1298448" cy="420624"/>
          </a:xfrm>
          <a:prstGeom prst="roundRect">
            <a:avLst>
              <a:gd name="adj" fmla="val 13043"/>
            </a:avLst>
          </a:prstGeom>
          <a:solidFill>
            <a:srgbClr val="E8F5E9"/>
          </a:solidFill>
          <a:ln w="12700">
            <a:solidFill>
              <a:srgbClr val="2E7D32"/>
            </a:solidFill>
            <a:prstDash val="solid"/>
          </a:ln>
        </p:spPr>
      </p:sp>
      <p:sp>
        <p:nvSpPr>
          <p:cNvPr id="41" name="Text 39"/>
          <p:cNvSpPr txBox="1"/>
          <p:nvPr/>
        </p:nvSpPr>
        <p:spPr>
          <a:xfrm>
            <a:off x="7424928" y="2423160"/>
            <a:ext cx="1170432" cy="420624"/>
          </a:xfrm>
          <a:prstGeom prst="rect">
            <a:avLst/>
          </a:prstGeom>
          <a:noFill/>
          <a:ln/>
        </p:spPr>
        <p:txBody>
          <a:bodyPr wrap="square" lIns="0" tIns="0" rIns="0" bIns="0" rtlCol="0" anchor="ctr"/>
          <a:lstStyle/>
          <a:p>
            <a:pPr algn="ctr" indent="0" marL="0">
              <a:buNone/>
            </a:pPr>
            <a:r>
              <a:rPr lang="en-US" sz="1000" dirty="0">
                <a:solidFill>
                  <a:srgbClr val="1F2430"/>
                </a:solidFill>
              </a:rPr>
              <a:t>Late-door service</a:t>
            </a:r>
            <a:endParaRPr lang="en-US" sz="1000" dirty="0"/>
          </a:p>
        </p:txBody>
      </p:sp>
      <p:sp>
        <p:nvSpPr>
          <p:cNvPr id="42" name="Shape 40"/>
          <p:cNvSpPr/>
          <p:nvPr/>
        </p:nvSpPr>
        <p:spPr>
          <a:xfrm>
            <a:off x="5989320" y="2926080"/>
            <a:ext cx="1298448" cy="420624"/>
          </a:xfrm>
          <a:prstGeom prst="roundRect">
            <a:avLst>
              <a:gd name="adj" fmla="val 13043"/>
            </a:avLst>
          </a:prstGeom>
          <a:solidFill>
            <a:srgbClr val="E8F5E9"/>
          </a:solidFill>
          <a:ln w="12700">
            <a:solidFill>
              <a:srgbClr val="2E7D32"/>
            </a:solidFill>
            <a:prstDash val="solid"/>
          </a:ln>
        </p:spPr>
      </p:sp>
      <p:sp>
        <p:nvSpPr>
          <p:cNvPr id="43" name="Text 41"/>
          <p:cNvSpPr txBox="1"/>
          <p:nvPr/>
        </p:nvSpPr>
        <p:spPr>
          <a:xfrm>
            <a:off x="6053328" y="2926080"/>
            <a:ext cx="1170432" cy="420624"/>
          </a:xfrm>
          <a:prstGeom prst="rect">
            <a:avLst/>
          </a:prstGeom>
          <a:noFill/>
          <a:ln/>
        </p:spPr>
        <p:txBody>
          <a:bodyPr wrap="square" lIns="0" tIns="0" rIns="0" bIns="0" rtlCol="0" anchor="ctr"/>
          <a:lstStyle/>
          <a:p>
            <a:pPr algn="ctr" indent="0" marL="0">
              <a:buNone/>
            </a:pPr>
            <a:r>
              <a:rPr lang="en-US" sz="1000" dirty="0">
                <a:solidFill>
                  <a:srgbClr val="1F2430"/>
                </a:solidFill>
              </a:rPr>
              <a:t>Outside venues</a:t>
            </a:r>
            <a:endParaRPr lang="en-US" sz="1000" dirty="0"/>
          </a:p>
        </p:txBody>
      </p:sp>
      <p:sp>
        <p:nvSpPr>
          <p:cNvPr id="44" name="Shape 42"/>
          <p:cNvSpPr/>
          <p:nvPr/>
        </p:nvSpPr>
        <p:spPr>
          <a:xfrm>
            <a:off x="7360920" y="2926080"/>
            <a:ext cx="1298448" cy="420624"/>
          </a:xfrm>
          <a:prstGeom prst="roundRect">
            <a:avLst>
              <a:gd name="adj" fmla="val 13043"/>
            </a:avLst>
          </a:prstGeom>
          <a:solidFill>
            <a:srgbClr val="FDECEA"/>
          </a:solidFill>
          <a:ln w="12700">
            <a:solidFill>
              <a:srgbClr val="C62828"/>
            </a:solidFill>
            <a:prstDash val="solid"/>
          </a:ln>
        </p:spPr>
      </p:sp>
      <p:sp>
        <p:nvSpPr>
          <p:cNvPr id="45" name="Text 43"/>
          <p:cNvSpPr txBox="1"/>
          <p:nvPr/>
        </p:nvSpPr>
        <p:spPr>
          <a:xfrm>
            <a:off x="7424928" y="2926080"/>
            <a:ext cx="1170432" cy="420624"/>
          </a:xfrm>
          <a:prstGeom prst="rect">
            <a:avLst/>
          </a:prstGeom>
          <a:noFill/>
          <a:ln/>
        </p:spPr>
        <p:txBody>
          <a:bodyPr wrap="square" lIns="0" tIns="0" rIns="0" bIns="0" rtlCol="0" anchor="ctr"/>
          <a:lstStyle/>
          <a:p>
            <a:pPr algn="ctr" indent="0" marL="0">
              <a:buNone/>
            </a:pPr>
            <a:r>
              <a:rPr lang="en-US" sz="1000" dirty="0">
                <a:solidFill>
                  <a:srgbClr val="1F2430"/>
                </a:solidFill>
              </a:rPr>
              <a:t>The bin</a:t>
            </a:r>
            <a:endParaRPr lang="en-US" sz="1000" dirty="0"/>
          </a:p>
        </p:txBody>
      </p:sp>
      <p:sp>
        <p:nvSpPr>
          <p:cNvPr id="46" name="Shape 44"/>
          <p:cNvSpPr/>
          <p:nvPr/>
        </p:nvSpPr>
        <p:spPr>
          <a:xfrm>
            <a:off x="5120640" y="2697480"/>
            <a:ext cx="777240" cy="0"/>
          </a:xfrm>
          <a:prstGeom prst="line">
            <a:avLst/>
          </a:prstGeom>
          <a:noFill/>
          <a:ln w="19050">
            <a:solidFill>
              <a:srgbClr val="B8BFE6"/>
            </a:solidFill>
            <a:prstDash val="solid"/>
            <a:tailEnd type="triangle"/>
          </a:ln>
        </p:spPr>
      </p:sp>
      <p:sp>
        <p:nvSpPr>
          <p:cNvPr id="47" name="Text 45"/>
          <p:cNvSpPr txBox="1"/>
          <p:nvPr/>
        </p:nvSpPr>
        <p:spPr>
          <a:xfrm>
            <a:off x="5989320" y="1188720"/>
            <a:ext cx="2743200" cy="182880"/>
          </a:xfrm>
          <a:prstGeom prst="rect">
            <a:avLst/>
          </a:prstGeom>
          <a:noFill/>
          <a:ln/>
        </p:spPr>
        <p:txBody>
          <a:bodyPr wrap="square" lIns="0" tIns="0" rIns="0" bIns="0" rtlCol="0" anchor="t"/>
          <a:lstStyle/>
          <a:p>
            <a:pPr algn="l" indent="0" marL="0">
              <a:buNone/>
            </a:pPr>
            <a:r>
              <a:rPr lang="en-US" sz="950" b="1" spc="200" kern="0" dirty="0">
                <a:solidFill>
                  <a:srgbClr val="B8BFE6"/>
                </a:solidFill>
              </a:rPr>
              <a:t>EIGHT ABSORBERS</a:t>
            </a:r>
            <a:endParaRPr lang="en-US" sz="950" dirty="0"/>
          </a:p>
        </p:txBody>
      </p:sp>
      <p:sp>
        <p:nvSpPr>
          <p:cNvPr id="48" name="Shape 46"/>
          <p:cNvSpPr/>
          <p:nvPr/>
        </p:nvSpPr>
        <p:spPr>
          <a:xfrm>
            <a:off x="457200" y="3767328"/>
            <a:ext cx="8229600" cy="0"/>
          </a:xfrm>
          <a:prstGeom prst="line">
            <a:avLst/>
          </a:prstGeom>
          <a:noFill/>
          <a:ln w="25400">
            <a:solidFill>
              <a:srgbClr val="FF8A80"/>
            </a:solidFill>
            <a:prstDash val="dash"/>
          </a:ln>
        </p:spPr>
      </p:sp>
      <p:sp>
        <p:nvSpPr>
          <p:cNvPr id="49" name="Text 47"/>
          <p:cNvSpPr txBox="1"/>
          <p:nvPr/>
        </p:nvSpPr>
        <p:spPr>
          <a:xfrm>
            <a:off x="2011680" y="3547872"/>
            <a:ext cx="5120640" cy="182880"/>
          </a:xfrm>
          <a:prstGeom prst="rect">
            <a:avLst/>
          </a:prstGeom>
          <a:noFill/>
          <a:ln/>
        </p:spPr>
        <p:txBody>
          <a:bodyPr wrap="square" lIns="0" tIns="0" rIns="0" bIns="0" rtlCol="0" anchor="t"/>
          <a:lstStyle/>
          <a:p>
            <a:pPr algn="ctr" indent="0" marL="0">
              <a:buNone/>
            </a:pPr>
            <a:r>
              <a:rPr lang="en-US" sz="1050" b="1" dirty="0">
                <a:solidFill>
                  <a:srgbClr val="FF8A80"/>
                </a:solidFill>
              </a:rPr>
              <a:t>The kitchen door: nothing the kitchens learn crosses upward</a:t>
            </a:r>
            <a:endParaRPr lang="en-US" sz="1050" dirty="0"/>
          </a:p>
        </p:txBody>
      </p:sp>
      <p:sp>
        <p:nvSpPr>
          <p:cNvPr id="50" name="Shape 48"/>
          <p:cNvSpPr/>
          <p:nvPr/>
        </p:nvSpPr>
        <p:spPr>
          <a:xfrm>
            <a:off x="457200" y="3931920"/>
            <a:ext cx="4023360" cy="713232"/>
          </a:xfrm>
          <a:prstGeom prst="roundRect">
            <a:avLst>
              <a:gd name="adj" fmla="val 10256"/>
            </a:avLst>
          </a:prstGeom>
          <a:solidFill>
            <a:srgbClr val="E8F5E9"/>
          </a:solidFill>
          <a:ln w="12700">
            <a:solidFill>
              <a:srgbClr val="2E7D32"/>
            </a:solidFill>
            <a:prstDash val="solid"/>
          </a:ln>
        </p:spPr>
      </p:sp>
      <p:sp>
        <p:nvSpPr>
          <p:cNvPr id="51" name="Text 49"/>
          <p:cNvSpPr txBox="1"/>
          <p:nvPr/>
        </p:nvSpPr>
        <p:spPr>
          <a:xfrm>
            <a:off x="548640" y="3931920"/>
            <a:ext cx="3840480" cy="713232"/>
          </a:xfrm>
          <a:prstGeom prst="rect">
            <a:avLst/>
          </a:prstGeom>
          <a:noFill/>
          <a:ln/>
        </p:spPr>
        <p:txBody>
          <a:bodyPr wrap="square" lIns="0" tIns="0" rIns="0" bIns="0" rtlCol="0" anchor="ctr"/>
          <a:lstStyle/>
          <a:p>
            <a:pPr algn="l" indent="0" marL="0">
              <a:buNone/>
            </a:pPr>
            <a:r>
              <a:rPr lang="en-US" sz="1050" dirty="0">
                <a:solidFill>
                  <a:srgbClr val="1F2430"/>
                </a:solidFill>
              </a:rPr>
              <a:t>Yuktāhār: blame-free weighing, a matching-week lookup, daily discussion; waste fell between August and December</a:t>
            </a:r>
            <a:endParaRPr lang="en-US" sz="1050" dirty="0"/>
          </a:p>
        </p:txBody>
      </p:sp>
      <p:sp>
        <p:nvSpPr>
          <p:cNvPr id="52" name="Shape 50"/>
          <p:cNvSpPr/>
          <p:nvPr/>
        </p:nvSpPr>
        <p:spPr>
          <a:xfrm>
            <a:off x="4663440" y="3931920"/>
            <a:ext cx="4023360" cy="713232"/>
          </a:xfrm>
          <a:prstGeom prst="roundRect">
            <a:avLst>
              <a:gd name="adj" fmla="val 10256"/>
            </a:avLst>
          </a:prstGeom>
          <a:solidFill>
            <a:srgbClr val="E8F5E9"/>
          </a:solidFill>
          <a:ln w="12700">
            <a:solidFill>
              <a:srgbClr val="2E7D32"/>
            </a:solidFill>
            <a:prstDash val="solid"/>
          </a:ln>
        </p:spPr>
      </p:sp>
      <p:sp>
        <p:nvSpPr>
          <p:cNvPr id="53" name="Text 51"/>
          <p:cNvSpPr txBox="1"/>
          <p:nvPr/>
        </p:nvSpPr>
        <p:spPr>
          <a:xfrm>
            <a:off x="4754880" y="3931920"/>
            <a:ext cx="3840480" cy="713232"/>
          </a:xfrm>
          <a:prstGeom prst="rect">
            <a:avLst/>
          </a:prstGeom>
          <a:noFill/>
          <a:ln/>
        </p:spPr>
        <p:txBody>
          <a:bodyPr wrap="square" lIns="0" tIns="0" rIns="0" bIns="0" rtlCol="0" anchor="ctr"/>
          <a:lstStyle/>
          <a:p>
            <a:pPr algn="l" indent="0" marL="0">
              <a:buNone/>
            </a:pPr>
            <a:r>
              <a:rPr lang="en-US" sz="1050" dirty="0">
                <a:solidFill>
                  <a:srgbClr val="1F2430"/>
                </a:solidFill>
              </a:rPr>
              <a:t>Bakul and Kadamba: weekly adjustment down only to a floor; one recorded adjustment at Kadamba and no outcome record</a:t>
            </a:r>
            <a:endParaRPr lang="en-US" sz="10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design opportunity is to give the system a way to notice its own cost</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982980" y="4841748"/>
            <a:ext cx="146304" cy="146304"/>
          </a:xfrm>
          <a:prstGeom prst="ellipse">
            <a:avLst/>
          </a:prstGeom>
          <a:solidFill>
            <a:srgbClr val="1A237E"/>
          </a:solidFill>
          <a:ln/>
        </p:spPr>
      </p:sp>
      <p:sp>
        <p:nvSpPr>
          <p:cNvPr id="7" name="Shape 5"/>
          <p:cNvSpPr/>
          <p:nvPr/>
        </p:nvSpPr>
        <p:spPr>
          <a:xfrm>
            <a:off x="946404" y="4805172"/>
            <a:ext cx="219456" cy="219456"/>
          </a:xfrm>
          <a:prstGeom prst="ellipse">
            <a:avLst/>
          </a:prstGeom>
          <a:ln w="9525">
            <a:solidFill>
              <a:srgbClr val="1A237E"/>
            </a:solidFill>
            <a:prstDash val="solid"/>
          </a:ln>
        </p:spPr>
      </p:sp>
      <p:sp>
        <p:nvSpPr>
          <p:cNvPr id="8" name="Shape 6"/>
          <p:cNvSpPr/>
          <p:nvPr/>
        </p:nvSpPr>
        <p:spPr>
          <a:xfrm>
            <a:off x="1188720" y="4864608"/>
            <a:ext cx="100584" cy="100584"/>
          </a:xfrm>
          <a:prstGeom prst="ellipse">
            <a:avLst/>
          </a:prstGeom>
          <a:ln w="9525">
            <a:solidFill>
              <a:srgbClr val="9AA3B5"/>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4 Modelling the system</a:t>
            </a:r>
            <a:endParaRPr lang="en-US" sz="1000" dirty="0"/>
          </a:p>
        </p:txBody>
      </p:sp>
      <p:sp>
        <p:nvSpPr>
          <p:cNvPr id="15" name="Shape 13"/>
          <p:cNvSpPr/>
          <p:nvPr/>
        </p:nvSpPr>
        <p:spPr>
          <a:xfrm>
            <a:off x="457200" y="1280160"/>
            <a:ext cx="1463040" cy="2377440"/>
          </a:xfrm>
          <a:prstGeom prst="roundRect">
            <a:avLst>
              <a:gd name="adj" fmla="val 5000"/>
            </a:avLst>
          </a:prstGeom>
          <a:solidFill>
            <a:srgbClr val="F3E5F5"/>
          </a:solidFill>
          <a:ln w="12700">
            <a:solidFill>
              <a:srgbClr val="6A1B9A"/>
            </a:solidFill>
            <a:prstDash val="solid"/>
          </a:ln>
        </p:spPr>
      </p:sp>
      <p:sp>
        <p:nvSpPr>
          <p:cNvPr id="16" name="Shape 14"/>
          <p:cNvSpPr/>
          <p:nvPr/>
        </p:nvSpPr>
        <p:spPr>
          <a:xfrm>
            <a:off x="914400" y="1691640"/>
            <a:ext cx="548640" cy="548640"/>
          </a:xfrm>
          <a:prstGeom prst="ellipse">
            <a:avLst/>
          </a:prstGeom>
          <a:solidFill>
            <a:srgbClr val="6A1B9A"/>
          </a:solidFill>
          <a:ln/>
        </p:spPr>
      </p:sp>
      <p:pic>
        <p:nvPicPr>
          <p:cNvPr id="17" name="Image 0" descr="QrCodeScanner">    </p:cNvPr>
          <p:cNvPicPr>
            <a:picLocks noChangeAspect="1"/>
          </p:cNvPicPr>
          <p:nvPr/>
        </p:nvPicPr>
        <p:blipFill>
          <a:blip r:embed="rId1"/>
          <a:stretch>
            <a:fillRect/>
          </a:stretch>
        </p:blipFill>
        <p:spPr>
          <a:xfrm>
            <a:off x="1024128" y="1801368"/>
            <a:ext cx="329184" cy="329184"/>
          </a:xfrm>
          <a:prstGeom prst="rect">
            <a:avLst/>
          </a:prstGeom>
        </p:spPr>
      </p:pic>
      <p:sp>
        <p:nvSpPr>
          <p:cNvPr id="18" name="Text 15"/>
          <p:cNvSpPr txBox="1"/>
          <p:nvPr/>
        </p:nvSpPr>
        <p:spPr>
          <a:xfrm>
            <a:off x="548640" y="2377440"/>
            <a:ext cx="1280160" cy="822960"/>
          </a:xfrm>
          <a:prstGeom prst="rect">
            <a:avLst/>
          </a:prstGeom>
          <a:noFill/>
          <a:ln/>
        </p:spPr>
        <p:txBody>
          <a:bodyPr wrap="square" lIns="0" tIns="0" rIns="0" bIns="0" rtlCol="0" anchor="t"/>
          <a:lstStyle/>
          <a:p>
            <a:pPr algn="ctr" indent="0" marL="0">
              <a:buNone/>
            </a:pPr>
            <a:r>
              <a:rPr lang="en-US" sz="1300" b="1" dirty="0">
                <a:solidFill>
                  <a:srgbClr val="1F2430"/>
                </a:solidFill>
              </a:rPr>
              <a:t>The records that already exist</a:t>
            </a:r>
            <a:endParaRPr lang="en-US" sz="1300" dirty="0"/>
          </a:p>
        </p:txBody>
      </p:sp>
      <p:sp>
        <p:nvSpPr>
          <p:cNvPr id="19" name="Shape 16"/>
          <p:cNvSpPr/>
          <p:nvPr/>
        </p:nvSpPr>
        <p:spPr>
          <a:xfrm>
            <a:off x="3383280" y="1280160"/>
            <a:ext cx="2103120" cy="777240"/>
          </a:xfrm>
          <a:prstGeom prst="roundRect">
            <a:avLst>
              <a:gd name="adj" fmla="val 9412"/>
            </a:avLst>
          </a:prstGeom>
          <a:solidFill>
            <a:srgbClr val="E3F2FD"/>
          </a:solidFill>
          <a:ln w="12700">
            <a:solidFill>
              <a:srgbClr val="1565C0"/>
            </a:solidFill>
            <a:prstDash val="solid"/>
          </a:ln>
        </p:spPr>
      </p:sp>
      <p:sp>
        <p:nvSpPr>
          <p:cNvPr id="20" name="Text 17"/>
          <p:cNvSpPr txBox="1"/>
          <p:nvPr/>
        </p:nvSpPr>
        <p:spPr>
          <a:xfrm>
            <a:off x="3474720" y="1280160"/>
            <a:ext cx="1920240" cy="777240"/>
          </a:xfrm>
          <a:prstGeom prst="rect">
            <a:avLst/>
          </a:prstGeom>
          <a:noFill/>
          <a:ln/>
        </p:spPr>
        <p:txBody>
          <a:bodyPr wrap="square" lIns="0" tIns="0" rIns="0" bIns="0" rtlCol="0" anchor="ctr"/>
          <a:lstStyle/>
          <a:p>
            <a:pPr algn="l" indent="0" marL="0">
              <a:buNone/>
            </a:pPr>
            <a:r>
              <a:rPr lang="en-US" sz="1200" dirty="0">
                <a:solidFill>
                  <a:srgbClr val="1F2430"/>
                </a:solidFill>
              </a:rPr>
              <a:t>The kitchen decision that fixes how much is cooked</a:t>
            </a:r>
            <a:endParaRPr lang="en-US" sz="1200" dirty="0"/>
          </a:p>
        </p:txBody>
      </p:sp>
      <p:sp>
        <p:nvSpPr>
          <p:cNvPr id="21" name="Shape 18"/>
          <p:cNvSpPr/>
          <p:nvPr/>
        </p:nvSpPr>
        <p:spPr>
          <a:xfrm>
            <a:off x="3383280" y="2880360"/>
            <a:ext cx="2103120" cy="777240"/>
          </a:xfrm>
          <a:prstGeom prst="roundRect">
            <a:avLst>
              <a:gd name="adj" fmla="val 9412"/>
            </a:avLst>
          </a:prstGeom>
          <a:solidFill>
            <a:srgbClr val="E0F2F1"/>
          </a:solidFill>
          <a:ln w="12700">
            <a:solidFill>
              <a:srgbClr val="00695C"/>
            </a:solidFill>
            <a:prstDash val="solid"/>
          </a:ln>
        </p:spPr>
      </p:sp>
      <p:sp>
        <p:nvSpPr>
          <p:cNvPr id="22" name="Text 19"/>
          <p:cNvSpPr txBox="1"/>
          <p:nvPr/>
        </p:nvSpPr>
        <p:spPr>
          <a:xfrm>
            <a:off x="3474720" y="2880360"/>
            <a:ext cx="1920240" cy="777240"/>
          </a:xfrm>
          <a:prstGeom prst="rect">
            <a:avLst/>
          </a:prstGeom>
          <a:noFill/>
          <a:ln/>
        </p:spPr>
        <p:txBody>
          <a:bodyPr wrap="square" lIns="0" tIns="0" rIns="0" bIns="0" rtlCol="0" anchor="ctr"/>
          <a:lstStyle/>
          <a:p>
            <a:pPr algn="l" indent="0" marL="0">
              <a:buNone/>
            </a:pPr>
            <a:r>
              <a:rPr lang="en-US" sz="1200" dirty="0">
                <a:solidFill>
                  <a:srgbClr val="1F2430"/>
                </a:solidFill>
              </a:rPr>
              <a:t>A decision about registration and billing</a:t>
            </a:r>
            <a:endParaRPr lang="en-US" sz="1200" dirty="0"/>
          </a:p>
        </p:txBody>
      </p:sp>
      <p:sp>
        <p:nvSpPr>
          <p:cNvPr id="23" name="Shape 20"/>
          <p:cNvSpPr/>
          <p:nvPr/>
        </p:nvSpPr>
        <p:spPr>
          <a:xfrm>
            <a:off x="1965960" y="1668780"/>
            <a:ext cx="457200" cy="0"/>
          </a:xfrm>
          <a:prstGeom prst="line">
            <a:avLst/>
          </a:prstGeom>
          <a:noFill/>
          <a:ln w="31750">
            <a:solidFill>
              <a:srgbClr val="C62828"/>
            </a:solidFill>
            <a:prstDash val="dash"/>
          </a:ln>
        </p:spPr>
      </p:sp>
      <p:sp>
        <p:nvSpPr>
          <p:cNvPr id="24" name="Shape 21"/>
          <p:cNvSpPr/>
          <p:nvPr/>
        </p:nvSpPr>
        <p:spPr>
          <a:xfrm>
            <a:off x="2880360" y="1668780"/>
            <a:ext cx="457200" cy="0"/>
          </a:xfrm>
          <a:prstGeom prst="line">
            <a:avLst/>
          </a:prstGeom>
          <a:noFill/>
          <a:ln w="31750">
            <a:solidFill>
              <a:srgbClr val="C62828"/>
            </a:solidFill>
            <a:prstDash val="dash"/>
            <a:tailEnd type="triangle"/>
          </a:ln>
        </p:spPr>
      </p:sp>
      <p:sp>
        <p:nvSpPr>
          <p:cNvPr id="25" name="Shape 22"/>
          <p:cNvSpPr/>
          <p:nvPr/>
        </p:nvSpPr>
        <p:spPr>
          <a:xfrm>
            <a:off x="2496312" y="1513332"/>
            <a:ext cx="310896" cy="310896"/>
          </a:xfrm>
          <a:prstGeom prst="ellipse">
            <a:avLst/>
          </a:prstGeom>
          <a:solidFill>
            <a:srgbClr val="C62828"/>
          </a:solidFill>
          <a:ln/>
        </p:spPr>
      </p:sp>
      <p:pic>
        <p:nvPicPr>
          <p:cNvPr id="26" name="Image 1" descr="LinkOff">    </p:cNvPr>
          <p:cNvPicPr>
            <a:picLocks noChangeAspect="1"/>
          </p:cNvPicPr>
          <p:nvPr/>
        </p:nvPicPr>
        <p:blipFill>
          <a:blip r:embed="rId2"/>
          <a:stretch>
            <a:fillRect/>
          </a:stretch>
        </p:blipFill>
        <p:spPr>
          <a:xfrm>
            <a:off x="2558491" y="1575511"/>
            <a:ext cx="186538" cy="186538"/>
          </a:xfrm>
          <a:prstGeom prst="rect">
            <a:avLst/>
          </a:prstGeom>
        </p:spPr>
      </p:pic>
      <p:sp>
        <p:nvSpPr>
          <p:cNvPr id="27" name="Shape 23"/>
          <p:cNvSpPr/>
          <p:nvPr/>
        </p:nvSpPr>
        <p:spPr>
          <a:xfrm>
            <a:off x="1965960" y="3268980"/>
            <a:ext cx="457200" cy="0"/>
          </a:xfrm>
          <a:prstGeom prst="line">
            <a:avLst/>
          </a:prstGeom>
          <a:noFill/>
          <a:ln w="31750">
            <a:solidFill>
              <a:srgbClr val="C62828"/>
            </a:solidFill>
            <a:prstDash val="dash"/>
          </a:ln>
        </p:spPr>
      </p:sp>
      <p:sp>
        <p:nvSpPr>
          <p:cNvPr id="28" name="Shape 24"/>
          <p:cNvSpPr/>
          <p:nvPr/>
        </p:nvSpPr>
        <p:spPr>
          <a:xfrm>
            <a:off x="2880360" y="3268980"/>
            <a:ext cx="457200" cy="0"/>
          </a:xfrm>
          <a:prstGeom prst="line">
            <a:avLst/>
          </a:prstGeom>
          <a:noFill/>
          <a:ln w="31750">
            <a:solidFill>
              <a:srgbClr val="C62828"/>
            </a:solidFill>
            <a:prstDash val="dash"/>
            <a:tailEnd type="triangle"/>
          </a:ln>
        </p:spPr>
      </p:sp>
      <p:sp>
        <p:nvSpPr>
          <p:cNvPr id="29" name="Shape 25"/>
          <p:cNvSpPr/>
          <p:nvPr/>
        </p:nvSpPr>
        <p:spPr>
          <a:xfrm>
            <a:off x="2496312" y="3113532"/>
            <a:ext cx="310896" cy="310896"/>
          </a:xfrm>
          <a:prstGeom prst="ellipse">
            <a:avLst/>
          </a:prstGeom>
          <a:solidFill>
            <a:srgbClr val="C62828"/>
          </a:solidFill>
          <a:ln/>
        </p:spPr>
      </p:sp>
      <p:pic>
        <p:nvPicPr>
          <p:cNvPr id="30" name="Image 2" descr="LinkOff">    </p:cNvPr>
          <p:cNvPicPr>
            <a:picLocks noChangeAspect="1"/>
          </p:cNvPicPr>
          <p:nvPr/>
        </p:nvPicPr>
        <p:blipFill>
          <a:blip r:embed="rId3"/>
          <a:stretch>
            <a:fillRect/>
          </a:stretch>
        </p:blipFill>
        <p:spPr>
          <a:xfrm>
            <a:off x="2558491" y="3175711"/>
            <a:ext cx="186538" cy="186538"/>
          </a:xfrm>
          <a:prstGeom prst="rect">
            <a:avLst/>
          </a:prstGeom>
        </p:spPr>
      </p:pic>
      <p:sp>
        <p:nvSpPr>
          <p:cNvPr id="31" name="Shape 26"/>
          <p:cNvSpPr/>
          <p:nvPr/>
        </p:nvSpPr>
        <p:spPr>
          <a:xfrm>
            <a:off x="457200" y="3840480"/>
            <a:ext cx="2514600" cy="685800"/>
          </a:xfrm>
          <a:prstGeom prst="roundRect">
            <a:avLst>
              <a:gd name="adj" fmla="val 10667"/>
            </a:avLst>
          </a:prstGeom>
          <a:solidFill>
            <a:srgbClr val="FFF8E1"/>
          </a:solidFill>
          <a:ln w="12700">
            <a:solidFill>
              <a:srgbClr val="F57F17"/>
            </a:solidFill>
            <a:prstDash val="dash"/>
          </a:ln>
        </p:spPr>
      </p:sp>
      <p:sp>
        <p:nvSpPr>
          <p:cNvPr id="32" name="Shape 27"/>
          <p:cNvSpPr/>
          <p:nvPr/>
        </p:nvSpPr>
        <p:spPr>
          <a:xfrm>
            <a:off x="585216" y="4018788"/>
            <a:ext cx="329184" cy="329184"/>
          </a:xfrm>
          <a:prstGeom prst="ellipse">
            <a:avLst/>
          </a:prstGeom>
          <a:solidFill>
            <a:srgbClr val="F57F17"/>
          </a:solidFill>
          <a:ln/>
        </p:spPr>
      </p:sp>
      <p:pic>
        <p:nvPicPr>
          <p:cNvPr id="33" name="Image 3" descr="Help">    </p:cNvPr>
          <p:cNvPicPr>
            <a:picLocks noChangeAspect="1"/>
          </p:cNvPicPr>
          <p:nvPr/>
        </p:nvPicPr>
        <p:blipFill>
          <a:blip r:embed="rId4"/>
          <a:stretch>
            <a:fillRect/>
          </a:stretch>
        </p:blipFill>
        <p:spPr>
          <a:xfrm>
            <a:off x="651053" y="4084625"/>
            <a:ext cx="197510" cy="197510"/>
          </a:xfrm>
          <a:prstGeom prst="rect">
            <a:avLst/>
          </a:prstGeom>
        </p:spPr>
      </p:pic>
      <p:sp>
        <p:nvSpPr>
          <p:cNvPr id="34" name="Text 28"/>
          <p:cNvSpPr txBox="1"/>
          <p:nvPr/>
        </p:nvSpPr>
        <p:spPr>
          <a:xfrm>
            <a:off x="1005840" y="3840480"/>
            <a:ext cx="1920240" cy="685800"/>
          </a:xfrm>
          <a:prstGeom prst="rect">
            <a:avLst/>
          </a:prstGeom>
          <a:noFill/>
          <a:ln/>
        </p:spPr>
        <p:txBody>
          <a:bodyPr wrap="square" lIns="0" tIns="0" rIns="0" bIns="0" rtlCol="0" anchor="ctr"/>
          <a:lstStyle/>
          <a:p>
            <a:pPr algn="l" indent="0" marL="0">
              <a:buNone/>
            </a:pPr>
            <a:r>
              <a:rPr lang="en-US" sz="1100" dirty="0">
                <a:solidFill>
                  <a:srgbClr val="1F2430"/>
                </a:solidFill>
              </a:rPr>
              <a:t>Does a plate for payment mean served or registered?</a:t>
            </a:r>
            <a:endParaRPr lang="en-US" sz="1100" dirty="0"/>
          </a:p>
        </p:txBody>
      </p:sp>
      <p:sp>
        <p:nvSpPr>
          <p:cNvPr id="35" name="Shape 29"/>
          <p:cNvSpPr/>
          <p:nvPr/>
        </p:nvSpPr>
        <p:spPr>
          <a:xfrm>
            <a:off x="3063240" y="3840480"/>
            <a:ext cx="2514600" cy="685800"/>
          </a:xfrm>
          <a:prstGeom prst="roundRect">
            <a:avLst>
              <a:gd name="adj" fmla="val 10667"/>
            </a:avLst>
          </a:prstGeom>
          <a:solidFill>
            <a:srgbClr val="FFF8E1"/>
          </a:solidFill>
          <a:ln w="12700">
            <a:solidFill>
              <a:srgbClr val="F57F17"/>
            </a:solidFill>
            <a:prstDash val="dash"/>
          </a:ln>
        </p:spPr>
      </p:sp>
      <p:sp>
        <p:nvSpPr>
          <p:cNvPr id="36" name="Shape 30"/>
          <p:cNvSpPr/>
          <p:nvPr/>
        </p:nvSpPr>
        <p:spPr>
          <a:xfrm>
            <a:off x="3191256" y="4018788"/>
            <a:ext cx="329184" cy="329184"/>
          </a:xfrm>
          <a:prstGeom prst="ellipse">
            <a:avLst/>
          </a:prstGeom>
          <a:solidFill>
            <a:srgbClr val="F57F17"/>
          </a:solidFill>
          <a:ln/>
        </p:spPr>
      </p:sp>
      <p:pic>
        <p:nvPicPr>
          <p:cNvPr id="37" name="Image 4" descr="Help">    </p:cNvPr>
          <p:cNvPicPr>
            <a:picLocks noChangeAspect="1"/>
          </p:cNvPicPr>
          <p:nvPr/>
        </p:nvPicPr>
        <p:blipFill>
          <a:blip r:embed="rId5"/>
          <a:stretch>
            <a:fillRect/>
          </a:stretch>
        </p:blipFill>
        <p:spPr>
          <a:xfrm>
            <a:off x="3257093" y="4084625"/>
            <a:ext cx="197510" cy="197510"/>
          </a:xfrm>
          <a:prstGeom prst="rect">
            <a:avLst/>
          </a:prstGeom>
        </p:spPr>
      </p:pic>
      <p:sp>
        <p:nvSpPr>
          <p:cNvPr id="38" name="Text 31"/>
          <p:cNvSpPr txBox="1"/>
          <p:nvPr/>
        </p:nvSpPr>
        <p:spPr>
          <a:xfrm>
            <a:off x="3611880" y="3840480"/>
            <a:ext cx="1920240" cy="685800"/>
          </a:xfrm>
          <a:prstGeom prst="rect">
            <a:avLst/>
          </a:prstGeom>
          <a:noFill/>
          <a:ln/>
        </p:spPr>
        <p:txBody>
          <a:bodyPr wrap="square" lIns="0" tIns="0" rIns="0" bIns="0" rtlCol="0" anchor="ctr"/>
          <a:lstStyle/>
          <a:p>
            <a:pPr algn="l" indent="0" marL="0">
              <a:buNone/>
            </a:pPr>
            <a:r>
              <a:rPr lang="en-US" sz="1100" dirty="0">
                <a:solidFill>
                  <a:srgbClr val="1F2430"/>
                </a:solidFill>
              </a:rPr>
              <a:t>Who set the four-day lead and the cap of five cancellations?</a:t>
            </a:r>
            <a:endParaRPr lang="en-US" sz="1100" dirty="0"/>
          </a:p>
        </p:txBody>
      </p:sp>
      <p:sp>
        <p:nvSpPr>
          <p:cNvPr id="39" name="Shape 32"/>
          <p:cNvSpPr/>
          <p:nvPr/>
        </p:nvSpPr>
        <p:spPr>
          <a:xfrm>
            <a:off x="5760720" y="1280160"/>
            <a:ext cx="2926080" cy="731520"/>
          </a:xfrm>
          <a:prstGeom prst="roundRect">
            <a:avLst>
              <a:gd name="adj" fmla="val 10000"/>
            </a:avLst>
          </a:prstGeom>
          <a:solidFill>
            <a:srgbClr val="E3F2FD"/>
          </a:solidFill>
          <a:ln w="12700">
            <a:solidFill>
              <a:srgbClr val="1565C0"/>
            </a:solidFill>
            <a:prstDash val="solid"/>
          </a:ln>
        </p:spPr>
      </p:sp>
      <p:sp>
        <p:nvSpPr>
          <p:cNvPr id="40" name="Shape 33"/>
          <p:cNvSpPr/>
          <p:nvPr/>
        </p:nvSpPr>
        <p:spPr>
          <a:xfrm>
            <a:off x="5888736" y="1463040"/>
            <a:ext cx="365760" cy="365760"/>
          </a:xfrm>
          <a:prstGeom prst="ellipse">
            <a:avLst/>
          </a:prstGeom>
          <a:solidFill>
            <a:srgbClr val="1565C0"/>
          </a:solidFill>
          <a:ln/>
        </p:spPr>
      </p:sp>
      <p:sp>
        <p:nvSpPr>
          <p:cNvPr id="41" name="Text 34"/>
          <p:cNvSpPr txBox="1"/>
          <p:nvPr/>
        </p:nvSpPr>
        <p:spPr>
          <a:xfrm>
            <a:off x="5888736" y="1280160"/>
            <a:ext cx="365760" cy="73152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42" name="Text 35"/>
          <p:cNvSpPr txBox="1"/>
          <p:nvPr/>
        </p:nvSpPr>
        <p:spPr>
          <a:xfrm>
            <a:off x="6400800" y="1325880"/>
            <a:ext cx="2176272" cy="640080"/>
          </a:xfrm>
          <a:prstGeom prst="rect">
            <a:avLst/>
          </a:prstGeom>
          <a:noFill/>
          <a:ln/>
        </p:spPr>
        <p:txBody>
          <a:bodyPr wrap="square" lIns="0" tIns="0" rIns="0" bIns="0" rtlCol="0" anchor="ctr"/>
          <a:lstStyle/>
          <a:p>
            <a:pPr algn="l" indent="0" marL="0">
              <a:buNone/>
            </a:pPr>
            <a:r>
              <a:rPr lang="en-US" sz="1100" dirty="0">
                <a:solidFill>
                  <a:srgbClr val="1F2430"/>
                </a:solidFill>
              </a:rPr>
              <a:t>The kitchen, where a registration becomes a cooked quantity</a:t>
            </a:r>
            <a:endParaRPr lang="en-US" sz="1100" dirty="0"/>
          </a:p>
        </p:txBody>
      </p:sp>
      <p:sp>
        <p:nvSpPr>
          <p:cNvPr id="43" name="Shape 36"/>
          <p:cNvSpPr/>
          <p:nvPr/>
        </p:nvSpPr>
        <p:spPr>
          <a:xfrm>
            <a:off x="5760720" y="2103120"/>
            <a:ext cx="2926080" cy="731520"/>
          </a:xfrm>
          <a:prstGeom prst="roundRect">
            <a:avLst>
              <a:gd name="adj" fmla="val 10000"/>
            </a:avLst>
          </a:prstGeom>
          <a:solidFill>
            <a:srgbClr val="E0F2F1"/>
          </a:solidFill>
          <a:ln w="12700">
            <a:solidFill>
              <a:srgbClr val="00695C"/>
            </a:solidFill>
            <a:prstDash val="solid"/>
          </a:ln>
        </p:spPr>
      </p:sp>
      <p:sp>
        <p:nvSpPr>
          <p:cNvPr id="44" name="Shape 37"/>
          <p:cNvSpPr/>
          <p:nvPr/>
        </p:nvSpPr>
        <p:spPr>
          <a:xfrm>
            <a:off x="5888736" y="2286000"/>
            <a:ext cx="365760" cy="365760"/>
          </a:xfrm>
          <a:prstGeom prst="ellipse">
            <a:avLst/>
          </a:prstGeom>
          <a:solidFill>
            <a:srgbClr val="00695C"/>
          </a:solidFill>
          <a:ln/>
        </p:spPr>
      </p:sp>
      <p:sp>
        <p:nvSpPr>
          <p:cNvPr id="45" name="Text 38"/>
          <p:cNvSpPr txBox="1"/>
          <p:nvPr/>
        </p:nvSpPr>
        <p:spPr>
          <a:xfrm>
            <a:off x="5888736" y="2103120"/>
            <a:ext cx="365760" cy="73152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46" name="Text 39"/>
          <p:cNvSpPr txBox="1"/>
          <p:nvPr/>
        </p:nvSpPr>
        <p:spPr>
          <a:xfrm>
            <a:off x="6400800" y="2148840"/>
            <a:ext cx="2176272" cy="640080"/>
          </a:xfrm>
          <a:prstGeom prst="rect">
            <a:avLst/>
          </a:prstGeom>
          <a:noFill/>
          <a:ln/>
        </p:spPr>
        <p:txBody>
          <a:bodyPr wrap="square" lIns="0" tIns="0" rIns="0" bIns="0" rtlCol="0" anchor="ctr"/>
          <a:lstStyle/>
          <a:p>
            <a:pPr algn="l" indent="0" marL="0">
              <a:buNone/>
            </a:pPr>
            <a:r>
              <a:rPr lang="en-US" sz="1100" dirty="0">
                <a:solidFill>
                  <a:srgbClr val="1F2430"/>
                </a:solidFill>
              </a:rPr>
              <a:t>The registration and billing rules</a:t>
            </a:r>
            <a:endParaRPr lang="en-US" sz="1100" dirty="0"/>
          </a:p>
        </p:txBody>
      </p:sp>
      <p:sp>
        <p:nvSpPr>
          <p:cNvPr id="47" name="Shape 40"/>
          <p:cNvSpPr/>
          <p:nvPr/>
        </p:nvSpPr>
        <p:spPr>
          <a:xfrm>
            <a:off x="5760720" y="2926080"/>
            <a:ext cx="2926080" cy="731520"/>
          </a:xfrm>
          <a:prstGeom prst="roundRect">
            <a:avLst>
              <a:gd name="adj" fmla="val 10000"/>
            </a:avLst>
          </a:prstGeom>
          <a:solidFill>
            <a:srgbClr val="F2F2F2"/>
          </a:solidFill>
          <a:ln w="12700">
            <a:solidFill>
              <a:srgbClr val="616161"/>
            </a:solidFill>
            <a:prstDash val="solid"/>
          </a:ln>
        </p:spPr>
      </p:sp>
      <p:sp>
        <p:nvSpPr>
          <p:cNvPr id="48" name="Shape 41"/>
          <p:cNvSpPr/>
          <p:nvPr/>
        </p:nvSpPr>
        <p:spPr>
          <a:xfrm>
            <a:off x="5888736" y="3108960"/>
            <a:ext cx="365760" cy="365760"/>
          </a:xfrm>
          <a:prstGeom prst="ellipse">
            <a:avLst/>
          </a:prstGeom>
          <a:solidFill>
            <a:srgbClr val="616161"/>
          </a:solidFill>
          <a:ln/>
        </p:spPr>
      </p:sp>
      <p:sp>
        <p:nvSpPr>
          <p:cNvPr id="49" name="Text 42"/>
          <p:cNvSpPr txBox="1"/>
          <p:nvPr/>
        </p:nvSpPr>
        <p:spPr>
          <a:xfrm>
            <a:off x="5888736" y="2926080"/>
            <a:ext cx="365760" cy="73152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50" name="Text 43"/>
          <p:cNvSpPr txBox="1"/>
          <p:nvPr/>
        </p:nvSpPr>
        <p:spPr>
          <a:xfrm>
            <a:off x="6400800" y="2971800"/>
            <a:ext cx="2176272" cy="640080"/>
          </a:xfrm>
          <a:prstGeom prst="rect">
            <a:avLst/>
          </a:prstGeom>
          <a:noFill/>
          <a:ln/>
        </p:spPr>
        <p:txBody>
          <a:bodyPr wrap="square" lIns="0" tIns="0" rIns="0" bIns="0" rtlCol="0" anchor="ctr"/>
          <a:lstStyle/>
          <a:p>
            <a:pPr algn="l" indent="0" marL="0">
              <a:buNone/>
            </a:pPr>
            <a:r>
              <a:rPr lang="en-US" sz="1100" dirty="0">
                <a:solidFill>
                  <a:srgbClr val="1F2430"/>
                </a:solidFill>
              </a:rPr>
              <a:t>The ownership gap</a:t>
            </a:r>
            <a:endParaRPr lang="en-US" sz="1100" dirty="0"/>
          </a:p>
        </p:txBody>
      </p:sp>
      <p:sp>
        <p:nvSpPr>
          <p:cNvPr id="51" name="Shape 44"/>
          <p:cNvSpPr/>
          <p:nvPr/>
        </p:nvSpPr>
        <p:spPr>
          <a:xfrm>
            <a:off x="5760720" y="3749040"/>
            <a:ext cx="2926080" cy="731520"/>
          </a:xfrm>
          <a:prstGeom prst="roundRect">
            <a:avLst>
              <a:gd name="adj" fmla="val 10000"/>
            </a:avLst>
          </a:prstGeom>
          <a:solidFill>
            <a:srgbClr val="F3E5F5"/>
          </a:solidFill>
          <a:ln w="12700">
            <a:solidFill>
              <a:srgbClr val="6A1B9A"/>
            </a:solidFill>
            <a:prstDash val="solid"/>
          </a:ln>
        </p:spPr>
      </p:sp>
      <p:sp>
        <p:nvSpPr>
          <p:cNvPr id="52" name="Shape 45"/>
          <p:cNvSpPr/>
          <p:nvPr/>
        </p:nvSpPr>
        <p:spPr>
          <a:xfrm>
            <a:off x="5888736" y="3931920"/>
            <a:ext cx="365760" cy="365760"/>
          </a:xfrm>
          <a:prstGeom prst="ellipse">
            <a:avLst/>
          </a:prstGeom>
          <a:solidFill>
            <a:srgbClr val="6A1B9A"/>
          </a:solidFill>
          <a:ln/>
        </p:spPr>
      </p:sp>
      <p:sp>
        <p:nvSpPr>
          <p:cNvPr id="53" name="Text 46"/>
          <p:cNvSpPr txBox="1"/>
          <p:nvPr/>
        </p:nvSpPr>
        <p:spPr>
          <a:xfrm>
            <a:off x="5888736" y="3749040"/>
            <a:ext cx="365760" cy="73152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54" name="Text 47"/>
          <p:cNvSpPr txBox="1"/>
          <p:nvPr/>
        </p:nvSpPr>
        <p:spPr>
          <a:xfrm>
            <a:off x="6400800" y="3794760"/>
            <a:ext cx="2176272" cy="640080"/>
          </a:xfrm>
          <a:prstGeom prst="rect">
            <a:avLst/>
          </a:prstGeom>
          <a:noFill/>
          <a:ln/>
        </p:spPr>
        <p:txBody>
          <a:bodyPr wrap="square" lIns="0" tIns="0" rIns="0" bIns="0" rtlCol="0" anchor="ctr"/>
          <a:lstStyle/>
          <a:p>
            <a:pPr algn="l" indent="0" marL="0">
              <a:buNone/>
            </a:pPr>
            <a:r>
              <a:rPr lang="en-US" sz="1100" dirty="0">
                <a:solidFill>
                  <a:srgbClr val="1F2430"/>
                </a:solidFill>
              </a:rPr>
              <a:t>The attention mechanism: a cost trigger beside the complaint trigger, the cheapest by far</a:t>
            </a:r>
            <a:endParaRPr lang="en-US" sz="1100" dirty="0"/>
          </a:p>
        </p:txBody>
      </p:sp>
      <p:sp>
        <p:nvSpPr>
          <p:cNvPr id="55" name="Text 48"/>
          <p:cNvSpPr txBox="1"/>
          <p:nvPr/>
        </p:nvSpPr>
        <p:spPr>
          <a:xfrm>
            <a:off x="5760720" y="4572000"/>
            <a:ext cx="2926080" cy="201168"/>
          </a:xfrm>
          <a:prstGeom prst="rect">
            <a:avLst/>
          </a:prstGeom>
          <a:noFill/>
          <a:ln/>
        </p:spPr>
        <p:txBody>
          <a:bodyPr wrap="square" lIns="0" tIns="0" rIns="0" bIns="0" rtlCol="0" anchor="t"/>
          <a:lstStyle/>
          <a:p>
            <a:pPr algn="l" indent="0" marL="0">
              <a:buNone/>
            </a:pPr>
            <a:r>
              <a:rPr lang="en-US" sz="1000" b="1" dirty="0">
                <a:solidFill>
                  <a:srgbClr val="616161"/>
                </a:solidFill>
              </a:rPr>
              <a:t>Four places to intervene</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Most of the twelve levers sit between places 2 and 6 of the twelve places to intervene</a:t>
            </a:r>
            <a:endParaRPr lang="en-US" sz="2400" dirty="0"/>
          </a:p>
        </p:txBody>
      </p:sp>
      <p:sp>
        <p:nvSpPr>
          <p:cNvPr id="3" name="Shape 1"/>
          <p:cNvSpPr/>
          <p:nvPr/>
        </p:nvSpPr>
        <p:spPr>
          <a:xfrm>
            <a:off x="457200" y="4864608"/>
            <a:ext cx="100584" cy="100584"/>
          </a:xfrm>
          <a:prstGeom prst="ellipse">
            <a:avLst/>
          </a:prstGeom>
          <a:solidFill>
            <a:srgbClr val="FFFFFF"/>
          </a:solidFill>
          <a:ln/>
        </p:spPr>
      </p:sp>
      <p:sp>
        <p:nvSpPr>
          <p:cNvPr id="4" name="Shape 2"/>
          <p:cNvSpPr/>
          <p:nvPr/>
        </p:nvSpPr>
        <p:spPr>
          <a:xfrm>
            <a:off x="640080" y="4864608"/>
            <a:ext cx="100584" cy="100584"/>
          </a:xfrm>
          <a:prstGeom prst="ellipse">
            <a:avLst/>
          </a:prstGeom>
          <a:solidFill>
            <a:srgbClr val="FFFFFF"/>
          </a:solidFill>
          <a:ln/>
        </p:spPr>
      </p:sp>
      <p:sp>
        <p:nvSpPr>
          <p:cNvPr id="5" name="Shape 3"/>
          <p:cNvSpPr/>
          <p:nvPr/>
        </p:nvSpPr>
        <p:spPr>
          <a:xfrm>
            <a:off x="822960" y="4864608"/>
            <a:ext cx="100584" cy="100584"/>
          </a:xfrm>
          <a:prstGeom prst="ellipse">
            <a:avLst/>
          </a:prstGeom>
          <a:solidFill>
            <a:srgbClr val="FFFFFF"/>
          </a:solidFill>
          <a:ln/>
        </p:spPr>
      </p:sp>
      <p:sp>
        <p:nvSpPr>
          <p:cNvPr id="6" name="Shape 4"/>
          <p:cNvSpPr/>
          <p:nvPr/>
        </p:nvSpPr>
        <p:spPr>
          <a:xfrm>
            <a:off x="1005840" y="4864608"/>
            <a:ext cx="100584" cy="100584"/>
          </a:xfrm>
          <a:prstGeom prst="ellipse">
            <a:avLst/>
          </a:prstGeom>
          <a:solidFill>
            <a:srgbClr val="FFFFFF"/>
          </a:solidFill>
          <a:ln/>
        </p:spPr>
      </p:sp>
      <p:sp>
        <p:nvSpPr>
          <p:cNvPr id="7" name="Shape 5"/>
          <p:cNvSpPr/>
          <p:nvPr/>
        </p:nvSpPr>
        <p:spPr>
          <a:xfrm>
            <a:off x="1165860" y="4841748"/>
            <a:ext cx="146304" cy="146304"/>
          </a:xfrm>
          <a:prstGeom prst="ellipse">
            <a:avLst/>
          </a:prstGeom>
          <a:solidFill>
            <a:srgbClr val="FFFFFF"/>
          </a:solidFill>
          <a:ln/>
        </p:spPr>
      </p:sp>
      <p:sp>
        <p:nvSpPr>
          <p:cNvPr id="8" name="Shape 6"/>
          <p:cNvSpPr/>
          <p:nvPr/>
        </p:nvSpPr>
        <p:spPr>
          <a:xfrm>
            <a:off x="1129284" y="4805172"/>
            <a:ext cx="219456" cy="219456"/>
          </a:xfrm>
          <a:prstGeom prst="ellipse">
            <a:avLst/>
          </a:prstGeom>
          <a:ln w="9525">
            <a:solidFill>
              <a:srgbClr val="FFFFFF"/>
            </a:solidFill>
            <a:prstDash val="solid"/>
          </a:ln>
        </p:spPr>
      </p:sp>
      <p:sp>
        <p:nvSpPr>
          <p:cNvPr id="9" name="Shape 7"/>
          <p:cNvSpPr/>
          <p:nvPr/>
        </p:nvSpPr>
        <p:spPr>
          <a:xfrm>
            <a:off x="1371600" y="4864608"/>
            <a:ext cx="100584" cy="100584"/>
          </a:xfrm>
          <a:prstGeom prst="ellipse">
            <a:avLst/>
          </a:prstGeom>
          <a:ln w="9525">
            <a:solidFill>
              <a:srgbClr val="6B74A8"/>
            </a:solidFill>
            <a:prstDash val="solid"/>
          </a:ln>
        </p:spPr>
      </p:sp>
      <p:sp>
        <p:nvSpPr>
          <p:cNvPr id="10" name="Shape 8"/>
          <p:cNvSpPr/>
          <p:nvPr/>
        </p:nvSpPr>
        <p:spPr>
          <a:xfrm>
            <a:off x="1554480" y="4864608"/>
            <a:ext cx="100584" cy="100584"/>
          </a:xfrm>
          <a:prstGeom prst="ellipse">
            <a:avLst/>
          </a:prstGeom>
          <a:ln w="9525">
            <a:solidFill>
              <a:srgbClr val="6B74A8"/>
            </a:solidFill>
            <a:prstDash val="solid"/>
          </a:ln>
        </p:spPr>
      </p:sp>
      <p:sp>
        <p:nvSpPr>
          <p:cNvPr id="11" name="Shape 9"/>
          <p:cNvSpPr/>
          <p:nvPr/>
        </p:nvSpPr>
        <p:spPr>
          <a:xfrm>
            <a:off x="1737360" y="4864608"/>
            <a:ext cx="100584" cy="100584"/>
          </a:xfrm>
          <a:prstGeom prst="ellipse">
            <a:avLst/>
          </a:prstGeom>
          <a:ln w="9525">
            <a:solidFill>
              <a:srgbClr val="6B74A8"/>
            </a:solidFill>
            <a:prstDash val="solid"/>
          </a:ln>
        </p:spPr>
      </p:sp>
      <p:sp>
        <p:nvSpPr>
          <p:cNvPr id="12" name="Shape 10"/>
          <p:cNvSpPr/>
          <p:nvPr/>
        </p:nvSpPr>
        <p:spPr>
          <a:xfrm>
            <a:off x="1920240" y="4864608"/>
            <a:ext cx="100584" cy="100584"/>
          </a:xfrm>
          <a:prstGeom prst="ellipse">
            <a:avLst/>
          </a:prstGeom>
          <a:ln w="9525">
            <a:solidFill>
              <a:srgbClr val="6B74A8"/>
            </a:solidFill>
            <a:prstDash val="solid"/>
          </a:ln>
        </p:spPr>
      </p:sp>
      <p:sp>
        <p:nvSpPr>
          <p:cNvPr id="13" name="Shape 11"/>
          <p:cNvSpPr/>
          <p:nvPr/>
        </p:nvSpPr>
        <p:spPr>
          <a:xfrm>
            <a:off x="2103120" y="4864608"/>
            <a:ext cx="100584" cy="100584"/>
          </a:xfrm>
          <a:prstGeom prst="ellipse">
            <a:avLst/>
          </a:prstGeom>
          <a:ln w="9525">
            <a:solidFill>
              <a:srgbClr val="6B74A8"/>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B8BFE6"/>
                </a:solidFill>
              </a:rPr>
              <a:t>5 Finding where to intervene</a:t>
            </a:r>
            <a:endParaRPr lang="en-US" sz="1000" dirty="0"/>
          </a:p>
        </p:txBody>
      </p:sp>
      <p:sp>
        <p:nvSpPr>
          <p:cNvPr id="15" name="Shape 13"/>
          <p:cNvSpPr/>
          <p:nvPr/>
        </p:nvSpPr>
        <p:spPr>
          <a:xfrm>
            <a:off x="457200" y="1207008"/>
            <a:ext cx="2926080" cy="237744"/>
          </a:xfrm>
          <a:prstGeom prst="roundRect">
            <a:avLst>
              <a:gd name="adj" fmla="val 15385"/>
            </a:avLst>
          </a:prstGeom>
          <a:solidFill>
            <a:srgbClr val="3949AB"/>
          </a:solidFill>
          <a:ln/>
        </p:spPr>
      </p:sp>
      <p:sp>
        <p:nvSpPr>
          <p:cNvPr id="16" name="Text 14"/>
          <p:cNvSpPr txBox="1"/>
          <p:nvPr/>
        </p:nvSpPr>
        <p:spPr>
          <a:xfrm>
            <a:off x="548640" y="1207008"/>
            <a:ext cx="2743200" cy="237744"/>
          </a:xfrm>
          <a:prstGeom prst="rect">
            <a:avLst/>
          </a:prstGeom>
          <a:noFill/>
          <a:ln/>
        </p:spPr>
        <p:txBody>
          <a:bodyPr wrap="square" lIns="0" tIns="0" rIns="0" bIns="0" rtlCol="0" anchor="ctr"/>
          <a:lstStyle/>
          <a:p>
            <a:pPr algn="l" indent="0" marL="0">
              <a:buNone/>
            </a:pPr>
            <a:r>
              <a:rPr lang="en-US" sz="1100" b="1" dirty="0">
                <a:solidFill>
                  <a:srgbClr val="FFFFFF"/>
                </a:solidFill>
              </a:rPr>
              <a:t>1  Transcend paradigms</a:t>
            </a:r>
            <a:endParaRPr lang="en-US" sz="1100" dirty="0"/>
          </a:p>
        </p:txBody>
      </p:sp>
      <p:sp>
        <p:nvSpPr>
          <p:cNvPr id="17" name="Text 15"/>
          <p:cNvSpPr txBox="1"/>
          <p:nvPr/>
        </p:nvSpPr>
        <p:spPr>
          <a:xfrm>
            <a:off x="3566160" y="1207008"/>
            <a:ext cx="4114800" cy="237744"/>
          </a:xfrm>
          <a:prstGeom prst="rect">
            <a:avLst/>
          </a:prstGeom>
          <a:noFill/>
          <a:ln/>
        </p:spPr>
        <p:txBody>
          <a:bodyPr wrap="square" lIns="0" tIns="0" rIns="0" bIns="0" rtlCol="0" anchor="ctr"/>
          <a:lstStyle/>
          <a:p>
            <a:pPr algn="l" indent="0" marL="0">
              <a:buNone/>
            </a:pPr>
            <a:r>
              <a:rPr lang="en-US" sz="1050" i="1" dirty="0">
                <a:solidFill>
                  <a:srgbClr val="B8BFE6"/>
                </a:solidFill>
              </a:rPr>
              <a:t>no lever</a:t>
            </a:r>
            <a:endParaRPr lang="en-US" sz="1050" dirty="0"/>
          </a:p>
        </p:txBody>
      </p:sp>
      <p:sp>
        <p:nvSpPr>
          <p:cNvPr id="18" name="Shape 16"/>
          <p:cNvSpPr/>
          <p:nvPr/>
        </p:nvSpPr>
        <p:spPr>
          <a:xfrm>
            <a:off x="457200" y="1476756"/>
            <a:ext cx="2926080" cy="237744"/>
          </a:xfrm>
          <a:prstGeom prst="roundRect">
            <a:avLst>
              <a:gd name="adj" fmla="val 15385"/>
            </a:avLst>
          </a:prstGeom>
          <a:solidFill>
            <a:srgbClr val="4452B5"/>
          </a:solidFill>
          <a:ln/>
        </p:spPr>
      </p:sp>
      <p:sp>
        <p:nvSpPr>
          <p:cNvPr id="19" name="Text 17"/>
          <p:cNvSpPr txBox="1"/>
          <p:nvPr/>
        </p:nvSpPr>
        <p:spPr>
          <a:xfrm>
            <a:off x="548640" y="1476756"/>
            <a:ext cx="2743200" cy="237744"/>
          </a:xfrm>
          <a:prstGeom prst="rect">
            <a:avLst/>
          </a:prstGeom>
          <a:noFill/>
          <a:ln/>
        </p:spPr>
        <p:txBody>
          <a:bodyPr wrap="square" lIns="0" tIns="0" rIns="0" bIns="0" rtlCol="0" anchor="ctr"/>
          <a:lstStyle/>
          <a:p>
            <a:pPr algn="l" indent="0" marL="0">
              <a:buNone/>
            </a:pPr>
            <a:r>
              <a:rPr lang="en-US" sz="1100" b="1" dirty="0">
                <a:solidFill>
                  <a:srgbClr val="FFFFFF"/>
                </a:solidFill>
              </a:rPr>
              <a:t>2  Mindset or paradigm</a:t>
            </a:r>
            <a:endParaRPr lang="en-US" sz="1100" dirty="0"/>
          </a:p>
        </p:txBody>
      </p:sp>
      <p:sp>
        <p:nvSpPr>
          <p:cNvPr id="20" name="Shape 18"/>
          <p:cNvSpPr/>
          <p:nvPr/>
        </p:nvSpPr>
        <p:spPr>
          <a:xfrm>
            <a:off x="3566160" y="1485900"/>
            <a:ext cx="548640" cy="219456"/>
          </a:xfrm>
          <a:prstGeom prst="roundRect">
            <a:avLst>
              <a:gd name="adj" fmla="val 20833"/>
            </a:avLst>
          </a:prstGeom>
          <a:solidFill>
            <a:srgbClr val="F3E5F5"/>
          </a:solidFill>
          <a:ln w="12700">
            <a:solidFill>
              <a:srgbClr val="6A1B9A"/>
            </a:solidFill>
            <a:prstDash val="solid"/>
          </a:ln>
        </p:spPr>
      </p:sp>
      <p:sp>
        <p:nvSpPr>
          <p:cNvPr id="21" name="Text 19"/>
          <p:cNvSpPr txBox="1"/>
          <p:nvPr/>
        </p:nvSpPr>
        <p:spPr>
          <a:xfrm>
            <a:off x="3630168" y="1485900"/>
            <a:ext cx="420624" cy="219456"/>
          </a:xfrm>
          <a:prstGeom prst="rect">
            <a:avLst/>
          </a:prstGeom>
          <a:noFill/>
          <a:ln/>
        </p:spPr>
        <p:txBody>
          <a:bodyPr wrap="square" lIns="0" tIns="0" rIns="0" bIns="0" rtlCol="0" anchor="ctr"/>
          <a:lstStyle/>
          <a:p>
            <a:pPr algn="ctr" indent="0" marL="0">
              <a:buNone/>
            </a:pPr>
            <a:r>
              <a:rPr lang="en-US" sz="1000" dirty="0">
                <a:solidFill>
                  <a:srgbClr val="1F2430"/>
                </a:solidFill>
              </a:rPr>
              <a:t>LP11</a:t>
            </a:r>
            <a:endParaRPr lang="en-US" sz="1000" dirty="0"/>
          </a:p>
        </p:txBody>
      </p:sp>
      <p:sp>
        <p:nvSpPr>
          <p:cNvPr id="22" name="Shape 20"/>
          <p:cNvSpPr/>
          <p:nvPr/>
        </p:nvSpPr>
        <p:spPr>
          <a:xfrm>
            <a:off x="457200" y="1746504"/>
            <a:ext cx="2926080" cy="237744"/>
          </a:xfrm>
          <a:prstGeom prst="roundRect">
            <a:avLst>
              <a:gd name="adj" fmla="val 15385"/>
            </a:avLst>
          </a:prstGeom>
          <a:solidFill>
            <a:srgbClr val="5C6BC0"/>
          </a:solidFill>
          <a:ln/>
        </p:spPr>
      </p:sp>
      <p:sp>
        <p:nvSpPr>
          <p:cNvPr id="23" name="Text 21"/>
          <p:cNvSpPr txBox="1"/>
          <p:nvPr/>
        </p:nvSpPr>
        <p:spPr>
          <a:xfrm>
            <a:off x="548640" y="1746504"/>
            <a:ext cx="2743200" cy="237744"/>
          </a:xfrm>
          <a:prstGeom prst="rect">
            <a:avLst/>
          </a:prstGeom>
          <a:noFill/>
          <a:ln/>
        </p:spPr>
        <p:txBody>
          <a:bodyPr wrap="square" lIns="0" tIns="0" rIns="0" bIns="0" rtlCol="0" anchor="ctr"/>
          <a:lstStyle/>
          <a:p>
            <a:pPr algn="l" indent="0" marL="0">
              <a:buNone/>
            </a:pPr>
            <a:r>
              <a:rPr lang="en-US" sz="1100" b="1" dirty="0">
                <a:solidFill>
                  <a:srgbClr val="FFFFFF"/>
                </a:solidFill>
              </a:rPr>
              <a:t>3  Goals of the system</a:t>
            </a:r>
            <a:endParaRPr lang="en-US" sz="1100" dirty="0"/>
          </a:p>
        </p:txBody>
      </p:sp>
      <p:sp>
        <p:nvSpPr>
          <p:cNvPr id="24" name="Shape 22"/>
          <p:cNvSpPr/>
          <p:nvPr/>
        </p:nvSpPr>
        <p:spPr>
          <a:xfrm>
            <a:off x="3566160" y="1755648"/>
            <a:ext cx="548640" cy="219456"/>
          </a:xfrm>
          <a:prstGeom prst="roundRect">
            <a:avLst>
              <a:gd name="adj" fmla="val 20833"/>
            </a:avLst>
          </a:prstGeom>
          <a:solidFill>
            <a:srgbClr val="F3E5F5"/>
          </a:solidFill>
          <a:ln w="12700">
            <a:solidFill>
              <a:srgbClr val="6A1B9A"/>
            </a:solidFill>
            <a:prstDash val="solid"/>
          </a:ln>
        </p:spPr>
      </p:sp>
      <p:sp>
        <p:nvSpPr>
          <p:cNvPr id="25" name="Text 23"/>
          <p:cNvSpPr txBox="1"/>
          <p:nvPr/>
        </p:nvSpPr>
        <p:spPr>
          <a:xfrm>
            <a:off x="3630168" y="1755648"/>
            <a:ext cx="420624" cy="219456"/>
          </a:xfrm>
          <a:prstGeom prst="rect">
            <a:avLst/>
          </a:prstGeom>
          <a:noFill/>
          <a:ln/>
        </p:spPr>
        <p:txBody>
          <a:bodyPr wrap="square" lIns="0" tIns="0" rIns="0" bIns="0" rtlCol="0" anchor="ctr"/>
          <a:lstStyle/>
          <a:p>
            <a:pPr algn="ctr" indent="0" marL="0">
              <a:buNone/>
            </a:pPr>
            <a:r>
              <a:rPr lang="en-US" sz="1000" dirty="0">
                <a:solidFill>
                  <a:srgbClr val="1F2430"/>
                </a:solidFill>
              </a:rPr>
              <a:t>LP12</a:t>
            </a:r>
            <a:endParaRPr lang="en-US" sz="1000" dirty="0"/>
          </a:p>
        </p:txBody>
      </p:sp>
      <p:sp>
        <p:nvSpPr>
          <p:cNvPr id="26" name="Shape 24"/>
          <p:cNvSpPr/>
          <p:nvPr/>
        </p:nvSpPr>
        <p:spPr>
          <a:xfrm>
            <a:off x="4187952" y="1755648"/>
            <a:ext cx="822960" cy="219456"/>
          </a:xfrm>
          <a:prstGeom prst="roundRect">
            <a:avLst>
              <a:gd name="adj" fmla="val 20833"/>
            </a:avLst>
          </a:prstGeom>
          <a:solidFill>
            <a:srgbClr val="E0F2F1"/>
          </a:solidFill>
          <a:ln w="12700">
            <a:solidFill>
              <a:srgbClr val="00695C"/>
            </a:solidFill>
            <a:prstDash val="solid"/>
          </a:ln>
        </p:spPr>
      </p:sp>
      <p:sp>
        <p:nvSpPr>
          <p:cNvPr id="27" name="Text 25"/>
          <p:cNvSpPr txBox="1"/>
          <p:nvPr/>
        </p:nvSpPr>
        <p:spPr>
          <a:xfrm>
            <a:off x="4251960" y="1755648"/>
            <a:ext cx="694944" cy="219456"/>
          </a:xfrm>
          <a:prstGeom prst="rect">
            <a:avLst/>
          </a:prstGeom>
          <a:noFill/>
          <a:ln/>
        </p:spPr>
        <p:txBody>
          <a:bodyPr wrap="square" lIns="0" tIns="0" rIns="0" bIns="0" rtlCol="0" anchor="ctr"/>
          <a:lstStyle/>
          <a:p>
            <a:pPr algn="ctr" indent="0" marL="0">
              <a:buNone/>
            </a:pPr>
            <a:r>
              <a:rPr lang="en-US" sz="1000" dirty="0">
                <a:solidFill>
                  <a:srgbClr val="1F2430"/>
                </a:solidFill>
              </a:rPr>
              <a:t>LP3 goal</a:t>
            </a:r>
            <a:endParaRPr lang="en-US" sz="1000" dirty="0"/>
          </a:p>
        </p:txBody>
      </p:sp>
      <p:sp>
        <p:nvSpPr>
          <p:cNvPr id="28" name="Shape 26"/>
          <p:cNvSpPr/>
          <p:nvPr/>
        </p:nvSpPr>
        <p:spPr>
          <a:xfrm>
            <a:off x="457200" y="2016252"/>
            <a:ext cx="2926080" cy="237744"/>
          </a:xfrm>
          <a:prstGeom prst="roundRect">
            <a:avLst>
              <a:gd name="adj" fmla="val 15385"/>
            </a:avLst>
          </a:prstGeom>
          <a:solidFill>
            <a:srgbClr val="7986CB"/>
          </a:solidFill>
          <a:ln/>
        </p:spPr>
      </p:sp>
      <p:sp>
        <p:nvSpPr>
          <p:cNvPr id="29" name="Text 27"/>
          <p:cNvSpPr txBox="1"/>
          <p:nvPr/>
        </p:nvSpPr>
        <p:spPr>
          <a:xfrm>
            <a:off x="548640" y="2016252"/>
            <a:ext cx="2743200" cy="237744"/>
          </a:xfrm>
          <a:prstGeom prst="rect">
            <a:avLst/>
          </a:prstGeom>
          <a:noFill/>
          <a:ln/>
        </p:spPr>
        <p:txBody>
          <a:bodyPr wrap="square" lIns="0" tIns="0" rIns="0" bIns="0" rtlCol="0" anchor="ctr"/>
          <a:lstStyle/>
          <a:p>
            <a:pPr algn="l" indent="0" marL="0">
              <a:buNone/>
            </a:pPr>
            <a:r>
              <a:rPr lang="en-US" sz="1100" b="1" dirty="0">
                <a:solidFill>
                  <a:srgbClr val="FFFFFF"/>
                </a:solidFill>
              </a:rPr>
              <a:t>4  Power to self-organise</a:t>
            </a:r>
            <a:endParaRPr lang="en-US" sz="1100" dirty="0"/>
          </a:p>
        </p:txBody>
      </p:sp>
      <p:sp>
        <p:nvSpPr>
          <p:cNvPr id="30" name="Shape 28"/>
          <p:cNvSpPr/>
          <p:nvPr/>
        </p:nvSpPr>
        <p:spPr>
          <a:xfrm>
            <a:off x="3566160" y="2025396"/>
            <a:ext cx="480060" cy="219456"/>
          </a:xfrm>
          <a:prstGeom prst="roundRect">
            <a:avLst>
              <a:gd name="adj" fmla="val 20833"/>
            </a:avLst>
          </a:prstGeom>
          <a:solidFill>
            <a:srgbClr val="E0F2F1"/>
          </a:solidFill>
          <a:ln w="12700">
            <a:solidFill>
              <a:srgbClr val="00695C"/>
            </a:solidFill>
            <a:prstDash val="solid"/>
          </a:ln>
        </p:spPr>
      </p:sp>
      <p:sp>
        <p:nvSpPr>
          <p:cNvPr id="31" name="Text 29"/>
          <p:cNvSpPr txBox="1"/>
          <p:nvPr/>
        </p:nvSpPr>
        <p:spPr>
          <a:xfrm>
            <a:off x="3630168" y="2025396"/>
            <a:ext cx="352044" cy="219456"/>
          </a:xfrm>
          <a:prstGeom prst="rect">
            <a:avLst/>
          </a:prstGeom>
          <a:noFill/>
          <a:ln/>
        </p:spPr>
        <p:txBody>
          <a:bodyPr wrap="square" lIns="0" tIns="0" rIns="0" bIns="0" rtlCol="0" anchor="ctr"/>
          <a:lstStyle/>
          <a:p>
            <a:pPr algn="ctr" indent="0" marL="0">
              <a:buNone/>
            </a:pPr>
            <a:r>
              <a:rPr lang="en-US" sz="1000" dirty="0">
                <a:solidFill>
                  <a:srgbClr val="1F2430"/>
                </a:solidFill>
              </a:rPr>
              <a:t>LP4</a:t>
            </a:r>
            <a:endParaRPr lang="en-US" sz="1000" dirty="0"/>
          </a:p>
        </p:txBody>
      </p:sp>
      <p:sp>
        <p:nvSpPr>
          <p:cNvPr id="32" name="Shape 30"/>
          <p:cNvSpPr/>
          <p:nvPr/>
        </p:nvSpPr>
        <p:spPr>
          <a:xfrm>
            <a:off x="457200" y="2286000"/>
            <a:ext cx="2926080" cy="237744"/>
          </a:xfrm>
          <a:prstGeom prst="roundRect">
            <a:avLst>
              <a:gd name="adj" fmla="val 15385"/>
            </a:avLst>
          </a:prstGeom>
          <a:solidFill>
            <a:srgbClr val="9FA8DA"/>
          </a:solidFill>
          <a:ln/>
        </p:spPr>
      </p:sp>
      <p:sp>
        <p:nvSpPr>
          <p:cNvPr id="33" name="Text 31"/>
          <p:cNvSpPr txBox="1"/>
          <p:nvPr/>
        </p:nvSpPr>
        <p:spPr>
          <a:xfrm>
            <a:off x="548640" y="2286000"/>
            <a:ext cx="2743200" cy="237744"/>
          </a:xfrm>
          <a:prstGeom prst="rect">
            <a:avLst/>
          </a:prstGeom>
          <a:noFill/>
          <a:ln/>
        </p:spPr>
        <p:txBody>
          <a:bodyPr wrap="square" lIns="0" tIns="0" rIns="0" bIns="0" rtlCol="0" anchor="ctr"/>
          <a:lstStyle/>
          <a:p>
            <a:pPr algn="l" indent="0" marL="0">
              <a:buNone/>
            </a:pPr>
            <a:r>
              <a:rPr lang="en-US" sz="1100" b="1" dirty="0">
                <a:solidFill>
                  <a:srgbClr val="FFFFFF"/>
                </a:solidFill>
              </a:rPr>
              <a:t>5  Rules of the system</a:t>
            </a:r>
            <a:endParaRPr lang="en-US" sz="1100" dirty="0"/>
          </a:p>
        </p:txBody>
      </p:sp>
      <p:sp>
        <p:nvSpPr>
          <p:cNvPr id="34" name="Shape 32"/>
          <p:cNvSpPr/>
          <p:nvPr/>
        </p:nvSpPr>
        <p:spPr>
          <a:xfrm>
            <a:off x="3566160" y="2295144"/>
            <a:ext cx="480060" cy="219456"/>
          </a:xfrm>
          <a:prstGeom prst="roundRect">
            <a:avLst>
              <a:gd name="adj" fmla="val 20833"/>
            </a:avLst>
          </a:prstGeom>
          <a:solidFill>
            <a:srgbClr val="E3F2FD"/>
          </a:solidFill>
          <a:ln w="12700">
            <a:solidFill>
              <a:srgbClr val="1565C0"/>
            </a:solidFill>
            <a:prstDash val="solid"/>
          </a:ln>
        </p:spPr>
      </p:sp>
      <p:sp>
        <p:nvSpPr>
          <p:cNvPr id="35" name="Text 33"/>
          <p:cNvSpPr txBox="1"/>
          <p:nvPr/>
        </p:nvSpPr>
        <p:spPr>
          <a:xfrm>
            <a:off x="3630168" y="2295144"/>
            <a:ext cx="352044" cy="219456"/>
          </a:xfrm>
          <a:prstGeom prst="rect">
            <a:avLst/>
          </a:prstGeom>
          <a:noFill/>
          <a:ln/>
        </p:spPr>
        <p:txBody>
          <a:bodyPr wrap="square" lIns="0" tIns="0" rIns="0" bIns="0" rtlCol="0" anchor="ctr"/>
          <a:lstStyle/>
          <a:p>
            <a:pPr algn="ctr" indent="0" marL="0">
              <a:buNone/>
            </a:pPr>
            <a:r>
              <a:rPr lang="en-US" sz="1000" dirty="0">
                <a:solidFill>
                  <a:srgbClr val="1F2430"/>
                </a:solidFill>
              </a:rPr>
              <a:t>LP2</a:t>
            </a:r>
            <a:endParaRPr lang="en-US" sz="1000" dirty="0"/>
          </a:p>
        </p:txBody>
      </p:sp>
      <p:sp>
        <p:nvSpPr>
          <p:cNvPr id="36" name="Shape 34"/>
          <p:cNvSpPr/>
          <p:nvPr/>
        </p:nvSpPr>
        <p:spPr>
          <a:xfrm>
            <a:off x="4119372" y="2295144"/>
            <a:ext cx="480060" cy="219456"/>
          </a:xfrm>
          <a:prstGeom prst="roundRect">
            <a:avLst>
              <a:gd name="adj" fmla="val 20833"/>
            </a:avLst>
          </a:prstGeom>
          <a:solidFill>
            <a:srgbClr val="F3E5F5"/>
          </a:solidFill>
          <a:ln w="12700">
            <a:solidFill>
              <a:srgbClr val="6A1B9A"/>
            </a:solidFill>
            <a:prstDash val="dash"/>
          </a:ln>
        </p:spPr>
      </p:sp>
      <p:sp>
        <p:nvSpPr>
          <p:cNvPr id="37" name="Text 35"/>
          <p:cNvSpPr txBox="1"/>
          <p:nvPr/>
        </p:nvSpPr>
        <p:spPr>
          <a:xfrm>
            <a:off x="4183380" y="2295144"/>
            <a:ext cx="352044" cy="219456"/>
          </a:xfrm>
          <a:prstGeom prst="rect">
            <a:avLst/>
          </a:prstGeom>
          <a:noFill/>
          <a:ln/>
        </p:spPr>
        <p:txBody>
          <a:bodyPr wrap="square" lIns="0" tIns="0" rIns="0" bIns="0" rtlCol="0" anchor="ctr"/>
          <a:lstStyle/>
          <a:p>
            <a:pPr algn="ctr" indent="0" marL="0">
              <a:buNone/>
            </a:pPr>
            <a:r>
              <a:rPr lang="en-US" sz="1000" dirty="0">
                <a:solidFill>
                  <a:srgbClr val="1F2430"/>
                </a:solidFill>
              </a:rPr>
              <a:t>LP9</a:t>
            </a:r>
            <a:endParaRPr lang="en-US" sz="1000" dirty="0"/>
          </a:p>
        </p:txBody>
      </p:sp>
      <p:sp>
        <p:nvSpPr>
          <p:cNvPr id="38" name="Shape 36"/>
          <p:cNvSpPr/>
          <p:nvPr/>
        </p:nvSpPr>
        <p:spPr>
          <a:xfrm>
            <a:off x="4672584" y="2295144"/>
            <a:ext cx="548640" cy="219456"/>
          </a:xfrm>
          <a:prstGeom prst="roundRect">
            <a:avLst>
              <a:gd name="adj" fmla="val 20833"/>
            </a:avLst>
          </a:prstGeom>
          <a:solidFill>
            <a:srgbClr val="F3E5F5"/>
          </a:solidFill>
          <a:ln w="12700">
            <a:solidFill>
              <a:srgbClr val="6A1B9A"/>
            </a:solidFill>
            <a:prstDash val="dash"/>
          </a:ln>
        </p:spPr>
      </p:sp>
      <p:sp>
        <p:nvSpPr>
          <p:cNvPr id="39" name="Text 37"/>
          <p:cNvSpPr txBox="1"/>
          <p:nvPr/>
        </p:nvSpPr>
        <p:spPr>
          <a:xfrm>
            <a:off x="4736592" y="2295144"/>
            <a:ext cx="420624" cy="219456"/>
          </a:xfrm>
          <a:prstGeom prst="rect">
            <a:avLst/>
          </a:prstGeom>
          <a:noFill/>
          <a:ln/>
        </p:spPr>
        <p:txBody>
          <a:bodyPr wrap="square" lIns="0" tIns="0" rIns="0" bIns="0" rtlCol="0" anchor="ctr"/>
          <a:lstStyle/>
          <a:p>
            <a:pPr algn="ctr" indent="0" marL="0">
              <a:buNone/>
            </a:pPr>
            <a:r>
              <a:rPr lang="en-US" sz="1000" dirty="0">
                <a:solidFill>
                  <a:srgbClr val="1F2430"/>
                </a:solidFill>
              </a:rPr>
              <a:t>LP10</a:t>
            </a:r>
            <a:endParaRPr lang="en-US" sz="1000" dirty="0"/>
          </a:p>
        </p:txBody>
      </p:sp>
      <p:sp>
        <p:nvSpPr>
          <p:cNvPr id="40" name="Shape 38"/>
          <p:cNvSpPr/>
          <p:nvPr/>
        </p:nvSpPr>
        <p:spPr>
          <a:xfrm>
            <a:off x="5294376" y="2295144"/>
            <a:ext cx="822960" cy="219456"/>
          </a:xfrm>
          <a:prstGeom prst="roundRect">
            <a:avLst>
              <a:gd name="adj" fmla="val 20833"/>
            </a:avLst>
          </a:prstGeom>
          <a:solidFill>
            <a:srgbClr val="E3F2FD"/>
          </a:solidFill>
          <a:ln w="12700">
            <a:solidFill>
              <a:srgbClr val="1565C0"/>
            </a:solidFill>
            <a:prstDash val="solid"/>
          </a:ln>
        </p:spPr>
      </p:sp>
      <p:sp>
        <p:nvSpPr>
          <p:cNvPr id="41" name="Text 39"/>
          <p:cNvSpPr txBox="1"/>
          <p:nvPr/>
        </p:nvSpPr>
        <p:spPr>
          <a:xfrm>
            <a:off x="5358384" y="2295144"/>
            <a:ext cx="694944" cy="219456"/>
          </a:xfrm>
          <a:prstGeom prst="rect">
            <a:avLst/>
          </a:prstGeom>
          <a:noFill/>
          <a:ln/>
        </p:spPr>
        <p:txBody>
          <a:bodyPr wrap="square" lIns="0" tIns="0" rIns="0" bIns="0" rtlCol="0" anchor="ctr"/>
          <a:lstStyle/>
          <a:p>
            <a:pPr algn="ctr" indent="0" marL="0">
              <a:buNone/>
            </a:pPr>
            <a:r>
              <a:rPr lang="en-US" sz="1000" dirty="0">
                <a:solidFill>
                  <a:srgbClr val="1F2430"/>
                </a:solidFill>
              </a:rPr>
              <a:t>LP7 rule</a:t>
            </a:r>
            <a:endParaRPr lang="en-US" sz="1000" dirty="0"/>
          </a:p>
        </p:txBody>
      </p:sp>
      <p:sp>
        <p:nvSpPr>
          <p:cNvPr id="42" name="Shape 40"/>
          <p:cNvSpPr/>
          <p:nvPr/>
        </p:nvSpPr>
        <p:spPr>
          <a:xfrm>
            <a:off x="6190488" y="2295144"/>
            <a:ext cx="822960" cy="219456"/>
          </a:xfrm>
          <a:prstGeom prst="roundRect">
            <a:avLst>
              <a:gd name="adj" fmla="val 20833"/>
            </a:avLst>
          </a:prstGeom>
          <a:solidFill>
            <a:srgbClr val="E3F2FD"/>
          </a:solidFill>
          <a:ln w="12700">
            <a:solidFill>
              <a:srgbClr val="1565C0"/>
            </a:solidFill>
            <a:prstDash val="solid"/>
          </a:ln>
        </p:spPr>
      </p:sp>
      <p:sp>
        <p:nvSpPr>
          <p:cNvPr id="43" name="Text 41"/>
          <p:cNvSpPr txBox="1"/>
          <p:nvPr/>
        </p:nvSpPr>
        <p:spPr>
          <a:xfrm>
            <a:off x="6254496" y="2295144"/>
            <a:ext cx="694944" cy="219456"/>
          </a:xfrm>
          <a:prstGeom prst="rect">
            <a:avLst/>
          </a:prstGeom>
          <a:noFill/>
          <a:ln/>
        </p:spPr>
        <p:txBody>
          <a:bodyPr wrap="square" lIns="0" tIns="0" rIns="0" bIns="0" rtlCol="0" anchor="ctr"/>
          <a:lstStyle/>
          <a:p>
            <a:pPr algn="ctr" indent="0" marL="0">
              <a:buNone/>
            </a:pPr>
            <a:r>
              <a:rPr lang="en-US" sz="1000" dirty="0">
                <a:solidFill>
                  <a:srgbClr val="1F2430"/>
                </a:solidFill>
              </a:rPr>
              <a:t>LP8 slot</a:t>
            </a:r>
            <a:endParaRPr lang="en-US" sz="1000" dirty="0"/>
          </a:p>
        </p:txBody>
      </p:sp>
      <p:sp>
        <p:nvSpPr>
          <p:cNvPr id="44" name="Shape 42"/>
          <p:cNvSpPr/>
          <p:nvPr/>
        </p:nvSpPr>
        <p:spPr>
          <a:xfrm>
            <a:off x="457200" y="2555748"/>
            <a:ext cx="2926080" cy="237744"/>
          </a:xfrm>
          <a:prstGeom prst="roundRect">
            <a:avLst>
              <a:gd name="adj" fmla="val 15385"/>
            </a:avLst>
          </a:prstGeom>
          <a:solidFill>
            <a:srgbClr val="B8BFE6"/>
          </a:solidFill>
          <a:ln/>
        </p:spPr>
      </p:sp>
      <p:sp>
        <p:nvSpPr>
          <p:cNvPr id="45" name="Text 43"/>
          <p:cNvSpPr txBox="1"/>
          <p:nvPr/>
        </p:nvSpPr>
        <p:spPr>
          <a:xfrm>
            <a:off x="548640" y="2555748"/>
            <a:ext cx="2743200" cy="237744"/>
          </a:xfrm>
          <a:prstGeom prst="rect">
            <a:avLst/>
          </a:prstGeom>
          <a:noFill/>
          <a:ln/>
        </p:spPr>
        <p:txBody>
          <a:bodyPr wrap="square" lIns="0" tIns="0" rIns="0" bIns="0" rtlCol="0" anchor="ctr"/>
          <a:lstStyle/>
          <a:p>
            <a:pPr algn="l" indent="0" marL="0">
              <a:buNone/>
            </a:pPr>
            <a:r>
              <a:rPr lang="en-US" sz="1100" dirty="0">
                <a:solidFill>
                  <a:srgbClr val="0E1440"/>
                </a:solidFill>
              </a:rPr>
              <a:t>6  Information flows</a:t>
            </a:r>
            <a:endParaRPr lang="en-US" sz="1100" dirty="0"/>
          </a:p>
        </p:txBody>
      </p:sp>
      <p:sp>
        <p:nvSpPr>
          <p:cNvPr id="46" name="Shape 44"/>
          <p:cNvSpPr/>
          <p:nvPr/>
        </p:nvSpPr>
        <p:spPr>
          <a:xfrm>
            <a:off x="3566160" y="2564892"/>
            <a:ext cx="480060" cy="219456"/>
          </a:xfrm>
          <a:prstGeom prst="roundRect">
            <a:avLst>
              <a:gd name="adj" fmla="val 20833"/>
            </a:avLst>
          </a:prstGeom>
          <a:solidFill>
            <a:srgbClr val="FDECEA"/>
          </a:solidFill>
          <a:ln w="12700">
            <a:solidFill>
              <a:srgbClr val="C62828"/>
            </a:solidFill>
            <a:prstDash val="solid"/>
          </a:ln>
        </p:spPr>
      </p:sp>
      <p:sp>
        <p:nvSpPr>
          <p:cNvPr id="47" name="Text 45"/>
          <p:cNvSpPr txBox="1"/>
          <p:nvPr/>
        </p:nvSpPr>
        <p:spPr>
          <a:xfrm>
            <a:off x="3630168" y="2564892"/>
            <a:ext cx="352044" cy="219456"/>
          </a:xfrm>
          <a:prstGeom prst="rect">
            <a:avLst/>
          </a:prstGeom>
          <a:noFill/>
          <a:ln/>
        </p:spPr>
        <p:txBody>
          <a:bodyPr wrap="square" lIns="0" tIns="0" rIns="0" bIns="0" rtlCol="0" anchor="ctr"/>
          <a:lstStyle/>
          <a:p>
            <a:pPr algn="ctr" indent="0" marL="0">
              <a:buNone/>
            </a:pPr>
            <a:r>
              <a:rPr lang="en-US" sz="1000" dirty="0">
                <a:solidFill>
                  <a:srgbClr val="1F2430"/>
                </a:solidFill>
              </a:rPr>
              <a:t>LP1</a:t>
            </a:r>
            <a:endParaRPr lang="en-US" sz="1000" dirty="0"/>
          </a:p>
        </p:txBody>
      </p:sp>
      <p:sp>
        <p:nvSpPr>
          <p:cNvPr id="48" name="Shape 46"/>
          <p:cNvSpPr/>
          <p:nvPr/>
        </p:nvSpPr>
        <p:spPr>
          <a:xfrm>
            <a:off x="4119372" y="2564892"/>
            <a:ext cx="480060" cy="219456"/>
          </a:xfrm>
          <a:prstGeom prst="roundRect">
            <a:avLst>
              <a:gd name="adj" fmla="val 20833"/>
            </a:avLst>
          </a:prstGeom>
          <a:solidFill>
            <a:srgbClr val="E0F2F1"/>
          </a:solidFill>
          <a:ln w="12700">
            <a:solidFill>
              <a:srgbClr val="00695C"/>
            </a:solidFill>
            <a:prstDash val="solid"/>
          </a:ln>
        </p:spPr>
      </p:sp>
      <p:sp>
        <p:nvSpPr>
          <p:cNvPr id="49" name="Text 47"/>
          <p:cNvSpPr txBox="1"/>
          <p:nvPr/>
        </p:nvSpPr>
        <p:spPr>
          <a:xfrm>
            <a:off x="4183380" y="2564892"/>
            <a:ext cx="352044" cy="219456"/>
          </a:xfrm>
          <a:prstGeom prst="rect">
            <a:avLst/>
          </a:prstGeom>
          <a:noFill/>
          <a:ln/>
        </p:spPr>
        <p:txBody>
          <a:bodyPr wrap="square" lIns="0" tIns="0" rIns="0" bIns="0" rtlCol="0" anchor="ctr"/>
          <a:lstStyle/>
          <a:p>
            <a:pPr algn="ctr" indent="0" marL="0">
              <a:buNone/>
            </a:pPr>
            <a:r>
              <a:rPr lang="en-US" sz="1000" dirty="0">
                <a:solidFill>
                  <a:srgbClr val="1F2430"/>
                </a:solidFill>
              </a:rPr>
              <a:t>LP5</a:t>
            </a:r>
            <a:endParaRPr lang="en-US" sz="1000" dirty="0"/>
          </a:p>
        </p:txBody>
      </p:sp>
      <p:sp>
        <p:nvSpPr>
          <p:cNvPr id="50" name="Shape 48"/>
          <p:cNvSpPr/>
          <p:nvPr/>
        </p:nvSpPr>
        <p:spPr>
          <a:xfrm>
            <a:off x="4672584" y="2564892"/>
            <a:ext cx="480060" cy="219456"/>
          </a:xfrm>
          <a:prstGeom prst="roundRect">
            <a:avLst>
              <a:gd name="adj" fmla="val 20833"/>
            </a:avLst>
          </a:prstGeom>
          <a:solidFill>
            <a:srgbClr val="E0F2F1"/>
          </a:solidFill>
          <a:ln w="12700">
            <a:solidFill>
              <a:srgbClr val="00695C"/>
            </a:solidFill>
            <a:prstDash val="solid"/>
          </a:ln>
        </p:spPr>
      </p:sp>
      <p:sp>
        <p:nvSpPr>
          <p:cNvPr id="51" name="Text 49"/>
          <p:cNvSpPr txBox="1"/>
          <p:nvPr/>
        </p:nvSpPr>
        <p:spPr>
          <a:xfrm>
            <a:off x="4736592" y="2564892"/>
            <a:ext cx="352044" cy="219456"/>
          </a:xfrm>
          <a:prstGeom prst="rect">
            <a:avLst/>
          </a:prstGeom>
          <a:noFill/>
          <a:ln/>
        </p:spPr>
        <p:txBody>
          <a:bodyPr wrap="square" lIns="0" tIns="0" rIns="0" bIns="0" rtlCol="0" anchor="ctr"/>
          <a:lstStyle/>
          <a:p>
            <a:pPr algn="ctr" indent="0" marL="0">
              <a:buNone/>
            </a:pPr>
            <a:r>
              <a:rPr lang="en-US" sz="1000" dirty="0">
                <a:solidFill>
                  <a:srgbClr val="1F2430"/>
                </a:solidFill>
              </a:rPr>
              <a:t>LP6</a:t>
            </a:r>
            <a:endParaRPr lang="en-US" sz="1000" dirty="0"/>
          </a:p>
        </p:txBody>
      </p:sp>
      <p:sp>
        <p:nvSpPr>
          <p:cNvPr id="52" name="Shape 50"/>
          <p:cNvSpPr/>
          <p:nvPr/>
        </p:nvSpPr>
        <p:spPr>
          <a:xfrm>
            <a:off x="5225796" y="2564892"/>
            <a:ext cx="480060" cy="219456"/>
          </a:xfrm>
          <a:prstGeom prst="roundRect">
            <a:avLst>
              <a:gd name="adj" fmla="val 20833"/>
            </a:avLst>
          </a:prstGeom>
          <a:solidFill>
            <a:srgbClr val="E3F2FD"/>
          </a:solidFill>
          <a:ln w="12700">
            <a:solidFill>
              <a:srgbClr val="1565C0"/>
            </a:solidFill>
            <a:prstDash val="solid"/>
          </a:ln>
        </p:spPr>
      </p:sp>
      <p:sp>
        <p:nvSpPr>
          <p:cNvPr id="53" name="Text 51"/>
          <p:cNvSpPr txBox="1"/>
          <p:nvPr/>
        </p:nvSpPr>
        <p:spPr>
          <a:xfrm>
            <a:off x="5289804" y="2564892"/>
            <a:ext cx="352044" cy="219456"/>
          </a:xfrm>
          <a:prstGeom prst="rect">
            <a:avLst/>
          </a:prstGeom>
          <a:noFill/>
          <a:ln/>
        </p:spPr>
        <p:txBody>
          <a:bodyPr wrap="square" lIns="0" tIns="0" rIns="0" bIns="0" rtlCol="0" anchor="ctr"/>
          <a:lstStyle/>
          <a:p>
            <a:pPr algn="ctr" indent="0" marL="0">
              <a:buNone/>
            </a:pPr>
            <a:r>
              <a:rPr lang="en-US" sz="1000" dirty="0">
                <a:solidFill>
                  <a:srgbClr val="1F2430"/>
                </a:solidFill>
              </a:rPr>
              <a:t>LP8</a:t>
            </a:r>
            <a:endParaRPr lang="en-US" sz="1000" dirty="0"/>
          </a:p>
        </p:txBody>
      </p:sp>
      <p:sp>
        <p:nvSpPr>
          <p:cNvPr id="54" name="Shape 52"/>
          <p:cNvSpPr/>
          <p:nvPr/>
        </p:nvSpPr>
        <p:spPr>
          <a:xfrm>
            <a:off x="457200" y="2825496"/>
            <a:ext cx="2926080" cy="237744"/>
          </a:xfrm>
          <a:prstGeom prst="roundRect">
            <a:avLst>
              <a:gd name="adj" fmla="val 15385"/>
            </a:avLst>
          </a:prstGeom>
          <a:solidFill>
            <a:srgbClr val="C5CAE9"/>
          </a:solidFill>
          <a:ln/>
        </p:spPr>
      </p:sp>
      <p:sp>
        <p:nvSpPr>
          <p:cNvPr id="55" name="Text 53"/>
          <p:cNvSpPr txBox="1"/>
          <p:nvPr/>
        </p:nvSpPr>
        <p:spPr>
          <a:xfrm>
            <a:off x="548640" y="2825496"/>
            <a:ext cx="2743200" cy="237744"/>
          </a:xfrm>
          <a:prstGeom prst="rect">
            <a:avLst/>
          </a:prstGeom>
          <a:noFill/>
          <a:ln/>
        </p:spPr>
        <p:txBody>
          <a:bodyPr wrap="square" lIns="0" tIns="0" rIns="0" bIns="0" rtlCol="0" anchor="ctr"/>
          <a:lstStyle/>
          <a:p>
            <a:pPr algn="l" indent="0" marL="0">
              <a:buNone/>
            </a:pPr>
            <a:r>
              <a:rPr lang="en-US" sz="1100" dirty="0">
                <a:solidFill>
                  <a:srgbClr val="0E1440"/>
                </a:solidFill>
              </a:rPr>
              <a:t>7  Gain of reinforcing loops</a:t>
            </a:r>
            <a:endParaRPr lang="en-US" sz="1100" dirty="0"/>
          </a:p>
        </p:txBody>
      </p:sp>
      <p:sp>
        <p:nvSpPr>
          <p:cNvPr id="56" name="Text 54"/>
          <p:cNvSpPr txBox="1"/>
          <p:nvPr/>
        </p:nvSpPr>
        <p:spPr>
          <a:xfrm>
            <a:off x="3566160" y="2825496"/>
            <a:ext cx="4114800" cy="237744"/>
          </a:xfrm>
          <a:prstGeom prst="rect">
            <a:avLst/>
          </a:prstGeom>
          <a:noFill/>
          <a:ln/>
        </p:spPr>
        <p:txBody>
          <a:bodyPr wrap="square" lIns="0" tIns="0" rIns="0" bIns="0" rtlCol="0" anchor="ctr"/>
          <a:lstStyle/>
          <a:p>
            <a:pPr algn="l" indent="0" marL="0">
              <a:buNone/>
            </a:pPr>
            <a:r>
              <a:rPr lang="en-US" sz="1050" i="1" dirty="0">
                <a:solidFill>
                  <a:srgbClr val="B8BFE6"/>
                </a:solidFill>
              </a:rPr>
              <a:t>no lever</a:t>
            </a:r>
            <a:endParaRPr lang="en-US" sz="1050" dirty="0"/>
          </a:p>
        </p:txBody>
      </p:sp>
      <p:sp>
        <p:nvSpPr>
          <p:cNvPr id="57" name="Shape 55"/>
          <p:cNvSpPr/>
          <p:nvPr/>
        </p:nvSpPr>
        <p:spPr>
          <a:xfrm>
            <a:off x="457200" y="3095244"/>
            <a:ext cx="2926080" cy="237744"/>
          </a:xfrm>
          <a:prstGeom prst="roundRect">
            <a:avLst>
              <a:gd name="adj" fmla="val 15385"/>
            </a:avLst>
          </a:prstGeom>
          <a:solidFill>
            <a:srgbClr val="D3D8EE"/>
          </a:solidFill>
          <a:ln/>
        </p:spPr>
      </p:sp>
      <p:sp>
        <p:nvSpPr>
          <p:cNvPr id="58" name="Text 56"/>
          <p:cNvSpPr txBox="1"/>
          <p:nvPr/>
        </p:nvSpPr>
        <p:spPr>
          <a:xfrm>
            <a:off x="548640" y="3095244"/>
            <a:ext cx="2743200" cy="237744"/>
          </a:xfrm>
          <a:prstGeom prst="rect">
            <a:avLst/>
          </a:prstGeom>
          <a:noFill/>
          <a:ln/>
        </p:spPr>
        <p:txBody>
          <a:bodyPr wrap="square" lIns="0" tIns="0" rIns="0" bIns="0" rtlCol="0" anchor="ctr"/>
          <a:lstStyle/>
          <a:p>
            <a:pPr algn="l" indent="0" marL="0">
              <a:buNone/>
            </a:pPr>
            <a:r>
              <a:rPr lang="en-US" sz="1100" dirty="0">
                <a:solidFill>
                  <a:srgbClr val="0E1440"/>
                </a:solidFill>
              </a:rPr>
              <a:t>8  Strength of balancing loops</a:t>
            </a:r>
            <a:endParaRPr lang="en-US" sz="1100" dirty="0"/>
          </a:p>
        </p:txBody>
      </p:sp>
      <p:sp>
        <p:nvSpPr>
          <p:cNvPr id="59" name="Shape 57"/>
          <p:cNvSpPr/>
          <p:nvPr/>
        </p:nvSpPr>
        <p:spPr>
          <a:xfrm>
            <a:off x="3566160" y="3104388"/>
            <a:ext cx="960120" cy="219456"/>
          </a:xfrm>
          <a:prstGeom prst="roundRect">
            <a:avLst>
              <a:gd name="adj" fmla="val 20833"/>
            </a:avLst>
          </a:prstGeom>
          <a:solidFill>
            <a:srgbClr val="E0F2F1"/>
          </a:solidFill>
          <a:ln w="12700">
            <a:solidFill>
              <a:srgbClr val="00695C"/>
            </a:solidFill>
            <a:prstDash val="solid"/>
          </a:ln>
        </p:spPr>
      </p:sp>
      <p:sp>
        <p:nvSpPr>
          <p:cNvPr id="60" name="Text 58"/>
          <p:cNvSpPr txBox="1"/>
          <p:nvPr/>
        </p:nvSpPr>
        <p:spPr>
          <a:xfrm>
            <a:off x="3630168" y="3104388"/>
            <a:ext cx="832104" cy="219456"/>
          </a:xfrm>
          <a:prstGeom prst="rect">
            <a:avLst/>
          </a:prstGeom>
          <a:noFill/>
          <a:ln/>
        </p:spPr>
        <p:txBody>
          <a:bodyPr wrap="square" lIns="0" tIns="0" rIns="0" bIns="0" rtlCol="0" anchor="ctr"/>
          <a:lstStyle/>
          <a:p>
            <a:pPr algn="ctr" indent="0" marL="0">
              <a:buNone/>
            </a:pPr>
            <a:r>
              <a:rPr lang="en-US" sz="1000" dirty="0">
                <a:solidFill>
                  <a:srgbClr val="1F2430"/>
                </a:solidFill>
              </a:rPr>
              <a:t>LP3 target</a:t>
            </a:r>
            <a:endParaRPr lang="en-US" sz="1000" dirty="0"/>
          </a:p>
        </p:txBody>
      </p:sp>
      <p:sp>
        <p:nvSpPr>
          <p:cNvPr id="61" name="Shape 59"/>
          <p:cNvSpPr/>
          <p:nvPr/>
        </p:nvSpPr>
        <p:spPr>
          <a:xfrm>
            <a:off x="4599432" y="3104388"/>
            <a:ext cx="480060" cy="219456"/>
          </a:xfrm>
          <a:prstGeom prst="roundRect">
            <a:avLst>
              <a:gd name="adj" fmla="val 20833"/>
            </a:avLst>
          </a:prstGeom>
          <a:solidFill>
            <a:srgbClr val="E0F2F1"/>
          </a:solidFill>
          <a:ln w="12700">
            <a:solidFill>
              <a:srgbClr val="00695C"/>
            </a:solidFill>
            <a:prstDash val="solid"/>
          </a:ln>
        </p:spPr>
      </p:sp>
      <p:sp>
        <p:nvSpPr>
          <p:cNvPr id="62" name="Text 60"/>
          <p:cNvSpPr txBox="1"/>
          <p:nvPr/>
        </p:nvSpPr>
        <p:spPr>
          <a:xfrm>
            <a:off x="4663440" y="3104388"/>
            <a:ext cx="352044" cy="219456"/>
          </a:xfrm>
          <a:prstGeom prst="rect">
            <a:avLst/>
          </a:prstGeom>
          <a:noFill/>
          <a:ln/>
        </p:spPr>
        <p:txBody>
          <a:bodyPr wrap="square" lIns="0" tIns="0" rIns="0" bIns="0" rtlCol="0" anchor="ctr"/>
          <a:lstStyle/>
          <a:p>
            <a:pPr algn="ctr" indent="0" marL="0">
              <a:buNone/>
            </a:pPr>
            <a:r>
              <a:rPr lang="en-US" sz="1000" dirty="0">
                <a:solidFill>
                  <a:srgbClr val="1F2430"/>
                </a:solidFill>
              </a:rPr>
              <a:t>LP5</a:t>
            </a:r>
            <a:endParaRPr lang="en-US" sz="1000" dirty="0"/>
          </a:p>
        </p:txBody>
      </p:sp>
      <p:sp>
        <p:nvSpPr>
          <p:cNvPr id="63" name="Shape 61"/>
          <p:cNvSpPr/>
          <p:nvPr/>
        </p:nvSpPr>
        <p:spPr>
          <a:xfrm>
            <a:off x="5152644" y="3104388"/>
            <a:ext cx="480060" cy="219456"/>
          </a:xfrm>
          <a:prstGeom prst="roundRect">
            <a:avLst>
              <a:gd name="adj" fmla="val 20833"/>
            </a:avLst>
          </a:prstGeom>
          <a:solidFill>
            <a:srgbClr val="E3F2FD"/>
          </a:solidFill>
          <a:ln w="12700">
            <a:solidFill>
              <a:srgbClr val="1565C0"/>
            </a:solidFill>
            <a:prstDash val="solid"/>
          </a:ln>
        </p:spPr>
      </p:sp>
      <p:sp>
        <p:nvSpPr>
          <p:cNvPr id="64" name="Text 62"/>
          <p:cNvSpPr txBox="1"/>
          <p:nvPr/>
        </p:nvSpPr>
        <p:spPr>
          <a:xfrm>
            <a:off x="5216652" y="3104388"/>
            <a:ext cx="352044" cy="219456"/>
          </a:xfrm>
          <a:prstGeom prst="rect">
            <a:avLst/>
          </a:prstGeom>
          <a:noFill/>
          <a:ln/>
        </p:spPr>
        <p:txBody>
          <a:bodyPr wrap="square" lIns="0" tIns="0" rIns="0" bIns="0" rtlCol="0" anchor="ctr"/>
          <a:lstStyle/>
          <a:p>
            <a:pPr algn="ctr" indent="0" marL="0">
              <a:buNone/>
            </a:pPr>
            <a:r>
              <a:rPr lang="en-US" sz="1000" dirty="0">
                <a:solidFill>
                  <a:srgbClr val="1F2430"/>
                </a:solidFill>
              </a:rPr>
              <a:t>LP7</a:t>
            </a:r>
            <a:endParaRPr lang="en-US" sz="1000" dirty="0"/>
          </a:p>
        </p:txBody>
      </p:sp>
      <p:sp>
        <p:nvSpPr>
          <p:cNvPr id="65" name="Shape 63"/>
          <p:cNvSpPr/>
          <p:nvPr/>
        </p:nvSpPr>
        <p:spPr>
          <a:xfrm>
            <a:off x="457200" y="3364992"/>
            <a:ext cx="2926080" cy="237744"/>
          </a:xfrm>
          <a:prstGeom prst="roundRect">
            <a:avLst>
              <a:gd name="adj" fmla="val 15385"/>
            </a:avLst>
          </a:prstGeom>
          <a:solidFill>
            <a:srgbClr val="DDE0F0"/>
          </a:solidFill>
          <a:ln/>
        </p:spPr>
      </p:sp>
      <p:sp>
        <p:nvSpPr>
          <p:cNvPr id="66" name="Text 64"/>
          <p:cNvSpPr txBox="1"/>
          <p:nvPr/>
        </p:nvSpPr>
        <p:spPr>
          <a:xfrm>
            <a:off x="548640" y="3364992"/>
            <a:ext cx="2743200" cy="237744"/>
          </a:xfrm>
          <a:prstGeom prst="rect">
            <a:avLst/>
          </a:prstGeom>
          <a:noFill/>
          <a:ln/>
        </p:spPr>
        <p:txBody>
          <a:bodyPr wrap="square" lIns="0" tIns="0" rIns="0" bIns="0" rtlCol="0" anchor="ctr"/>
          <a:lstStyle/>
          <a:p>
            <a:pPr algn="l" indent="0" marL="0">
              <a:buNone/>
            </a:pPr>
            <a:r>
              <a:rPr lang="en-US" sz="1100" dirty="0">
                <a:solidFill>
                  <a:srgbClr val="0E1440"/>
                </a:solidFill>
              </a:rPr>
              <a:t>9  Length of delays</a:t>
            </a:r>
            <a:endParaRPr lang="en-US" sz="1100" dirty="0"/>
          </a:p>
        </p:txBody>
      </p:sp>
      <p:sp>
        <p:nvSpPr>
          <p:cNvPr id="67" name="Text 65"/>
          <p:cNvSpPr txBox="1"/>
          <p:nvPr/>
        </p:nvSpPr>
        <p:spPr>
          <a:xfrm>
            <a:off x="3566160" y="3364992"/>
            <a:ext cx="4114800" cy="237744"/>
          </a:xfrm>
          <a:prstGeom prst="rect">
            <a:avLst/>
          </a:prstGeom>
          <a:noFill/>
          <a:ln/>
        </p:spPr>
        <p:txBody>
          <a:bodyPr wrap="square" lIns="0" tIns="0" rIns="0" bIns="0" rtlCol="0" anchor="ctr"/>
          <a:lstStyle/>
          <a:p>
            <a:pPr algn="l" indent="0" marL="0">
              <a:buNone/>
            </a:pPr>
            <a:r>
              <a:rPr lang="en-US" sz="1050" i="1" dirty="0">
                <a:solidFill>
                  <a:srgbClr val="B8BFE6"/>
                </a:solidFill>
              </a:rPr>
              <a:t>not claimed</a:t>
            </a:r>
            <a:endParaRPr lang="en-US" sz="1050" dirty="0"/>
          </a:p>
        </p:txBody>
      </p:sp>
      <p:sp>
        <p:nvSpPr>
          <p:cNvPr id="68" name="Shape 66"/>
          <p:cNvSpPr/>
          <p:nvPr/>
        </p:nvSpPr>
        <p:spPr>
          <a:xfrm>
            <a:off x="457200" y="3634740"/>
            <a:ext cx="2926080" cy="237744"/>
          </a:xfrm>
          <a:prstGeom prst="roundRect">
            <a:avLst>
              <a:gd name="adj" fmla="val 15385"/>
            </a:avLst>
          </a:prstGeom>
          <a:solidFill>
            <a:srgbClr val="E8EAF6"/>
          </a:solidFill>
          <a:ln/>
        </p:spPr>
      </p:sp>
      <p:sp>
        <p:nvSpPr>
          <p:cNvPr id="69" name="Text 67"/>
          <p:cNvSpPr txBox="1"/>
          <p:nvPr/>
        </p:nvSpPr>
        <p:spPr>
          <a:xfrm>
            <a:off x="548640" y="3634740"/>
            <a:ext cx="2743200" cy="237744"/>
          </a:xfrm>
          <a:prstGeom prst="rect">
            <a:avLst/>
          </a:prstGeom>
          <a:noFill/>
          <a:ln/>
        </p:spPr>
        <p:txBody>
          <a:bodyPr wrap="square" lIns="0" tIns="0" rIns="0" bIns="0" rtlCol="0" anchor="ctr"/>
          <a:lstStyle/>
          <a:p>
            <a:pPr algn="l" indent="0" marL="0">
              <a:buNone/>
            </a:pPr>
            <a:r>
              <a:rPr lang="en-US" sz="1100" dirty="0">
                <a:solidFill>
                  <a:srgbClr val="0E1440"/>
                </a:solidFill>
              </a:rPr>
              <a:t>10  Stocks and flows structure</a:t>
            </a:r>
            <a:endParaRPr lang="en-US" sz="1100" dirty="0"/>
          </a:p>
        </p:txBody>
      </p:sp>
      <p:sp>
        <p:nvSpPr>
          <p:cNvPr id="70" name="Shape 68"/>
          <p:cNvSpPr/>
          <p:nvPr/>
        </p:nvSpPr>
        <p:spPr>
          <a:xfrm>
            <a:off x="3566160" y="3643884"/>
            <a:ext cx="1234440" cy="219456"/>
          </a:xfrm>
          <a:prstGeom prst="roundRect">
            <a:avLst>
              <a:gd name="adj" fmla="val 20833"/>
            </a:avLst>
          </a:prstGeom>
          <a:solidFill>
            <a:srgbClr val="E0F2F1"/>
          </a:solidFill>
          <a:ln w="12700">
            <a:solidFill>
              <a:srgbClr val="00695C"/>
            </a:solidFill>
            <a:prstDash val="solid"/>
          </a:ln>
        </p:spPr>
      </p:sp>
      <p:sp>
        <p:nvSpPr>
          <p:cNvPr id="71" name="Text 69"/>
          <p:cNvSpPr txBox="1"/>
          <p:nvPr/>
        </p:nvSpPr>
        <p:spPr>
          <a:xfrm>
            <a:off x="3630168" y="3643884"/>
            <a:ext cx="1106424" cy="219456"/>
          </a:xfrm>
          <a:prstGeom prst="rect">
            <a:avLst/>
          </a:prstGeom>
          <a:noFill/>
          <a:ln/>
        </p:spPr>
        <p:txBody>
          <a:bodyPr wrap="square" lIns="0" tIns="0" rIns="0" bIns="0" rtlCol="0" anchor="ctr"/>
          <a:lstStyle/>
          <a:p>
            <a:pPr algn="ctr" indent="0" marL="0">
              <a:buNone/>
            </a:pPr>
            <a:r>
              <a:rPr lang="en-US" sz="1000" dirty="0">
                <a:solidFill>
                  <a:srgbClr val="1F2430"/>
                </a:solidFill>
              </a:rPr>
              <a:t>LP6 late batch</a:t>
            </a:r>
            <a:endParaRPr lang="en-US" sz="1000" dirty="0"/>
          </a:p>
        </p:txBody>
      </p:sp>
      <p:sp>
        <p:nvSpPr>
          <p:cNvPr id="72" name="Shape 70"/>
          <p:cNvSpPr/>
          <p:nvPr/>
        </p:nvSpPr>
        <p:spPr>
          <a:xfrm>
            <a:off x="457200" y="3904488"/>
            <a:ext cx="2926080" cy="237744"/>
          </a:xfrm>
          <a:prstGeom prst="roundRect">
            <a:avLst>
              <a:gd name="adj" fmla="val 15385"/>
            </a:avLst>
          </a:prstGeom>
          <a:solidFill>
            <a:srgbClr val="EEF0F9"/>
          </a:solidFill>
          <a:ln/>
        </p:spPr>
      </p:sp>
      <p:sp>
        <p:nvSpPr>
          <p:cNvPr id="73" name="Text 71"/>
          <p:cNvSpPr txBox="1"/>
          <p:nvPr/>
        </p:nvSpPr>
        <p:spPr>
          <a:xfrm>
            <a:off x="548640" y="3904488"/>
            <a:ext cx="2743200" cy="237744"/>
          </a:xfrm>
          <a:prstGeom prst="rect">
            <a:avLst/>
          </a:prstGeom>
          <a:noFill/>
          <a:ln/>
        </p:spPr>
        <p:txBody>
          <a:bodyPr wrap="square" lIns="0" tIns="0" rIns="0" bIns="0" rtlCol="0" anchor="ctr"/>
          <a:lstStyle/>
          <a:p>
            <a:pPr algn="l" indent="0" marL="0">
              <a:buNone/>
            </a:pPr>
            <a:r>
              <a:rPr lang="en-US" sz="1100" dirty="0">
                <a:solidFill>
                  <a:srgbClr val="0E1440"/>
                </a:solidFill>
              </a:rPr>
              <a:t>11  Buffer sizes</a:t>
            </a:r>
            <a:endParaRPr lang="en-US" sz="1100" dirty="0"/>
          </a:p>
        </p:txBody>
      </p:sp>
      <p:sp>
        <p:nvSpPr>
          <p:cNvPr id="74" name="Text 72"/>
          <p:cNvSpPr txBox="1"/>
          <p:nvPr/>
        </p:nvSpPr>
        <p:spPr>
          <a:xfrm>
            <a:off x="3566160" y="3904488"/>
            <a:ext cx="4114800" cy="237744"/>
          </a:xfrm>
          <a:prstGeom prst="rect">
            <a:avLst/>
          </a:prstGeom>
          <a:noFill/>
          <a:ln/>
        </p:spPr>
        <p:txBody>
          <a:bodyPr wrap="square" lIns="0" tIns="0" rIns="0" bIns="0" rtlCol="0" anchor="ctr"/>
          <a:lstStyle/>
          <a:p>
            <a:pPr algn="l" indent="0" marL="0">
              <a:buNone/>
            </a:pPr>
            <a:r>
              <a:rPr lang="en-US" sz="1050" i="1" dirty="0">
                <a:solidFill>
                  <a:srgbClr val="B8BFE6"/>
                </a:solidFill>
              </a:rPr>
              <a:t>settings inside a deeper lever only</a:t>
            </a:r>
            <a:endParaRPr lang="en-US" sz="1050" dirty="0"/>
          </a:p>
        </p:txBody>
      </p:sp>
      <p:sp>
        <p:nvSpPr>
          <p:cNvPr id="75" name="Shape 73"/>
          <p:cNvSpPr/>
          <p:nvPr/>
        </p:nvSpPr>
        <p:spPr>
          <a:xfrm>
            <a:off x="457200" y="4174236"/>
            <a:ext cx="2926080" cy="237744"/>
          </a:xfrm>
          <a:prstGeom prst="roundRect">
            <a:avLst>
              <a:gd name="adj" fmla="val 15385"/>
            </a:avLst>
          </a:prstGeom>
          <a:solidFill>
            <a:srgbClr val="F3F4FA"/>
          </a:solidFill>
          <a:ln/>
        </p:spPr>
      </p:sp>
      <p:sp>
        <p:nvSpPr>
          <p:cNvPr id="76" name="Text 74"/>
          <p:cNvSpPr txBox="1"/>
          <p:nvPr/>
        </p:nvSpPr>
        <p:spPr>
          <a:xfrm>
            <a:off x="548640" y="4174236"/>
            <a:ext cx="2743200" cy="237744"/>
          </a:xfrm>
          <a:prstGeom prst="rect">
            <a:avLst/>
          </a:prstGeom>
          <a:noFill/>
          <a:ln/>
        </p:spPr>
        <p:txBody>
          <a:bodyPr wrap="square" lIns="0" tIns="0" rIns="0" bIns="0" rtlCol="0" anchor="ctr"/>
          <a:lstStyle/>
          <a:p>
            <a:pPr algn="l" indent="0" marL="0">
              <a:buNone/>
            </a:pPr>
            <a:r>
              <a:rPr lang="en-US" sz="1100" dirty="0">
                <a:solidFill>
                  <a:srgbClr val="0E1440"/>
                </a:solidFill>
              </a:rPr>
              <a:t>12  Parameters and numbers</a:t>
            </a:r>
            <a:endParaRPr lang="en-US" sz="1100" dirty="0"/>
          </a:p>
        </p:txBody>
      </p:sp>
      <p:sp>
        <p:nvSpPr>
          <p:cNvPr id="77" name="Text 75"/>
          <p:cNvSpPr txBox="1"/>
          <p:nvPr/>
        </p:nvSpPr>
        <p:spPr>
          <a:xfrm>
            <a:off x="3566160" y="4174236"/>
            <a:ext cx="4114800" cy="237744"/>
          </a:xfrm>
          <a:prstGeom prst="rect">
            <a:avLst/>
          </a:prstGeom>
          <a:noFill/>
          <a:ln/>
        </p:spPr>
        <p:txBody>
          <a:bodyPr wrap="square" lIns="0" tIns="0" rIns="0" bIns="0" rtlCol="0" anchor="ctr"/>
          <a:lstStyle/>
          <a:p>
            <a:pPr algn="l" indent="0" marL="0">
              <a:buNone/>
            </a:pPr>
            <a:r>
              <a:rPr lang="en-US" sz="1050" i="1" dirty="0">
                <a:solidFill>
                  <a:srgbClr val="B8BFE6"/>
                </a:solidFill>
              </a:rPr>
              <a:t>settings inside a deeper lever only</a:t>
            </a:r>
            <a:endParaRPr lang="en-US" sz="1050" dirty="0"/>
          </a:p>
        </p:txBody>
      </p:sp>
      <p:sp>
        <p:nvSpPr>
          <p:cNvPr id="78" name="Text 76"/>
          <p:cNvSpPr txBox="1"/>
          <p:nvPr/>
        </p:nvSpPr>
        <p:spPr>
          <a:xfrm>
            <a:off x="6400800" y="1207008"/>
            <a:ext cx="2286000" cy="228600"/>
          </a:xfrm>
          <a:prstGeom prst="rect">
            <a:avLst/>
          </a:prstGeom>
          <a:noFill/>
          <a:ln/>
        </p:spPr>
        <p:txBody>
          <a:bodyPr wrap="square" lIns="0" tIns="0" rIns="0" bIns="0" rtlCol="0" anchor="t"/>
          <a:lstStyle/>
          <a:p>
            <a:pPr algn="r" indent="0" marL="0">
              <a:buNone/>
            </a:pPr>
            <a:r>
              <a:rPr lang="en-US" sz="1200" b="1" dirty="0">
                <a:solidFill>
                  <a:srgbClr val="B8BFE6"/>
                </a:solidFill>
              </a:rPr>
              <a:t>Place 1 is the deepest.</a:t>
            </a:r>
            <a:endParaRPr lang="en-US" sz="1200" dirty="0"/>
          </a:p>
        </p:txBody>
      </p:sp>
      <p:sp>
        <p:nvSpPr>
          <p:cNvPr id="79" name="Shape 77"/>
          <p:cNvSpPr/>
          <p:nvPr/>
        </p:nvSpPr>
        <p:spPr>
          <a:xfrm>
            <a:off x="5760720" y="3886200"/>
            <a:ext cx="1417320" cy="274320"/>
          </a:xfrm>
          <a:prstGeom prst="roundRect">
            <a:avLst>
              <a:gd name="adj" fmla="val 20000"/>
            </a:avLst>
          </a:prstGeom>
          <a:solidFill>
            <a:srgbClr val="FDECEA"/>
          </a:solidFill>
          <a:ln w="12700">
            <a:solidFill>
              <a:srgbClr val="C62828"/>
            </a:solidFill>
            <a:prstDash val="solid"/>
          </a:ln>
        </p:spPr>
      </p:sp>
      <p:sp>
        <p:nvSpPr>
          <p:cNvPr id="80" name="Text 78"/>
          <p:cNvSpPr txBox="1"/>
          <p:nvPr/>
        </p:nvSpPr>
        <p:spPr>
          <a:xfrm>
            <a:off x="5824728" y="3886200"/>
            <a:ext cx="1289304" cy="274320"/>
          </a:xfrm>
          <a:prstGeom prst="rect">
            <a:avLst/>
          </a:prstGeom>
          <a:noFill/>
          <a:ln/>
        </p:spPr>
        <p:txBody>
          <a:bodyPr wrap="square" lIns="0" tIns="0" rIns="0" bIns="0" rtlCol="0" anchor="ctr"/>
          <a:lstStyle/>
          <a:p>
            <a:pPr algn="ctr" indent="0" marL="0">
              <a:buNone/>
            </a:pPr>
            <a:r>
              <a:rPr lang="en-US" sz="1000" dirty="0">
                <a:solidFill>
                  <a:srgbClr val="1F2430"/>
                </a:solidFill>
              </a:rPr>
              <a:t>the route</a:t>
            </a:r>
            <a:endParaRPr lang="en-US" sz="1000" dirty="0"/>
          </a:p>
        </p:txBody>
      </p:sp>
      <p:sp>
        <p:nvSpPr>
          <p:cNvPr id="81" name="Shape 79"/>
          <p:cNvSpPr/>
          <p:nvPr/>
        </p:nvSpPr>
        <p:spPr>
          <a:xfrm>
            <a:off x="7269480" y="3886200"/>
            <a:ext cx="1417320" cy="274320"/>
          </a:xfrm>
          <a:prstGeom prst="roundRect">
            <a:avLst>
              <a:gd name="adj" fmla="val 20000"/>
            </a:avLst>
          </a:prstGeom>
          <a:solidFill>
            <a:srgbClr val="E0F2F1"/>
          </a:solidFill>
          <a:ln w="12700">
            <a:solidFill>
              <a:srgbClr val="00695C"/>
            </a:solidFill>
            <a:prstDash val="solid"/>
          </a:ln>
        </p:spPr>
      </p:sp>
      <p:sp>
        <p:nvSpPr>
          <p:cNvPr id="82" name="Text 80"/>
          <p:cNvSpPr txBox="1"/>
          <p:nvPr/>
        </p:nvSpPr>
        <p:spPr>
          <a:xfrm>
            <a:off x="7333488" y="3886200"/>
            <a:ext cx="1289304" cy="274320"/>
          </a:xfrm>
          <a:prstGeom prst="rect">
            <a:avLst/>
          </a:prstGeom>
          <a:noFill/>
          <a:ln/>
        </p:spPr>
        <p:txBody>
          <a:bodyPr wrap="square" lIns="0" tIns="0" rIns="0" bIns="0" rtlCol="0" anchor="ctr"/>
          <a:lstStyle/>
          <a:p>
            <a:pPr algn="ctr" indent="0" marL="0">
              <a:buNone/>
            </a:pPr>
            <a:r>
              <a:rPr lang="en-US" sz="1000" dirty="0">
                <a:solidFill>
                  <a:srgbClr val="1F2430"/>
                </a:solidFill>
              </a:rPr>
              <a:t>operator levers</a:t>
            </a:r>
            <a:endParaRPr lang="en-US" sz="1000" dirty="0"/>
          </a:p>
        </p:txBody>
      </p:sp>
      <p:sp>
        <p:nvSpPr>
          <p:cNvPr id="83" name="Shape 81"/>
          <p:cNvSpPr/>
          <p:nvPr/>
        </p:nvSpPr>
        <p:spPr>
          <a:xfrm>
            <a:off x="5760720" y="4233672"/>
            <a:ext cx="1417320" cy="274320"/>
          </a:xfrm>
          <a:prstGeom prst="roundRect">
            <a:avLst>
              <a:gd name="adj" fmla="val 20000"/>
            </a:avLst>
          </a:prstGeom>
          <a:solidFill>
            <a:srgbClr val="E3F2FD"/>
          </a:solidFill>
          <a:ln w="12700">
            <a:solidFill>
              <a:srgbClr val="1565C0"/>
            </a:solidFill>
            <a:prstDash val="solid"/>
          </a:ln>
        </p:spPr>
      </p:sp>
      <p:sp>
        <p:nvSpPr>
          <p:cNvPr id="84" name="Text 82"/>
          <p:cNvSpPr txBox="1"/>
          <p:nvPr/>
        </p:nvSpPr>
        <p:spPr>
          <a:xfrm>
            <a:off x="5824728" y="4233672"/>
            <a:ext cx="1289304" cy="274320"/>
          </a:xfrm>
          <a:prstGeom prst="rect">
            <a:avLst/>
          </a:prstGeom>
          <a:noFill/>
          <a:ln/>
        </p:spPr>
        <p:txBody>
          <a:bodyPr wrap="square" lIns="0" tIns="0" rIns="0" bIns="0" rtlCol="0" anchor="ctr"/>
          <a:lstStyle/>
          <a:p>
            <a:pPr algn="ctr" indent="0" marL="0">
              <a:buNone/>
            </a:pPr>
            <a:r>
              <a:rPr lang="en-US" sz="1000" dirty="0">
                <a:solidFill>
                  <a:srgbClr val="1F2430"/>
                </a:solidFill>
              </a:rPr>
              <a:t>rule owner levers</a:t>
            </a:r>
            <a:endParaRPr lang="en-US" sz="1000" dirty="0"/>
          </a:p>
        </p:txBody>
      </p:sp>
      <p:sp>
        <p:nvSpPr>
          <p:cNvPr id="85" name="Shape 83"/>
          <p:cNvSpPr/>
          <p:nvPr/>
        </p:nvSpPr>
        <p:spPr>
          <a:xfrm>
            <a:off x="7269480" y="4233672"/>
            <a:ext cx="1417320" cy="274320"/>
          </a:xfrm>
          <a:prstGeom prst="roundRect">
            <a:avLst>
              <a:gd name="adj" fmla="val 20000"/>
            </a:avLst>
          </a:prstGeom>
          <a:solidFill>
            <a:srgbClr val="F3E5F5"/>
          </a:solidFill>
          <a:ln w="12700">
            <a:solidFill>
              <a:srgbClr val="6A1B9A"/>
            </a:solidFill>
            <a:prstDash val="solid"/>
          </a:ln>
        </p:spPr>
      </p:sp>
      <p:sp>
        <p:nvSpPr>
          <p:cNvPr id="86" name="Text 84"/>
          <p:cNvSpPr txBox="1"/>
          <p:nvPr/>
        </p:nvSpPr>
        <p:spPr>
          <a:xfrm>
            <a:off x="7333488" y="4233672"/>
            <a:ext cx="1289304" cy="274320"/>
          </a:xfrm>
          <a:prstGeom prst="rect">
            <a:avLst/>
          </a:prstGeom>
          <a:noFill/>
          <a:ln/>
        </p:spPr>
        <p:txBody>
          <a:bodyPr wrap="square" lIns="0" tIns="0" rIns="0" bIns="0" rtlCol="0" anchor="ctr"/>
          <a:lstStyle/>
          <a:p>
            <a:pPr algn="ctr" indent="0" marL="0">
              <a:buNone/>
            </a:pPr>
            <a:r>
              <a:rPr lang="en-US" sz="1000" dirty="0">
                <a:solidFill>
                  <a:srgbClr val="1F2430"/>
                </a:solidFill>
              </a:rPr>
              <a:t>beliefs and goals</a:t>
            </a:r>
            <a:endParaRPr lang="en-US" sz="1000" dirty="0"/>
          </a:p>
        </p:txBody>
      </p:sp>
      <p:sp>
        <p:nvSpPr>
          <p:cNvPr id="87" name="Text 85"/>
          <p:cNvSpPr txBox="1"/>
          <p:nvPr/>
        </p:nvSpPr>
        <p:spPr>
          <a:xfrm>
            <a:off x="5760720" y="4590288"/>
            <a:ext cx="2926080" cy="182880"/>
          </a:xfrm>
          <a:prstGeom prst="rect">
            <a:avLst/>
          </a:prstGeom>
          <a:noFill/>
          <a:ln/>
        </p:spPr>
        <p:txBody>
          <a:bodyPr wrap="square" lIns="0" tIns="0" rIns="0" bIns="0" rtlCol="0" anchor="t"/>
          <a:lstStyle/>
          <a:p>
            <a:pPr algn="l" indent="0" marL="0">
              <a:buNone/>
            </a:pPr>
            <a:r>
              <a:rPr lang="en-US" sz="950" dirty="0">
                <a:solidFill>
                  <a:srgbClr val="B8BFE6"/>
                </a:solidFill>
              </a:rPr>
              <a:t>Dashed: held until the payment basis is known</a:t>
            </a:r>
            <a:endParaRPr lang="en-US" sz="9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Levers are ranked by depth, then feasibility, and payment-basis levers are held</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65860" y="4841748"/>
            <a:ext cx="146304" cy="146304"/>
          </a:xfrm>
          <a:prstGeom prst="ellipse">
            <a:avLst/>
          </a:prstGeom>
          <a:solidFill>
            <a:srgbClr val="1A237E"/>
          </a:solidFill>
          <a:ln/>
        </p:spPr>
      </p:sp>
      <p:sp>
        <p:nvSpPr>
          <p:cNvPr id="8" name="Shape 6"/>
          <p:cNvSpPr/>
          <p:nvPr/>
        </p:nvSpPr>
        <p:spPr>
          <a:xfrm>
            <a:off x="1129284" y="4805172"/>
            <a:ext cx="219456" cy="219456"/>
          </a:xfrm>
          <a:prstGeom prst="ellipse">
            <a:avLst/>
          </a:prstGeom>
          <a:ln w="9525">
            <a:solidFill>
              <a:srgbClr val="1A237E"/>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5 Finding where to intervene</a:t>
            </a:r>
            <a:endParaRPr lang="en-US" sz="1000" dirty="0"/>
          </a:p>
        </p:txBody>
      </p:sp>
      <p:sp>
        <p:nvSpPr>
          <p:cNvPr id="15" name="Shape 13"/>
          <p:cNvSpPr/>
          <p:nvPr/>
        </p:nvSpPr>
        <p:spPr>
          <a:xfrm>
            <a:off x="6839712" y="109728"/>
            <a:ext cx="91440" cy="91440"/>
          </a:xfrm>
          <a:prstGeom prst="ellipse">
            <a:avLst/>
          </a:prstGeom>
          <a:ln w="9525">
            <a:solidFill>
              <a:srgbClr val="1A237E"/>
            </a:solidFill>
            <a:prstDash val="solid"/>
          </a:ln>
        </p:spPr>
      </p:sp>
      <p:sp>
        <p:nvSpPr>
          <p:cNvPr id="16" name="Shape 14"/>
          <p:cNvSpPr/>
          <p:nvPr/>
        </p:nvSpPr>
        <p:spPr>
          <a:xfrm>
            <a:off x="6986016" y="109728"/>
            <a:ext cx="91440" cy="91440"/>
          </a:xfrm>
          <a:prstGeom prst="ellipse">
            <a:avLst/>
          </a:prstGeom>
          <a:ln w="9525">
            <a:solidFill>
              <a:srgbClr val="1A237E"/>
            </a:solidFill>
            <a:prstDash val="solid"/>
          </a:ln>
        </p:spPr>
      </p:sp>
      <p:sp>
        <p:nvSpPr>
          <p:cNvPr id="17" name="Shape 15"/>
          <p:cNvSpPr/>
          <p:nvPr/>
        </p:nvSpPr>
        <p:spPr>
          <a:xfrm>
            <a:off x="7132320" y="109728"/>
            <a:ext cx="91440" cy="91440"/>
          </a:xfrm>
          <a:prstGeom prst="ellipse">
            <a:avLst/>
          </a:prstGeom>
          <a:ln w="9525">
            <a:solidFill>
              <a:srgbClr val="1A237E"/>
            </a:solidFill>
            <a:prstDash val="solid"/>
          </a:ln>
        </p:spPr>
      </p:sp>
      <p:sp>
        <p:nvSpPr>
          <p:cNvPr id="18" name="Shape 16"/>
          <p:cNvSpPr/>
          <p:nvPr/>
        </p:nvSpPr>
        <p:spPr>
          <a:xfrm>
            <a:off x="7278624" y="109728"/>
            <a:ext cx="91440" cy="91440"/>
          </a:xfrm>
          <a:prstGeom prst="ellipse">
            <a:avLst/>
          </a:prstGeom>
          <a:ln w="9525">
            <a:solidFill>
              <a:srgbClr val="1A237E"/>
            </a:solidFill>
            <a:prstDash val="solid"/>
          </a:ln>
        </p:spPr>
      </p:sp>
      <p:sp>
        <p:nvSpPr>
          <p:cNvPr id="19" name="Shape 17"/>
          <p:cNvSpPr/>
          <p:nvPr/>
        </p:nvSpPr>
        <p:spPr>
          <a:xfrm>
            <a:off x="7424928" y="109728"/>
            <a:ext cx="91440" cy="91440"/>
          </a:xfrm>
          <a:prstGeom prst="ellipse">
            <a:avLst/>
          </a:prstGeom>
          <a:ln w="9525">
            <a:solidFill>
              <a:srgbClr val="1A237E"/>
            </a:solidFill>
            <a:prstDash val="solid"/>
          </a:ln>
        </p:spPr>
      </p:sp>
      <p:sp>
        <p:nvSpPr>
          <p:cNvPr id="20" name="Shape 18"/>
          <p:cNvSpPr/>
          <p:nvPr/>
        </p:nvSpPr>
        <p:spPr>
          <a:xfrm>
            <a:off x="7571232" y="109728"/>
            <a:ext cx="91440" cy="91440"/>
          </a:xfrm>
          <a:prstGeom prst="ellipse">
            <a:avLst/>
          </a:prstGeom>
          <a:ln w="9525">
            <a:solidFill>
              <a:srgbClr val="1A237E"/>
            </a:solidFill>
            <a:prstDash val="solid"/>
          </a:ln>
        </p:spPr>
      </p:sp>
      <p:sp>
        <p:nvSpPr>
          <p:cNvPr id="21" name="Shape 19"/>
          <p:cNvSpPr/>
          <p:nvPr/>
        </p:nvSpPr>
        <p:spPr>
          <a:xfrm>
            <a:off x="7717536" y="109728"/>
            <a:ext cx="91440" cy="91440"/>
          </a:xfrm>
          <a:prstGeom prst="ellipse">
            <a:avLst/>
          </a:prstGeom>
          <a:ln w="9525">
            <a:solidFill>
              <a:srgbClr val="1A237E"/>
            </a:solidFill>
            <a:prstDash val="solid"/>
          </a:ln>
        </p:spPr>
      </p:sp>
      <p:sp>
        <p:nvSpPr>
          <p:cNvPr id="22" name="Shape 20"/>
          <p:cNvSpPr/>
          <p:nvPr/>
        </p:nvSpPr>
        <p:spPr>
          <a:xfrm>
            <a:off x="7863840" y="109728"/>
            <a:ext cx="91440" cy="91440"/>
          </a:xfrm>
          <a:prstGeom prst="ellipse">
            <a:avLst/>
          </a:prstGeom>
          <a:ln w="9525">
            <a:solidFill>
              <a:srgbClr val="1A237E"/>
            </a:solidFill>
            <a:prstDash val="solid"/>
          </a:ln>
        </p:spPr>
      </p:sp>
      <p:sp>
        <p:nvSpPr>
          <p:cNvPr id="23" name="Shape 21"/>
          <p:cNvSpPr/>
          <p:nvPr/>
        </p:nvSpPr>
        <p:spPr>
          <a:xfrm>
            <a:off x="8010144" y="109728"/>
            <a:ext cx="91440" cy="91440"/>
          </a:xfrm>
          <a:prstGeom prst="ellipse">
            <a:avLst/>
          </a:prstGeom>
          <a:solidFill>
            <a:srgbClr val="1A237E"/>
          </a:solidFill>
          <a:ln w="9525">
            <a:solidFill>
              <a:srgbClr val="1A237E"/>
            </a:solidFill>
            <a:prstDash val="solid"/>
          </a:ln>
        </p:spPr>
      </p:sp>
      <p:sp>
        <p:nvSpPr>
          <p:cNvPr id="24" name="Shape 22"/>
          <p:cNvSpPr/>
          <p:nvPr/>
        </p:nvSpPr>
        <p:spPr>
          <a:xfrm>
            <a:off x="8156448" y="109728"/>
            <a:ext cx="91440" cy="91440"/>
          </a:xfrm>
          <a:prstGeom prst="ellipse">
            <a:avLst/>
          </a:prstGeom>
          <a:ln w="9525">
            <a:solidFill>
              <a:srgbClr val="1A237E"/>
            </a:solidFill>
            <a:prstDash val="solid"/>
          </a:ln>
        </p:spPr>
      </p:sp>
      <p:sp>
        <p:nvSpPr>
          <p:cNvPr id="25" name="Shape 23"/>
          <p:cNvSpPr/>
          <p:nvPr/>
        </p:nvSpPr>
        <p:spPr>
          <a:xfrm>
            <a:off x="8302752" y="109728"/>
            <a:ext cx="91440" cy="91440"/>
          </a:xfrm>
          <a:prstGeom prst="ellipse">
            <a:avLst/>
          </a:prstGeom>
          <a:ln w="9525">
            <a:solidFill>
              <a:srgbClr val="1A237E"/>
            </a:solidFill>
            <a:prstDash val="solid"/>
          </a:ln>
        </p:spPr>
      </p:sp>
      <p:sp>
        <p:nvSpPr>
          <p:cNvPr id="26" name="Shape 24"/>
          <p:cNvSpPr/>
          <p:nvPr/>
        </p:nvSpPr>
        <p:spPr>
          <a:xfrm>
            <a:off x="8449056" y="109728"/>
            <a:ext cx="91440" cy="91440"/>
          </a:xfrm>
          <a:prstGeom prst="ellipse">
            <a:avLst/>
          </a:prstGeom>
          <a:ln w="9525">
            <a:solidFill>
              <a:srgbClr val="1A237E"/>
            </a:solidFill>
            <a:prstDash val="solid"/>
          </a:ln>
        </p:spPr>
      </p:sp>
      <p:sp>
        <p:nvSpPr>
          <p:cNvPr id="27" name="Shape 25"/>
          <p:cNvSpPr/>
          <p:nvPr/>
        </p:nvSpPr>
        <p:spPr>
          <a:xfrm>
            <a:off x="8595360" y="109728"/>
            <a:ext cx="91440" cy="91440"/>
          </a:xfrm>
          <a:prstGeom prst="ellipse">
            <a:avLst/>
          </a:prstGeom>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9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Rank levers by depth, then by feasibility; hold LP9 and LP10 until the payment basis is known</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9</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Depth alone or ease alone; cutting resale, reuse or outside diners' meals to show waste</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A billing change made blind could reverse the operator's incentive; absorbers feed real people</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The deepest levers are proposals only; LP1 ranks first though three are deeper</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Every other lever needs LP1's input</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A better-run kitchen relieves the symptom and leaves the cause alone</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65860" y="4841748"/>
            <a:ext cx="146304" cy="146304"/>
          </a:xfrm>
          <a:prstGeom prst="ellipse">
            <a:avLst/>
          </a:prstGeom>
          <a:solidFill>
            <a:srgbClr val="1A237E"/>
          </a:solidFill>
          <a:ln/>
        </p:spPr>
      </p:sp>
      <p:sp>
        <p:nvSpPr>
          <p:cNvPr id="8" name="Shape 6"/>
          <p:cNvSpPr/>
          <p:nvPr/>
        </p:nvSpPr>
        <p:spPr>
          <a:xfrm>
            <a:off x="1129284" y="4805172"/>
            <a:ext cx="219456" cy="219456"/>
          </a:xfrm>
          <a:prstGeom prst="ellipse">
            <a:avLst/>
          </a:prstGeom>
          <a:ln w="9525">
            <a:solidFill>
              <a:srgbClr val="1A237E"/>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5 Finding where to intervene</a:t>
            </a:r>
            <a:endParaRPr lang="en-US" sz="1000" dirty="0"/>
          </a:p>
        </p:txBody>
      </p:sp>
      <p:sp>
        <p:nvSpPr>
          <p:cNvPr id="15" name="Shape 13"/>
          <p:cNvSpPr/>
          <p:nvPr/>
        </p:nvSpPr>
        <p:spPr>
          <a:xfrm>
            <a:off x="3429000" y="2331720"/>
            <a:ext cx="2286000" cy="777240"/>
          </a:xfrm>
          <a:prstGeom prst="roundRect">
            <a:avLst>
              <a:gd name="adj" fmla="val 9412"/>
            </a:avLst>
          </a:prstGeom>
          <a:solidFill>
            <a:srgbClr val="FDECEA"/>
          </a:solidFill>
          <a:ln w="25400">
            <a:solidFill>
              <a:srgbClr val="C62828"/>
            </a:solidFill>
            <a:prstDash val="solid"/>
          </a:ln>
        </p:spPr>
      </p:sp>
      <p:sp>
        <p:nvSpPr>
          <p:cNvPr id="16" name="Text 14"/>
          <p:cNvSpPr txBox="1"/>
          <p:nvPr/>
        </p:nvSpPr>
        <p:spPr>
          <a:xfrm>
            <a:off x="3520440" y="2331720"/>
            <a:ext cx="2103120" cy="777240"/>
          </a:xfrm>
          <a:prstGeom prst="rect">
            <a:avLst/>
          </a:prstGeom>
          <a:noFill/>
          <a:ln/>
        </p:spPr>
        <p:txBody>
          <a:bodyPr wrap="square" lIns="0" tIns="0" rIns="0" bIns="0" rtlCol="0" anchor="ctr"/>
          <a:lstStyle/>
          <a:p>
            <a:pPr algn="ctr" indent="0" marL="0">
              <a:buNone/>
            </a:pPr>
            <a:r>
              <a:rPr lang="en-US" sz="1300" b="1" dirty="0">
                <a:solidFill>
                  <a:srgbClr val="1F2430"/>
                </a:solidFill>
              </a:rPr>
              <a:t>Surplus and run-outs: the symptom</a:t>
            </a:r>
            <a:endParaRPr lang="en-US" sz="1300" dirty="0"/>
          </a:p>
        </p:txBody>
      </p:sp>
      <p:sp>
        <p:nvSpPr>
          <p:cNvPr id="17" name="Shape 15"/>
          <p:cNvSpPr/>
          <p:nvPr/>
        </p:nvSpPr>
        <p:spPr>
          <a:xfrm>
            <a:off x="457200" y="1280160"/>
            <a:ext cx="2743200" cy="868680"/>
          </a:xfrm>
          <a:prstGeom prst="roundRect">
            <a:avLst>
              <a:gd name="adj" fmla="val 8421"/>
            </a:avLst>
          </a:prstGeom>
          <a:solidFill>
            <a:srgbClr val="FFF8E1"/>
          </a:solidFill>
          <a:ln w="12700">
            <a:solidFill>
              <a:srgbClr val="F57F17"/>
            </a:solidFill>
            <a:prstDash val="solid"/>
          </a:ln>
        </p:spPr>
      </p:sp>
      <p:sp>
        <p:nvSpPr>
          <p:cNvPr id="18" name="Shape 16"/>
          <p:cNvSpPr/>
          <p:nvPr/>
        </p:nvSpPr>
        <p:spPr>
          <a:xfrm>
            <a:off x="640080" y="1485900"/>
            <a:ext cx="457200" cy="457200"/>
          </a:xfrm>
          <a:prstGeom prst="ellipse">
            <a:avLst/>
          </a:prstGeom>
          <a:solidFill>
            <a:srgbClr val="F57F17"/>
          </a:solidFill>
          <a:ln/>
        </p:spPr>
      </p:sp>
      <p:pic>
        <p:nvPicPr>
          <p:cNvPr id="19" name="Image 0" descr="Tune">    </p:cNvPr>
          <p:cNvPicPr>
            <a:picLocks noChangeAspect="1"/>
          </p:cNvPicPr>
          <p:nvPr/>
        </p:nvPicPr>
        <p:blipFill>
          <a:blip r:embed="rId1"/>
          <a:stretch>
            <a:fillRect/>
          </a:stretch>
        </p:blipFill>
        <p:spPr>
          <a:xfrm>
            <a:off x="731520" y="1577340"/>
            <a:ext cx="274320" cy="274320"/>
          </a:xfrm>
          <a:prstGeom prst="rect">
            <a:avLst/>
          </a:prstGeom>
        </p:spPr>
      </p:pic>
      <p:sp>
        <p:nvSpPr>
          <p:cNvPr id="20" name="Text 17"/>
          <p:cNvSpPr txBox="1"/>
          <p:nvPr/>
        </p:nvSpPr>
        <p:spPr>
          <a:xfrm>
            <a:off x="1188720" y="1280160"/>
            <a:ext cx="1965960" cy="868680"/>
          </a:xfrm>
          <a:prstGeom prst="rect">
            <a:avLst/>
          </a:prstGeom>
          <a:noFill/>
          <a:ln/>
        </p:spPr>
        <p:txBody>
          <a:bodyPr wrap="square" lIns="0" tIns="0" rIns="0" bIns="0" rtlCol="0" anchor="ctr"/>
          <a:lstStyle/>
          <a:p>
            <a:pPr algn="l" indent="0" marL="0">
              <a:buNone/>
            </a:pPr>
            <a:r>
              <a:rPr lang="en-US" sz="1200" b="1" dirty="0">
                <a:solidFill>
                  <a:srgbClr val="1F2430"/>
                </a:solidFill>
              </a:rPr>
              <a:t>Quick fix: calibrated batch and top-up (LP5, LP6)</a:t>
            </a:r>
            <a:endParaRPr lang="en-US" sz="1200" dirty="0"/>
          </a:p>
        </p:txBody>
      </p:sp>
      <p:sp>
        <p:nvSpPr>
          <p:cNvPr id="21" name="Shape 18"/>
          <p:cNvSpPr/>
          <p:nvPr/>
        </p:nvSpPr>
        <p:spPr>
          <a:xfrm>
            <a:off x="548640" y="1097280"/>
            <a:ext cx="822960" cy="201168"/>
          </a:xfrm>
          <a:prstGeom prst="roundRect">
            <a:avLst>
              <a:gd name="adj" fmla="val 27273"/>
            </a:avLst>
          </a:prstGeom>
          <a:solidFill>
            <a:srgbClr val="FFF8E1"/>
          </a:solidFill>
          <a:ln w="12700">
            <a:solidFill>
              <a:srgbClr val="F57F17"/>
            </a:solidFill>
            <a:prstDash val="solid"/>
          </a:ln>
        </p:spPr>
      </p:sp>
      <p:sp>
        <p:nvSpPr>
          <p:cNvPr id="22" name="Text 19"/>
          <p:cNvSpPr txBox="1"/>
          <p:nvPr/>
        </p:nvSpPr>
        <p:spPr>
          <a:xfrm>
            <a:off x="612648" y="1097280"/>
            <a:ext cx="694944" cy="201168"/>
          </a:xfrm>
          <a:prstGeom prst="rect">
            <a:avLst/>
          </a:prstGeom>
          <a:noFill/>
          <a:ln/>
        </p:spPr>
        <p:txBody>
          <a:bodyPr wrap="square" lIns="0" tIns="0" rIns="0" bIns="0" rtlCol="0" anchor="ctr"/>
          <a:lstStyle/>
          <a:p>
            <a:pPr algn="ctr" indent="0" marL="0">
              <a:buNone/>
            </a:pPr>
            <a:r>
              <a:rPr lang="en-US" sz="900" b="1" dirty="0">
                <a:solidFill>
                  <a:srgbClr val="8D4A00"/>
                </a:solidFill>
              </a:rPr>
              <a:t>QUICK FIX</a:t>
            </a:r>
            <a:endParaRPr lang="en-US" sz="900" dirty="0"/>
          </a:p>
        </p:txBody>
      </p:sp>
      <p:sp>
        <p:nvSpPr>
          <p:cNvPr id="23" name="Shape 20"/>
          <p:cNvSpPr/>
          <p:nvPr/>
        </p:nvSpPr>
        <p:spPr>
          <a:xfrm>
            <a:off x="3200400" y="1920240"/>
            <a:ext cx="731520" cy="411480"/>
          </a:xfrm>
          <a:prstGeom prst="line">
            <a:avLst/>
          </a:prstGeom>
          <a:noFill/>
          <a:ln w="31750">
            <a:solidFill>
              <a:srgbClr val="F57F17"/>
            </a:solidFill>
            <a:prstDash val="solid"/>
            <a:tailEnd type="triangle"/>
          </a:ln>
        </p:spPr>
      </p:sp>
      <p:sp>
        <p:nvSpPr>
          <p:cNvPr id="24" name="Text 21"/>
          <p:cNvSpPr txBox="1"/>
          <p:nvPr/>
        </p:nvSpPr>
        <p:spPr>
          <a:xfrm>
            <a:off x="3246120" y="1691640"/>
            <a:ext cx="2011680" cy="219456"/>
          </a:xfrm>
          <a:prstGeom prst="rect">
            <a:avLst/>
          </a:prstGeom>
          <a:noFill/>
          <a:ln/>
        </p:spPr>
        <p:txBody>
          <a:bodyPr wrap="square" lIns="0" tIns="0" rIns="0" bIns="0" rtlCol="0" anchor="t"/>
          <a:lstStyle/>
          <a:p>
            <a:pPr algn="l" indent="0" marL="0">
              <a:buNone/>
            </a:pPr>
            <a:r>
              <a:rPr lang="en-US" sz="1100" b="1" dirty="0">
                <a:solidFill>
                  <a:srgbClr val="8D4A00"/>
                </a:solidFill>
              </a:rPr>
              <a:t>relief within minutes or weeks</a:t>
            </a:r>
            <a:endParaRPr lang="en-US" sz="1100" dirty="0"/>
          </a:p>
        </p:txBody>
      </p:sp>
      <p:sp>
        <p:nvSpPr>
          <p:cNvPr id="25" name="Shape 22"/>
          <p:cNvSpPr/>
          <p:nvPr/>
        </p:nvSpPr>
        <p:spPr>
          <a:xfrm>
            <a:off x="5852160" y="3566160"/>
            <a:ext cx="2834640" cy="914400"/>
          </a:xfrm>
          <a:prstGeom prst="roundRect">
            <a:avLst>
              <a:gd name="adj" fmla="val 8000"/>
            </a:avLst>
          </a:prstGeom>
          <a:solidFill>
            <a:srgbClr val="E0F2F1"/>
          </a:solidFill>
          <a:ln w="12700">
            <a:solidFill>
              <a:srgbClr val="00695C"/>
            </a:solidFill>
            <a:prstDash val="solid"/>
          </a:ln>
        </p:spPr>
      </p:sp>
      <p:sp>
        <p:nvSpPr>
          <p:cNvPr id="26" name="Shape 23"/>
          <p:cNvSpPr/>
          <p:nvPr/>
        </p:nvSpPr>
        <p:spPr>
          <a:xfrm>
            <a:off x="6035040" y="3794760"/>
            <a:ext cx="457200" cy="457200"/>
          </a:xfrm>
          <a:prstGeom prst="ellipse">
            <a:avLst/>
          </a:prstGeom>
          <a:solidFill>
            <a:srgbClr val="00695C"/>
          </a:solidFill>
          <a:ln/>
        </p:spPr>
      </p:sp>
      <p:pic>
        <p:nvPicPr>
          <p:cNvPr id="27" name="Image 1" descr="AltRoute">    </p:cNvPr>
          <p:cNvPicPr>
            <a:picLocks noChangeAspect="1"/>
          </p:cNvPicPr>
          <p:nvPr/>
        </p:nvPicPr>
        <p:blipFill>
          <a:blip r:embed="rId2"/>
          <a:stretch>
            <a:fillRect/>
          </a:stretch>
        </p:blipFill>
        <p:spPr>
          <a:xfrm>
            <a:off x="6126480" y="3886200"/>
            <a:ext cx="274320" cy="274320"/>
          </a:xfrm>
          <a:prstGeom prst="rect">
            <a:avLst/>
          </a:prstGeom>
        </p:spPr>
      </p:pic>
      <p:sp>
        <p:nvSpPr>
          <p:cNvPr id="28" name="Text 24"/>
          <p:cNvSpPr txBox="1"/>
          <p:nvPr/>
        </p:nvSpPr>
        <p:spPr>
          <a:xfrm>
            <a:off x="6583680" y="3566160"/>
            <a:ext cx="2057400" cy="914400"/>
          </a:xfrm>
          <a:prstGeom prst="rect">
            <a:avLst/>
          </a:prstGeom>
          <a:noFill/>
          <a:ln/>
        </p:spPr>
        <p:txBody>
          <a:bodyPr wrap="square" lIns="0" tIns="0" rIns="0" bIns="0" rtlCol="0" anchor="ctr"/>
          <a:lstStyle/>
          <a:p>
            <a:pPr algn="l" indent="0" marL="0">
              <a:buNone/>
            </a:pPr>
            <a:r>
              <a:rPr lang="en-US" sz="1050" dirty="0">
                <a:solidFill>
                  <a:srgbClr val="1F2430"/>
                </a:solidFill>
              </a:rPr>
              <a:t>Fundamental fix: route, default, beliefs, goal (LP1, LP2, LP11, LP12, LP10 once released)</a:t>
            </a:r>
            <a:endParaRPr lang="en-US" sz="1050" dirty="0"/>
          </a:p>
        </p:txBody>
      </p:sp>
      <p:sp>
        <p:nvSpPr>
          <p:cNvPr id="29" name="Shape 25"/>
          <p:cNvSpPr/>
          <p:nvPr/>
        </p:nvSpPr>
        <p:spPr>
          <a:xfrm>
            <a:off x="5715000" y="2926080"/>
            <a:ext cx="868680" cy="640080"/>
          </a:xfrm>
          <a:prstGeom prst="line">
            <a:avLst/>
          </a:prstGeom>
          <a:noFill/>
          <a:ln w="31750">
            <a:solidFill>
              <a:srgbClr val="00695C"/>
            </a:solidFill>
            <a:prstDash val="solid"/>
            <a:tailEnd type="triangle"/>
          </a:ln>
        </p:spPr>
      </p:sp>
      <p:sp>
        <p:nvSpPr>
          <p:cNvPr id="30" name="Text 26"/>
          <p:cNvSpPr txBox="1"/>
          <p:nvPr/>
        </p:nvSpPr>
        <p:spPr>
          <a:xfrm>
            <a:off x="6629400" y="3154680"/>
            <a:ext cx="1280160" cy="201168"/>
          </a:xfrm>
          <a:prstGeom prst="rect">
            <a:avLst/>
          </a:prstGeom>
          <a:noFill/>
          <a:ln/>
        </p:spPr>
        <p:txBody>
          <a:bodyPr wrap="square" lIns="0" tIns="0" rIns="0" bIns="0" rtlCol="0" anchor="t"/>
          <a:lstStyle/>
          <a:p>
            <a:pPr algn="l" indent="0" marL="0">
              <a:buNone/>
            </a:pPr>
            <a:r>
              <a:rPr lang="en-US" sz="1100" b="1" dirty="0">
                <a:solidFill>
                  <a:srgbClr val="00695C"/>
                </a:solidFill>
              </a:rPr>
              <a:t>long delay</a:t>
            </a:r>
            <a:endParaRPr lang="en-US" sz="1100" dirty="0"/>
          </a:p>
        </p:txBody>
      </p:sp>
      <p:sp>
        <p:nvSpPr>
          <p:cNvPr id="31" name="Shape 27"/>
          <p:cNvSpPr/>
          <p:nvPr/>
        </p:nvSpPr>
        <p:spPr>
          <a:xfrm>
            <a:off x="3200400" y="1508760"/>
            <a:ext cx="4114800" cy="0"/>
          </a:xfrm>
          <a:prstGeom prst="line">
            <a:avLst/>
          </a:prstGeom>
          <a:noFill/>
          <a:ln w="25400">
            <a:solidFill>
              <a:srgbClr val="F57F17"/>
            </a:solidFill>
            <a:prstDash val="dash"/>
          </a:ln>
        </p:spPr>
      </p:sp>
      <p:sp>
        <p:nvSpPr>
          <p:cNvPr id="32" name="Shape 28"/>
          <p:cNvSpPr/>
          <p:nvPr/>
        </p:nvSpPr>
        <p:spPr>
          <a:xfrm>
            <a:off x="7315200" y="1508760"/>
            <a:ext cx="0" cy="2011680"/>
          </a:xfrm>
          <a:prstGeom prst="line">
            <a:avLst/>
          </a:prstGeom>
          <a:noFill/>
          <a:ln w="25400">
            <a:solidFill>
              <a:srgbClr val="F57F17"/>
            </a:solidFill>
            <a:prstDash val="dash"/>
            <a:tailEnd type="triangle"/>
          </a:ln>
        </p:spPr>
      </p:sp>
      <p:sp>
        <p:nvSpPr>
          <p:cNvPr id="33" name="Text 29"/>
          <p:cNvSpPr txBox="1"/>
          <p:nvPr/>
        </p:nvSpPr>
        <p:spPr>
          <a:xfrm>
            <a:off x="3291840" y="1225296"/>
            <a:ext cx="4114800" cy="219456"/>
          </a:xfrm>
          <a:prstGeom prst="rect">
            <a:avLst/>
          </a:prstGeom>
          <a:noFill/>
          <a:ln/>
        </p:spPr>
        <p:txBody>
          <a:bodyPr wrap="square" lIns="0" tIns="0" rIns="0" bIns="0" rtlCol="0" anchor="t"/>
          <a:lstStyle/>
          <a:p>
            <a:pPr algn="ctr" indent="0" marL="0">
              <a:buNone/>
            </a:pPr>
            <a:r>
              <a:rPr lang="en-US" sz="1100" b="1" dirty="0">
                <a:solidFill>
                  <a:srgbClr val="8D4A00"/>
                </a:solidFill>
              </a:rPr>
              <a:t>eases pressure on those who could fix the cause (assumed)</a:t>
            </a:r>
            <a:endParaRPr lang="en-US" sz="1100" dirty="0"/>
          </a:p>
        </p:txBody>
      </p:sp>
      <p:sp>
        <p:nvSpPr>
          <p:cNvPr id="34" name="Shape 30"/>
          <p:cNvSpPr/>
          <p:nvPr/>
        </p:nvSpPr>
        <p:spPr>
          <a:xfrm>
            <a:off x="457200" y="3520440"/>
            <a:ext cx="2468880" cy="384048"/>
          </a:xfrm>
          <a:prstGeom prst="roundRect">
            <a:avLst>
              <a:gd name="adj" fmla="val 14286"/>
            </a:avLst>
          </a:prstGeom>
          <a:solidFill>
            <a:srgbClr val="F2F2F2"/>
          </a:solidFill>
          <a:ln w="12700">
            <a:solidFill>
              <a:srgbClr val="616161"/>
            </a:solidFill>
            <a:prstDash val="solid"/>
          </a:ln>
        </p:spPr>
      </p:sp>
      <p:sp>
        <p:nvSpPr>
          <p:cNvPr id="35" name="Text 31"/>
          <p:cNvSpPr txBox="1"/>
          <p:nvPr/>
        </p:nvSpPr>
        <p:spPr>
          <a:xfrm>
            <a:off x="521208" y="3520440"/>
            <a:ext cx="2340864" cy="384048"/>
          </a:xfrm>
          <a:prstGeom prst="rect">
            <a:avLst/>
          </a:prstGeom>
          <a:noFill/>
          <a:ln/>
        </p:spPr>
        <p:txBody>
          <a:bodyPr wrap="square" lIns="0" tIns="0" rIns="0" bIns="0" rtlCol="0" anchor="ctr"/>
          <a:lstStyle/>
          <a:p>
            <a:pPr algn="ctr" indent="0" marL="0">
              <a:buNone/>
            </a:pPr>
            <a:r>
              <a:rPr lang="en-US" sz="1100" dirty="0">
                <a:solidFill>
                  <a:srgbClr val="1F2430"/>
                </a:solidFill>
              </a:rPr>
              <a:t>Resale replaced Skip Meal</a:t>
            </a:r>
            <a:endParaRPr lang="en-US" sz="1100" dirty="0"/>
          </a:p>
        </p:txBody>
      </p:sp>
      <p:sp>
        <p:nvSpPr>
          <p:cNvPr id="36" name="Shape 32"/>
          <p:cNvSpPr/>
          <p:nvPr/>
        </p:nvSpPr>
        <p:spPr>
          <a:xfrm>
            <a:off x="457200" y="3977640"/>
            <a:ext cx="2468880" cy="384048"/>
          </a:xfrm>
          <a:prstGeom prst="roundRect">
            <a:avLst>
              <a:gd name="adj" fmla="val 14286"/>
            </a:avLst>
          </a:prstGeom>
          <a:solidFill>
            <a:srgbClr val="F2F2F2"/>
          </a:solidFill>
          <a:ln w="12700">
            <a:solidFill>
              <a:srgbClr val="616161"/>
            </a:solidFill>
            <a:prstDash val="solid"/>
          </a:ln>
        </p:spPr>
      </p:sp>
      <p:sp>
        <p:nvSpPr>
          <p:cNvPr id="37" name="Text 33"/>
          <p:cNvSpPr txBox="1"/>
          <p:nvPr/>
        </p:nvSpPr>
        <p:spPr>
          <a:xfrm>
            <a:off x="521208" y="3977640"/>
            <a:ext cx="2340864" cy="384048"/>
          </a:xfrm>
          <a:prstGeom prst="rect">
            <a:avLst/>
          </a:prstGeom>
          <a:noFill/>
          <a:ln/>
        </p:spPr>
        <p:txBody>
          <a:bodyPr wrap="square" lIns="0" tIns="0" rIns="0" bIns="0" rtlCol="0" anchor="ctr"/>
          <a:lstStyle/>
          <a:p>
            <a:pPr algn="ctr" indent="0" marL="0">
              <a:buNone/>
            </a:pPr>
            <a:r>
              <a:rPr lang="en-US" sz="1100" dirty="0">
                <a:solidFill>
                  <a:srgbClr val="1F2430"/>
                </a:solidFill>
              </a:rPr>
              <a:t>Attendance billing reverted</a:t>
            </a:r>
            <a:endParaRPr lang="en-US" sz="1100" dirty="0"/>
          </a:p>
        </p:txBody>
      </p:sp>
      <p:sp>
        <p:nvSpPr>
          <p:cNvPr id="38" name="Shape 34"/>
          <p:cNvSpPr/>
          <p:nvPr/>
        </p:nvSpPr>
        <p:spPr>
          <a:xfrm>
            <a:off x="7895844" y="1033272"/>
            <a:ext cx="790956" cy="201168"/>
          </a:xfrm>
          <a:prstGeom prst="roundRect">
            <a:avLst>
              <a:gd name="adj" fmla="val 22727"/>
            </a:avLst>
          </a:prstGeom>
          <a:ln w="12700">
            <a:solidFill>
              <a:srgbClr val="F57F17"/>
            </a:solidFill>
            <a:prstDash val="solid"/>
          </a:ln>
        </p:spPr>
      </p:sp>
      <p:sp>
        <p:nvSpPr>
          <p:cNvPr id="39" name="Text 35"/>
          <p:cNvSpPr txBox="1"/>
          <p:nvPr/>
        </p:nvSpPr>
        <p:spPr>
          <a:xfrm>
            <a:off x="7895844" y="1033272"/>
            <a:ext cx="790956" cy="201168"/>
          </a:xfrm>
          <a:prstGeom prst="rect">
            <a:avLst/>
          </a:prstGeom>
          <a:noFill/>
          <a:ln/>
        </p:spPr>
        <p:txBody>
          <a:bodyPr wrap="square" lIns="0" tIns="0" rIns="0" bIns="0" rtlCol="0" anchor="ctr"/>
          <a:lstStyle/>
          <a:p>
            <a:pPr algn="ctr" indent="0" marL="0">
              <a:buNone/>
            </a:pPr>
            <a:r>
              <a:rPr lang="en-US" sz="900" b="1" spc="100" kern="0" dirty="0">
                <a:solidFill>
                  <a:srgbClr val="8D4A00"/>
                </a:solidFill>
              </a:rPr>
              <a:t>ASSUMED</a:t>
            </a:r>
            <a:endParaRPr lang="en-US" sz="900" dirty="0"/>
          </a:p>
        </p:txBody>
      </p:sp>
      <p:sp>
        <p:nvSpPr>
          <p:cNvPr id="40" name="Shape 36"/>
          <p:cNvSpPr/>
          <p:nvPr/>
        </p:nvSpPr>
        <p:spPr>
          <a:xfrm>
            <a:off x="6894576" y="1033272"/>
            <a:ext cx="928116" cy="201168"/>
          </a:xfrm>
          <a:prstGeom prst="roundRect">
            <a:avLst>
              <a:gd name="adj" fmla="val 22727"/>
            </a:avLst>
          </a:prstGeom>
          <a:solidFill>
            <a:srgbClr val="FFF8E1"/>
          </a:solidFill>
          <a:ln w="12700">
            <a:solidFill>
              <a:srgbClr val="F57F17"/>
            </a:solidFill>
            <a:prstDash val="solid"/>
          </a:ln>
        </p:spPr>
      </p:sp>
      <p:sp>
        <p:nvSpPr>
          <p:cNvPr id="41" name="Text 37"/>
          <p:cNvSpPr txBox="1"/>
          <p:nvPr/>
        </p:nvSpPr>
        <p:spPr>
          <a:xfrm>
            <a:off x="6894576"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8D4A00"/>
                </a:solidFill>
              </a:rPr>
              <a:t>CANDIDATE</a:t>
            </a:r>
            <a:endParaRPr lang="en-US" sz="900" dirty="0"/>
          </a:p>
        </p:txBody>
      </p:sp>
      <p:sp>
        <p:nvSpPr>
          <p:cNvPr id="42" name="Text 38"/>
          <p:cNvSpPr txBox="1"/>
          <p:nvPr/>
        </p:nvSpPr>
        <p:spPr>
          <a:xfrm>
            <a:off x="3108960" y="4526280"/>
            <a:ext cx="5486400" cy="228600"/>
          </a:xfrm>
          <a:prstGeom prst="rect">
            <a:avLst/>
          </a:prstGeom>
          <a:noFill/>
          <a:ln/>
        </p:spPr>
        <p:txBody>
          <a:bodyPr wrap="square" lIns="0" tIns="0" rIns="0" bIns="0" rtlCol="0" anchor="t"/>
          <a:lstStyle/>
          <a:p>
            <a:pPr algn="l" indent="0" marL="0">
              <a:buNone/>
            </a:pPr>
            <a:r>
              <a:rPr lang="en-US" sz="1200" i="1" dirty="0">
                <a:solidFill>
                  <a:srgbClr val="616161"/>
                </a:solidFill>
              </a:rPr>
              <a:t>LP5 and LP6 are labelled the quick fix throughout.</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Every concept had to pass seven design principles</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65860" y="4841748"/>
            <a:ext cx="146304" cy="146304"/>
          </a:xfrm>
          <a:prstGeom prst="ellipse">
            <a:avLst/>
          </a:prstGeom>
          <a:solidFill>
            <a:srgbClr val="1A237E"/>
          </a:solidFill>
          <a:ln/>
        </p:spPr>
      </p:sp>
      <p:sp>
        <p:nvSpPr>
          <p:cNvPr id="8" name="Shape 6"/>
          <p:cNvSpPr/>
          <p:nvPr/>
        </p:nvSpPr>
        <p:spPr>
          <a:xfrm>
            <a:off x="1129284" y="4805172"/>
            <a:ext cx="219456" cy="219456"/>
          </a:xfrm>
          <a:prstGeom prst="ellipse">
            <a:avLst/>
          </a:prstGeom>
          <a:ln w="9525">
            <a:solidFill>
              <a:srgbClr val="1A237E"/>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5 Finding where to intervene</a:t>
            </a:r>
            <a:endParaRPr lang="en-US" sz="1000" dirty="0"/>
          </a:p>
        </p:txBody>
      </p:sp>
      <p:sp>
        <p:nvSpPr>
          <p:cNvPr id="15" name="Shape 13"/>
          <p:cNvSpPr/>
          <p:nvPr/>
        </p:nvSpPr>
        <p:spPr>
          <a:xfrm>
            <a:off x="457200" y="1280160"/>
            <a:ext cx="1993392" cy="1261872"/>
          </a:xfrm>
          <a:prstGeom prst="roundRect">
            <a:avLst>
              <a:gd name="adj" fmla="val 5797"/>
            </a:avLst>
          </a:prstGeom>
          <a:solidFill>
            <a:srgbClr val="E3F2FD"/>
          </a:solidFill>
          <a:ln w="12700">
            <a:solidFill>
              <a:srgbClr val="1565C0"/>
            </a:solidFill>
            <a:prstDash val="solid"/>
          </a:ln>
        </p:spPr>
      </p:sp>
      <p:sp>
        <p:nvSpPr>
          <p:cNvPr id="16" name="Shape 14"/>
          <p:cNvSpPr/>
          <p:nvPr/>
        </p:nvSpPr>
        <p:spPr>
          <a:xfrm>
            <a:off x="557784" y="1380744"/>
            <a:ext cx="347472" cy="347472"/>
          </a:xfrm>
          <a:prstGeom prst="ellipse">
            <a:avLst/>
          </a:prstGeom>
          <a:solidFill>
            <a:srgbClr val="1565C0"/>
          </a:solidFill>
          <a:ln/>
        </p:spPr>
      </p:sp>
      <p:sp>
        <p:nvSpPr>
          <p:cNvPr id="17" name="Text 15"/>
          <p:cNvSpPr txBox="1"/>
          <p:nvPr/>
        </p:nvSpPr>
        <p:spPr>
          <a:xfrm>
            <a:off x="557784" y="1380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8" name="Text 16"/>
          <p:cNvSpPr txBox="1"/>
          <p:nvPr/>
        </p:nvSpPr>
        <p:spPr>
          <a:xfrm>
            <a:off x="566928" y="1783080"/>
            <a:ext cx="1783080" cy="731520"/>
          </a:xfrm>
          <a:prstGeom prst="rect">
            <a:avLst/>
          </a:prstGeom>
          <a:noFill/>
          <a:ln/>
        </p:spPr>
        <p:txBody>
          <a:bodyPr wrap="square" lIns="0" tIns="0" rIns="0" bIns="0" rtlCol="0" anchor="t"/>
          <a:lstStyle/>
          <a:p>
            <a:pPr algn="l" indent="0" marL="0">
              <a:buNone/>
            </a:pPr>
            <a:r>
              <a:rPr lang="en-US" sz="1100" dirty="0">
                <a:solidFill>
                  <a:srgbClr val="1F2430"/>
                </a:solidFill>
              </a:rPr>
              <a:t>Route before you measure, and route on paper</a:t>
            </a:r>
            <a:endParaRPr lang="en-US" sz="1100" dirty="0"/>
          </a:p>
        </p:txBody>
      </p:sp>
      <p:sp>
        <p:nvSpPr>
          <p:cNvPr id="19" name="Shape 17"/>
          <p:cNvSpPr/>
          <p:nvPr/>
        </p:nvSpPr>
        <p:spPr>
          <a:xfrm>
            <a:off x="2542032" y="1280160"/>
            <a:ext cx="1993392" cy="1261872"/>
          </a:xfrm>
          <a:prstGeom prst="roundRect">
            <a:avLst>
              <a:gd name="adj" fmla="val 5797"/>
            </a:avLst>
          </a:prstGeom>
          <a:solidFill>
            <a:srgbClr val="F3E5F5"/>
          </a:solidFill>
          <a:ln w="12700">
            <a:solidFill>
              <a:srgbClr val="6A1B9A"/>
            </a:solidFill>
            <a:prstDash val="solid"/>
          </a:ln>
        </p:spPr>
      </p:sp>
      <p:sp>
        <p:nvSpPr>
          <p:cNvPr id="20" name="Shape 18"/>
          <p:cNvSpPr/>
          <p:nvPr/>
        </p:nvSpPr>
        <p:spPr>
          <a:xfrm>
            <a:off x="2642616" y="1380744"/>
            <a:ext cx="347472" cy="347472"/>
          </a:xfrm>
          <a:prstGeom prst="ellipse">
            <a:avLst/>
          </a:prstGeom>
          <a:solidFill>
            <a:srgbClr val="6A1B9A"/>
          </a:solidFill>
          <a:ln/>
        </p:spPr>
      </p:sp>
      <p:sp>
        <p:nvSpPr>
          <p:cNvPr id="21" name="Text 19"/>
          <p:cNvSpPr txBox="1"/>
          <p:nvPr/>
        </p:nvSpPr>
        <p:spPr>
          <a:xfrm>
            <a:off x="2642616" y="1380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2" name="Text 20"/>
          <p:cNvSpPr txBox="1"/>
          <p:nvPr/>
        </p:nvSpPr>
        <p:spPr>
          <a:xfrm>
            <a:off x="2651760" y="1783080"/>
            <a:ext cx="1783080" cy="731520"/>
          </a:xfrm>
          <a:prstGeom prst="rect">
            <a:avLst/>
          </a:prstGeom>
          <a:noFill/>
          <a:ln/>
        </p:spPr>
        <p:txBody>
          <a:bodyPr wrap="square" lIns="0" tIns="0" rIns="0" bIns="0" rtlCol="0" anchor="t"/>
          <a:lstStyle/>
          <a:p>
            <a:pPr algn="l" indent="0" marL="0">
              <a:buNone/>
            </a:pPr>
            <a:r>
              <a:rPr lang="en-US" sz="1100" dirty="0">
                <a:solidFill>
                  <a:srgbClr val="1F2430"/>
                </a:solidFill>
              </a:rPr>
              <a:t>Measure without blame, and judge over months</a:t>
            </a:r>
            <a:endParaRPr lang="en-US" sz="1100" dirty="0"/>
          </a:p>
        </p:txBody>
      </p:sp>
      <p:sp>
        <p:nvSpPr>
          <p:cNvPr id="23" name="Shape 21"/>
          <p:cNvSpPr/>
          <p:nvPr/>
        </p:nvSpPr>
        <p:spPr>
          <a:xfrm>
            <a:off x="4626864" y="1280160"/>
            <a:ext cx="1993392" cy="1261872"/>
          </a:xfrm>
          <a:prstGeom prst="roundRect">
            <a:avLst>
              <a:gd name="adj" fmla="val 5797"/>
            </a:avLst>
          </a:prstGeom>
          <a:solidFill>
            <a:srgbClr val="FFF3E0"/>
          </a:solidFill>
          <a:ln w="12700">
            <a:solidFill>
              <a:srgbClr val="E65100"/>
            </a:solidFill>
            <a:prstDash val="solid"/>
          </a:ln>
        </p:spPr>
      </p:sp>
      <p:sp>
        <p:nvSpPr>
          <p:cNvPr id="24" name="Shape 22"/>
          <p:cNvSpPr/>
          <p:nvPr/>
        </p:nvSpPr>
        <p:spPr>
          <a:xfrm>
            <a:off x="4727448" y="1380744"/>
            <a:ext cx="347472" cy="347472"/>
          </a:xfrm>
          <a:prstGeom prst="ellipse">
            <a:avLst/>
          </a:prstGeom>
          <a:solidFill>
            <a:srgbClr val="E65100"/>
          </a:solidFill>
          <a:ln/>
        </p:spPr>
      </p:sp>
      <p:sp>
        <p:nvSpPr>
          <p:cNvPr id="25" name="Text 23"/>
          <p:cNvSpPr txBox="1"/>
          <p:nvPr/>
        </p:nvSpPr>
        <p:spPr>
          <a:xfrm>
            <a:off x="4727448" y="1380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6" name="Text 24"/>
          <p:cNvSpPr txBox="1"/>
          <p:nvPr/>
        </p:nvSpPr>
        <p:spPr>
          <a:xfrm>
            <a:off x="4736592" y="1783080"/>
            <a:ext cx="1783080" cy="731520"/>
          </a:xfrm>
          <a:prstGeom prst="rect">
            <a:avLst/>
          </a:prstGeom>
          <a:noFill/>
          <a:ln/>
        </p:spPr>
        <p:txBody>
          <a:bodyPr wrap="square" lIns="0" tIns="0" rIns="0" bIns="0" rtlCol="0" anchor="t"/>
          <a:lstStyle/>
          <a:p>
            <a:pPr algn="l" indent="0" marL="0">
              <a:buNone/>
            </a:pPr>
            <a:r>
              <a:rPr lang="en-US" sz="1100" dirty="0">
                <a:solidFill>
                  <a:srgbClr val="1F2430"/>
                </a:solidFill>
              </a:rPr>
              <a:t>Change the default, goal and belief, not the people</a:t>
            </a:r>
            <a:endParaRPr lang="en-US" sz="1100" dirty="0"/>
          </a:p>
        </p:txBody>
      </p:sp>
      <p:sp>
        <p:nvSpPr>
          <p:cNvPr id="27" name="Shape 25"/>
          <p:cNvSpPr/>
          <p:nvPr/>
        </p:nvSpPr>
        <p:spPr>
          <a:xfrm>
            <a:off x="6711696" y="1280160"/>
            <a:ext cx="1993392" cy="1261872"/>
          </a:xfrm>
          <a:prstGeom prst="roundRect">
            <a:avLst>
              <a:gd name="adj" fmla="val 5797"/>
            </a:avLst>
          </a:prstGeom>
          <a:solidFill>
            <a:srgbClr val="E0F2F1"/>
          </a:solidFill>
          <a:ln w="12700">
            <a:solidFill>
              <a:srgbClr val="00695C"/>
            </a:solidFill>
            <a:prstDash val="solid"/>
          </a:ln>
        </p:spPr>
      </p:sp>
      <p:sp>
        <p:nvSpPr>
          <p:cNvPr id="28" name="Shape 26"/>
          <p:cNvSpPr/>
          <p:nvPr/>
        </p:nvSpPr>
        <p:spPr>
          <a:xfrm>
            <a:off x="6812280" y="1380744"/>
            <a:ext cx="347472" cy="347472"/>
          </a:xfrm>
          <a:prstGeom prst="ellipse">
            <a:avLst/>
          </a:prstGeom>
          <a:solidFill>
            <a:srgbClr val="00695C"/>
          </a:solidFill>
          <a:ln/>
        </p:spPr>
      </p:sp>
      <p:sp>
        <p:nvSpPr>
          <p:cNvPr id="29" name="Text 27"/>
          <p:cNvSpPr txBox="1"/>
          <p:nvPr/>
        </p:nvSpPr>
        <p:spPr>
          <a:xfrm>
            <a:off x="6812280" y="1380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0" name="Text 28"/>
          <p:cNvSpPr txBox="1"/>
          <p:nvPr/>
        </p:nvSpPr>
        <p:spPr>
          <a:xfrm>
            <a:off x="6821424" y="1783080"/>
            <a:ext cx="1783080" cy="731520"/>
          </a:xfrm>
          <a:prstGeom prst="rect">
            <a:avLst/>
          </a:prstGeom>
          <a:noFill/>
          <a:ln/>
        </p:spPr>
        <p:txBody>
          <a:bodyPr wrap="square" lIns="0" tIns="0" rIns="0" bIns="0" rtlCol="0" anchor="t"/>
          <a:lstStyle/>
          <a:p>
            <a:pPr algn="l" indent="0" marL="0">
              <a:buNone/>
            </a:pPr>
            <a:r>
              <a:rPr lang="en-US" sz="1100" dirty="0">
                <a:solidFill>
                  <a:srgbClr val="1F2430"/>
                </a:solidFill>
              </a:rPr>
              <a:t>Act on the first batch the day before; in the morning only top up</a:t>
            </a:r>
            <a:endParaRPr lang="en-US" sz="1100" dirty="0"/>
          </a:p>
        </p:txBody>
      </p:sp>
      <p:sp>
        <p:nvSpPr>
          <p:cNvPr id="31" name="Shape 29"/>
          <p:cNvSpPr/>
          <p:nvPr/>
        </p:nvSpPr>
        <p:spPr>
          <a:xfrm>
            <a:off x="457200" y="2651760"/>
            <a:ext cx="1993392" cy="1261872"/>
          </a:xfrm>
          <a:prstGeom prst="roundRect">
            <a:avLst>
              <a:gd name="adj" fmla="val 5797"/>
            </a:avLst>
          </a:prstGeom>
          <a:solidFill>
            <a:srgbClr val="E8F5E9"/>
          </a:solidFill>
          <a:ln w="12700">
            <a:solidFill>
              <a:srgbClr val="2E7D32"/>
            </a:solidFill>
            <a:prstDash val="solid"/>
          </a:ln>
        </p:spPr>
      </p:sp>
      <p:sp>
        <p:nvSpPr>
          <p:cNvPr id="32" name="Shape 30"/>
          <p:cNvSpPr/>
          <p:nvPr/>
        </p:nvSpPr>
        <p:spPr>
          <a:xfrm>
            <a:off x="557784" y="2752344"/>
            <a:ext cx="347472" cy="347472"/>
          </a:xfrm>
          <a:prstGeom prst="ellipse">
            <a:avLst/>
          </a:prstGeom>
          <a:solidFill>
            <a:srgbClr val="2E7D32"/>
          </a:solidFill>
          <a:ln/>
        </p:spPr>
      </p:sp>
      <p:sp>
        <p:nvSpPr>
          <p:cNvPr id="33" name="Text 31"/>
          <p:cNvSpPr txBox="1"/>
          <p:nvPr/>
        </p:nvSpPr>
        <p:spPr>
          <a:xfrm>
            <a:off x="557784" y="27523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4" name="Text 32"/>
          <p:cNvSpPr txBox="1"/>
          <p:nvPr/>
        </p:nvSpPr>
        <p:spPr>
          <a:xfrm>
            <a:off x="566928" y="3154680"/>
            <a:ext cx="1783080" cy="731520"/>
          </a:xfrm>
          <a:prstGeom prst="rect">
            <a:avLst/>
          </a:prstGeom>
          <a:noFill/>
          <a:ln/>
        </p:spPr>
        <p:txBody>
          <a:bodyPr wrap="square" lIns="0" tIns="0" rIns="0" bIns="0" rtlCol="0" anchor="t"/>
          <a:lstStyle/>
          <a:p>
            <a:pPr algn="l" indent="0" marL="0">
              <a:buNone/>
            </a:pPr>
            <a:r>
              <a:rPr lang="en-US" sz="1100" dirty="0">
                <a:solidFill>
                  <a:srgbClr val="1F2430"/>
                </a:solidFill>
              </a:rPr>
              <a:t>Feed the absorbers by plan; target only the over-cooked batch, repeated reheating and the bin</a:t>
            </a:r>
            <a:endParaRPr lang="en-US" sz="1100" dirty="0"/>
          </a:p>
        </p:txBody>
      </p:sp>
      <p:sp>
        <p:nvSpPr>
          <p:cNvPr id="35" name="Shape 33"/>
          <p:cNvSpPr/>
          <p:nvPr/>
        </p:nvSpPr>
        <p:spPr>
          <a:xfrm>
            <a:off x="2542032" y="2651760"/>
            <a:ext cx="1993392" cy="1261872"/>
          </a:xfrm>
          <a:prstGeom prst="roundRect">
            <a:avLst>
              <a:gd name="adj" fmla="val 5797"/>
            </a:avLst>
          </a:prstGeom>
          <a:solidFill>
            <a:srgbClr val="E3F2FD"/>
          </a:solidFill>
          <a:ln w="12700">
            <a:solidFill>
              <a:srgbClr val="1565C0"/>
            </a:solidFill>
            <a:prstDash val="solid"/>
          </a:ln>
        </p:spPr>
      </p:sp>
      <p:sp>
        <p:nvSpPr>
          <p:cNvPr id="36" name="Shape 34"/>
          <p:cNvSpPr/>
          <p:nvPr/>
        </p:nvSpPr>
        <p:spPr>
          <a:xfrm>
            <a:off x="2642616" y="2752344"/>
            <a:ext cx="347472" cy="347472"/>
          </a:xfrm>
          <a:prstGeom prst="ellipse">
            <a:avLst/>
          </a:prstGeom>
          <a:solidFill>
            <a:srgbClr val="1565C0"/>
          </a:solidFill>
          <a:ln/>
        </p:spPr>
      </p:sp>
      <p:sp>
        <p:nvSpPr>
          <p:cNvPr id="37" name="Text 35"/>
          <p:cNvSpPr txBox="1"/>
          <p:nvPr/>
        </p:nvSpPr>
        <p:spPr>
          <a:xfrm>
            <a:off x="2642616" y="27523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8" name="Text 36"/>
          <p:cNvSpPr txBox="1"/>
          <p:nvPr/>
        </p:nvSpPr>
        <p:spPr>
          <a:xfrm>
            <a:off x="2651760" y="3154680"/>
            <a:ext cx="1783080" cy="731520"/>
          </a:xfrm>
          <a:prstGeom prst="rect">
            <a:avLst/>
          </a:prstGeom>
          <a:noFill/>
          <a:ln/>
        </p:spPr>
        <p:txBody>
          <a:bodyPr wrap="square" lIns="0" tIns="0" rIns="0" bIns="0" rtlCol="0" anchor="t"/>
          <a:lstStyle/>
          <a:p>
            <a:pPr algn="l" indent="0" marL="0">
              <a:buNone/>
            </a:pPr>
            <a:r>
              <a:rPr lang="en-US" sz="1100" dirty="0">
                <a:solidFill>
                  <a:srgbClr val="1F2430"/>
                </a:solidFill>
              </a:rPr>
              <a:t>Judge success by cooked against eaten, run-outs and food quality, not turnout</a:t>
            </a:r>
            <a:endParaRPr lang="en-US" sz="1100" dirty="0"/>
          </a:p>
        </p:txBody>
      </p:sp>
      <p:sp>
        <p:nvSpPr>
          <p:cNvPr id="39" name="Shape 37"/>
          <p:cNvSpPr/>
          <p:nvPr/>
        </p:nvSpPr>
        <p:spPr>
          <a:xfrm>
            <a:off x="4626864" y="2651760"/>
            <a:ext cx="1993392" cy="1261872"/>
          </a:xfrm>
          <a:prstGeom prst="roundRect">
            <a:avLst>
              <a:gd name="adj" fmla="val 5797"/>
            </a:avLst>
          </a:prstGeom>
          <a:solidFill>
            <a:srgbClr val="F3E5F5"/>
          </a:solidFill>
          <a:ln w="12700">
            <a:solidFill>
              <a:srgbClr val="6A1B9A"/>
            </a:solidFill>
            <a:prstDash val="solid"/>
          </a:ln>
        </p:spPr>
      </p:sp>
      <p:sp>
        <p:nvSpPr>
          <p:cNvPr id="40" name="Shape 38"/>
          <p:cNvSpPr/>
          <p:nvPr/>
        </p:nvSpPr>
        <p:spPr>
          <a:xfrm>
            <a:off x="4727448" y="2752344"/>
            <a:ext cx="347472" cy="347472"/>
          </a:xfrm>
          <a:prstGeom prst="ellipse">
            <a:avLst/>
          </a:prstGeom>
          <a:solidFill>
            <a:srgbClr val="6A1B9A"/>
          </a:solidFill>
          <a:ln/>
        </p:spPr>
      </p:sp>
      <p:sp>
        <p:nvSpPr>
          <p:cNvPr id="41" name="Text 39"/>
          <p:cNvSpPr txBox="1"/>
          <p:nvPr/>
        </p:nvSpPr>
        <p:spPr>
          <a:xfrm>
            <a:off x="4727448" y="27523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42" name="Text 40"/>
          <p:cNvSpPr txBox="1"/>
          <p:nvPr/>
        </p:nvSpPr>
        <p:spPr>
          <a:xfrm>
            <a:off x="4736592" y="3154680"/>
            <a:ext cx="1783080" cy="731520"/>
          </a:xfrm>
          <a:prstGeom prst="rect">
            <a:avLst/>
          </a:prstGeom>
          <a:noFill/>
          <a:ln/>
        </p:spPr>
        <p:txBody>
          <a:bodyPr wrap="square" lIns="0" tIns="0" rIns="0" bIns="0" rtlCol="0" anchor="t"/>
          <a:lstStyle/>
          <a:p>
            <a:pPr algn="l" indent="0" marL="0">
              <a:buNone/>
            </a:pPr>
            <a:r>
              <a:rPr lang="en-US" sz="1100" dirty="0">
                <a:solidFill>
                  <a:srgbClr val="1F2430"/>
                </a:solidFill>
              </a:rPr>
              <a:t>Treat measures as diagnostic and plural, never a single target</a:t>
            </a:r>
            <a:endParaRPr lang="en-US" sz="1100" dirty="0"/>
          </a:p>
        </p:txBody>
      </p:sp>
      <p:sp>
        <p:nvSpPr>
          <p:cNvPr id="43" name="Shape 41"/>
          <p:cNvSpPr/>
          <p:nvPr/>
        </p:nvSpPr>
        <p:spPr>
          <a:xfrm>
            <a:off x="6711696" y="2651760"/>
            <a:ext cx="1975104" cy="1261872"/>
          </a:xfrm>
          <a:prstGeom prst="roundRect">
            <a:avLst>
              <a:gd name="adj" fmla="val 5797"/>
            </a:avLst>
          </a:prstGeom>
          <a:solidFill>
            <a:srgbClr val="FFF8E1"/>
          </a:solidFill>
          <a:ln w="12700">
            <a:solidFill>
              <a:srgbClr val="F57F17"/>
            </a:solidFill>
            <a:prstDash val="dash"/>
          </a:ln>
        </p:spPr>
      </p:sp>
      <p:sp>
        <p:nvSpPr>
          <p:cNvPr id="44" name="Text 42"/>
          <p:cNvSpPr txBox="1"/>
          <p:nvPr/>
        </p:nvSpPr>
        <p:spPr>
          <a:xfrm>
            <a:off x="6821424" y="2651760"/>
            <a:ext cx="1783080" cy="1261872"/>
          </a:xfrm>
          <a:prstGeom prst="rect">
            <a:avLst/>
          </a:prstGeom>
          <a:noFill/>
          <a:ln/>
        </p:spPr>
        <p:txBody>
          <a:bodyPr wrap="square" lIns="0" tIns="0" rIns="0" bIns="0" rtlCol="0" anchor="ctr"/>
          <a:lstStyle/>
          <a:p>
            <a:pPr algn="l" indent="0" marL="0">
              <a:buNone/>
            </a:pPr>
            <a:r>
              <a:rPr lang="en-US" sz="1100" dirty="0">
                <a:solidFill>
                  <a:srgbClr val="8D4A00"/>
                </a:solidFill>
              </a:rPr>
              <a:t>Added in revision: a figure used against its recorder stops being recorded honestly</a:t>
            </a:r>
            <a:endParaRPr lang="en-US" sz="1100" dirty="0"/>
          </a:p>
        </p:txBody>
      </p:sp>
      <p:sp>
        <p:nvSpPr>
          <p:cNvPr id="45" name="Shape 43"/>
          <p:cNvSpPr/>
          <p:nvPr/>
        </p:nvSpPr>
        <p:spPr>
          <a:xfrm>
            <a:off x="457200" y="4005072"/>
            <a:ext cx="8229600" cy="548640"/>
          </a:xfrm>
          <a:prstGeom prst="roundRect">
            <a:avLst>
              <a:gd name="adj" fmla="val 13333"/>
            </a:avLst>
          </a:prstGeom>
          <a:solidFill>
            <a:srgbClr val="1A237E"/>
          </a:solidFill>
          <a:ln/>
        </p:spPr>
      </p:sp>
      <p:sp>
        <p:nvSpPr>
          <p:cNvPr id="46" name="Text 44"/>
          <p:cNvSpPr txBox="1"/>
          <p:nvPr/>
        </p:nvSpPr>
        <p:spPr>
          <a:xfrm>
            <a:off x="640080" y="4005072"/>
            <a:ext cx="7863840" cy="548640"/>
          </a:xfrm>
          <a:prstGeom prst="rect">
            <a:avLst/>
          </a:prstGeom>
          <a:noFill/>
          <a:ln/>
        </p:spPr>
        <p:txBody>
          <a:bodyPr wrap="square" lIns="0" tIns="0" rIns="0" bIns="0" rtlCol="0" anchor="ctr"/>
          <a:lstStyle/>
          <a:p>
            <a:pPr algn="l" indent="0" marL="0">
              <a:buNone/>
            </a:pPr>
            <a:r>
              <a:rPr lang="en-US" sz="1250" b="1" dirty="0">
                <a:solidFill>
                  <a:srgbClr val="FFFFFF"/>
                </a:solidFill>
              </a:rPr>
              <a:t>Design objective: registration matches intent, the kitchen cooks to expected eaters, and the cost of any gap reaches the rule setters</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Kadamba's Sunday vegetarian line is where three levers meet</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65860" y="4841748"/>
            <a:ext cx="146304" cy="146304"/>
          </a:xfrm>
          <a:prstGeom prst="ellipse">
            <a:avLst/>
          </a:prstGeom>
          <a:solidFill>
            <a:srgbClr val="1A237E"/>
          </a:solidFill>
          <a:ln/>
        </p:spPr>
      </p:sp>
      <p:sp>
        <p:nvSpPr>
          <p:cNvPr id="8" name="Shape 6"/>
          <p:cNvSpPr/>
          <p:nvPr/>
        </p:nvSpPr>
        <p:spPr>
          <a:xfrm>
            <a:off x="1129284" y="4805172"/>
            <a:ext cx="219456" cy="219456"/>
          </a:xfrm>
          <a:prstGeom prst="ellipse">
            <a:avLst/>
          </a:prstGeom>
          <a:ln w="9525">
            <a:solidFill>
              <a:srgbClr val="1A237E"/>
            </a:solidFill>
            <a:prstDash val="solid"/>
          </a:ln>
        </p:spPr>
      </p:sp>
      <p:sp>
        <p:nvSpPr>
          <p:cNvPr id="9" name="Shape 7"/>
          <p:cNvSpPr/>
          <p:nvPr/>
        </p:nvSpPr>
        <p:spPr>
          <a:xfrm>
            <a:off x="1371600" y="4864608"/>
            <a:ext cx="100584" cy="100584"/>
          </a:xfrm>
          <a:prstGeom prst="ellipse">
            <a:avLst/>
          </a:prstGeom>
          <a:ln w="9525">
            <a:solidFill>
              <a:srgbClr val="9AA3B5"/>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5 Finding where to intervene</a:t>
            </a:r>
            <a:endParaRPr lang="en-US" sz="1000" dirty="0"/>
          </a:p>
        </p:txBody>
      </p:sp>
      <p:graphicFrame>
        <p:nvGraphicFramePr>
          <p:cNvPr id="15" name="Chart 0" descr=""/>
          <p:cNvGraphicFramePr/>
          <p:nvPr/>
        </p:nvGraphicFramePr>
        <p:xfrm>
          <a:off x="457200" y="1417320"/>
          <a:ext cx="3931920" cy="27432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457200" y="4206240"/>
            <a:ext cx="3931920" cy="365760"/>
          </a:xfrm>
          <a:prstGeom prst="rect">
            <a:avLst/>
          </a:prstGeom>
          <a:noFill/>
          <a:ln/>
        </p:spPr>
        <p:txBody>
          <a:bodyPr wrap="square" lIns="0" tIns="0" rIns="0" bIns="0" rtlCol="0" anchor="t"/>
          <a:lstStyle/>
          <a:p>
            <a:pPr algn="l" indent="0" marL="0">
              <a:buNone/>
            </a:pPr>
            <a:r>
              <a:rPr lang="en-US" sz="1100" dirty="0">
                <a:solidFill>
                  <a:srgbClr val="616161"/>
                </a:solidFill>
              </a:rPr>
              <a:t>A 70% vegetarian batch, as a multiple of those who eat</a:t>
            </a:r>
            <a:endParaRPr lang="en-US" sz="1100" dirty="0"/>
          </a:p>
        </p:txBody>
      </p:sp>
      <p:sp>
        <p:nvSpPr>
          <p:cNvPr id="17" name="Text 14"/>
          <p:cNvSpPr txBox="1"/>
          <p:nvPr/>
        </p:nvSpPr>
        <p:spPr>
          <a:xfrm>
            <a:off x="4754880" y="1280160"/>
            <a:ext cx="393192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THREE LEVERS MEET ON SUNDAY</a:t>
            </a:r>
            <a:endParaRPr lang="en-US" sz="1000" dirty="0"/>
          </a:p>
        </p:txBody>
      </p:sp>
      <p:sp>
        <p:nvSpPr>
          <p:cNvPr id="18" name="Shape 15"/>
          <p:cNvSpPr/>
          <p:nvPr/>
        </p:nvSpPr>
        <p:spPr>
          <a:xfrm>
            <a:off x="4754880" y="1572768"/>
            <a:ext cx="731520" cy="457200"/>
          </a:xfrm>
          <a:prstGeom prst="roundRect">
            <a:avLst>
              <a:gd name="adj" fmla="val 12000"/>
            </a:avLst>
          </a:prstGeom>
          <a:solidFill>
            <a:srgbClr val="1565C0"/>
          </a:solidFill>
          <a:ln w="12700">
            <a:solidFill>
              <a:srgbClr val="1565C0"/>
            </a:solidFill>
            <a:prstDash val="solid"/>
          </a:ln>
        </p:spPr>
      </p:sp>
      <p:sp>
        <p:nvSpPr>
          <p:cNvPr id="19" name="Text 16"/>
          <p:cNvSpPr txBox="1"/>
          <p:nvPr/>
        </p:nvSpPr>
        <p:spPr>
          <a:xfrm>
            <a:off x="4818888" y="1572768"/>
            <a:ext cx="603504" cy="457200"/>
          </a:xfrm>
          <a:prstGeom prst="rect">
            <a:avLst/>
          </a:prstGeom>
          <a:noFill/>
          <a:ln/>
        </p:spPr>
        <p:txBody>
          <a:bodyPr wrap="square" lIns="0" tIns="0" rIns="0" bIns="0" rtlCol="0" anchor="ctr"/>
          <a:lstStyle/>
          <a:p>
            <a:pPr algn="ctr" indent="0" marL="0">
              <a:buNone/>
            </a:pPr>
            <a:r>
              <a:rPr lang="en-US" sz="1300" b="1" dirty="0">
                <a:solidFill>
                  <a:srgbClr val="FFFFFF"/>
                </a:solidFill>
              </a:rPr>
              <a:t>LP2</a:t>
            </a:r>
            <a:endParaRPr lang="en-US" sz="1300" dirty="0"/>
          </a:p>
        </p:txBody>
      </p:sp>
      <p:sp>
        <p:nvSpPr>
          <p:cNvPr id="20" name="Text 17"/>
          <p:cNvSpPr txBox="1"/>
          <p:nvPr/>
        </p:nvSpPr>
        <p:spPr>
          <a:xfrm>
            <a:off x="5623560" y="1572768"/>
            <a:ext cx="3017520" cy="457200"/>
          </a:xfrm>
          <a:prstGeom prst="rect">
            <a:avLst/>
          </a:prstGeom>
          <a:noFill/>
          <a:ln/>
        </p:spPr>
        <p:txBody>
          <a:bodyPr wrap="square" lIns="0" tIns="0" rIns="0" bIns="0" rtlCol="0" anchor="ctr"/>
          <a:lstStyle/>
          <a:p>
            <a:pPr algn="l" indent="0" marL="0">
              <a:buNone/>
            </a:pPr>
            <a:r>
              <a:rPr lang="en-US" sz="1400" dirty="0">
                <a:solidFill>
                  <a:srgbClr val="1F2430"/>
                </a:solidFill>
              </a:rPr>
              <a:t>Default and exit</a:t>
            </a:r>
            <a:endParaRPr lang="en-US" sz="1400" dirty="0"/>
          </a:p>
        </p:txBody>
      </p:sp>
      <p:sp>
        <p:nvSpPr>
          <p:cNvPr id="21" name="Shape 18"/>
          <p:cNvSpPr/>
          <p:nvPr/>
        </p:nvSpPr>
        <p:spPr>
          <a:xfrm>
            <a:off x="4754880" y="2139696"/>
            <a:ext cx="731520" cy="457200"/>
          </a:xfrm>
          <a:prstGeom prst="roundRect">
            <a:avLst>
              <a:gd name="adj" fmla="val 12000"/>
            </a:avLst>
          </a:prstGeom>
          <a:solidFill>
            <a:srgbClr val="00695C"/>
          </a:solidFill>
          <a:ln w="12700">
            <a:solidFill>
              <a:srgbClr val="00695C"/>
            </a:solidFill>
            <a:prstDash val="solid"/>
          </a:ln>
        </p:spPr>
      </p:sp>
      <p:sp>
        <p:nvSpPr>
          <p:cNvPr id="22" name="Text 19"/>
          <p:cNvSpPr txBox="1"/>
          <p:nvPr/>
        </p:nvSpPr>
        <p:spPr>
          <a:xfrm>
            <a:off x="4818888" y="2139696"/>
            <a:ext cx="603504" cy="457200"/>
          </a:xfrm>
          <a:prstGeom prst="rect">
            <a:avLst/>
          </a:prstGeom>
          <a:noFill/>
          <a:ln/>
        </p:spPr>
        <p:txBody>
          <a:bodyPr wrap="square" lIns="0" tIns="0" rIns="0" bIns="0" rtlCol="0" anchor="ctr"/>
          <a:lstStyle/>
          <a:p>
            <a:pPr algn="ctr" indent="0" marL="0">
              <a:buNone/>
            </a:pPr>
            <a:r>
              <a:rPr lang="en-US" sz="1300" b="1" dirty="0">
                <a:solidFill>
                  <a:srgbClr val="FFFFFF"/>
                </a:solidFill>
              </a:rPr>
              <a:t>LP5</a:t>
            </a:r>
            <a:endParaRPr lang="en-US" sz="1300" dirty="0"/>
          </a:p>
        </p:txBody>
      </p:sp>
      <p:sp>
        <p:nvSpPr>
          <p:cNvPr id="23" name="Text 20"/>
          <p:cNvSpPr txBox="1"/>
          <p:nvPr/>
        </p:nvSpPr>
        <p:spPr>
          <a:xfrm>
            <a:off x="5623560" y="2139696"/>
            <a:ext cx="3017520" cy="457200"/>
          </a:xfrm>
          <a:prstGeom prst="rect">
            <a:avLst/>
          </a:prstGeom>
          <a:noFill/>
          <a:ln/>
        </p:spPr>
        <p:txBody>
          <a:bodyPr wrap="square" lIns="0" tIns="0" rIns="0" bIns="0" rtlCol="0" anchor="ctr"/>
          <a:lstStyle/>
          <a:p>
            <a:pPr algn="l" indent="0" marL="0">
              <a:buNone/>
            </a:pPr>
            <a:r>
              <a:rPr lang="en-US" sz="1400" dirty="0">
                <a:solidFill>
                  <a:srgbClr val="1F2430"/>
                </a:solidFill>
              </a:rPr>
              <a:t>Calibrated batch</a:t>
            </a:r>
            <a:endParaRPr lang="en-US" sz="1400" dirty="0"/>
          </a:p>
        </p:txBody>
      </p:sp>
      <p:sp>
        <p:nvSpPr>
          <p:cNvPr id="24" name="Shape 21"/>
          <p:cNvSpPr/>
          <p:nvPr/>
        </p:nvSpPr>
        <p:spPr>
          <a:xfrm>
            <a:off x="4754880" y="2706624"/>
            <a:ext cx="731520" cy="457200"/>
          </a:xfrm>
          <a:prstGeom prst="roundRect">
            <a:avLst>
              <a:gd name="adj" fmla="val 12000"/>
            </a:avLst>
          </a:prstGeom>
          <a:solidFill>
            <a:srgbClr val="00695C"/>
          </a:solidFill>
          <a:ln w="12700">
            <a:solidFill>
              <a:srgbClr val="00695C"/>
            </a:solidFill>
            <a:prstDash val="solid"/>
          </a:ln>
        </p:spPr>
      </p:sp>
      <p:sp>
        <p:nvSpPr>
          <p:cNvPr id="25" name="Text 22"/>
          <p:cNvSpPr txBox="1"/>
          <p:nvPr/>
        </p:nvSpPr>
        <p:spPr>
          <a:xfrm>
            <a:off x="4818888" y="2706624"/>
            <a:ext cx="603504" cy="457200"/>
          </a:xfrm>
          <a:prstGeom prst="rect">
            <a:avLst/>
          </a:prstGeom>
          <a:noFill/>
          <a:ln/>
        </p:spPr>
        <p:txBody>
          <a:bodyPr wrap="square" lIns="0" tIns="0" rIns="0" bIns="0" rtlCol="0" anchor="ctr"/>
          <a:lstStyle/>
          <a:p>
            <a:pPr algn="ctr" indent="0" marL="0">
              <a:buNone/>
            </a:pPr>
            <a:r>
              <a:rPr lang="en-US" sz="1300" b="1" dirty="0">
                <a:solidFill>
                  <a:srgbClr val="FFFFFF"/>
                </a:solidFill>
              </a:rPr>
              <a:t>LP6</a:t>
            </a:r>
            <a:endParaRPr lang="en-US" sz="1300" dirty="0"/>
          </a:p>
        </p:txBody>
      </p:sp>
      <p:sp>
        <p:nvSpPr>
          <p:cNvPr id="26" name="Text 23"/>
          <p:cNvSpPr txBox="1"/>
          <p:nvPr/>
        </p:nvSpPr>
        <p:spPr>
          <a:xfrm>
            <a:off x="5623560" y="2706624"/>
            <a:ext cx="3017520" cy="457200"/>
          </a:xfrm>
          <a:prstGeom prst="rect">
            <a:avLst/>
          </a:prstGeom>
          <a:noFill/>
          <a:ln/>
        </p:spPr>
        <p:txBody>
          <a:bodyPr wrap="square" lIns="0" tIns="0" rIns="0" bIns="0" rtlCol="0" anchor="ctr"/>
          <a:lstStyle/>
          <a:p>
            <a:pPr algn="l" indent="0" marL="0">
              <a:buNone/>
            </a:pPr>
            <a:r>
              <a:rPr lang="en-US" sz="1400" dirty="0">
                <a:solidFill>
                  <a:srgbClr val="1F2430"/>
                </a:solidFill>
              </a:rPr>
              <a:t>Late batch</a:t>
            </a:r>
            <a:endParaRPr lang="en-US" sz="1400" dirty="0"/>
          </a:p>
        </p:txBody>
      </p:sp>
      <p:sp>
        <p:nvSpPr>
          <p:cNvPr id="27" name="Shape 24"/>
          <p:cNvSpPr/>
          <p:nvPr/>
        </p:nvSpPr>
        <p:spPr>
          <a:xfrm>
            <a:off x="4754880" y="3429000"/>
            <a:ext cx="1874520" cy="594360"/>
          </a:xfrm>
          <a:prstGeom prst="roundRect">
            <a:avLst>
              <a:gd name="adj" fmla="val 12308"/>
            </a:avLst>
          </a:prstGeom>
          <a:solidFill>
            <a:srgbClr val="E0F2F1"/>
          </a:solidFill>
          <a:ln w="12700">
            <a:solidFill>
              <a:srgbClr val="00695C"/>
            </a:solidFill>
            <a:prstDash val="solid"/>
          </a:ln>
        </p:spPr>
      </p:sp>
      <p:sp>
        <p:nvSpPr>
          <p:cNvPr id="28" name="Text 25"/>
          <p:cNvSpPr txBox="1"/>
          <p:nvPr/>
        </p:nvSpPr>
        <p:spPr>
          <a:xfrm>
            <a:off x="4846320" y="3429000"/>
            <a:ext cx="1691640" cy="594360"/>
          </a:xfrm>
          <a:prstGeom prst="rect">
            <a:avLst/>
          </a:prstGeom>
          <a:noFill/>
          <a:ln/>
        </p:spPr>
        <p:txBody>
          <a:bodyPr wrap="square" lIns="0" tIns="0" rIns="0" bIns="0" rtlCol="0" anchor="ctr"/>
          <a:lstStyle/>
          <a:p>
            <a:pPr algn="ctr" indent="0" marL="0">
              <a:buNone/>
            </a:pPr>
            <a:r>
              <a:rPr lang="en-US" sz="1150" dirty="0">
                <a:solidFill>
                  <a:srgbClr val="1F2430"/>
                </a:solidFill>
              </a:rPr>
              <a:t>Kadamba: fixed ratio</a:t>
            </a:r>
            <a:endParaRPr lang="en-US" sz="1150" dirty="0"/>
          </a:p>
        </p:txBody>
      </p:sp>
      <p:sp>
        <p:nvSpPr>
          <p:cNvPr id="29" name="Shape 26"/>
          <p:cNvSpPr/>
          <p:nvPr/>
        </p:nvSpPr>
        <p:spPr>
          <a:xfrm>
            <a:off x="6812280" y="3429000"/>
            <a:ext cx="1874520" cy="594360"/>
          </a:xfrm>
          <a:prstGeom prst="roundRect">
            <a:avLst>
              <a:gd name="adj" fmla="val 12308"/>
            </a:avLst>
          </a:prstGeom>
          <a:solidFill>
            <a:srgbClr val="E0F2F1"/>
          </a:solidFill>
          <a:ln w="12700">
            <a:solidFill>
              <a:srgbClr val="00695C"/>
            </a:solidFill>
            <a:prstDash val="solid"/>
          </a:ln>
        </p:spPr>
      </p:sp>
      <p:sp>
        <p:nvSpPr>
          <p:cNvPr id="30" name="Text 27"/>
          <p:cNvSpPr txBox="1"/>
          <p:nvPr/>
        </p:nvSpPr>
        <p:spPr>
          <a:xfrm>
            <a:off x="6858000" y="3429000"/>
            <a:ext cx="1783080" cy="594360"/>
          </a:xfrm>
          <a:prstGeom prst="rect">
            <a:avLst/>
          </a:prstGeom>
          <a:noFill/>
          <a:ln/>
        </p:spPr>
        <p:txBody>
          <a:bodyPr wrap="square" lIns="0" tIns="0" rIns="0" bIns="0" rtlCol="0" anchor="ctr"/>
          <a:lstStyle/>
          <a:p>
            <a:pPr algn="ctr" indent="0" marL="0">
              <a:buNone/>
            </a:pPr>
            <a:r>
              <a:rPr lang="en-US" sz="1050" dirty="0">
                <a:solidFill>
                  <a:srgbClr val="1F2430"/>
                </a:solidFill>
              </a:rPr>
              <a:t>Yuktāhār: plans from records, weighs without blame</a:t>
            </a:r>
            <a:endParaRPr lang="en-US" sz="1050" dirty="0"/>
          </a:p>
        </p:txBody>
      </p:sp>
      <p:sp>
        <p:nvSpPr>
          <p:cNvPr id="31" name="Text 28"/>
          <p:cNvSpPr txBox="1"/>
          <p:nvPr/>
        </p:nvSpPr>
        <p:spPr>
          <a:xfrm>
            <a:off x="4754880" y="4114800"/>
            <a:ext cx="3931920" cy="411480"/>
          </a:xfrm>
          <a:prstGeom prst="rect">
            <a:avLst/>
          </a:prstGeom>
          <a:noFill/>
          <a:ln/>
        </p:spPr>
        <p:txBody>
          <a:bodyPr wrap="square" lIns="0" tIns="0" rIns="0" bIns="0" rtlCol="0" anchor="t"/>
          <a:lstStyle/>
          <a:p>
            <a:pPr algn="l" indent="0" marL="0">
              <a:buNone/>
            </a:pPr>
            <a:r>
              <a:rPr lang="en-US" sz="1200" i="1" dirty="0">
                <a:solidFill>
                  <a:srgbClr val="616161"/>
                </a:solidFill>
              </a:rPr>
              <a:t>Same registration and billing. A learning practice is possible under current rules.</a:t>
            </a:r>
            <a:endParaRPr lang="en-US" sz="1200" dirty="0"/>
          </a:p>
        </p:txBody>
      </p:sp>
      <p:sp>
        <p:nvSpPr>
          <p:cNvPr id="32" name="Shape 29"/>
          <p:cNvSpPr/>
          <p:nvPr/>
        </p:nvSpPr>
        <p:spPr>
          <a:xfrm>
            <a:off x="7758684" y="1033272"/>
            <a:ext cx="928116" cy="201168"/>
          </a:xfrm>
          <a:prstGeom prst="roundRect">
            <a:avLst>
              <a:gd name="adj" fmla="val 22727"/>
            </a:avLst>
          </a:prstGeom>
          <a:solidFill>
            <a:srgbClr val="2E7D32"/>
          </a:solidFill>
          <a:ln/>
        </p:spPr>
      </p:sp>
      <p:sp>
        <p:nvSpPr>
          <p:cNvPr id="33" name="Text 30"/>
          <p:cNvSpPr txBox="1"/>
          <p:nvPr/>
        </p:nvSpPr>
        <p:spPr>
          <a:xfrm>
            <a:off x="7758684"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CONFIRMED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Eight concepts were developed against the levers, and one is a deliberate foil</a:t>
            </a:r>
            <a:endParaRPr lang="en-US" sz="2400" dirty="0"/>
          </a:p>
        </p:txBody>
      </p:sp>
      <p:sp>
        <p:nvSpPr>
          <p:cNvPr id="3" name="Shape 1"/>
          <p:cNvSpPr/>
          <p:nvPr/>
        </p:nvSpPr>
        <p:spPr>
          <a:xfrm>
            <a:off x="457200" y="4864608"/>
            <a:ext cx="100584" cy="100584"/>
          </a:xfrm>
          <a:prstGeom prst="ellipse">
            <a:avLst/>
          </a:prstGeom>
          <a:solidFill>
            <a:srgbClr val="FFFFFF"/>
          </a:solidFill>
          <a:ln/>
        </p:spPr>
      </p:sp>
      <p:sp>
        <p:nvSpPr>
          <p:cNvPr id="4" name="Shape 2"/>
          <p:cNvSpPr/>
          <p:nvPr/>
        </p:nvSpPr>
        <p:spPr>
          <a:xfrm>
            <a:off x="640080" y="4864608"/>
            <a:ext cx="100584" cy="100584"/>
          </a:xfrm>
          <a:prstGeom prst="ellipse">
            <a:avLst/>
          </a:prstGeom>
          <a:solidFill>
            <a:srgbClr val="FFFFFF"/>
          </a:solidFill>
          <a:ln/>
        </p:spPr>
      </p:sp>
      <p:sp>
        <p:nvSpPr>
          <p:cNvPr id="5" name="Shape 3"/>
          <p:cNvSpPr/>
          <p:nvPr/>
        </p:nvSpPr>
        <p:spPr>
          <a:xfrm>
            <a:off x="822960" y="4864608"/>
            <a:ext cx="100584" cy="100584"/>
          </a:xfrm>
          <a:prstGeom prst="ellipse">
            <a:avLst/>
          </a:prstGeom>
          <a:solidFill>
            <a:srgbClr val="FFFFFF"/>
          </a:solidFill>
          <a:ln/>
        </p:spPr>
      </p:sp>
      <p:sp>
        <p:nvSpPr>
          <p:cNvPr id="6" name="Shape 4"/>
          <p:cNvSpPr/>
          <p:nvPr/>
        </p:nvSpPr>
        <p:spPr>
          <a:xfrm>
            <a:off x="1005840" y="4864608"/>
            <a:ext cx="100584" cy="100584"/>
          </a:xfrm>
          <a:prstGeom prst="ellipse">
            <a:avLst/>
          </a:prstGeom>
          <a:solidFill>
            <a:srgbClr val="FFFFFF"/>
          </a:solidFill>
          <a:ln/>
        </p:spPr>
      </p:sp>
      <p:sp>
        <p:nvSpPr>
          <p:cNvPr id="7" name="Shape 5"/>
          <p:cNvSpPr/>
          <p:nvPr/>
        </p:nvSpPr>
        <p:spPr>
          <a:xfrm>
            <a:off x="1188720" y="4864608"/>
            <a:ext cx="100584" cy="100584"/>
          </a:xfrm>
          <a:prstGeom prst="ellipse">
            <a:avLst/>
          </a:prstGeom>
          <a:solidFill>
            <a:srgbClr val="FFFFFF"/>
          </a:solidFill>
          <a:ln/>
        </p:spPr>
      </p:sp>
      <p:sp>
        <p:nvSpPr>
          <p:cNvPr id="8" name="Shape 6"/>
          <p:cNvSpPr/>
          <p:nvPr/>
        </p:nvSpPr>
        <p:spPr>
          <a:xfrm>
            <a:off x="1348740" y="4841748"/>
            <a:ext cx="146304" cy="146304"/>
          </a:xfrm>
          <a:prstGeom prst="ellipse">
            <a:avLst/>
          </a:prstGeom>
          <a:solidFill>
            <a:srgbClr val="FFFFFF"/>
          </a:solidFill>
          <a:ln/>
        </p:spPr>
      </p:sp>
      <p:sp>
        <p:nvSpPr>
          <p:cNvPr id="9" name="Shape 7"/>
          <p:cNvSpPr/>
          <p:nvPr/>
        </p:nvSpPr>
        <p:spPr>
          <a:xfrm>
            <a:off x="1312164" y="4805172"/>
            <a:ext cx="219456" cy="219456"/>
          </a:xfrm>
          <a:prstGeom prst="ellipse">
            <a:avLst/>
          </a:prstGeom>
          <a:ln w="9525">
            <a:solidFill>
              <a:srgbClr val="FFFFFF"/>
            </a:solidFill>
            <a:prstDash val="solid"/>
          </a:ln>
        </p:spPr>
      </p:sp>
      <p:sp>
        <p:nvSpPr>
          <p:cNvPr id="10" name="Shape 8"/>
          <p:cNvSpPr/>
          <p:nvPr/>
        </p:nvSpPr>
        <p:spPr>
          <a:xfrm>
            <a:off x="1554480" y="4864608"/>
            <a:ext cx="100584" cy="100584"/>
          </a:xfrm>
          <a:prstGeom prst="ellipse">
            <a:avLst/>
          </a:prstGeom>
          <a:ln w="9525">
            <a:solidFill>
              <a:srgbClr val="6B74A8"/>
            </a:solidFill>
            <a:prstDash val="solid"/>
          </a:ln>
        </p:spPr>
      </p:sp>
      <p:sp>
        <p:nvSpPr>
          <p:cNvPr id="11" name="Shape 9"/>
          <p:cNvSpPr/>
          <p:nvPr/>
        </p:nvSpPr>
        <p:spPr>
          <a:xfrm>
            <a:off x="1737360" y="4864608"/>
            <a:ext cx="100584" cy="100584"/>
          </a:xfrm>
          <a:prstGeom prst="ellipse">
            <a:avLst/>
          </a:prstGeom>
          <a:ln w="9525">
            <a:solidFill>
              <a:srgbClr val="6B74A8"/>
            </a:solidFill>
            <a:prstDash val="solid"/>
          </a:ln>
        </p:spPr>
      </p:sp>
      <p:sp>
        <p:nvSpPr>
          <p:cNvPr id="12" name="Shape 10"/>
          <p:cNvSpPr/>
          <p:nvPr/>
        </p:nvSpPr>
        <p:spPr>
          <a:xfrm>
            <a:off x="1920240" y="4864608"/>
            <a:ext cx="100584" cy="100584"/>
          </a:xfrm>
          <a:prstGeom prst="ellipse">
            <a:avLst/>
          </a:prstGeom>
          <a:ln w="9525">
            <a:solidFill>
              <a:srgbClr val="6B74A8"/>
            </a:solidFill>
            <a:prstDash val="solid"/>
          </a:ln>
        </p:spPr>
      </p:sp>
      <p:sp>
        <p:nvSpPr>
          <p:cNvPr id="13" name="Shape 11"/>
          <p:cNvSpPr/>
          <p:nvPr/>
        </p:nvSpPr>
        <p:spPr>
          <a:xfrm>
            <a:off x="2103120" y="4864608"/>
            <a:ext cx="100584" cy="100584"/>
          </a:xfrm>
          <a:prstGeom prst="ellipse">
            <a:avLst/>
          </a:prstGeom>
          <a:ln w="9525">
            <a:solidFill>
              <a:srgbClr val="6B74A8"/>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B8BFE6"/>
                </a:solidFill>
              </a:rPr>
              <a:t>6 Designing and testing interventions</a:t>
            </a:r>
            <a:endParaRPr lang="en-US" sz="1000" dirty="0"/>
          </a:p>
        </p:txBody>
      </p:sp>
      <p:sp>
        <p:nvSpPr>
          <p:cNvPr id="15" name="Shape 13"/>
          <p:cNvSpPr/>
          <p:nvPr/>
        </p:nvSpPr>
        <p:spPr>
          <a:xfrm>
            <a:off x="457200" y="1280160"/>
            <a:ext cx="1993392" cy="1417320"/>
          </a:xfrm>
          <a:prstGeom prst="roundRect">
            <a:avLst>
              <a:gd name="adj" fmla="val 5161"/>
            </a:avLst>
          </a:prstGeom>
          <a:solidFill>
            <a:srgbClr val="E0F2F1"/>
          </a:solidFill>
          <a:ln w="12700">
            <a:solidFill>
              <a:srgbClr val="00695C"/>
            </a:solidFill>
            <a:prstDash val="solid"/>
          </a:ln>
        </p:spPr>
      </p:sp>
      <p:sp>
        <p:nvSpPr>
          <p:cNvPr id="16" name="Shape 14"/>
          <p:cNvSpPr/>
          <p:nvPr/>
        </p:nvSpPr>
        <p:spPr>
          <a:xfrm>
            <a:off x="566928" y="1408176"/>
            <a:ext cx="365760" cy="365760"/>
          </a:xfrm>
          <a:prstGeom prst="ellipse">
            <a:avLst/>
          </a:prstGeom>
          <a:solidFill>
            <a:srgbClr val="00695C"/>
          </a:solidFill>
          <a:ln/>
        </p:spPr>
      </p:sp>
      <p:sp>
        <p:nvSpPr>
          <p:cNvPr id="17" name="Text 15"/>
          <p:cNvSpPr txBox="1"/>
          <p:nvPr/>
        </p:nvSpPr>
        <p:spPr>
          <a:xfrm>
            <a:off x="566928" y="140817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rPr>
              <a:t>A</a:t>
            </a:r>
            <a:endParaRPr lang="en-US" sz="1500" dirty="0"/>
          </a:p>
        </p:txBody>
      </p:sp>
      <p:sp>
        <p:nvSpPr>
          <p:cNvPr id="18" name="Text 16"/>
          <p:cNvSpPr txBox="1"/>
          <p:nvPr/>
        </p:nvSpPr>
        <p:spPr>
          <a:xfrm>
            <a:off x="1024128" y="1371600"/>
            <a:ext cx="1371600" cy="457200"/>
          </a:xfrm>
          <a:prstGeom prst="rect">
            <a:avLst/>
          </a:prstGeom>
          <a:noFill/>
          <a:ln/>
        </p:spPr>
        <p:txBody>
          <a:bodyPr wrap="square" lIns="0" tIns="0" rIns="0" bIns="0" rtlCol="0" anchor="ctr"/>
          <a:lstStyle/>
          <a:p>
            <a:pPr algn="l" indent="0" marL="0">
              <a:buNone/>
            </a:pPr>
            <a:r>
              <a:rPr lang="en-US" sz="1250" b="1" dirty="0">
                <a:solidFill>
                  <a:srgbClr val="1F2430"/>
                </a:solidFill>
              </a:rPr>
              <a:t>The Breakfast Ledger</a:t>
            </a:r>
            <a:endParaRPr lang="en-US" sz="1250" dirty="0"/>
          </a:p>
        </p:txBody>
      </p:sp>
      <p:sp>
        <p:nvSpPr>
          <p:cNvPr id="19" name="Text 17"/>
          <p:cNvSpPr txBox="1"/>
          <p:nvPr/>
        </p:nvSpPr>
        <p:spPr>
          <a:xfrm>
            <a:off x="585216" y="1938528"/>
            <a:ext cx="1737360" cy="228600"/>
          </a:xfrm>
          <a:prstGeom prst="rect">
            <a:avLst/>
          </a:prstGeom>
          <a:noFill/>
          <a:ln/>
        </p:spPr>
        <p:txBody>
          <a:bodyPr wrap="square" lIns="0" tIns="0" rIns="0" bIns="0" rtlCol="0" anchor="t"/>
          <a:lstStyle/>
          <a:p>
            <a:pPr algn="l" indent="0" marL="0">
              <a:buNone/>
            </a:pPr>
            <a:r>
              <a:rPr lang="en-US" sz="1100" dirty="0">
                <a:solidFill>
                  <a:srgbClr val="616161"/>
                </a:solidFill>
              </a:rPr>
              <a:t>LP1, LP7</a:t>
            </a:r>
            <a:endParaRPr lang="en-US" sz="1100" dirty="0"/>
          </a:p>
        </p:txBody>
      </p:sp>
      <p:sp>
        <p:nvSpPr>
          <p:cNvPr id="20" name="Shape 18"/>
          <p:cNvSpPr/>
          <p:nvPr/>
        </p:nvSpPr>
        <p:spPr>
          <a:xfrm>
            <a:off x="585216" y="2240280"/>
            <a:ext cx="1737360" cy="329184"/>
          </a:xfrm>
          <a:prstGeom prst="roundRect">
            <a:avLst>
              <a:gd name="adj" fmla="val 16667"/>
            </a:avLst>
          </a:prstGeom>
          <a:solidFill>
            <a:srgbClr val="E0F2F1"/>
          </a:solidFill>
          <a:ln w="12700">
            <a:solidFill>
              <a:srgbClr val="00695C"/>
            </a:solidFill>
            <a:prstDash val="solid"/>
          </a:ln>
        </p:spPr>
      </p:sp>
      <p:sp>
        <p:nvSpPr>
          <p:cNvPr id="21" name="Text 19"/>
          <p:cNvSpPr txBox="1"/>
          <p:nvPr/>
        </p:nvSpPr>
        <p:spPr>
          <a:xfrm>
            <a:off x="649224" y="2240280"/>
            <a:ext cx="1609344" cy="329184"/>
          </a:xfrm>
          <a:prstGeom prst="rect">
            <a:avLst/>
          </a:prstGeom>
          <a:noFill/>
          <a:ln/>
        </p:spPr>
        <p:txBody>
          <a:bodyPr wrap="square" lIns="0" tIns="0" rIns="0" bIns="0" rtlCol="0" anchor="ctr"/>
          <a:lstStyle/>
          <a:p>
            <a:pPr algn="ctr" indent="0" marL="0">
              <a:buNone/>
            </a:pPr>
            <a:r>
              <a:rPr lang="en-US" sz="1000" b="1" dirty="0">
                <a:solidFill>
                  <a:srgbClr val="1F2430"/>
                </a:solidFill>
              </a:rPr>
              <a:t>Fundamental</a:t>
            </a:r>
            <a:endParaRPr lang="en-US" sz="1000" dirty="0"/>
          </a:p>
        </p:txBody>
      </p:sp>
      <p:sp>
        <p:nvSpPr>
          <p:cNvPr id="22" name="Shape 20"/>
          <p:cNvSpPr/>
          <p:nvPr/>
        </p:nvSpPr>
        <p:spPr>
          <a:xfrm>
            <a:off x="2542032" y="1280160"/>
            <a:ext cx="1993392" cy="1417320"/>
          </a:xfrm>
          <a:prstGeom prst="roundRect">
            <a:avLst>
              <a:gd name="adj" fmla="val 5161"/>
            </a:avLst>
          </a:prstGeom>
          <a:solidFill>
            <a:srgbClr val="FFF8E1"/>
          </a:solidFill>
          <a:ln w="12700">
            <a:solidFill>
              <a:srgbClr val="F57F17"/>
            </a:solidFill>
            <a:prstDash val="solid"/>
          </a:ln>
        </p:spPr>
      </p:sp>
      <p:sp>
        <p:nvSpPr>
          <p:cNvPr id="23" name="Shape 21"/>
          <p:cNvSpPr/>
          <p:nvPr/>
        </p:nvSpPr>
        <p:spPr>
          <a:xfrm>
            <a:off x="2651760" y="1408176"/>
            <a:ext cx="365760" cy="365760"/>
          </a:xfrm>
          <a:prstGeom prst="ellipse">
            <a:avLst/>
          </a:prstGeom>
          <a:solidFill>
            <a:srgbClr val="F57F17"/>
          </a:solidFill>
          <a:ln/>
        </p:spPr>
      </p:sp>
      <p:sp>
        <p:nvSpPr>
          <p:cNvPr id="24" name="Text 22"/>
          <p:cNvSpPr txBox="1"/>
          <p:nvPr/>
        </p:nvSpPr>
        <p:spPr>
          <a:xfrm>
            <a:off x="2651760" y="140817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rPr>
              <a:t>B</a:t>
            </a:r>
            <a:endParaRPr lang="en-US" sz="1500" dirty="0"/>
          </a:p>
        </p:txBody>
      </p:sp>
      <p:sp>
        <p:nvSpPr>
          <p:cNvPr id="25" name="Text 23"/>
          <p:cNvSpPr txBox="1"/>
          <p:nvPr/>
        </p:nvSpPr>
        <p:spPr>
          <a:xfrm>
            <a:off x="3108960" y="1371600"/>
            <a:ext cx="1371600" cy="457200"/>
          </a:xfrm>
          <a:prstGeom prst="rect">
            <a:avLst/>
          </a:prstGeom>
          <a:noFill/>
          <a:ln/>
        </p:spPr>
        <p:txBody>
          <a:bodyPr wrap="square" lIns="0" tIns="0" rIns="0" bIns="0" rtlCol="0" anchor="ctr"/>
          <a:lstStyle/>
          <a:p>
            <a:pPr algn="l" indent="0" marL="0">
              <a:buNone/>
            </a:pPr>
            <a:r>
              <a:rPr lang="en-US" sz="1250" b="1" dirty="0">
                <a:solidFill>
                  <a:srgbClr val="1F2430"/>
                </a:solidFill>
              </a:rPr>
              <a:t>The Kitchen Learning Kit</a:t>
            </a:r>
            <a:endParaRPr lang="en-US" sz="1250" dirty="0"/>
          </a:p>
        </p:txBody>
      </p:sp>
      <p:sp>
        <p:nvSpPr>
          <p:cNvPr id="26" name="Text 24"/>
          <p:cNvSpPr txBox="1"/>
          <p:nvPr/>
        </p:nvSpPr>
        <p:spPr>
          <a:xfrm>
            <a:off x="2670048" y="1938528"/>
            <a:ext cx="1737360" cy="228600"/>
          </a:xfrm>
          <a:prstGeom prst="rect">
            <a:avLst/>
          </a:prstGeom>
          <a:noFill/>
          <a:ln/>
        </p:spPr>
        <p:txBody>
          <a:bodyPr wrap="square" lIns="0" tIns="0" rIns="0" bIns="0" rtlCol="0" anchor="t"/>
          <a:lstStyle/>
          <a:p>
            <a:pPr algn="l" indent="0" marL="0">
              <a:buNone/>
            </a:pPr>
            <a:r>
              <a:rPr lang="en-US" sz="1100" dirty="0">
                <a:solidFill>
                  <a:srgbClr val="616161"/>
                </a:solidFill>
              </a:rPr>
              <a:t>LP3, LP4, LP5</a:t>
            </a:r>
            <a:endParaRPr lang="en-US" sz="1100" dirty="0"/>
          </a:p>
        </p:txBody>
      </p:sp>
      <p:sp>
        <p:nvSpPr>
          <p:cNvPr id="27" name="Shape 25"/>
          <p:cNvSpPr/>
          <p:nvPr/>
        </p:nvSpPr>
        <p:spPr>
          <a:xfrm>
            <a:off x="2670048" y="2240280"/>
            <a:ext cx="1737360" cy="329184"/>
          </a:xfrm>
          <a:prstGeom prst="roundRect">
            <a:avLst>
              <a:gd name="adj" fmla="val 16667"/>
            </a:avLst>
          </a:prstGeom>
          <a:solidFill>
            <a:srgbClr val="FFF8E1"/>
          </a:solidFill>
          <a:ln w="12700">
            <a:solidFill>
              <a:srgbClr val="F57F17"/>
            </a:solidFill>
            <a:prstDash val="solid"/>
          </a:ln>
        </p:spPr>
      </p:sp>
      <p:sp>
        <p:nvSpPr>
          <p:cNvPr id="28" name="Text 26"/>
          <p:cNvSpPr txBox="1"/>
          <p:nvPr/>
        </p:nvSpPr>
        <p:spPr>
          <a:xfrm>
            <a:off x="2734056" y="2240280"/>
            <a:ext cx="1609344" cy="329184"/>
          </a:xfrm>
          <a:prstGeom prst="rect">
            <a:avLst/>
          </a:prstGeom>
          <a:noFill/>
          <a:ln/>
        </p:spPr>
        <p:txBody>
          <a:bodyPr wrap="square" lIns="0" tIns="0" rIns="0" bIns="0" rtlCol="0" anchor="ctr"/>
          <a:lstStyle/>
          <a:p>
            <a:pPr algn="ctr" indent="0" marL="0">
              <a:buNone/>
            </a:pPr>
            <a:r>
              <a:rPr lang="en-US" sz="1000" b="1" dirty="0">
                <a:solidFill>
                  <a:srgbClr val="8D4A00"/>
                </a:solidFill>
              </a:rPr>
              <a:t>Quick fix</a:t>
            </a:r>
            <a:endParaRPr lang="en-US" sz="1000" dirty="0"/>
          </a:p>
        </p:txBody>
      </p:sp>
      <p:sp>
        <p:nvSpPr>
          <p:cNvPr id="29" name="Shape 27"/>
          <p:cNvSpPr/>
          <p:nvPr/>
        </p:nvSpPr>
        <p:spPr>
          <a:xfrm>
            <a:off x="4626864" y="1280160"/>
            <a:ext cx="1993392" cy="1417320"/>
          </a:xfrm>
          <a:prstGeom prst="roundRect">
            <a:avLst>
              <a:gd name="adj" fmla="val 5161"/>
            </a:avLst>
          </a:prstGeom>
          <a:solidFill>
            <a:srgbClr val="FFF8E1"/>
          </a:solidFill>
          <a:ln w="12700">
            <a:solidFill>
              <a:srgbClr val="F57F17"/>
            </a:solidFill>
            <a:prstDash val="solid"/>
          </a:ln>
        </p:spPr>
      </p:sp>
      <p:sp>
        <p:nvSpPr>
          <p:cNvPr id="30" name="Shape 28"/>
          <p:cNvSpPr/>
          <p:nvPr/>
        </p:nvSpPr>
        <p:spPr>
          <a:xfrm>
            <a:off x="4736592" y="1408176"/>
            <a:ext cx="365760" cy="365760"/>
          </a:xfrm>
          <a:prstGeom prst="ellipse">
            <a:avLst/>
          </a:prstGeom>
          <a:solidFill>
            <a:srgbClr val="F57F17"/>
          </a:solidFill>
          <a:ln/>
        </p:spPr>
      </p:sp>
      <p:sp>
        <p:nvSpPr>
          <p:cNvPr id="31" name="Text 29"/>
          <p:cNvSpPr txBox="1"/>
          <p:nvPr/>
        </p:nvSpPr>
        <p:spPr>
          <a:xfrm>
            <a:off x="4736592" y="140817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rPr>
              <a:t>C</a:t>
            </a:r>
            <a:endParaRPr lang="en-US" sz="1500" dirty="0"/>
          </a:p>
        </p:txBody>
      </p:sp>
      <p:sp>
        <p:nvSpPr>
          <p:cNvPr id="32" name="Text 30"/>
          <p:cNvSpPr txBox="1"/>
          <p:nvPr/>
        </p:nvSpPr>
        <p:spPr>
          <a:xfrm>
            <a:off x="5193792" y="1371600"/>
            <a:ext cx="1371600" cy="457200"/>
          </a:xfrm>
          <a:prstGeom prst="rect">
            <a:avLst/>
          </a:prstGeom>
          <a:noFill/>
          <a:ln/>
        </p:spPr>
        <p:txBody>
          <a:bodyPr wrap="square" lIns="0" tIns="0" rIns="0" bIns="0" rtlCol="0" anchor="ctr"/>
          <a:lstStyle/>
          <a:p>
            <a:pPr algn="l" indent="0" marL="0">
              <a:buNone/>
            </a:pPr>
            <a:r>
              <a:rPr lang="en-US" sz="1250" b="1" dirty="0">
                <a:solidFill>
                  <a:srgbClr val="1F2430"/>
                </a:solidFill>
              </a:rPr>
              <a:t>The Crest Plan</a:t>
            </a:r>
            <a:endParaRPr lang="en-US" sz="1250" dirty="0"/>
          </a:p>
        </p:txBody>
      </p:sp>
      <p:sp>
        <p:nvSpPr>
          <p:cNvPr id="33" name="Text 31"/>
          <p:cNvSpPr txBox="1"/>
          <p:nvPr/>
        </p:nvSpPr>
        <p:spPr>
          <a:xfrm>
            <a:off x="4754880" y="1938528"/>
            <a:ext cx="1737360" cy="228600"/>
          </a:xfrm>
          <a:prstGeom prst="rect">
            <a:avLst/>
          </a:prstGeom>
          <a:noFill/>
          <a:ln/>
        </p:spPr>
        <p:txBody>
          <a:bodyPr wrap="square" lIns="0" tIns="0" rIns="0" bIns="0" rtlCol="0" anchor="t"/>
          <a:lstStyle/>
          <a:p>
            <a:pPr algn="l" indent="0" marL="0">
              <a:buNone/>
            </a:pPr>
            <a:r>
              <a:rPr lang="en-US" sz="1100" dirty="0">
                <a:solidFill>
                  <a:srgbClr val="616161"/>
                </a:solidFill>
              </a:rPr>
              <a:t>LP6</a:t>
            </a:r>
            <a:endParaRPr lang="en-US" sz="1100" dirty="0"/>
          </a:p>
        </p:txBody>
      </p:sp>
      <p:sp>
        <p:nvSpPr>
          <p:cNvPr id="34" name="Shape 32"/>
          <p:cNvSpPr/>
          <p:nvPr/>
        </p:nvSpPr>
        <p:spPr>
          <a:xfrm>
            <a:off x="4754880" y="2240280"/>
            <a:ext cx="1737360" cy="329184"/>
          </a:xfrm>
          <a:prstGeom prst="roundRect">
            <a:avLst>
              <a:gd name="adj" fmla="val 16667"/>
            </a:avLst>
          </a:prstGeom>
          <a:solidFill>
            <a:srgbClr val="FFF8E1"/>
          </a:solidFill>
          <a:ln w="12700">
            <a:solidFill>
              <a:srgbClr val="F57F17"/>
            </a:solidFill>
            <a:prstDash val="solid"/>
          </a:ln>
        </p:spPr>
      </p:sp>
      <p:sp>
        <p:nvSpPr>
          <p:cNvPr id="35" name="Text 33"/>
          <p:cNvSpPr txBox="1"/>
          <p:nvPr/>
        </p:nvSpPr>
        <p:spPr>
          <a:xfrm>
            <a:off x="4818888" y="2240280"/>
            <a:ext cx="1609344" cy="329184"/>
          </a:xfrm>
          <a:prstGeom prst="rect">
            <a:avLst/>
          </a:prstGeom>
          <a:noFill/>
          <a:ln/>
        </p:spPr>
        <p:txBody>
          <a:bodyPr wrap="square" lIns="0" tIns="0" rIns="0" bIns="0" rtlCol="0" anchor="ctr"/>
          <a:lstStyle/>
          <a:p>
            <a:pPr algn="ctr" indent="0" marL="0">
              <a:buNone/>
            </a:pPr>
            <a:r>
              <a:rPr lang="en-US" sz="1000" b="1" dirty="0">
                <a:solidFill>
                  <a:srgbClr val="8D4A00"/>
                </a:solidFill>
              </a:rPr>
              <a:t>Quick fix, with B</a:t>
            </a:r>
            <a:endParaRPr lang="en-US" sz="1000" dirty="0"/>
          </a:p>
        </p:txBody>
      </p:sp>
      <p:sp>
        <p:nvSpPr>
          <p:cNvPr id="36" name="Shape 34"/>
          <p:cNvSpPr/>
          <p:nvPr/>
        </p:nvSpPr>
        <p:spPr>
          <a:xfrm>
            <a:off x="6711696" y="1280160"/>
            <a:ext cx="1993392" cy="1417320"/>
          </a:xfrm>
          <a:prstGeom prst="roundRect">
            <a:avLst>
              <a:gd name="adj" fmla="val 5161"/>
            </a:avLst>
          </a:prstGeom>
          <a:solidFill>
            <a:srgbClr val="E0F2F1"/>
          </a:solidFill>
          <a:ln w="12700">
            <a:solidFill>
              <a:srgbClr val="00695C"/>
            </a:solidFill>
            <a:prstDash val="solid"/>
          </a:ln>
        </p:spPr>
      </p:sp>
      <p:sp>
        <p:nvSpPr>
          <p:cNvPr id="37" name="Shape 35"/>
          <p:cNvSpPr/>
          <p:nvPr/>
        </p:nvSpPr>
        <p:spPr>
          <a:xfrm>
            <a:off x="6821424" y="1408176"/>
            <a:ext cx="365760" cy="365760"/>
          </a:xfrm>
          <a:prstGeom prst="ellipse">
            <a:avLst/>
          </a:prstGeom>
          <a:solidFill>
            <a:srgbClr val="00695C"/>
          </a:solidFill>
          <a:ln/>
        </p:spPr>
      </p:sp>
      <p:sp>
        <p:nvSpPr>
          <p:cNvPr id="38" name="Text 36"/>
          <p:cNvSpPr txBox="1"/>
          <p:nvPr/>
        </p:nvSpPr>
        <p:spPr>
          <a:xfrm>
            <a:off x="6821424" y="140817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rPr>
              <a:t>D</a:t>
            </a:r>
            <a:endParaRPr lang="en-US" sz="1500" dirty="0"/>
          </a:p>
        </p:txBody>
      </p:sp>
      <p:sp>
        <p:nvSpPr>
          <p:cNvPr id="39" name="Text 37"/>
          <p:cNvSpPr txBox="1"/>
          <p:nvPr/>
        </p:nvSpPr>
        <p:spPr>
          <a:xfrm>
            <a:off x="7278624" y="1371600"/>
            <a:ext cx="1371600" cy="457200"/>
          </a:xfrm>
          <a:prstGeom prst="rect">
            <a:avLst/>
          </a:prstGeom>
          <a:noFill/>
          <a:ln/>
        </p:spPr>
        <p:txBody>
          <a:bodyPr wrap="square" lIns="0" tIns="0" rIns="0" bIns="0" rtlCol="0" anchor="ctr"/>
          <a:lstStyle/>
          <a:p>
            <a:pPr algn="l" indent="0" marL="0">
              <a:buNone/>
            </a:pPr>
            <a:r>
              <a:rPr lang="en-US" sz="1250" b="1" dirty="0">
                <a:solidFill>
                  <a:srgbClr val="1F2430"/>
                </a:solidFill>
              </a:rPr>
              <a:t>The Sunday Exit</a:t>
            </a:r>
            <a:endParaRPr lang="en-US" sz="1250" dirty="0"/>
          </a:p>
        </p:txBody>
      </p:sp>
      <p:sp>
        <p:nvSpPr>
          <p:cNvPr id="40" name="Text 38"/>
          <p:cNvSpPr txBox="1"/>
          <p:nvPr/>
        </p:nvSpPr>
        <p:spPr>
          <a:xfrm>
            <a:off x="6839712" y="1938528"/>
            <a:ext cx="1737360" cy="228600"/>
          </a:xfrm>
          <a:prstGeom prst="rect">
            <a:avLst/>
          </a:prstGeom>
          <a:noFill/>
          <a:ln/>
        </p:spPr>
        <p:txBody>
          <a:bodyPr wrap="square" lIns="0" tIns="0" rIns="0" bIns="0" rtlCol="0" anchor="t"/>
          <a:lstStyle/>
          <a:p>
            <a:pPr algn="l" indent="0" marL="0">
              <a:buNone/>
            </a:pPr>
            <a:r>
              <a:rPr lang="en-US" sz="1100" dirty="0">
                <a:solidFill>
                  <a:srgbClr val="616161"/>
                </a:solidFill>
              </a:rPr>
              <a:t>LP2</a:t>
            </a:r>
            <a:endParaRPr lang="en-US" sz="1100" dirty="0"/>
          </a:p>
        </p:txBody>
      </p:sp>
      <p:sp>
        <p:nvSpPr>
          <p:cNvPr id="41" name="Shape 39"/>
          <p:cNvSpPr/>
          <p:nvPr/>
        </p:nvSpPr>
        <p:spPr>
          <a:xfrm>
            <a:off x="6839712" y="2240280"/>
            <a:ext cx="1737360" cy="329184"/>
          </a:xfrm>
          <a:prstGeom prst="roundRect">
            <a:avLst>
              <a:gd name="adj" fmla="val 16667"/>
            </a:avLst>
          </a:prstGeom>
          <a:solidFill>
            <a:srgbClr val="E0F2F1"/>
          </a:solidFill>
          <a:ln w="12700">
            <a:solidFill>
              <a:srgbClr val="00695C"/>
            </a:solidFill>
            <a:prstDash val="solid"/>
          </a:ln>
        </p:spPr>
      </p:sp>
      <p:sp>
        <p:nvSpPr>
          <p:cNvPr id="42" name="Text 40"/>
          <p:cNvSpPr txBox="1"/>
          <p:nvPr/>
        </p:nvSpPr>
        <p:spPr>
          <a:xfrm>
            <a:off x="6903720" y="2240280"/>
            <a:ext cx="1609344" cy="329184"/>
          </a:xfrm>
          <a:prstGeom prst="rect">
            <a:avLst/>
          </a:prstGeom>
          <a:noFill/>
          <a:ln/>
        </p:spPr>
        <p:txBody>
          <a:bodyPr wrap="square" lIns="0" tIns="0" rIns="0" bIns="0" rtlCol="0" anchor="ctr"/>
          <a:lstStyle/>
          <a:p>
            <a:pPr algn="ctr" indent="0" marL="0">
              <a:buNone/>
            </a:pPr>
            <a:r>
              <a:rPr lang="en-US" sz="1000" b="1" dirty="0">
                <a:solidFill>
                  <a:srgbClr val="1F2430"/>
                </a:solidFill>
              </a:rPr>
              <a:t>Fundamental, week 6</a:t>
            </a:r>
            <a:endParaRPr lang="en-US" sz="1000" dirty="0"/>
          </a:p>
        </p:txBody>
      </p:sp>
      <p:sp>
        <p:nvSpPr>
          <p:cNvPr id="43" name="Shape 41"/>
          <p:cNvSpPr/>
          <p:nvPr/>
        </p:nvSpPr>
        <p:spPr>
          <a:xfrm>
            <a:off x="457200" y="2834640"/>
            <a:ext cx="1993392" cy="1417320"/>
          </a:xfrm>
          <a:prstGeom prst="roundRect">
            <a:avLst>
              <a:gd name="adj" fmla="val 5161"/>
            </a:avLst>
          </a:prstGeom>
          <a:solidFill>
            <a:srgbClr val="E0F2F1"/>
          </a:solidFill>
          <a:ln w="12700">
            <a:solidFill>
              <a:srgbClr val="00695C"/>
            </a:solidFill>
            <a:prstDash val="solid"/>
          </a:ln>
        </p:spPr>
      </p:sp>
      <p:sp>
        <p:nvSpPr>
          <p:cNvPr id="44" name="Shape 42"/>
          <p:cNvSpPr/>
          <p:nvPr/>
        </p:nvSpPr>
        <p:spPr>
          <a:xfrm>
            <a:off x="566928" y="2962656"/>
            <a:ext cx="365760" cy="365760"/>
          </a:xfrm>
          <a:prstGeom prst="ellipse">
            <a:avLst/>
          </a:prstGeom>
          <a:solidFill>
            <a:srgbClr val="00695C"/>
          </a:solidFill>
          <a:ln/>
        </p:spPr>
      </p:sp>
      <p:sp>
        <p:nvSpPr>
          <p:cNvPr id="45" name="Text 43"/>
          <p:cNvSpPr txBox="1"/>
          <p:nvPr/>
        </p:nvSpPr>
        <p:spPr>
          <a:xfrm>
            <a:off x="566928" y="296265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rPr>
              <a:t>E</a:t>
            </a:r>
            <a:endParaRPr lang="en-US" sz="1500" dirty="0"/>
          </a:p>
        </p:txBody>
      </p:sp>
      <p:sp>
        <p:nvSpPr>
          <p:cNvPr id="46" name="Text 44"/>
          <p:cNvSpPr txBox="1"/>
          <p:nvPr/>
        </p:nvSpPr>
        <p:spPr>
          <a:xfrm>
            <a:off x="1024128" y="2926080"/>
            <a:ext cx="1371600" cy="457200"/>
          </a:xfrm>
          <a:prstGeom prst="rect">
            <a:avLst/>
          </a:prstGeom>
          <a:noFill/>
          <a:ln/>
        </p:spPr>
        <p:txBody>
          <a:bodyPr wrap="square" lIns="0" tIns="0" rIns="0" bIns="0" rtlCol="0" anchor="ctr"/>
          <a:lstStyle/>
          <a:p>
            <a:pPr algn="l" indent="0" marL="0">
              <a:buNone/>
            </a:pPr>
            <a:r>
              <a:rPr lang="en-US" sz="1250" b="1" dirty="0">
                <a:solidFill>
                  <a:srgbClr val="1F2430"/>
                </a:solidFill>
              </a:rPr>
              <a:t>The Operator Menu Slot</a:t>
            </a:r>
            <a:endParaRPr lang="en-US" sz="1250" dirty="0"/>
          </a:p>
        </p:txBody>
      </p:sp>
      <p:sp>
        <p:nvSpPr>
          <p:cNvPr id="47" name="Text 45"/>
          <p:cNvSpPr txBox="1"/>
          <p:nvPr/>
        </p:nvSpPr>
        <p:spPr>
          <a:xfrm>
            <a:off x="585216" y="3493008"/>
            <a:ext cx="1737360" cy="228600"/>
          </a:xfrm>
          <a:prstGeom prst="rect">
            <a:avLst/>
          </a:prstGeom>
          <a:noFill/>
          <a:ln/>
        </p:spPr>
        <p:txBody>
          <a:bodyPr wrap="square" lIns="0" tIns="0" rIns="0" bIns="0" rtlCol="0" anchor="t"/>
          <a:lstStyle/>
          <a:p>
            <a:pPr algn="l" indent="0" marL="0">
              <a:buNone/>
            </a:pPr>
            <a:r>
              <a:rPr lang="en-US" sz="1100" dirty="0">
                <a:solidFill>
                  <a:srgbClr val="616161"/>
                </a:solidFill>
              </a:rPr>
              <a:t>LP8</a:t>
            </a:r>
            <a:endParaRPr lang="en-US" sz="1100" dirty="0"/>
          </a:p>
        </p:txBody>
      </p:sp>
      <p:sp>
        <p:nvSpPr>
          <p:cNvPr id="48" name="Shape 46"/>
          <p:cNvSpPr/>
          <p:nvPr/>
        </p:nvSpPr>
        <p:spPr>
          <a:xfrm>
            <a:off x="585216" y="3794760"/>
            <a:ext cx="1737360" cy="329184"/>
          </a:xfrm>
          <a:prstGeom prst="roundRect">
            <a:avLst>
              <a:gd name="adj" fmla="val 16667"/>
            </a:avLst>
          </a:prstGeom>
          <a:solidFill>
            <a:srgbClr val="E0F2F1"/>
          </a:solidFill>
          <a:ln w="12700">
            <a:solidFill>
              <a:srgbClr val="00695C"/>
            </a:solidFill>
            <a:prstDash val="solid"/>
          </a:ln>
        </p:spPr>
      </p:sp>
      <p:sp>
        <p:nvSpPr>
          <p:cNvPr id="49" name="Text 47"/>
          <p:cNvSpPr txBox="1"/>
          <p:nvPr/>
        </p:nvSpPr>
        <p:spPr>
          <a:xfrm>
            <a:off x="649224" y="3794760"/>
            <a:ext cx="1609344" cy="329184"/>
          </a:xfrm>
          <a:prstGeom prst="rect">
            <a:avLst/>
          </a:prstGeom>
          <a:noFill/>
          <a:ln/>
        </p:spPr>
        <p:txBody>
          <a:bodyPr wrap="square" lIns="0" tIns="0" rIns="0" bIns="0" rtlCol="0" anchor="ctr"/>
          <a:lstStyle/>
          <a:p>
            <a:pPr algn="ctr" indent="0" marL="0">
              <a:buNone/>
            </a:pPr>
            <a:r>
              <a:rPr lang="en-US" sz="1000" b="1" dirty="0">
                <a:solidFill>
                  <a:srgbClr val="1F2430"/>
                </a:solidFill>
              </a:rPr>
              <a:t>Fundamental, one loop only</a:t>
            </a:r>
            <a:endParaRPr lang="en-US" sz="1000" dirty="0"/>
          </a:p>
        </p:txBody>
      </p:sp>
      <p:sp>
        <p:nvSpPr>
          <p:cNvPr id="50" name="Shape 48"/>
          <p:cNvSpPr/>
          <p:nvPr/>
        </p:nvSpPr>
        <p:spPr>
          <a:xfrm>
            <a:off x="2542032" y="2834640"/>
            <a:ext cx="1993392" cy="1417320"/>
          </a:xfrm>
          <a:prstGeom prst="roundRect">
            <a:avLst>
              <a:gd name="adj" fmla="val 5161"/>
            </a:avLst>
          </a:prstGeom>
          <a:solidFill>
            <a:srgbClr val="F2F2F2"/>
          </a:solidFill>
          <a:ln w="12700">
            <a:solidFill>
              <a:srgbClr val="616161"/>
            </a:solidFill>
            <a:prstDash val="solid"/>
          </a:ln>
        </p:spPr>
      </p:sp>
      <p:sp>
        <p:nvSpPr>
          <p:cNvPr id="51" name="Shape 49"/>
          <p:cNvSpPr/>
          <p:nvPr/>
        </p:nvSpPr>
        <p:spPr>
          <a:xfrm>
            <a:off x="2651760" y="2962656"/>
            <a:ext cx="365760" cy="365760"/>
          </a:xfrm>
          <a:prstGeom prst="ellipse">
            <a:avLst/>
          </a:prstGeom>
          <a:solidFill>
            <a:srgbClr val="616161"/>
          </a:solidFill>
          <a:ln/>
        </p:spPr>
      </p:sp>
      <p:sp>
        <p:nvSpPr>
          <p:cNvPr id="52" name="Text 50"/>
          <p:cNvSpPr txBox="1"/>
          <p:nvPr/>
        </p:nvSpPr>
        <p:spPr>
          <a:xfrm>
            <a:off x="2651760" y="296265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rPr>
              <a:t>F</a:t>
            </a:r>
            <a:endParaRPr lang="en-US" sz="1500" dirty="0"/>
          </a:p>
        </p:txBody>
      </p:sp>
      <p:sp>
        <p:nvSpPr>
          <p:cNvPr id="53" name="Text 51"/>
          <p:cNvSpPr txBox="1"/>
          <p:nvPr/>
        </p:nvSpPr>
        <p:spPr>
          <a:xfrm>
            <a:off x="3108960" y="2926080"/>
            <a:ext cx="1371600" cy="457200"/>
          </a:xfrm>
          <a:prstGeom prst="rect">
            <a:avLst/>
          </a:prstGeom>
          <a:noFill/>
          <a:ln/>
        </p:spPr>
        <p:txBody>
          <a:bodyPr wrap="square" lIns="0" tIns="0" rIns="0" bIns="0" rtlCol="0" anchor="ctr"/>
          <a:lstStyle/>
          <a:p>
            <a:pPr algn="l" indent="0" marL="0">
              <a:buNone/>
            </a:pPr>
            <a:r>
              <a:rPr lang="en-US" sz="1250" b="1" dirty="0">
                <a:solidFill>
                  <a:srgbClr val="1F2430"/>
                </a:solidFill>
              </a:rPr>
              <a:t>Billed at Consumption</a:t>
            </a:r>
            <a:endParaRPr lang="en-US" sz="1250" dirty="0"/>
          </a:p>
        </p:txBody>
      </p:sp>
      <p:sp>
        <p:nvSpPr>
          <p:cNvPr id="54" name="Text 52"/>
          <p:cNvSpPr txBox="1"/>
          <p:nvPr/>
        </p:nvSpPr>
        <p:spPr>
          <a:xfrm>
            <a:off x="2670048" y="3493008"/>
            <a:ext cx="1737360" cy="228600"/>
          </a:xfrm>
          <a:prstGeom prst="rect">
            <a:avLst/>
          </a:prstGeom>
          <a:noFill/>
          <a:ln/>
        </p:spPr>
        <p:txBody>
          <a:bodyPr wrap="square" lIns="0" tIns="0" rIns="0" bIns="0" rtlCol="0" anchor="t"/>
          <a:lstStyle/>
          <a:p>
            <a:pPr algn="l" indent="0" marL="0">
              <a:buNone/>
            </a:pPr>
            <a:r>
              <a:rPr lang="en-US" sz="1100" dirty="0">
                <a:solidFill>
                  <a:srgbClr val="616161"/>
                </a:solidFill>
              </a:rPr>
              <a:t>LP10</a:t>
            </a:r>
            <a:endParaRPr lang="en-US" sz="1100" dirty="0"/>
          </a:p>
        </p:txBody>
      </p:sp>
      <p:sp>
        <p:nvSpPr>
          <p:cNvPr id="55" name="Shape 53"/>
          <p:cNvSpPr/>
          <p:nvPr/>
        </p:nvSpPr>
        <p:spPr>
          <a:xfrm>
            <a:off x="2670048" y="3794760"/>
            <a:ext cx="1737360" cy="329184"/>
          </a:xfrm>
          <a:prstGeom prst="roundRect">
            <a:avLst>
              <a:gd name="adj" fmla="val 16667"/>
            </a:avLst>
          </a:prstGeom>
          <a:solidFill>
            <a:srgbClr val="F2F2F2"/>
          </a:solidFill>
          <a:ln w="12700">
            <a:solidFill>
              <a:srgbClr val="616161"/>
            </a:solidFill>
            <a:prstDash val="solid"/>
          </a:ln>
        </p:spPr>
      </p:sp>
      <p:sp>
        <p:nvSpPr>
          <p:cNvPr id="56" name="Text 54"/>
          <p:cNvSpPr txBox="1"/>
          <p:nvPr/>
        </p:nvSpPr>
        <p:spPr>
          <a:xfrm>
            <a:off x="2734056" y="3794760"/>
            <a:ext cx="1609344" cy="329184"/>
          </a:xfrm>
          <a:prstGeom prst="rect">
            <a:avLst/>
          </a:prstGeom>
          <a:noFill/>
          <a:ln/>
        </p:spPr>
        <p:txBody>
          <a:bodyPr wrap="square" lIns="0" tIns="0" rIns="0" bIns="0" rtlCol="0" anchor="ctr"/>
          <a:lstStyle/>
          <a:p>
            <a:pPr algn="ctr" indent="0" marL="0">
              <a:buNone/>
            </a:pPr>
            <a:r>
              <a:rPr lang="en-US" sz="1000" b="1" dirty="0">
                <a:solidFill>
                  <a:srgbClr val="1F2430"/>
                </a:solidFill>
              </a:rPr>
              <a:t>Held behind the payment basis</a:t>
            </a:r>
            <a:endParaRPr lang="en-US" sz="1000" dirty="0"/>
          </a:p>
        </p:txBody>
      </p:sp>
      <p:sp>
        <p:nvSpPr>
          <p:cNvPr id="57" name="Shape 55"/>
          <p:cNvSpPr/>
          <p:nvPr/>
        </p:nvSpPr>
        <p:spPr>
          <a:xfrm>
            <a:off x="4626864" y="2834640"/>
            <a:ext cx="1993392" cy="1417320"/>
          </a:xfrm>
          <a:prstGeom prst="roundRect">
            <a:avLst>
              <a:gd name="adj" fmla="val 5161"/>
            </a:avLst>
          </a:prstGeom>
          <a:solidFill>
            <a:srgbClr val="FDECEA"/>
          </a:solidFill>
          <a:ln w="12700">
            <a:solidFill>
              <a:srgbClr val="C62828"/>
            </a:solidFill>
            <a:prstDash val="dash"/>
          </a:ln>
        </p:spPr>
      </p:sp>
      <p:sp>
        <p:nvSpPr>
          <p:cNvPr id="58" name="Shape 56"/>
          <p:cNvSpPr/>
          <p:nvPr/>
        </p:nvSpPr>
        <p:spPr>
          <a:xfrm>
            <a:off x="4736592" y="2962656"/>
            <a:ext cx="365760" cy="365760"/>
          </a:xfrm>
          <a:prstGeom prst="ellipse">
            <a:avLst/>
          </a:prstGeom>
          <a:solidFill>
            <a:srgbClr val="C62828"/>
          </a:solidFill>
          <a:ln/>
        </p:spPr>
      </p:sp>
      <p:sp>
        <p:nvSpPr>
          <p:cNvPr id="59" name="Text 57"/>
          <p:cNvSpPr txBox="1"/>
          <p:nvPr/>
        </p:nvSpPr>
        <p:spPr>
          <a:xfrm>
            <a:off x="4736592" y="296265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rPr>
              <a:t>G</a:t>
            </a:r>
            <a:endParaRPr lang="en-US" sz="1500" dirty="0"/>
          </a:p>
        </p:txBody>
      </p:sp>
      <p:sp>
        <p:nvSpPr>
          <p:cNvPr id="60" name="Text 58"/>
          <p:cNvSpPr txBox="1"/>
          <p:nvPr/>
        </p:nvSpPr>
        <p:spPr>
          <a:xfrm>
            <a:off x="5193792" y="2926080"/>
            <a:ext cx="1371600" cy="457200"/>
          </a:xfrm>
          <a:prstGeom prst="rect">
            <a:avLst/>
          </a:prstGeom>
          <a:noFill/>
          <a:ln/>
        </p:spPr>
        <p:txBody>
          <a:bodyPr wrap="square" lIns="0" tIns="0" rIns="0" bIns="0" rtlCol="0" anchor="ctr"/>
          <a:lstStyle/>
          <a:p>
            <a:pPr algn="l" indent="0" marL="0">
              <a:buNone/>
            </a:pPr>
            <a:r>
              <a:rPr lang="en-US" sz="1250" b="1" dirty="0">
                <a:solidFill>
                  <a:srgbClr val="1F2430"/>
                </a:solidFill>
              </a:rPr>
              <a:t>Ratio Cut to 50 Percent</a:t>
            </a:r>
            <a:endParaRPr lang="en-US" sz="1250" dirty="0"/>
          </a:p>
        </p:txBody>
      </p:sp>
      <p:sp>
        <p:nvSpPr>
          <p:cNvPr id="61" name="Text 59"/>
          <p:cNvSpPr txBox="1"/>
          <p:nvPr/>
        </p:nvSpPr>
        <p:spPr>
          <a:xfrm>
            <a:off x="4754880" y="3493008"/>
            <a:ext cx="1737360" cy="228600"/>
          </a:xfrm>
          <a:prstGeom prst="rect">
            <a:avLst/>
          </a:prstGeom>
          <a:noFill/>
          <a:ln/>
        </p:spPr>
        <p:txBody>
          <a:bodyPr wrap="square" lIns="0" tIns="0" rIns="0" bIns="0" rtlCol="0" anchor="t"/>
          <a:lstStyle/>
          <a:p>
            <a:pPr algn="l" indent="0" marL="0">
              <a:buNone/>
            </a:pPr>
            <a:r>
              <a:rPr lang="en-US" sz="1100" dirty="0">
                <a:solidFill>
                  <a:srgbClr val="616161"/>
                </a:solidFill>
              </a:rPr>
              <a:t>no lever</a:t>
            </a:r>
            <a:endParaRPr lang="en-US" sz="1100" dirty="0"/>
          </a:p>
        </p:txBody>
      </p:sp>
      <p:sp>
        <p:nvSpPr>
          <p:cNvPr id="62" name="Shape 60"/>
          <p:cNvSpPr/>
          <p:nvPr/>
        </p:nvSpPr>
        <p:spPr>
          <a:xfrm>
            <a:off x="4754880" y="3794760"/>
            <a:ext cx="1737360" cy="329184"/>
          </a:xfrm>
          <a:prstGeom prst="roundRect">
            <a:avLst>
              <a:gd name="adj" fmla="val 16667"/>
            </a:avLst>
          </a:prstGeom>
          <a:solidFill>
            <a:srgbClr val="FDECEA"/>
          </a:solidFill>
          <a:ln w="12700">
            <a:solidFill>
              <a:srgbClr val="C62828"/>
            </a:solidFill>
            <a:prstDash val="solid"/>
          </a:ln>
        </p:spPr>
      </p:sp>
      <p:sp>
        <p:nvSpPr>
          <p:cNvPr id="63" name="Text 61"/>
          <p:cNvSpPr txBox="1"/>
          <p:nvPr/>
        </p:nvSpPr>
        <p:spPr>
          <a:xfrm>
            <a:off x="4818888" y="3794760"/>
            <a:ext cx="1609344" cy="329184"/>
          </a:xfrm>
          <a:prstGeom prst="rect">
            <a:avLst/>
          </a:prstGeom>
          <a:noFill/>
          <a:ln/>
        </p:spPr>
        <p:txBody>
          <a:bodyPr wrap="square" lIns="0" tIns="0" rIns="0" bIns="0" rtlCol="0" anchor="ctr"/>
          <a:lstStyle/>
          <a:p>
            <a:pPr algn="ctr" indent="0" marL="0">
              <a:buNone/>
            </a:pPr>
            <a:r>
              <a:rPr lang="en-US" sz="1000" b="1" dirty="0">
                <a:solidFill>
                  <a:srgbClr val="1F2430"/>
                </a:solidFill>
              </a:rPr>
              <a:t>Foil</a:t>
            </a:r>
            <a:endParaRPr lang="en-US" sz="1000" dirty="0"/>
          </a:p>
        </p:txBody>
      </p:sp>
      <p:sp>
        <p:nvSpPr>
          <p:cNvPr id="64" name="Shape 62"/>
          <p:cNvSpPr/>
          <p:nvPr/>
        </p:nvSpPr>
        <p:spPr>
          <a:xfrm>
            <a:off x="6711696" y="2834640"/>
            <a:ext cx="1993392" cy="1417320"/>
          </a:xfrm>
          <a:prstGeom prst="roundRect">
            <a:avLst>
              <a:gd name="adj" fmla="val 5161"/>
            </a:avLst>
          </a:prstGeom>
          <a:solidFill>
            <a:srgbClr val="E0F2F1"/>
          </a:solidFill>
          <a:ln w="12700">
            <a:solidFill>
              <a:srgbClr val="00695C"/>
            </a:solidFill>
            <a:prstDash val="solid"/>
          </a:ln>
        </p:spPr>
      </p:sp>
      <p:sp>
        <p:nvSpPr>
          <p:cNvPr id="65" name="Shape 63"/>
          <p:cNvSpPr/>
          <p:nvPr/>
        </p:nvSpPr>
        <p:spPr>
          <a:xfrm>
            <a:off x="6821424" y="2962656"/>
            <a:ext cx="365760" cy="365760"/>
          </a:xfrm>
          <a:prstGeom prst="ellipse">
            <a:avLst/>
          </a:prstGeom>
          <a:solidFill>
            <a:srgbClr val="00695C"/>
          </a:solidFill>
          <a:ln/>
        </p:spPr>
      </p:sp>
      <p:sp>
        <p:nvSpPr>
          <p:cNvPr id="66" name="Text 64"/>
          <p:cNvSpPr txBox="1"/>
          <p:nvPr/>
        </p:nvSpPr>
        <p:spPr>
          <a:xfrm>
            <a:off x="6821424" y="296265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rPr>
              <a:t>H</a:t>
            </a:r>
            <a:endParaRPr lang="en-US" sz="1500" dirty="0"/>
          </a:p>
        </p:txBody>
      </p:sp>
      <p:sp>
        <p:nvSpPr>
          <p:cNvPr id="67" name="Text 65"/>
          <p:cNvSpPr txBox="1"/>
          <p:nvPr/>
        </p:nvSpPr>
        <p:spPr>
          <a:xfrm>
            <a:off x="7278624" y="2926080"/>
            <a:ext cx="1371600" cy="457200"/>
          </a:xfrm>
          <a:prstGeom prst="rect">
            <a:avLst/>
          </a:prstGeom>
          <a:noFill/>
          <a:ln/>
        </p:spPr>
        <p:txBody>
          <a:bodyPr wrap="square" lIns="0" tIns="0" rIns="0" bIns="0" rtlCol="0" anchor="ctr"/>
          <a:lstStyle/>
          <a:p>
            <a:pPr algn="l" indent="0" marL="0">
              <a:buNone/>
            </a:pPr>
            <a:r>
              <a:rPr lang="en-US" sz="1250" b="1" dirty="0">
                <a:solidFill>
                  <a:srgbClr val="1F2430"/>
                </a:solidFill>
              </a:rPr>
              <a:t>The Shared Reading</a:t>
            </a:r>
            <a:endParaRPr lang="en-US" sz="1250" dirty="0"/>
          </a:p>
        </p:txBody>
      </p:sp>
      <p:sp>
        <p:nvSpPr>
          <p:cNvPr id="68" name="Text 66"/>
          <p:cNvSpPr txBox="1"/>
          <p:nvPr/>
        </p:nvSpPr>
        <p:spPr>
          <a:xfrm>
            <a:off x="6839712" y="3493008"/>
            <a:ext cx="1737360" cy="228600"/>
          </a:xfrm>
          <a:prstGeom prst="rect">
            <a:avLst/>
          </a:prstGeom>
          <a:noFill/>
          <a:ln/>
        </p:spPr>
        <p:txBody>
          <a:bodyPr wrap="square" lIns="0" tIns="0" rIns="0" bIns="0" rtlCol="0" anchor="t"/>
          <a:lstStyle/>
          <a:p>
            <a:pPr algn="l" indent="0" marL="0">
              <a:buNone/>
            </a:pPr>
            <a:r>
              <a:rPr lang="en-US" sz="1100" dirty="0">
                <a:solidFill>
                  <a:srgbClr val="616161"/>
                </a:solidFill>
              </a:rPr>
              <a:t>LP11, LP12</a:t>
            </a:r>
            <a:endParaRPr lang="en-US" sz="1100" dirty="0"/>
          </a:p>
        </p:txBody>
      </p:sp>
      <p:sp>
        <p:nvSpPr>
          <p:cNvPr id="69" name="Shape 67"/>
          <p:cNvSpPr/>
          <p:nvPr/>
        </p:nvSpPr>
        <p:spPr>
          <a:xfrm>
            <a:off x="6839712" y="3794760"/>
            <a:ext cx="1737360" cy="329184"/>
          </a:xfrm>
          <a:prstGeom prst="roundRect">
            <a:avLst>
              <a:gd name="adj" fmla="val 16667"/>
            </a:avLst>
          </a:prstGeom>
          <a:solidFill>
            <a:srgbClr val="E0F2F1"/>
          </a:solidFill>
          <a:ln w="12700">
            <a:solidFill>
              <a:srgbClr val="00695C"/>
            </a:solidFill>
            <a:prstDash val="solid"/>
          </a:ln>
        </p:spPr>
      </p:sp>
      <p:sp>
        <p:nvSpPr>
          <p:cNvPr id="70" name="Text 68"/>
          <p:cNvSpPr txBox="1"/>
          <p:nvPr/>
        </p:nvSpPr>
        <p:spPr>
          <a:xfrm>
            <a:off x="6903720" y="3794760"/>
            <a:ext cx="1609344" cy="329184"/>
          </a:xfrm>
          <a:prstGeom prst="rect">
            <a:avLst/>
          </a:prstGeom>
          <a:noFill/>
          <a:ln/>
        </p:spPr>
        <p:txBody>
          <a:bodyPr wrap="square" lIns="0" tIns="0" rIns="0" bIns="0" rtlCol="0" anchor="ctr"/>
          <a:lstStyle/>
          <a:p>
            <a:pPr algn="ctr" indent="0" marL="0">
              <a:buNone/>
            </a:pPr>
            <a:r>
              <a:rPr lang="en-US" sz="1000" b="1" dirty="0">
                <a:solidFill>
                  <a:srgbClr val="1F2430"/>
                </a:solidFill>
              </a:rPr>
              <a:t>Fundamental, in the bundle</a:t>
            </a:r>
            <a:endParaRPr lang="en-US" sz="1000" dirty="0"/>
          </a:p>
        </p:txBody>
      </p:sp>
      <p:sp>
        <p:nvSpPr>
          <p:cNvPr id="71" name="Text 69"/>
          <p:cNvSpPr txBox="1"/>
          <p:nvPr/>
        </p:nvSpPr>
        <p:spPr>
          <a:xfrm>
            <a:off x="457200" y="4462272"/>
            <a:ext cx="7315200" cy="256032"/>
          </a:xfrm>
          <a:prstGeom prst="rect">
            <a:avLst/>
          </a:prstGeom>
          <a:noFill/>
          <a:ln/>
        </p:spPr>
        <p:txBody>
          <a:bodyPr wrap="square" lIns="0" tIns="0" rIns="0" bIns="0" rtlCol="0" anchor="t"/>
          <a:lstStyle/>
          <a:p>
            <a:pPr algn="l" indent="0" marL="0">
              <a:buNone/>
            </a:pPr>
            <a:r>
              <a:rPr lang="en-US" sz="1400" dirty="0">
                <a:solidFill>
                  <a:srgbClr val="B8BFE6"/>
                </a:solidFill>
              </a:rPr>
              <a:t>Prototype: the bundle across one breakfast, on paper.</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On paper, one Sunday's gap shows as Rs 30,624 charged for food nobody ate</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sp>
        <p:nvSpPr>
          <p:cNvPr id="15" name="Text 13"/>
          <p:cNvSpPr txBox="1"/>
          <p:nvPr/>
        </p:nvSpPr>
        <p:spPr>
          <a:xfrm>
            <a:off x="457200" y="1234440"/>
            <a:ext cx="457200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SATURDAY EVENING: THE PLAN CARD</a:t>
            </a:r>
            <a:endParaRPr lang="en-US" sz="1000" dirty="0"/>
          </a:p>
        </p:txBody>
      </p:sp>
      <p:sp>
        <p:nvSpPr>
          <p:cNvPr id="16" name="Shape 14"/>
          <p:cNvSpPr/>
          <p:nvPr/>
        </p:nvSpPr>
        <p:spPr>
          <a:xfrm>
            <a:off x="457200" y="1463040"/>
            <a:ext cx="1097280" cy="868680"/>
          </a:xfrm>
          <a:prstGeom prst="roundRect">
            <a:avLst>
              <a:gd name="adj" fmla="val 8421"/>
            </a:avLst>
          </a:prstGeom>
          <a:solidFill>
            <a:srgbClr val="E3F2FD"/>
          </a:solidFill>
          <a:ln w="12700">
            <a:solidFill>
              <a:srgbClr val="1565C0"/>
            </a:solidFill>
            <a:prstDash val="solid"/>
          </a:ln>
        </p:spPr>
      </p:sp>
      <p:sp>
        <p:nvSpPr>
          <p:cNvPr id="17" name="Text 15"/>
          <p:cNvSpPr txBox="1"/>
          <p:nvPr/>
        </p:nvSpPr>
        <p:spPr>
          <a:xfrm>
            <a:off x="457200" y="1481328"/>
            <a:ext cx="1097280" cy="502920"/>
          </a:xfrm>
          <a:prstGeom prst="rect">
            <a:avLst/>
          </a:prstGeom>
          <a:noFill/>
          <a:ln/>
        </p:spPr>
        <p:txBody>
          <a:bodyPr wrap="square" lIns="0" tIns="0" rIns="0" bIns="0" rtlCol="0" anchor="ctr"/>
          <a:lstStyle/>
          <a:p>
            <a:pPr algn="ctr" indent="0" marL="0">
              <a:buNone/>
            </a:pPr>
            <a:r>
              <a:rPr lang="en-US" sz="2400" b="1" dirty="0">
                <a:solidFill>
                  <a:srgbClr val="1565C0"/>
                </a:solidFill>
                <a:latin typeface="Cambria" pitchFamily="34" charset="0"/>
                <a:ea typeface="Cambria" pitchFamily="34" charset="-122"/>
                <a:cs typeface="Cambria" pitchFamily="34" charset="-120"/>
              </a:rPr>
              <a:t>164</a:t>
            </a:r>
            <a:endParaRPr lang="en-US" sz="2400" dirty="0"/>
          </a:p>
        </p:txBody>
      </p:sp>
      <p:sp>
        <p:nvSpPr>
          <p:cNvPr id="18" name="Text 16"/>
          <p:cNvSpPr txBox="1"/>
          <p:nvPr/>
        </p:nvSpPr>
        <p:spPr>
          <a:xfrm>
            <a:off x="457200" y="1993392"/>
            <a:ext cx="1097280" cy="274320"/>
          </a:xfrm>
          <a:prstGeom prst="rect">
            <a:avLst/>
          </a:prstGeom>
          <a:noFill/>
          <a:ln/>
        </p:spPr>
        <p:txBody>
          <a:bodyPr wrap="square" lIns="0" tIns="0" rIns="0" bIns="0" rtlCol="0" anchor="t"/>
          <a:lstStyle/>
          <a:p>
            <a:pPr algn="ctr" indent="0" marL="0">
              <a:buNone/>
            </a:pPr>
            <a:r>
              <a:rPr lang="en-US" sz="1050" dirty="0">
                <a:solidFill>
                  <a:srgbClr val="616161"/>
                </a:solidFill>
              </a:rPr>
              <a:t>expected eaters</a:t>
            </a:r>
            <a:endParaRPr lang="en-US" sz="1050" dirty="0"/>
          </a:p>
        </p:txBody>
      </p:sp>
      <p:sp>
        <p:nvSpPr>
          <p:cNvPr id="19" name="Text 17"/>
          <p:cNvSpPr txBox="1"/>
          <p:nvPr/>
        </p:nvSpPr>
        <p:spPr>
          <a:xfrm>
            <a:off x="1536192" y="1600200"/>
            <a:ext cx="182880" cy="365760"/>
          </a:xfrm>
          <a:prstGeom prst="rect">
            <a:avLst/>
          </a:prstGeom>
          <a:noFill/>
          <a:ln/>
        </p:spPr>
        <p:txBody>
          <a:bodyPr wrap="square" lIns="0" tIns="0" rIns="0" bIns="0" rtlCol="0" anchor="t"/>
          <a:lstStyle/>
          <a:p>
            <a:pPr algn="ctr" indent="0" marL="0">
              <a:buNone/>
            </a:pPr>
            <a:r>
              <a:rPr lang="en-US" sz="1600" b="1" dirty="0">
                <a:solidFill>
                  <a:srgbClr val="1A237E"/>
                </a:solidFill>
              </a:rPr>
              <a:t>×</a:t>
            </a:r>
            <a:endParaRPr lang="en-US" sz="1600" dirty="0"/>
          </a:p>
        </p:txBody>
      </p:sp>
      <p:sp>
        <p:nvSpPr>
          <p:cNvPr id="20" name="Shape 18"/>
          <p:cNvSpPr/>
          <p:nvPr/>
        </p:nvSpPr>
        <p:spPr>
          <a:xfrm>
            <a:off x="1691640" y="1463040"/>
            <a:ext cx="1097280" cy="868680"/>
          </a:xfrm>
          <a:prstGeom prst="roundRect">
            <a:avLst>
              <a:gd name="adj" fmla="val 8421"/>
            </a:avLst>
          </a:prstGeom>
          <a:solidFill>
            <a:srgbClr val="E3F2FD"/>
          </a:solidFill>
          <a:ln w="12700">
            <a:solidFill>
              <a:srgbClr val="1565C0"/>
            </a:solidFill>
            <a:prstDash val="solid"/>
          </a:ln>
        </p:spPr>
      </p:sp>
      <p:sp>
        <p:nvSpPr>
          <p:cNvPr id="21" name="Text 19"/>
          <p:cNvSpPr txBox="1"/>
          <p:nvPr/>
        </p:nvSpPr>
        <p:spPr>
          <a:xfrm>
            <a:off x="1691640" y="1481328"/>
            <a:ext cx="1097280" cy="502920"/>
          </a:xfrm>
          <a:prstGeom prst="rect">
            <a:avLst/>
          </a:prstGeom>
          <a:noFill/>
          <a:ln/>
        </p:spPr>
        <p:txBody>
          <a:bodyPr wrap="square" lIns="0" tIns="0" rIns="0" bIns="0" rtlCol="0" anchor="ctr"/>
          <a:lstStyle/>
          <a:p>
            <a:pPr algn="ctr" indent="0" marL="0">
              <a:buNone/>
            </a:pPr>
            <a:r>
              <a:rPr lang="en-US" sz="2400" b="1" dirty="0">
                <a:solidFill>
                  <a:srgbClr val="1565C0"/>
                </a:solidFill>
                <a:latin typeface="Cambria" pitchFamily="34" charset="0"/>
                <a:ea typeface="Cambria" pitchFamily="34" charset="-122"/>
                <a:cs typeface="Cambria" pitchFamily="34" charset="-120"/>
              </a:rPr>
              <a:t>54.7%</a:t>
            </a:r>
            <a:endParaRPr lang="en-US" sz="2400" dirty="0"/>
          </a:p>
        </p:txBody>
      </p:sp>
      <p:sp>
        <p:nvSpPr>
          <p:cNvPr id="22" name="Text 20"/>
          <p:cNvSpPr txBox="1"/>
          <p:nvPr/>
        </p:nvSpPr>
        <p:spPr>
          <a:xfrm>
            <a:off x="1691640" y="1993392"/>
            <a:ext cx="1097280" cy="274320"/>
          </a:xfrm>
          <a:prstGeom prst="rect">
            <a:avLst/>
          </a:prstGeom>
          <a:noFill/>
          <a:ln/>
        </p:spPr>
        <p:txBody>
          <a:bodyPr wrap="square" lIns="0" tIns="0" rIns="0" bIns="0" rtlCol="0" anchor="t"/>
          <a:lstStyle/>
          <a:p>
            <a:pPr algn="ctr" indent="0" marL="0">
              <a:buNone/>
            </a:pPr>
            <a:r>
              <a:rPr lang="en-US" sz="1050" dirty="0">
                <a:solidFill>
                  <a:srgbClr val="616161"/>
                </a:solidFill>
              </a:rPr>
              <a:t>share in by 9:15</a:t>
            </a:r>
            <a:endParaRPr lang="en-US" sz="1050" dirty="0"/>
          </a:p>
        </p:txBody>
      </p:sp>
      <p:sp>
        <p:nvSpPr>
          <p:cNvPr id="23" name="Text 21"/>
          <p:cNvSpPr txBox="1"/>
          <p:nvPr/>
        </p:nvSpPr>
        <p:spPr>
          <a:xfrm>
            <a:off x="2770632" y="1600200"/>
            <a:ext cx="182880" cy="365760"/>
          </a:xfrm>
          <a:prstGeom prst="rect">
            <a:avLst/>
          </a:prstGeom>
          <a:noFill/>
          <a:ln/>
        </p:spPr>
        <p:txBody>
          <a:bodyPr wrap="square" lIns="0" tIns="0" rIns="0" bIns="0" rtlCol="0" anchor="t"/>
          <a:lstStyle/>
          <a:p>
            <a:pPr algn="ctr" indent="0" marL="0">
              <a:buNone/>
            </a:pPr>
            <a:r>
              <a:rPr lang="en-US" sz="1600" b="1" dirty="0">
                <a:solidFill>
                  <a:srgbClr val="1A237E"/>
                </a:solidFill>
              </a:rPr>
              <a:t>×</a:t>
            </a:r>
            <a:endParaRPr lang="en-US" sz="1600" dirty="0"/>
          </a:p>
        </p:txBody>
      </p:sp>
      <p:sp>
        <p:nvSpPr>
          <p:cNvPr id="24" name="Shape 22"/>
          <p:cNvSpPr/>
          <p:nvPr/>
        </p:nvSpPr>
        <p:spPr>
          <a:xfrm>
            <a:off x="2926080" y="1463040"/>
            <a:ext cx="1097280" cy="868680"/>
          </a:xfrm>
          <a:prstGeom prst="roundRect">
            <a:avLst>
              <a:gd name="adj" fmla="val 8421"/>
            </a:avLst>
          </a:prstGeom>
          <a:solidFill>
            <a:srgbClr val="E3F2FD"/>
          </a:solidFill>
          <a:ln w="12700">
            <a:solidFill>
              <a:srgbClr val="1565C0"/>
            </a:solidFill>
            <a:prstDash val="solid"/>
          </a:ln>
        </p:spPr>
      </p:sp>
      <p:sp>
        <p:nvSpPr>
          <p:cNvPr id="25" name="Text 23"/>
          <p:cNvSpPr txBox="1"/>
          <p:nvPr/>
        </p:nvSpPr>
        <p:spPr>
          <a:xfrm>
            <a:off x="2926080" y="1481328"/>
            <a:ext cx="1097280" cy="502920"/>
          </a:xfrm>
          <a:prstGeom prst="rect">
            <a:avLst/>
          </a:prstGeom>
          <a:noFill/>
          <a:ln/>
        </p:spPr>
        <p:txBody>
          <a:bodyPr wrap="square" lIns="0" tIns="0" rIns="0" bIns="0" rtlCol="0" anchor="ctr"/>
          <a:lstStyle/>
          <a:p>
            <a:pPr algn="ctr" indent="0" marL="0">
              <a:buNone/>
            </a:pPr>
            <a:r>
              <a:rPr lang="en-US" sz="2400" b="1" dirty="0">
                <a:solidFill>
                  <a:srgbClr val="1565C0"/>
                </a:solidFill>
                <a:latin typeface="Cambria" pitchFamily="34" charset="0"/>
                <a:ea typeface="Cambria" pitchFamily="34" charset="-122"/>
                <a:cs typeface="Cambria" pitchFamily="34" charset="-120"/>
              </a:rPr>
              <a:t>1.5</a:t>
            </a:r>
            <a:endParaRPr lang="en-US" sz="2400" dirty="0"/>
          </a:p>
        </p:txBody>
      </p:sp>
      <p:sp>
        <p:nvSpPr>
          <p:cNvPr id="26" name="Text 24"/>
          <p:cNvSpPr txBox="1"/>
          <p:nvPr/>
        </p:nvSpPr>
        <p:spPr>
          <a:xfrm>
            <a:off x="2926080" y="1993392"/>
            <a:ext cx="1097280" cy="274320"/>
          </a:xfrm>
          <a:prstGeom prst="rect">
            <a:avLst/>
          </a:prstGeom>
          <a:noFill/>
          <a:ln/>
        </p:spPr>
        <p:txBody>
          <a:bodyPr wrap="square" lIns="0" tIns="0" rIns="0" bIns="0" rtlCol="0" anchor="t"/>
          <a:lstStyle/>
          <a:p>
            <a:pPr algn="ctr" indent="0" marL="0">
              <a:buNone/>
            </a:pPr>
            <a:r>
              <a:rPr lang="en-US" sz="1050" dirty="0">
                <a:solidFill>
                  <a:srgbClr val="616161"/>
                </a:solidFill>
              </a:rPr>
              <a:t>cover</a:t>
            </a:r>
            <a:endParaRPr lang="en-US" sz="1050" dirty="0"/>
          </a:p>
        </p:txBody>
      </p:sp>
      <p:sp>
        <p:nvSpPr>
          <p:cNvPr id="27" name="Text 25"/>
          <p:cNvSpPr txBox="1"/>
          <p:nvPr/>
        </p:nvSpPr>
        <p:spPr>
          <a:xfrm>
            <a:off x="4005072" y="1600200"/>
            <a:ext cx="182880" cy="365760"/>
          </a:xfrm>
          <a:prstGeom prst="rect">
            <a:avLst/>
          </a:prstGeom>
          <a:noFill/>
          <a:ln/>
        </p:spPr>
        <p:txBody>
          <a:bodyPr wrap="square" lIns="0" tIns="0" rIns="0" bIns="0" rtlCol="0" anchor="t"/>
          <a:lstStyle/>
          <a:p>
            <a:pPr algn="ctr" indent="0" marL="0">
              <a:buNone/>
            </a:pPr>
            <a:r>
              <a:rPr lang="en-US" sz="1600" b="1" dirty="0">
                <a:solidFill>
                  <a:srgbClr val="1A237E"/>
                </a:solidFill>
              </a:rPr>
              <a:t>=</a:t>
            </a:r>
            <a:endParaRPr lang="en-US" sz="1600" dirty="0"/>
          </a:p>
        </p:txBody>
      </p:sp>
      <p:sp>
        <p:nvSpPr>
          <p:cNvPr id="28" name="Shape 26"/>
          <p:cNvSpPr/>
          <p:nvPr/>
        </p:nvSpPr>
        <p:spPr>
          <a:xfrm>
            <a:off x="4160520" y="1463040"/>
            <a:ext cx="1097280" cy="868680"/>
          </a:xfrm>
          <a:prstGeom prst="roundRect">
            <a:avLst>
              <a:gd name="adj" fmla="val 8421"/>
            </a:avLst>
          </a:prstGeom>
          <a:solidFill>
            <a:srgbClr val="E0F2F1"/>
          </a:solidFill>
          <a:ln w="12700">
            <a:solidFill>
              <a:srgbClr val="00695C"/>
            </a:solidFill>
            <a:prstDash val="solid"/>
          </a:ln>
        </p:spPr>
      </p:sp>
      <p:sp>
        <p:nvSpPr>
          <p:cNvPr id="29" name="Text 27"/>
          <p:cNvSpPr txBox="1"/>
          <p:nvPr/>
        </p:nvSpPr>
        <p:spPr>
          <a:xfrm>
            <a:off x="4160520" y="1481328"/>
            <a:ext cx="1097280" cy="502920"/>
          </a:xfrm>
          <a:prstGeom prst="rect">
            <a:avLst/>
          </a:prstGeom>
          <a:noFill/>
          <a:ln/>
        </p:spPr>
        <p:txBody>
          <a:bodyPr wrap="square" lIns="0" tIns="0" rIns="0" bIns="0" rtlCol="0" anchor="ctr"/>
          <a:lstStyle/>
          <a:p>
            <a:pPr algn="ctr" indent="0" marL="0">
              <a:buNone/>
            </a:pPr>
            <a:r>
              <a:rPr lang="en-US" sz="2400" b="1" dirty="0">
                <a:solidFill>
                  <a:srgbClr val="00695C"/>
                </a:solidFill>
                <a:latin typeface="Cambria" pitchFamily="34" charset="0"/>
                <a:ea typeface="Cambria" pitchFamily="34" charset="-122"/>
                <a:cs typeface="Cambria" pitchFamily="34" charset="-120"/>
              </a:rPr>
              <a:t>134</a:t>
            </a:r>
            <a:endParaRPr lang="en-US" sz="2400" dirty="0"/>
          </a:p>
        </p:txBody>
      </p:sp>
      <p:sp>
        <p:nvSpPr>
          <p:cNvPr id="30" name="Text 28"/>
          <p:cNvSpPr txBox="1"/>
          <p:nvPr/>
        </p:nvSpPr>
        <p:spPr>
          <a:xfrm>
            <a:off x="4160520" y="1993392"/>
            <a:ext cx="1097280" cy="274320"/>
          </a:xfrm>
          <a:prstGeom prst="rect">
            <a:avLst/>
          </a:prstGeom>
          <a:noFill/>
          <a:ln/>
        </p:spPr>
        <p:txBody>
          <a:bodyPr wrap="square" lIns="0" tIns="0" rIns="0" bIns="0" rtlCol="0" anchor="t"/>
          <a:lstStyle/>
          <a:p>
            <a:pPr algn="ctr" indent="0" marL="0">
              <a:buNone/>
            </a:pPr>
            <a:r>
              <a:rPr lang="en-US" sz="1050" dirty="0">
                <a:solidFill>
                  <a:srgbClr val="616161"/>
                </a:solidFill>
              </a:rPr>
              <a:t>first batch</a:t>
            </a:r>
            <a:endParaRPr lang="en-US" sz="1050" dirty="0"/>
          </a:p>
        </p:txBody>
      </p:sp>
      <p:sp>
        <p:nvSpPr>
          <p:cNvPr id="31" name="Text 29"/>
          <p:cNvSpPr txBox="1"/>
          <p:nvPr/>
        </p:nvSpPr>
        <p:spPr>
          <a:xfrm>
            <a:off x="457200" y="2542032"/>
            <a:ext cx="457200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AT 9:00: THE LATE BATCH</a:t>
            </a:r>
            <a:endParaRPr lang="en-US" sz="1000" dirty="0"/>
          </a:p>
        </p:txBody>
      </p:sp>
      <p:sp>
        <p:nvSpPr>
          <p:cNvPr id="32" name="Shape 30"/>
          <p:cNvSpPr/>
          <p:nvPr/>
        </p:nvSpPr>
        <p:spPr>
          <a:xfrm>
            <a:off x="457200" y="2770632"/>
            <a:ext cx="1097280" cy="868680"/>
          </a:xfrm>
          <a:prstGeom prst="roundRect">
            <a:avLst>
              <a:gd name="adj" fmla="val 8421"/>
            </a:avLst>
          </a:prstGeom>
          <a:solidFill>
            <a:srgbClr val="F3E5F5"/>
          </a:solidFill>
          <a:ln w="12700">
            <a:solidFill>
              <a:srgbClr val="6A1B9A"/>
            </a:solidFill>
            <a:prstDash val="solid"/>
          </a:ln>
        </p:spPr>
      </p:sp>
      <p:sp>
        <p:nvSpPr>
          <p:cNvPr id="33" name="Text 31"/>
          <p:cNvSpPr txBox="1"/>
          <p:nvPr/>
        </p:nvSpPr>
        <p:spPr>
          <a:xfrm>
            <a:off x="457200" y="2788920"/>
            <a:ext cx="1097280" cy="502920"/>
          </a:xfrm>
          <a:prstGeom prst="rect">
            <a:avLst/>
          </a:prstGeom>
          <a:noFill/>
          <a:ln/>
        </p:spPr>
        <p:txBody>
          <a:bodyPr wrap="square" lIns="0" tIns="0" rIns="0" bIns="0" rtlCol="0" anchor="ctr"/>
          <a:lstStyle/>
          <a:p>
            <a:pPr algn="ctr" indent="0" marL="0">
              <a:buNone/>
            </a:pPr>
            <a:r>
              <a:rPr lang="en-US" sz="2400" b="1" dirty="0">
                <a:solidFill>
                  <a:srgbClr val="6A1B9A"/>
                </a:solidFill>
                <a:latin typeface="Cambria" pitchFamily="34" charset="0"/>
                <a:ea typeface="Cambria" pitchFamily="34" charset="-122"/>
                <a:cs typeface="Cambria" pitchFamily="34" charset="-120"/>
              </a:rPr>
              <a:t>62</a:t>
            </a:r>
            <a:endParaRPr lang="en-US" sz="2400" dirty="0"/>
          </a:p>
        </p:txBody>
      </p:sp>
      <p:sp>
        <p:nvSpPr>
          <p:cNvPr id="34" name="Text 32"/>
          <p:cNvSpPr txBox="1"/>
          <p:nvPr/>
        </p:nvSpPr>
        <p:spPr>
          <a:xfrm>
            <a:off x="457200" y="3291840"/>
            <a:ext cx="1097280" cy="310896"/>
          </a:xfrm>
          <a:prstGeom prst="rect">
            <a:avLst/>
          </a:prstGeom>
          <a:noFill/>
          <a:ln/>
        </p:spPr>
        <p:txBody>
          <a:bodyPr wrap="square" lIns="0" tIns="0" rIns="0" bIns="0" rtlCol="0" anchor="t"/>
          <a:lstStyle/>
          <a:p>
            <a:pPr algn="ctr" indent="0" marL="0">
              <a:buNone/>
            </a:pPr>
            <a:r>
              <a:rPr lang="en-US" sz="1000" dirty="0">
                <a:solidFill>
                  <a:srgbClr val="616161"/>
                </a:solidFill>
              </a:rPr>
              <a:t>diners so far</a:t>
            </a:r>
            <a:endParaRPr lang="en-US" sz="1000" dirty="0"/>
          </a:p>
        </p:txBody>
      </p:sp>
      <p:sp>
        <p:nvSpPr>
          <p:cNvPr id="35" name="Shape 33"/>
          <p:cNvSpPr/>
          <p:nvPr/>
        </p:nvSpPr>
        <p:spPr>
          <a:xfrm>
            <a:off x="1691640" y="2770632"/>
            <a:ext cx="1097280" cy="868680"/>
          </a:xfrm>
          <a:prstGeom prst="roundRect">
            <a:avLst>
              <a:gd name="adj" fmla="val 8421"/>
            </a:avLst>
          </a:prstGeom>
          <a:solidFill>
            <a:srgbClr val="F3E5F5"/>
          </a:solidFill>
          <a:ln w="12700">
            <a:solidFill>
              <a:srgbClr val="6A1B9A"/>
            </a:solidFill>
            <a:prstDash val="solid"/>
          </a:ln>
        </p:spPr>
      </p:sp>
      <p:sp>
        <p:nvSpPr>
          <p:cNvPr id="36" name="Text 34"/>
          <p:cNvSpPr txBox="1"/>
          <p:nvPr/>
        </p:nvSpPr>
        <p:spPr>
          <a:xfrm>
            <a:off x="1691640" y="2788920"/>
            <a:ext cx="1097280" cy="502920"/>
          </a:xfrm>
          <a:prstGeom prst="rect">
            <a:avLst/>
          </a:prstGeom>
          <a:noFill/>
          <a:ln/>
        </p:spPr>
        <p:txBody>
          <a:bodyPr wrap="square" lIns="0" tIns="0" rIns="0" bIns="0" rtlCol="0" anchor="ctr"/>
          <a:lstStyle/>
          <a:p>
            <a:pPr algn="ctr" indent="0" marL="0">
              <a:buNone/>
            </a:pPr>
            <a:r>
              <a:rPr lang="en-US" sz="2400" b="1" dirty="0">
                <a:solidFill>
                  <a:srgbClr val="6A1B9A"/>
                </a:solidFill>
                <a:latin typeface="Cambria" pitchFamily="34" charset="0"/>
                <a:ea typeface="Cambria" pitchFamily="34" charset="-122"/>
                <a:cs typeface="Cambria" pitchFamily="34" charset="-120"/>
              </a:rPr>
              <a:t>39.4%</a:t>
            </a:r>
            <a:endParaRPr lang="en-US" sz="2400" dirty="0"/>
          </a:p>
        </p:txBody>
      </p:sp>
      <p:sp>
        <p:nvSpPr>
          <p:cNvPr id="37" name="Text 35"/>
          <p:cNvSpPr txBox="1"/>
          <p:nvPr/>
        </p:nvSpPr>
        <p:spPr>
          <a:xfrm>
            <a:off x="1691640" y="3291840"/>
            <a:ext cx="1097280" cy="310896"/>
          </a:xfrm>
          <a:prstGeom prst="rect">
            <a:avLst/>
          </a:prstGeom>
          <a:noFill/>
          <a:ln/>
        </p:spPr>
        <p:txBody>
          <a:bodyPr wrap="square" lIns="0" tIns="0" rIns="0" bIns="0" rtlCol="0" anchor="t"/>
          <a:lstStyle/>
          <a:p>
            <a:pPr algn="ctr" indent="0" marL="0">
              <a:buNone/>
            </a:pPr>
            <a:r>
              <a:rPr lang="en-US" sz="1000" dirty="0">
                <a:solidFill>
                  <a:srgbClr val="616161"/>
                </a:solidFill>
              </a:rPr>
              <a:t>usual share by 9:00</a:t>
            </a:r>
            <a:endParaRPr lang="en-US" sz="1000" dirty="0"/>
          </a:p>
        </p:txBody>
      </p:sp>
      <p:sp>
        <p:nvSpPr>
          <p:cNvPr id="38" name="Shape 36"/>
          <p:cNvSpPr/>
          <p:nvPr/>
        </p:nvSpPr>
        <p:spPr>
          <a:xfrm>
            <a:off x="2926080" y="2770632"/>
            <a:ext cx="1097280" cy="868680"/>
          </a:xfrm>
          <a:prstGeom prst="roundRect">
            <a:avLst>
              <a:gd name="adj" fmla="val 8421"/>
            </a:avLst>
          </a:prstGeom>
          <a:solidFill>
            <a:srgbClr val="F3E5F5"/>
          </a:solidFill>
          <a:ln w="12700">
            <a:solidFill>
              <a:srgbClr val="6A1B9A"/>
            </a:solidFill>
            <a:prstDash val="solid"/>
          </a:ln>
        </p:spPr>
      </p:sp>
      <p:sp>
        <p:nvSpPr>
          <p:cNvPr id="39" name="Text 37"/>
          <p:cNvSpPr txBox="1"/>
          <p:nvPr/>
        </p:nvSpPr>
        <p:spPr>
          <a:xfrm>
            <a:off x="2926080" y="2788920"/>
            <a:ext cx="1097280" cy="502920"/>
          </a:xfrm>
          <a:prstGeom prst="rect">
            <a:avLst/>
          </a:prstGeom>
          <a:noFill/>
          <a:ln/>
        </p:spPr>
        <p:txBody>
          <a:bodyPr wrap="square" lIns="0" tIns="0" rIns="0" bIns="0" rtlCol="0" anchor="ctr"/>
          <a:lstStyle/>
          <a:p>
            <a:pPr algn="ctr" indent="0" marL="0">
              <a:buNone/>
            </a:pPr>
            <a:r>
              <a:rPr lang="en-US" sz="2400" b="1" dirty="0">
                <a:solidFill>
                  <a:srgbClr val="6A1B9A"/>
                </a:solidFill>
                <a:latin typeface="Cambria" pitchFamily="34" charset="0"/>
                <a:ea typeface="Cambria" pitchFamily="34" charset="-122"/>
                <a:cs typeface="Cambria" pitchFamily="34" charset="-120"/>
              </a:rPr>
              <a:t>173</a:t>
            </a:r>
            <a:endParaRPr lang="en-US" sz="2400" dirty="0"/>
          </a:p>
        </p:txBody>
      </p:sp>
      <p:sp>
        <p:nvSpPr>
          <p:cNvPr id="40" name="Text 38"/>
          <p:cNvSpPr txBox="1"/>
          <p:nvPr/>
        </p:nvSpPr>
        <p:spPr>
          <a:xfrm>
            <a:off x="2926080" y="3291840"/>
            <a:ext cx="1097280" cy="310896"/>
          </a:xfrm>
          <a:prstGeom prst="rect">
            <a:avLst/>
          </a:prstGeom>
          <a:noFill/>
          <a:ln/>
        </p:spPr>
        <p:txBody>
          <a:bodyPr wrap="square" lIns="0" tIns="0" rIns="0" bIns="0" rtlCol="0" anchor="t"/>
          <a:lstStyle/>
          <a:p>
            <a:pPr algn="ctr" indent="0" marL="0">
              <a:buNone/>
            </a:pPr>
            <a:r>
              <a:rPr lang="en-US" sz="1000" dirty="0">
                <a:solidFill>
                  <a:srgbClr val="616161"/>
                </a:solidFill>
              </a:rPr>
              <a:t>projected, with 10%</a:t>
            </a:r>
            <a:endParaRPr lang="en-US" sz="1000" dirty="0"/>
          </a:p>
        </p:txBody>
      </p:sp>
      <p:sp>
        <p:nvSpPr>
          <p:cNvPr id="41" name="Shape 39"/>
          <p:cNvSpPr/>
          <p:nvPr/>
        </p:nvSpPr>
        <p:spPr>
          <a:xfrm>
            <a:off x="4160520" y="2770632"/>
            <a:ext cx="1097280" cy="868680"/>
          </a:xfrm>
          <a:prstGeom prst="roundRect">
            <a:avLst>
              <a:gd name="adj" fmla="val 8421"/>
            </a:avLst>
          </a:prstGeom>
          <a:solidFill>
            <a:srgbClr val="FFF8E1"/>
          </a:solidFill>
          <a:ln w="12700">
            <a:solidFill>
              <a:srgbClr val="F57F17"/>
            </a:solidFill>
            <a:prstDash val="solid"/>
          </a:ln>
        </p:spPr>
      </p:sp>
      <p:sp>
        <p:nvSpPr>
          <p:cNvPr id="42" name="Text 40"/>
          <p:cNvSpPr txBox="1"/>
          <p:nvPr/>
        </p:nvSpPr>
        <p:spPr>
          <a:xfrm>
            <a:off x="4160520" y="2788920"/>
            <a:ext cx="1097280" cy="502920"/>
          </a:xfrm>
          <a:prstGeom prst="rect">
            <a:avLst/>
          </a:prstGeom>
          <a:noFill/>
          <a:ln/>
        </p:spPr>
        <p:txBody>
          <a:bodyPr wrap="square" lIns="0" tIns="0" rIns="0" bIns="0" rtlCol="0" anchor="ctr"/>
          <a:lstStyle/>
          <a:p>
            <a:pPr algn="ctr" indent="0" marL="0">
              <a:buNone/>
            </a:pPr>
            <a:r>
              <a:rPr lang="en-US" sz="2400" b="1" dirty="0">
                <a:solidFill>
                  <a:srgbClr val="8D4A00"/>
                </a:solidFill>
                <a:latin typeface="Cambria" pitchFamily="34" charset="0"/>
                <a:ea typeface="Cambria" pitchFamily="34" charset="-122"/>
                <a:cs typeface="Cambria" pitchFamily="34" charset="-120"/>
              </a:rPr>
              <a:t>39</a:t>
            </a:r>
            <a:endParaRPr lang="en-US" sz="2400" dirty="0"/>
          </a:p>
        </p:txBody>
      </p:sp>
      <p:sp>
        <p:nvSpPr>
          <p:cNvPr id="43" name="Text 41"/>
          <p:cNvSpPr txBox="1"/>
          <p:nvPr/>
        </p:nvSpPr>
        <p:spPr>
          <a:xfrm>
            <a:off x="4160520" y="3291840"/>
            <a:ext cx="1097280" cy="310896"/>
          </a:xfrm>
          <a:prstGeom prst="rect">
            <a:avLst/>
          </a:prstGeom>
          <a:noFill/>
          <a:ln/>
        </p:spPr>
        <p:txBody>
          <a:bodyPr wrap="square" lIns="0" tIns="0" rIns="0" bIns="0" rtlCol="0" anchor="t"/>
          <a:lstStyle/>
          <a:p>
            <a:pPr algn="ctr" indent="0" marL="0">
              <a:buNone/>
            </a:pPr>
            <a:r>
              <a:rPr lang="en-US" sz="1000" dirty="0">
                <a:solidFill>
                  <a:srgbClr val="616161"/>
                </a:solidFill>
              </a:rPr>
              <a:t>late batch</a:t>
            </a:r>
            <a:endParaRPr lang="en-US" sz="1000" dirty="0"/>
          </a:p>
        </p:txBody>
      </p:sp>
      <p:sp>
        <p:nvSpPr>
          <p:cNvPr id="44" name="Text 42"/>
          <p:cNvSpPr txBox="1"/>
          <p:nvPr/>
        </p:nvSpPr>
        <p:spPr>
          <a:xfrm>
            <a:off x="457200" y="3794760"/>
            <a:ext cx="4754880" cy="182880"/>
          </a:xfrm>
          <a:prstGeom prst="rect">
            <a:avLst/>
          </a:prstGeom>
          <a:noFill/>
          <a:ln/>
        </p:spPr>
        <p:txBody>
          <a:bodyPr wrap="square" lIns="0" tIns="0" rIns="0" bIns="0" rtlCol="0" anchor="t"/>
          <a:lstStyle/>
          <a:p>
            <a:pPr algn="l" indent="0" marL="0">
              <a:buNone/>
            </a:pPr>
            <a:r>
              <a:rPr lang="en-US" sz="1050" b="1" dirty="0">
                <a:solidFill>
                  <a:srgbClr val="1F2430"/>
                </a:solidFill>
              </a:rPr>
              <a:t>Portions cooked against the 179 who ate (projected)</a:t>
            </a:r>
            <a:endParaRPr lang="en-US" sz="1050" dirty="0"/>
          </a:p>
        </p:txBody>
      </p:sp>
      <p:sp>
        <p:nvSpPr>
          <p:cNvPr id="45" name="Shape 43"/>
          <p:cNvSpPr/>
          <p:nvPr/>
        </p:nvSpPr>
        <p:spPr>
          <a:xfrm>
            <a:off x="2468880" y="4023360"/>
            <a:ext cx="2377440" cy="182880"/>
          </a:xfrm>
          <a:prstGeom prst="roundRect">
            <a:avLst>
              <a:gd name="adj" fmla="val 15000"/>
            </a:avLst>
          </a:prstGeom>
          <a:solidFill>
            <a:srgbClr val="C62828"/>
          </a:solidFill>
          <a:ln/>
        </p:spPr>
      </p:sp>
      <p:sp>
        <p:nvSpPr>
          <p:cNvPr id="46" name="Text 44"/>
          <p:cNvSpPr txBox="1"/>
          <p:nvPr/>
        </p:nvSpPr>
        <p:spPr>
          <a:xfrm>
            <a:off x="457200" y="4023360"/>
            <a:ext cx="1965960" cy="182880"/>
          </a:xfrm>
          <a:prstGeom prst="rect">
            <a:avLst/>
          </a:prstGeom>
          <a:noFill/>
          <a:ln/>
        </p:spPr>
        <p:txBody>
          <a:bodyPr wrap="square" lIns="0" tIns="0" rIns="0" bIns="0" rtlCol="0" anchor="ctr"/>
          <a:lstStyle/>
          <a:p>
            <a:pPr algn="l" indent="0" marL="0">
              <a:buNone/>
            </a:pPr>
            <a:r>
              <a:rPr lang="en-US" sz="1000" dirty="0">
                <a:solidFill>
                  <a:srgbClr val="1F2430"/>
                </a:solidFill>
              </a:rPr>
              <a:t>Baseline, 70% of 817</a:t>
            </a:r>
            <a:endParaRPr lang="en-US" sz="1000" dirty="0"/>
          </a:p>
        </p:txBody>
      </p:sp>
      <p:sp>
        <p:nvSpPr>
          <p:cNvPr id="47" name="Text 45"/>
          <p:cNvSpPr txBox="1"/>
          <p:nvPr/>
        </p:nvSpPr>
        <p:spPr>
          <a:xfrm>
            <a:off x="4892040" y="4023360"/>
            <a:ext cx="457200" cy="182880"/>
          </a:xfrm>
          <a:prstGeom prst="rect">
            <a:avLst/>
          </a:prstGeom>
          <a:noFill/>
          <a:ln/>
        </p:spPr>
        <p:txBody>
          <a:bodyPr wrap="square" lIns="0" tIns="0" rIns="0" bIns="0" rtlCol="0" anchor="ctr"/>
          <a:lstStyle/>
          <a:p>
            <a:pPr algn="l" indent="0" marL="0">
              <a:buNone/>
            </a:pPr>
            <a:r>
              <a:rPr lang="en-US" sz="1000" b="1" dirty="0">
                <a:solidFill>
                  <a:srgbClr val="1F2430"/>
                </a:solidFill>
              </a:rPr>
              <a:t>572</a:t>
            </a:r>
            <a:endParaRPr lang="en-US" sz="1000" dirty="0"/>
          </a:p>
        </p:txBody>
      </p:sp>
      <p:sp>
        <p:nvSpPr>
          <p:cNvPr id="48" name="Shape 46"/>
          <p:cNvSpPr/>
          <p:nvPr/>
        </p:nvSpPr>
        <p:spPr>
          <a:xfrm>
            <a:off x="2468880" y="4261104"/>
            <a:ext cx="719051" cy="182880"/>
          </a:xfrm>
          <a:prstGeom prst="roundRect">
            <a:avLst>
              <a:gd name="adj" fmla="val 15000"/>
            </a:avLst>
          </a:prstGeom>
          <a:solidFill>
            <a:srgbClr val="1A237E"/>
          </a:solidFill>
          <a:ln/>
        </p:spPr>
      </p:sp>
      <p:sp>
        <p:nvSpPr>
          <p:cNvPr id="49" name="Text 47"/>
          <p:cNvSpPr txBox="1"/>
          <p:nvPr/>
        </p:nvSpPr>
        <p:spPr>
          <a:xfrm>
            <a:off x="457200" y="4261104"/>
            <a:ext cx="1965960" cy="182880"/>
          </a:xfrm>
          <a:prstGeom prst="rect">
            <a:avLst/>
          </a:prstGeom>
          <a:noFill/>
          <a:ln/>
        </p:spPr>
        <p:txBody>
          <a:bodyPr wrap="square" lIns="0" tIns="0" rIns="0" bIns="0" rtlCol="0" anchor="ctr"/>
          <a:lstStyle/>
          <a:p>
            <a:pPr algn="l" indent="0" marL="0">
              <a:buNone/>
            </a:pPr>
            <a:r>
              <a:rPr lang="en-US" sz="1000" dirty="0">
                <a:solidFill>
                  <a:srgbClr val="1F2430"/>
                </a:solidFill>
              </a:rPr>
              <a:t>Refined: first batch plus late batch</a:t>
            </a:r>
            <a:endParaRPr lang="en-US" sz="1000" dirty="0"/>
          </a:p>
        </p:txBody>
      </p:sp>
      <p:sp>
        <p:nvSpPr>
          <p:cNvPr id="50" name="Text 48"/>
          <p:cNvSpPr txBox="1"/>
          <p:nvPr/>
        </p:nvSpPr>
        <p:spPr>
          <a:xfrm>
            <a:off x="3233651" y="4261104"/>
            <a:ext cx="457200" cy="182880"/>
          </a:xfrm>
          <a:prstGeom prst="rect">
            <a:avLst/>
          </a:prstGeom>
          <a:noFill/>
          <a:ln/>
        </p:spPr>
        <p:txBody>
          <a:bodyPr wrap="square" lIns="0" tIns="0" rIns="0" bIns="0" rtlCol="0" anchor="ctr"/>
          <a:lstStyle/>
          <a:p>
            <a:pPr algn="l" indent="0" marL="0">
              <a:buNone/>
            </a:pPr>
            <a:r>
              <a:rPr lang="en-US" sz="1000" b="1" dirty="0">
                <a:solidFill>
                  <a:srgbClr val="1F2430"/>
                </a:solidFill>
              </a:rPr>
              <a:t>173</a:t>
            </a:r>
            <a:endParaRPr lang="en-US" sz="1000" dirty="0"/>
          </a:p>
        </p:txBody>
      </p:sp>
      <p:sp>
        <p:nvSpPr>
          <p:cNvPr id="51" name="Shape 49"/>
          <p:cNvSpPr/>
          <p:nvPr/>
        </p:nvSpPr>
        <p:spPr>
          <a:xfrm>
            <a:off x="2468880" y="4498848"/>
            <a:ext cx="743989" cy="182880"/>
          </a:xfrm>
          <a:prstGeom prst="roundRect">
            <a:avLst>
              <a:gd name="adj" fmla="val 15000"/>
            </a:avLst>
          </a:prstGeom>
          <a:solidFill>
            <a:srgbClr val="2E7D32"/>
          </a:solidFill>
          <a:ln/>
        </p:spPr>
      </p:sp>
      <p:sp>
        <p:nvSpPr>
          <p:cNvPr id="52" name="Text 50"/>
          <p:cNvSpPr txBox="1"/>
          <p:nvPr/>
        </p:nvSpPr>
        <p:spPr>
          <a:xfrm>
            <a:off x="457200" y="4498848"/>
            <a:ext cx="1965960" cy="182880"/>
          </a:xfrm>
          <a:prstGeom prst="rect">
            <a:avLst/>
          </a:prstGeom>
          <a:noFill/>
          <a:ln/>
        </p:spPr>
        <p:txBody>
          <a:bodyPr wrap="square" lIns="0" tIns="0" rIns="0" bIns="0" rtlCol="0" anchor="ctr"/>
          <a:lstStyle/>
          <a:p>
            <a:pPr algn="l" indent="0" marL="0">
              <a:buNone/>
            </a:pPr>
            <a:r>
              <a:rPr lang="en-US" sz="1000" dirty="0">
                <a:solidFill>
                  <a:srgbClr val="1F2430"/>
                </a:solidFill>
              </a:rPr>
              <a:t>Eaten (scans)</a:t>
            </a:r>
            <a:endParaRPr lang="en-US" sz="1000" dirty="0"/>
          </a:p>
        </p:txBody>
      </p:sp>
      <p:sp>
        <p:nvSpPr>
          <p:cNvPr id="53" name="Text 51"/>
          <p:cNvSpPr txBox="1"/>
          <p:nvPr/>
        </p:nvSpPr>
        <p:spPr>
          <a:xfrm>
            <a:off x="3258589" y="4498848"/>
            <a:ext cx="457200" cy="182880"/>
          </a:xfrm>
          <a:prstGeom prst="rect">
            <a:avLst/>
          </a:prstGeom>
          <a:noFill/>
          <a:ln/>
        </p:spPr>
        <p:txBody>
          <a:bodyPr wrap="square" lIns="0" tIns="0" rIns="0" bIns="0" rtlCol="0" anchor="ctr"/>
          <a:lstStyle/>
          <a:p>
            <a:pPr algn="l" indent="0" marL="0">
              <a:buNone/>
            </a:pPr>
            <a:r>
              <a:rPr lang="en-US" sz="1000" b="1" dirty="0">
                <a:solidFill>
                  <a:srgbClr val="1F2430"/>
                </a:solidFill>
              </a:rPr>
              <a:t>179</a:t>
            </a:r>
            <a:endParaRPr lang="en-US" sz="1000" dirty="0"/>
          </a:p>
        </p:txBody>
      </p:sp>
      <p:sp>
        <p:nvSpPr>
          <p:cNvPr id="54" name="Shape 52"/>
          <p:cNvSpPr/>
          <p:nvPr/>
        </p:nvSpPr>
        <p:spPr>
          <a:xfrm>
            <a:off x="5440680" y="1280160"/>
            <a:ext cx="3246120" cy="3017520"/>
          </a:xfrm>
          <a:prstGeom prst="roundRect">
            <a:avLst>
              <a:gd name="adj" fmla="val 2424"/>
            </a:avLst>
          </a:prstGeom>
          <a:solidFill>
            <a:srgbClr val="F3E5F5"/>
          </a:solidFill>
          <a:ln w="12700">
            <a:solidFill>
              <a:srgbClr val="6A1B9A"/>
            </a:solidFill>
            <a:prstDash val="solid"/>
          </a:ln>
        </p:spPr>
      </p:sp>
      <p:sp>
        <p:nvSpPr>
          <p:cNvPr id="55" name="Shape 53"/>
          <p:cNvSpPr/>
          <p:nvPr/>
        </p:nvSpPr>
        <p:spPr>
          <a:xfrm>
            <a:off x="5577840" y="1435608"/>
            <a:ext cx="457200" cy="457200"/>
          </a:xfrm>
          <a:prstGeom prst="ellipse">
            <a:avLst/>
          </a:prstGeom>
          <a:solidFill>
            <a:srgbClr val="6A1B9A"/>
          </a:solidFill>
          <a:ln/>
        </p:spPr>
      </p:sp>
      <p:pic>
        <p:nvPicPr>
          <p:cNvPr id="56" name="Image 0" descr="Assignment">    </p:cNvPr>
          <p:cNvPicPr>
            <a:picLocks noChangeAspect="1"/>
          </p:cNvPicPr>
          <p:nvPr/>
        </p:nvPicPr>
        <p:blipFill>
          <a:blip r:embed="rId1"/>
          <a:stretch>
            <a:fillRect/>
          </a:stretch>
        </p:blipFill>
        <p:spPr>
          <a:xfrm>
            <a:off x="5669280" y="1527048"/>
            <a:ext cx="274320" cy="274320"/>
          </a:xfrm>
          <a:prstGeom prst="rect">
            <a:avLst/>
          </a:prstGeom>
        </p:spPr>
      </p:pic>
      <p:sp>
        <p:nvSpPr>
          <p:cNvPr id="57" name="Text 54"/>
          <p:cNvSpPr txBox="1"/>
          <p:nvPr/>
        </p:nvSpPr>
        <p:spPr>
          <a:xfrm>
            <a:off x="6172200" y="1417320"/>
            <a:ext cx="2377440" cy="502920"/>
          </a:xfrm>
          <a:prstGeom prst="rect">
            <a:avLst/>
          </a:prstGeom>
          <a:noFill/>
          <a:ln/>
        </p:spPr>
        <p:txBody>
          <a:bodyPr wrap="square" lIns="0" tIns="0" rIns="0" bIns="0" rtlCol="0" anchor="ctr"/>
          <a:lstStyle/>
          <a:p>
            <a:pPr algn="l" indent="0" marL="0">
              <a:buNone/>
            </a:pPr>
            <a:r>
              <a:rPr lang="en-US" sz="1400" b="1" dirty="0">
                <a:solidFill>
                  <a:srgbClr val="1F2430"/>
                </a:solidFill>
              </a:rPr>
              <a:t>The weekly ledger</a:t>
            </a:r>
            <a:endParaRPr lang="en-US" sz="1400" dirty="0"/>
          </a:p>
        </p:txBody>
      </p:sp>
      <p:sp>
        <p:nvSpPr>
          <p:cNvPr id="58" name="Text 55"/>
          <p:cNvSpPr txBox="1"/>
          <p:nvPr/>
        </p:nvSpPr>
        <p:spPr>
          <a:xfrm>
            <a:off x="5623560" y="2011680"/>
            <a:ext cx="2926080" cy="365760"/>
          </a:xfrm>
          <a:prstGeom prst="rect">
            <a:avLst/>
          </a:prstGeom>
          <a:noFill/>
          <a:ln/>
        </p:spPr>
        <p:txBody>
          <a:bodyPr wrap="square" lIns="0" tIns="0" rIns="0" bIns="0" rtlCol="0" anchor="t"/>
          <a:lstStyle/>
          <a:p>
            <a:pPr algn="l" indent="0" marL="0">
              <a:buNone/>
            </a:pPr>
            <a:r>
              <a:rPr lang="en-US" sz="1150" dirty="0">
                <a:solidFill>
                  <a:srgbClr val="616161"/>
                </a:solidFill>
              </a:rPr>
              <a:t>Kadamba vegetarian line, Sunday 19 April 2026</a:t>
            </a:r>
            <a:endParaRPr lang="en-US" sz="1150" dirty="0"/>
          </a:p>
        </p:txBody>
      </p:sp>
      <p:sp>
        <p:nvSpPr>
          <p:cNvPr id="59" name="Text 56"/>
          <p:cNvSpPr txBox="1"/>
          <p:nvPr/>
        </p:nvSpPr>
        <p:spPr>
          <a:xfrm>
            <a:off x="5623560" y="2423160"/>
            <a:ext cx="2926080" cy="274320"/>
          </a:xfrm>
          <a:prstGeom prst="rect">
            <a:avLst/>
          </a:prstGeom>
          <a:noFill/>
          <a:ln/>
        </p:spPr>
        <p:txBody>
          <a:bodyPr wrap="square" lIns="0" tIns="0" rIns="0" bIns="0" rtlCol="0" anchor="t"/>
          <a:lstStyle/>
          <a:p>
            <a:pPr algn="l" indent="0" marL="0">
              <a:buNone/>
            </a:pPr>
            <a:r>
              <a:rPr lang="en-US" sz="1400" dirty="0">
                <a:solidFill>
                  <a:srgbClr val="1F2430"/>
                </a:solidFill>
              </a:rPr>
              <a:t>817 registered   179 eaten</a:t>
            </a:r>
            <a:endParaRPr lang="en-US" sz="1400" dirty="0"/>
          </a:p>
        </p:txBody>
      </p:sp>
      <p:sp>
        <p:nvSpPr>
          <p:cNvPr id="60" name="Text 57"/>
          <p:cNvSpPr txBox="1"/>
          <p:nvPr/>
        </p:nvSpPr>
        <p:spPr>
          <a:xfrm>
            <a:off x="5623560" y="2724912"/>
            <a:ext cx="3017520" cy="274320"/>
          </a:xfrm>
          <a:prstGeom prst="rect">
            <a:avLst/>
          </a:prstGeom>
          <a:noFill/>
          <a:ln/>
        </p:spPr>
        <p:txBody>
          <a:bodyPr wrap="square" lIns="0" tIns="0" rIns="0" bIns="0" rtlCol="0" anchor="t"/>
          <a:lstStyle/>
          <a:p>
            <a:pPr algn="l" indent="0" marL="0">
              <a:buNone/>
            </a:pPr>
            <a:r>
              <a:rPr lang="en-US" sz="1400" dirty="0">
                <a:solidFill>
                  <a:srgbClr val="1F2430"/>
                </a:solidFill>
              </a:rPr>
              <a:t>638 charged and not eaten, at Rs 48</a:t>
            </a:r>
            <a:endParaRPr lang="en-US" sz="1400" dirty="0"/>
          </a:p>
        </p:txBody>
      </p:sp>
      <p:sp>
        <p:nvSpPr>
          <p:cNvPr id="61" name="Text 58"/>
          <p:cNvSpPr txBox="1"/>
          <p:nvPr/>
        </p:nvSpPr>
        <p:spPr>
          <a:xfrm>
            <a:off x="5577840" y="3017520"/>
            <a:ext cx="3017520" cy="731520"/>
          </a:xfrm>
          <a:prstGeom prst="rect">
            <a:avLst/>
          </a:prstGeom>
          <a:noFill/>
          <a:ln/>
        </p:spPr>
        <p:txBody>
          <a:bodyPr wrap="square" lIns="0" tIns="0" rIns="0" bIns="0" rtlCol="0" anchor="ctr"/>
          <a:lstStyle/>
          <a:p>
            <a:pPr algn="l" indent="0" marL="0">
              <a:buNone/>
            </a:pPr>
            <a:r>
              <a:rPr lang="en-US" sz="4000" b="1" dirty="0">
                <a:solidFill>
                  <a:srgbClr val="C62828"/>
                </a:solidFill>
                <a:latin typeface="Cambria" pitchFamily="34" charset="0"/>
                <a:ea typeface="Cambria" pitchFamily="34" charset="-122"/>
                <a:cs typeface="Cambria" pitchFamily="34" charset="-120"/>
              </a:rPr>
              <a:t>Rs 30,624</a:t>
            </a:r>
            <a:endParaRPr lang="en-US" sz="4000" dirty="0"/>
          </a:p>
        </p:txBody>
      </p:sp>
      <p:sp>
        <p:nvSpPr>
          <p:cNvPr id="62" name="Text 59"/>
          <p:cNvSpPr txBox="1"/>
          <p:nvPr/>
        </p:nvSpPr>
        <p:spPr>
          <a:xfrm>
            <a:off x="5623560" y="3767328"/>
            <a:ext cx="2971800" cy="457200"/>
          </a:xfrm>
          <a:prstGeom prst="rect">
            <a:avLst/>
          </a:prstGeom>
          <a:noFill/>
          <a:ln/>
        </p:spPr>
        <p:txBody>
          <a:bodyPr wrap="square" lIns="0" tIns="0" rIns="0" bIns="0" rtlCol="0" anchor="t"/>
          <a:lstStyle/>
          <a:p>
            <a:pPr algn="l" indent="0" marL="0">
              <a:buNone/>
            </a:pPr>
            <a:r>
              <a:rPr lang="en-US" sz="1050" dirty="0">
                <a:solidFill>
                  <a:srgbClr val="616161"/>
                </a:solidFill>
              </a:rPr>
              <a:t>817 minus 179 equals 638; 638 times Rs 48 equals Rs 30,624</a:t>
            </a:r>
            <a:endParaRPr lang="en-US" sz="1050" dirty="0"/>
          </a:p>
        </p:txBody>
      </p:sp>
      <p:sp>
        <p:nvSpPr>
          <p:cNvPr id="63" name="Text 60"/>
          <p:cNvSpPr txBox="1"/>
          <p:nvPr/>
        </p:nvSpPr>
        <p:spPr>
          <a:xfrm>
            <a:off x="5440680" y="4389120"/>
            <a:ext cx="3246120" cy="320040"/>
          </a:xfrm>
          <a:prstGeom prst="rect">
            <a:avLst/>
          </a:prstGeom>
          <a:noFill/>
          <a:ln/>
        </p:spPr>
        <p:txBody>
          <a:bodyPr wrap="square" lIns="0" tIns="0" rIns="0" bIns="0" rtlCol="0" anchor="t"/>
          <a:lstStyle/>
          <a:p>
            <a:pPr algn="l" indent="0" marL="0">
              <a:buNone/>
            </a:pPr>
            <a:r>
              <a:rPr lang="en-US" sz="1200" i="1" dirty="0">
                <a:solidFill>
                  <a:srgbClr val="616161"/>
                </a:solidFill>
              </a:rPr>
              <a:t>Sunday skip: one control, open until 8 pm on Saturday.</a:t>
            </a:r>
            <a:endParaRPr lang="en-US" sz="1200" dirty="0"/>
          </a:p>
        </p:txBody>
      </p:sp>
      <p:sp>
        <p:nvSpPr>
          <p:cNvPr id="64" name="Shape 61"/>
          <p:cNvSpPr/>
          <p:nvPr/>
        </p:nvSpPr>
        <p:spPr>
          <a:xfrm>
            <a:off x="7758684" y="1033272"/>
            <a:ext cx="928116" cy="201168"/>
          </a:xfrm>
          <a:prstGeom prst="roundRect">
            <a:avLst>
              <a:gd name="adj" fmla="val 22727"/>
            </a:avLst>
          </a:prstGeom>
          <a:solidFill>
            <a:srgbClr val="1A237E"/>
          </a:solidFill>
          <a:ln/>
        </p:spPr>
      </p:sp>
      <p:sp>
        <p:nvSpPr>
          <p:cNvPr id="65" name="Text 62"/>
          <p:cNvSpPr txBox="1"/>
          <p:nvPr/>
        </p:nvSpPr>
        <p:spPr>
          <a:xfrm>
            <a:off x="7758684"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PROJECTED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No single kitchen rule is enough: a calibrated batch with a 9:00 late batch does best</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graphicFrame>
        <p:nvGraphicFramePr>
          <p:cNvPr id="15" name="Chart 0" descr=""/>
          <p:cNvGraphicFramePr/>
          <p:nvPr/>
        </p:nvGraphicFramePr>
        <p:xfrm>
          <a:off x="457200" y="1234440"/>
          <a:ext cx="8229600" cy="260604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6400800" y="1554480"/>
            <a:ext cx="2240280" cy="2286000"/>
          </a:xfrm>
          <a:prstGeom prst="roundRect">
            <a:avLst>
              <a:gd name="adj" fmla="val 4082"/>
            </a:avLst>
          </a:prstGeom>
          <a:ln w="25400">
            <a:solidFill>
              <a:srgbClr val="1A237E"/>
            </a:solidFill>
            <a:prstDash val="dash"/>
          </a:ln>
        </p:spPr>
      </p:sp>
      <p:sp>
        <p:nvSpPr>
          <p:cNvPr id="17" name="Text 14"/>
          <p:cNvSpPr txBox="1"/>
          <p:nvPr/>
        </p:nvSpPr>
        <p:spPr>
          <a:xfrm>
            <a:off x="457200" y="3931920"/>
            <a:ext cx="2743200" cy="182880"/>
          </a:xfrm>
          <a:prstGeom prst="rect">
            <a:avLst/>
          </a:prstGeom>
          <a:noFill/>
          <a:ln/>
        </p:spPr>
        <p:txBody>
          <a:bodyPr wrap="square" lIns="0" tIns="0" rIns="0" bIns="0" rtlCol="0" anchor="t"/>
          <a:lstStyle/>
          <a:p>
            <a:pPr algn="l" indent="0" marL="0">
              <a:buNone/>
            </a:pPr>
            <a:r>
              <a:rPr lang="en-US" sz="950" b="1" spc="100" kern="0" dirty="0">
                <a:solidFill>
                  <a:srgbClr val="616161"/>
                </a:solidFill>
              </a:rPr>
              <a:t>LINE-DAYS SHORT, OF 46</a:t>
            </a:r>
            <a:endParaRPr lang="en-US" sz="950" dirty="0"/>
          </a:p>
        </p:txBody>
      </p:sp>
      <p:sp>
        <p:nvSpPr>
          <p:cNvPr id="18" name="Shape 15"/>
          <p:cNvSpPr/>
          <p:nvPr/>
        </p:nvSpPr>
        <p:spPr>
          <a:xfrm>
            <a:off x="502920" y="4133088"/>
            <a:ext cx="1463040" cy="310896"/>
          </a:xfrm>
          <a:prstGeom prst="roundRect">
            <a:avLst>
              <a:gd name="adj" fmla="val 17647"/>
            </a:avLst>
          </a:prstGeom>
          <a:solidFill>
            <a:srgbClr val="F2F2F2"/>
          </a:solidFill>
          <a:ln w="12700">
            <a:solidFill>
              <a:srgbClr val="616161"/>
            </a:solidFill>
            <a:prstDash val="solid"/>
          </a:ln>
        </p:spPr>
      </p:sp>
      <p:sp>
        <p:nvSpPr>
          <p:cNvPr id="19" name="Text 16"/>
          <p:cNvSpPr txBox="1"/>
          <p:nvPr/>
        </p:nvSpPr>
        <p:spPr>
          <a:xfrm>
            <a:off x="566928" y="4133088"/>
            <a:ext cx="1335024" cy="310896"/>
          </a:xfrm>
          <a:prstGeom prst="rect">
            <a:avLst/>
          </a:prstGeom>
          <a:noFill/>
          <a:ln/>
        </p:spPr>
        <p:txBody>
          <a:bodyPr wrap="square" lIns="0" tIns="0" rIns="0" bIns="0" rtlCol="0" anchor="ctr"/>
          <a:lstStyle/>
          <a:p>
            <a:pPr algn="ctr" indent="0" marL="0">
              <a:buNone/>
            </a:pPr>
            <a:r>
              <a:rPr lang="en-US" sz="1300" b="1" dirty="0">
                <a:solidFill>
                  <a:srgbClr val="1F2430"/>
                </a:solidFill>
              </a:rPr>
              <a:t>0</a:t>
            </a:r>
            <a:endParaRPr lang="en-US" sz="1300" dirty="0"/>
          </a:p>
        </p:txBody>
      </p:sp>
      <p:sp>
        <p:nvSpPr>
          <p:cNvPr id="20" name="Shape 17"/>
          <p:cNvSpPr/>
          <p:nvPr/>
        </p:nvSpPr>
        <p:spPr>
          <a:xfrm>
            <a:off x="2514600" y="4133088"/>
            <a:ext cx="1463040" cy="310896"/>
          </a:xfrm>
          <a:prstGeom prst="roundRect">
            <a:avLst>
              <a:gd name="adj" fmla="val 17647"/>
            </a:avLst>
          </a:prstGeom>
          <a:solidFill>
            <a:srgbClr val="F2F2F2"/>
          </a:solidFill>
          <a:ln w="12700">
            <a:solidFill>
              <a:srgbClr val="616161"/>
            </a:solidFill>
            <a:prstDash val="solid"/>
          </a:ln>
        </p:spPr>
      </p:sp>
      <p:sp>
        <p:nvSpPr>
          <p:cNvPr id="21" name="Text 18"/>
          <p:cNvSpPr txBox="1"/>
          <p:nvPr/>
        </p:nvSpPr>
        <p:spPr>
          <a:xfrm>
            <a:off x="2578608" y="4133088"/>
            <a:ext cx="1335024" cy="310896"/>
          </a:xfrm>
          <a:prstGeom prst="rect">
            <a:avLst/>
          </a:prstGeom>
          <a:noFill/>
          <a:ln/>
        </p:spPr>
        <p:txBody>
          <a:bodyPr wrap="square" lIns="0" tIns="0" rIns="0" bIns="0" rtlCol="0" anchor="ctr"/>
          <a:lstStyle/>
          <a:p>
            <a:pPr algn="ctr" indent="0" marL="0">
              <a:buNone/>
            </a:pPr>
            <a:r>
              <a:rPr lang="en-US" sz="1300" b="1" dirty="0">
                <a:solidFill>
                  <a:srgbClr val="1F2430"/>
                </a:solidFill>
              </a:rPr>
              <a:t>7</a:t>
            </a:r>
            <a:endParaRPr lang="en-US" sz="1300" dirty="0"/>
          </a:p>
        </p:txBody>
      </p:sp>
      <p:sp>
        <p:nvSpPr>
          <p:cNvPr id="22" name="Shape 19"/>
          <p:cNvSpPr/>
          <p:nvPr/>
        </p:nvSpPr>
        <p:spPr>
          <a:xfrm>
            <a:off x="4526280" y="4133088"/>
            <a:ext cx="1463040" cy="310896"/>
          </a:xfrm>
          <a:prstGeom prst="roundRect">
            <a:avLst>
              <a:gd name="adj" fmla="val 17647"/>
            </a:avLst>
          </a:prstGeom>
          <a:solidFill>
            <a:srgbClr val="F2F2F2"/>
          </a:solidFill>
          <a:ln w="12700">
            <a:solidFill>
              <a:srgbClr val="616161"/>
            </a:solidFill>
            <a:prstDash val="solid"/>
          </a:ln>
        </p:spPr>
      </p:sp>
      <p:sp>
        <p:nvSpPr>
          <p:cNvPr id="23" name="Text 20"/>
          <p:cNvSpPr txBox="1"/>
          <p:nvPr/>
        </p:nvSpPr>
        <p:spPr>
          <a:xfrm>
            <a:off x="4590288" y="4133088"/>
            <a:ext cx="1335024" cy="310896"/>
          </a:xfrm>
          <a:prstGeom prst="rect">
            <a:avLst/>
          </a:prstGeom>
          <a:noFill/>
          <a:ln/>
        </p:spPr>
        <p:txBody>
          <a:bodyPr wrap="square" lIns="0" tIns="0" rIns="0" bIns="0" rtlCol="0" anchor="ctr"/>
          <a:lstStyle/>
          <a:p>
            <a:pPr algn="ctr" indent="0" marL="0">
              <a:buNone/>
            </a:pPr>
            <a:r>
              <a:rPr lang="en-US" sz="1300" b="1" dirty="0">
                <a:solidFill>
                  <a:srgbClr val="1F2430"/>
                </a:solidFill>
              </a:rPr>
              <a:t>16</a:t>
            </a:r>
            <a:endParaRPr lang="en-US" sz="1300" dirty="0"/>
          </a:p>
        </p:txBody>
      </p:sp>
      <p:sp>
        <p:nvSpPr>
          <p:cNvPr id="24" name="Shape 21"/>
          <p:cNvSpPr/>
          <p:nvPr/>
        </p:nvSpPr>
        <p:spPr>
          <a:xfrm>
            <a:off x="6537960" y="4133088"/>
            <a:ext cx="1463040" cy="310896"/>
          </a:xfrm>
          <a:prstGeom prst="roundRect">
            <a:avLst>
              <a:gd name="adj" fmla="val 17647"/>
            </a:avLst>
          </a:prstGeom>
          <a:solidFill>
            <a:srgbClr val="E8EAF6"/>
          </a:solidFill>
          <a:ln w="12700">
            <a:solidFill>
              <a:srgbClr val="1A237E"/>
            </a:solidFill>
            <a:prstDash val="solid"/>
          </a:ln>
        </p:spPr>
      </p:sp>
      <p:sp>
        <p:nvSpPr>
          <p:cNvPr id="25" name="Text 22"/>
          <p:cNvSpPr txBox="1"/>
          <p:nvPr/>
        </p:nvSpPr>
        <p:spPr>
          <a:xfrm>
            <a:off x="6601968" y="4133088"/>
            <a:ext cx="1335024" cy="310896"/>
          </a:xfrm>
          <a:prstGeom prst="rect">
            <a:avLst/>
          </a:prstGeom>
          <a:noFill/>
          <a:ln/>
        </p:spPr>
        <p:txBody>
          <a:bodyPr wrap="square" lIns="0" tIns="0" rIns="0" bIns="0" rtlCol="0" anchor="ctr"/>
          <a:lstStyle/>
          <a:p>
            <a:pPr algn="ctr" indent="0" marL="0">
              <a:buNone/>
            </a:pPr>
            <a:r>
              <a:rPr lang="en-US" sz="1300" b="1" dirty="0">
                <a:solidFill>
                  <a:srgbClr val="1F2430"/>
                </a:solidFill>
              </a:rPr>
              <a:t>7</a:t>
            </a:r>
            <a:endParaRPr lang="en-US" sz="1300" dirty="0"/>
          </a:p>
        </p:txBody>
      </p:sp>
      <p:sp>
        <p:nvSpPr>
          <p:cNvPr id="26" name="Text 23"/>
          <p:cNvSpPr txBox="1"/>
          <p:nvPr/>
        </p:nvSpPr>
        <p:spPr>
          <a:xfrm>
            <a:off x="457200" y="4507992"/>
            <a:ext cx="8229600" cy="256032"/>
          </a:xfrm>
          <a:prstGeom prst="rect">
            <a:avLst/>
          </a:prstGeom>
          <a:noFill/>
          <a:ln/>
        </p:spPr>
        <p:txBody>
          <a:bodyPr wrap="square" lIns="0" tIns="0" rIns="0" bIns="0" rtlCol="0" anchor="t"/>
          <a:lstStyle/>
          <a:p>
            <a:pPr algn="l" indent="0" marL="0">
              <a:buNone/>
            </a:pPr>
            <a:r>
              <a:rPr lang="en-US" sz="1050" dirty="0">
                <a:solidFill>
                  <a:srgbClr val="616161"/>
                </a:solidFill>
              </a:rPr>
              <a:t>Replay of 23 April days, both lines. Three backtest Sundays: baseline about 563 vegetarian portions for about 190 eaten; refined design about 233.</a:t>
            </a:r>
            <a:endParaRPr lang="en-US" sz="1050" dirty="0"/>
          </a:p>
        </p:txBody>
      </p:sp>
      <p:sp>
        <p:nvSpPr>
          <p:cNvPr id="27" name="Shape 24"/>
          <p:cNvSpPr/>
          <p:nvPr/>
        </p:nvSpPr>
        <p:spPr>
          <a:xfrm>
            <a:off x="7758684" y="1033272"/>
            <a:ext cx="928116" cy="201168"/>
          </a:xfrm>
          <a:prstGeom prst="roundRect">
            <a:avLst>
              <a:gd name="adj" fmla="val 22727"/>
            </a:avLst>
          </a:prstGeom>
          <a:solidFill>
            <a:srgbClr val="1A237E"/>
          </a:solidFill>
          <a:ln/>
        </p:spPr>
      </p:sp>
      <p:sp>
        <p:nvSpPr>
          <p:cNvPr id="28" name="Text 25"/>
          <p:cNvSpPr txBox="1"/>
          <p:nvPr/>
        </p:nvSpPr>
        <p:spPr>
          <a:xfrm>
            <a:off x="7758684"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PROJECTED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late batch is projected at 9:00 from the diners so far</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sp>
        <p:nvSpPr>
          <p:cNvPr id="15" name="Shape 13"/>
          <p:cNvSpPr/>
          <p:nvPr/>
        </p:nvSpPr>
        <p:spPr>
          <a:xfrm>
            <a:off x="6839712" y="109728"/>
            <a:ext cx="91440" cy="91440"/>
          </a:xfrm>
          <a:prstGeom prst="ellipse">
            <a:avLst/>
          </a:prstGeom>
          <a:ln w="9525">
            <a:solidFill>
              <a:srgbClr val="1A237E"/>
            </a:solidFill>
            <a:prstDash val="solid"/>
          </a:ln>
        </p:spPr>
      </p:sp>
      <p:sp>
        <p:nvSpPr>
          <p:cNvPr id="16" name="Shape 14"/>
          <p:cNvSpPr/>
          <p:nvPr/>
        </p:nvSpPr>
        <p:spPr>
          <a:xfrm>
            <a:off x="6986016" y="109728"/>
            <a:ext cx="91440" cy="91440"/>
          </a:xfrm>
          <a:prstGeom prst="ellipse">
            <a:avLst/>
          </a:prstGeom>
          <a:ln w="9525">
            <a:solidFill>
              <a:srgbClr val="1A237E"/>
            </a:solidFill>
            <a:prstDash val="solid"/>
          </a:ln>
        </p:spPr>
      </p:sp>
      <p:sp>
        <p:nvSpPr>
          <p:cNvPr id="17" name="Shape 15"/>
          <p:cNvSpPr/>
          <p:nvPr/>
        </p:nvSpPr>
        <p:spPr>
          <a:xfrm>
            <a:off x="7132320" y="109728"/>
            <a:ext cx="91440" cy="91440"/>
          </a:xfrm>
          <a:prstGeom prst="ellipse">
            <a:avLst/>
          </a:prstGeom>
          <a:ln w="9525">
            <a:solidFill>
              <a:srgbClr val="1A237E"/>
            </a:solidFill>
            <a:prstDash val="solid"/>
          </a:ln>
        </p:spPr>
      </p:sp>
      <p:sp>
        <p:nvSpPr>
          <p:cNvPr id="18" name="Shape 16"/>
          <p:cNvSpPr/>
          <p:nvPr/>
        </p:nvSpPr>
        <p:spPr>
          <a:xfrm>
            <a:off x="7278624" y="109728"/>
            <a:ext cx="91440" cy="91440"/>
          </a:xfrm>
          <a:prstGeom prst="ellipse">
            <a:avLst/>
          </a:prstGeom>
          <a:ln w="9525">
            <a:solidFill>
              <a:srgbClr val="1A237E"/>
            </a:solidFill>
            <a:prstDash val="solid"/>
          </a:ln>
        </p:spPr>
      </p:sp>
      <p:sp>
        <p:nvSpPr>
          <p:cNvPr id="19" name="Shape 17"/>
          <p:cNvSpPr/>
          <p:nvPr/>
        </p:nvSpPr>
        <p:spPr>
          <a:xfrm>
            <a:off x="7424928" y="109728"/>
            <a:ext cx="91440" cy="91440"/>
          </a:xfrm>
          <a:prstGeom prst="ellipse">
            <a:avLst/>
          </a:prstGeom>
          <a:ln w="9525">
            <a:solidFill>
              <a:srgbClr val="1A237E"/>
            </a:solidFill>
            <a:prstDash val="solid"/>
          </a:ln>
        </p:spPr>
      </p:sp>
      <p:sp>
        <p:nvSpPr>
          <p:cNvPr id="20" name="Shape 18"/>
          <p:cNvSpPr/>
          <p:nvPr/>
        </p:nvSpPr>
        <p:spPr>
          <a:xfrm>
            <a:off x="7571232" y="109728"/>
            <a:ext cx="91440" cy="91440"/>
          </a:xfrm>
          <a:prstGeom prst="ellipse">
            <a:avLst/>
          </a:prstGeom>
          <a:ln w="9525">
            <a:solidFill>
              <a:srgbClr val="1A237E"/>
            </a:solidFill>
            <a:prstDash val="solid"/>
          </a:ln>
        </p:spPr>
      </p:sp>
      <p:sp>
        <p:nvSpPr>
          <p:cNvPr id="21" name="Shape 19"/>
          <p:cNvSpPr/>
          <p:nvPr/>
        </p:nvSpPr>
        <p:spPr>
          <a:xfrm>
            <a:off x="7717536" y="109728"/>
            <a:ext cx="91440" cy="91440"/>
          </a:xfrm>
          <a:prstGeom prst="ellipse">
            <a:avLst/>
          </a:prstGeom>
          <a:ln w="9525">
            <a:solidFill>
              <a:srgbClr val="1A237E"/>
            </a:solidFill>
            <a:prstDash val="solid"/>
          </a:ln>
        </p:spPr>
      </p:sp>
      <p:sp>
        <p:nvSpPr>
          <p:cNvPr id="22" name="Shape 20"/>
          <p:cNvSpPr/>
          <p:nvPr/>
        </p:nvSpPr>
        <p:spPr>
          <a:xfrm>
            <a:off x="7863840" y="109728"/>
            <a:ext cx="91440" cy="91440"/>
          </a:xfrm>
          <a:prstGeom prst="ellipse">
            <a:avLst/>
          </a:prstGeom>
          <a:ln w="9525">
            <a:solidFill>
              <a:srgbClr val="1A237E"/>
            </a:solidFill>
            <a:prstDash val="solid"/>
          </a:ln>
        </p:spPr>
      </p:sp>
      <p:sp>
        <p:nvSpPr>
          <p:cNvPr id="23" name="Shape 21"/>
          <p:cNvSpPr/>
          <p:nvPr/>
        </p:nvSpPr>
        <p:spPr>
          <a:xfrm>
            <a:off x="8010144" y="109728"/>
            <a:ext cx="91440" cy="91440"/>
          </a:xfrm>
          <a:prstGeom prst="ellipse">
            <a:avLst/>
          </a:prstGeom>
          <a:ln w="9525">
            <a:solidFill>
              <a:srgbClr val="1A237E"/>
            </a:solidFill>
            <a:prstDash val="solid"/>
          </a:ln>
        </p:spPr>
      </p:sp>
      <p:sp>
        <p:nvSpPr>
          <p:cNvPr id="24" name="Shape 22"/>
          <p:cNvSpPr/>
          <p:nvPr/>
        </p:nvSpPr>
        <p:spPr>
          <a:xfrm>
            <a:off x="8156448" y="109728"/>
            <a:ext cx="91440" cy="91440"/>
          </a:xfrm>
          <a:prstGeom prst="ellipse">
            <a:avLst/>
          </a:prstGeom>
          <a:solidFill>
            <a:srgbClr val="1A237E"/>
          </a:solidFill>
          <a:ln w="9525">
            <a:solidFill>
              <a:srgbClr val="1A237E"/>
            </a:solidFill>
            <a:prstDash val="solid"/>
          </a:ln>
        </p:spPr>
      </p:sp>
      <p:sp>
        <p:nvSpPr>
          <p:cNvPr id="25" name="Shape 23"/>
          <p:cNvSpPr/>
          <p:nvPr/>
        </p:nvSpPr>
        <p:spPr>
          <a:xfrm>
            <a:off x="8302752" y="109728"/>
            <a:ext cx="91440" cy="91440"/>
          </a:xfrm>
          <a:prstGeom prst="ellipse">
            <a:avLst/>
          </a:prstGeom>
          <a:ln w="9525">
            <a:solidFill>
              <a:srgbClr val="1A237E"/>
            </a:solidFill>
            <a:prstDash val="solid"/>
          </a:ln>
        </p:spPr>
      </p:sp>
      <p:sp>
        <p:nvSpPr>
          <p:cNvPr id="26" name="Shape 24"/>
          <p:cNvSpPr/>
          <p:nvPr/>
        </p:nvSpPr>
        <p:spPr>
          <a:xfrm>
            <a:off x="8449056" y="109728"/>
            <a:ext cx="91440" cy="91440"/>
          </a:xfrm>
          <a:prstGeom prst="ellipse">
            <a:avLst/>
          </a:prstGeom>
          <a:ln w="9525">
            <a:solidFill>
              <a:srgbClr val="1A237E"/>
            </a:solidFill>
            <a:prstDash val="solid"/>
          </a:ln>
        </p:spPr>
      </p:sp>
      <p:sp>
        <p:nvSpPr>
          <p:cNvPr id="27" name="Shape 25"/>
          <p:cNvSpPr/>
          <p:nvPr/>
        </p:nvSpPr>
        <p:spPr>
          <a:xfrm>
            <a:off x="8595360" y="109728"/>
            <a:ext cx="91440" cy="91440"/>
          </a:xfrm>
          <a:prstGeom prst="ellipse">
            <a:avLst/>
          </a:prstGeom>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10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Project the day at 9:00 and cook a late batch to land by about 9:15</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10</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Projecting at 8:00 for more cooking time</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Only 13.5 to 22.5% are in by 8:00; the error is 13% at 9:00 against 35% flat at 8:00</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Less time to land before the crest; if it fails, about 44 diners are short and 33 wait</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A cover of 1.5 cut diners left waiting from about 18 a day to 3</a:t>
            </a:r>
            <a:endParaRPr lang="en-US" sz="1200" dirty="0"/>
          </a:p>
        </p:txBody>
      </p:sp>
      <p:sp>
        <p:nvSpPr>
          <p:cNvPr id="51" name="Shape 45"/>
          <p:cNvSpPr/>
          <p:nvPr/>
        </p:nvSpPr>
        <p:spPr>
          <a:xfrm>
            <a:off x="7758684" y="1033272"/>
            <a:ext cx="928116" cy="201168"/>
          </a:xfrm>
          <a:prstGeom prst="roundRect">
            <a:avLst>
              <a:gd name="adj" fmla="val 22727"/>
            </a:avLst>
          </a:prstGeom>
          <a:solidFill>
            <a:srgbClr val="1A237E"/>
          </a:solidFill>
          <a:ln/>
        </p:spPr>
      </p:sp>
      <p:sp>
        <p:nvSpPr>
          <p:cNvPr id="52" name="Text 46"/>
          <p:cNvSpPr txBox="1"/>
          <p:nvPr/>
        </p:nvSpPr>
        <p:spPr>
          <a:xfrm>
            <a:off x="7758684"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PROJECTED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Kitchen rules leave students' bills untouched, and only a skip that removes the charge changes them</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sp>
        <p:nvSpPr>
          <p:cNvPr id="15" name="Text 13"/>
          <p:cNvSpPr txBox="1"/>
          <p:nvPr/>
        </p:nvSpPr>
        <p:spPr>
          <a:xfrm>
            <a:off x="457200" y="1280160"/>
            <a:ext cx="3474720" cy="822960"/>
          </a:xfrm>
          <a:prstGeom prst="rect">
            <a:avLst/>
          </a:prstGeom>
          <a:noFill/>
          <a:ln/>
        </p:spPr>
        <p:txBody>
          <a:bodyPr wrap="square" lIns="0" tIns="0" rIns="0" bIns="0" rtlCol="0" anchor="ctr"/>
          <a:lstStyle/>
          <a:p>
            <a:pPr algn="l" indent="0" marL="0">
              <a:buNone/>
            </a:pPr>
            <a:r>
              <a:rPr lang="en-US" sz="4000" b="1" dirty="0">
                <a:solidFill>
                  <a:srgbClr val="C62828"/>
                </a:solidFill>
                <a:latin typeface="Cambria" pitchFamily="34" charset="0"/>
                <a:ea typeface="Cambria" pitchFamily="34" charset="-122"/>
                <a:cs typeface="Cambria" pitchFamily="34" charset="-120"/>
              </a:rPr>
              <a:t>Rs 10.58 lakh</a:t>
            </a:r>
            <a:endParaRPr lang="en-US" sz="4000" dirty="0"/>
          </a:p>
        </p:txBody>
      </p:sp>
      <p:sp>
        <p:nvSpPr>
          <p:cNvPr id="16" name="Text 14"/>
          <p:cNvSpPr txBox="1"/>
          <p:nvPr/>
        </p:nvSpPr>
        <p:spPr>
          <a:xfrm>
            <a:off x="457200" y="2103120"/>
            <a:ext cx="3291840" cy="731520"/>
          </a:xfrm>
          <a:prstGeom prst="rect">
            <a:avLst/>
          </a:prstGeom>
          <a:noFill/>
          <a:ln/>
        </p:spPr>
        <p:txBody>
          <a:bodyPr wrap="square" lIns="0" tIns="0" rIns="0" bIns="0" rtlCol="0" anchor="t"/>
          <a:lstStyle/>
          <a:p>
            <a:pPr algn="l" indent="0" marL="0">
              <a:buNone/>
            </a:pPr>
            <a:r>
              <a:rPr lang="en-US" sz="1300" dirty="0">
                <a:solidFill>
                  <a:srgbClr val="616161"/>
                </a:solidFill>
              </a:rPr>
              <a:t>estimated charged for 20,221 uneaten breakfasts at Kadamba in April, at posted rates</a:t>
            </a:r>
            <a:endParaRPr lang="en-US" sz="1300" dirty="0"/>
          </a:p>
        </p:txBody>
      </p:sp>
      <p:sp>
        <p:nvSpPr>
          <p:cNvPr id="17" name="Text 15"/>
          <p:cNvSpPr txBox="1"/>
          <p:nvPr/>
        </p:nvSpPr>
        <p:spPr>
          <a:xfrm>
            <a:off x="457200" y="3383280"/>
            <a:ext cx="3291840" cy="548640"/>
          </a:xfrm>
          <a:prstGeom prst="rect">
            <a:avLst/>
          </a:prstGeom>
          <a:noFill/>
          <a:ln/>
        </p:spPr>
        <p:txBody>
          <a:bodyPr wrap="square" lIns="0" tIns="0" rIns="0" bIns="0" rtlCol="0" anchor="t"/>
          <a:lstStyle/>
          <a:p>
            <a:pPr algn="l" indent="0" marL="0">
              <a:buNone/>
            </a:pPr>
            <a:r>
              <a:rPr lang="en-US" sz="1400" b="1" dirty="0">
                <a:solidFill>
                  <a:srgbClr val="1F2430"/>
                </a:solidFill>
              </a:rPr>
              <a:t>A skip that returns nothing changes nothing.</a:t>
            </a:r>
            <a:endParaRPr lang="en-US" sz="1400" dirty="0"/>
          </a:p>
        </p:txBody>
      </p:sp>
      <p:sp>
        <p:nvSpPr>
          <p:cNvPr id="18" name="Text 16"/>
          <p:cNvSpPr txBox="1"/>
          <p:nvPr/>
        </p:nvSpPr>
        <p:spPr>
          <a:xfrm>
            <a:off x="4114800" y="1234440"/>
            <a:ext cx="4572000" cy="182880"/>
          </a:xfrm>
          <a:prstGeom prst="rect">
            <a:avLst/>
          </a:prstGeom>
          <a:noFill/>
          <a:ln/>
        </p:spPr>
        <p:txBody>
          <a:bodyPr wrap="square" lIns="0" tIns="0" rIns="0" bIns="0" rtlCol="0" anchor="t"/>
          <a:lstStyle/>
          <a:p>
            <a:pPr algn="l" indent="0" marL="0">
              <a:buNone/>
            </a:pPr>
            <a:r>
              <a:rPr lang="en-US" sz="1000" b="1" spc="100" kern="0" dirty="0">
                <a:solidFill>
                  <a:srgbClr val="616161"/>
                </a:solidFill>
              </a:rPr>
              <a:t>REDUCTION IN THE APRIL CHARGE, RS LAKH</a:t>
            </a:r>
            <a:endParaRPr lang="en-US" sz="1000" dirty="0"/>
          </a:p>
        </p:txBody>
      </p:sp>
      <p:sp>
        <p:nvSpPr>
          <p:cNvPr id="19" name="Shape 17"/>
          <p:cNvSpPr/>
          <p:nvPr/>
        </p:nvSpPr>
        <p:spPr>
          <a:xfrm>
            <a:off x="4297680" y="1600200"/>
            <a:ext cx="0" cy="2377440"/>
          </a:xfrm>
          <a:prstGeom prst="line">
            <a:avLst/>
          </a:prstGeom>
          <a:noFill/>
          <a:ln w="9525">
            <a:solidFill>
              <a:srgbClr val="DDDDDD"/>
            </a:solidFill>
            <a:prstDash val="solid"/>
          </a:ln>
        </p:spPr>
      </p:sp>
      <p:sp>
        <p:nvSpPr>
          <p:cNvPr id="20" name="Text 18"/>
          <p:cNvSpPr txBox="1"/>
          <p:nvPr/>
        </p:nvSpPr>
        <p:spPr>
          <a:xfrm>
            <a:off x="4114800" y="4005072"/>
            <a:ext cx="365760" cy="182880"/>
          </a:xfrm>
          <a:prstGeom prst="rect">
            <a:avLst/>
          </a:prstGeom>
          <a:noFill/>
          <a:ln/>
        </p:spPr>
        <p:txBody>
          <a:bodyPr wrap="square" lIns="0" tIns="0" rIns="0" bIns="0" rtlCol="0" anchor="t"/>
          <a:lstStyle/>
          <a:p>
            <a:pPr algn="ctr" indent="0" marL="0">
              <a:buNone/>
            </a:pPr>
            <a:r>
              <a:rPr lang="en-US" sz="1000" dirty="0">
                <a:solidFill>
                  <a:srgbClr val="616161"/>
                </a:solidFill>
              </a:rPr>
              <a:t>0</a:t>
            </a:r>
            <a:endParaRPr lang="en-US" sz="1000" dirty="0"/>
          </a:p>
        </p:txBody>
      </p:sp>
      <p:sp>
        <p:nvSpPr>
          <p:cNvPr id="21" name="Shape 19"/>
          <p:cNvSpPr/>
          <p:nvPr/>
        </p:nvSpPr>
        <p:spPr>
          <a:xfrm>
            <a:off x="5065776" y="1600200"/>
            <a:ext cx="0" cy="2377440"/>
          </a:xfrm>
          <a:prstGeom prst="line">
            <a:avLst/>
          </a:prstGeom>
          <a:noFill/>
          <a:ln w="9525">
            <a:solidFill>
              <a:srgbClr val="DDDDDD"/>
            </a:solidFill>
            <a:prstDash val="solid"/>
          </a:ln>
        </p:spPr>
      </p:sp>
      <p:sp>
        <p:nvSpPr>
          <p:cNvPr id="22" name="Text 20"/>
          <p:cNvSpPr txBox="1"/>
          <p:nvPr/>
        </p:nvSpPr>
        <p:spPr>
          <a:xfrm>
            <a:off x="4882896" y="4005072"/>
            <a:ext cx="365760" cy="182880"/>
          </a:xfrm>
          <a:prstGeom prst="rect">
            <a:avLst/>
          </a:prstGeom>
          <a:noFill/>
          <a:ln/>
        </p:spPr>
        <p:txBody>
          <a:bodyPr wrap="square" lIns="0" tIns="0" rIns="0" bIns="0" rtlCol="0" anchor="t"/>
          <a:lstStyle/>
          <a:p>
            <a:pPr algn="ctr" indent="0" marL="0">
              <a:buNone/>
            </a:pPr>
            <a:r>
              <a:rPr lang="en-US" sz="1000" dirty="0">
                <a:solidFill>
                  <a:srgbClr val="616161"/>
                </a:solidFill>
              </a:rPr>
              <a:t>1</a:t>
            </a:r>
            <a:endParaRPr lang="en-US" sz="1000" dirty="0"/>
          </a:p>
        </p:txBody>
      </p:sp>
      <p:sp>
        <p:nvSpPr>
          <p:cNvPr id="23" name="Shape 21"/>
          <p:cNvSpPr/>
          <p:nvPr/>
        </p:nvSpPr>
        <p:spPr>
          <a:xfrm>
            <a:off x="5833872" y="1600200"/>
            <a:ext cx="0" cy="2377440"/>
          </a:xfrm>
          <a:prstGeom prst="line">
            <a:avLst/>
          </a:prstGeom>
          <a:noFill/>
          <a:ln w="9525">
            <a:solidFill>
              <a:srgbClr val="DDDDDD"/>
            </a:solidFill>
            <a:prstDash val="solid"/>
          </a:ln>
        </p:spPr>
      </p:sp>
      <p:sp>
        <p:nvSpPr>
          <p:cNvPr id="24" name="Text 22"/>
          <p:cNvSpPr txBox="1"/>
          <p:nvPr/>
        </p:nvSpPr>
        <p:spPr>
          <a:xfrm>
            <a:off x="5650992" y="4005072"/>
            <a:ext cx="365760" cy="182880"/>
          </a:xfrm>
          <a:prstGeom prst="rect">
            <a:avLst/>
          </a:prstGeom>
          <a:noFill/>
          <a:ln/>
        </p:spPr>
        <p:txBody>
          <a:bodyPr wrap="square" lIns="0" tIns="0" rIns="0" bIns="0" rtlCol="0" anchor="t"/>
          <a:lstStyle/>
          <a:p>
            <a:pPr algn="ctr" indent="0" marL="0">
              <a:buNone/>
            </a:pPr>
            <a:r>
              <a:rPr lang="en-US" sz="1000" dirty="0">
                <a:solidFill>
                  <a:srgbClr val="616161"/>
                </a:solidFill>
              </a:rPr>
              <a:t>2</a:t>
            </a:r>
            <a:endParaRPr lang="en-US" sz="1000" dirty="0"/>
          </a:p>
        </p:txBody>
      </p:sp>
      <p:sp>
        <p:nvSpPr>
          <p:cNvPr id="25" name="Shape 23"/>
          <p:cNvSpPr/>
          <p:nvPr/>
        </p:nvSpPr>
        <p:spPr>
          <a:xfrm>
            <a:off x="6601968" y="1600200"/>
            <a:ext cx="0" cy="2377440"/>
          </a:xfrm>
          <a:prstGeom prst="line">
            <a:avLst/>
          </a:prstGeom>
          <a:noFill/>
          <a:ln w="9525">
            <a:solidFill>
              <a:srgbClr val="DDDDDD"/>
            </a:solidFill>
            <a:prstDash val="solid"/>
          </a:ln>
        </p:spPr>
      </p:sp>
      <p:sp>
        <p:nvSpPr>
          <p:cNvPr id="26" name="Text 24"/>
          <p:cNvSpPr txBox="1"/>
          <p:nvPr/>
        </p:nvSpPr>
        <p:spPr>
          <a:xfrm>
            <a:off x="6419088" y="4005072"/>
            <a:ext cx="365760" cy="182880"/>
          </a:xfrm>
          <a:prstGeom prst="rect">
            <a:avLst/>
          </a:prstGeom>
          <a:noFill/>
          <a:ln/>
        </p:spPr>
        <p:txBody>
          <a:bodyPr wrap="square" lIns="0" tIns="0" rIns="0" bIns="0" rtlCol="0" anchor="t"/>
          <a:lstStyle/>
          <a:p>
            <a:pPr algn="ctr" indent="0" marL="0">
              <a:buNone/>
            </a:pPr>
            <a:r>
              <a:rPr lang="en-US" sz="1000" dirty="0">
                <a:solidFill>
                  <a:srgbClr val="616161"/>
                </a:solidFill>
              </a:rPr>
              <a:t>3</a:t>
            </a:r>
            <a:endParaRPr lang="en-US" sz="1000" dirty="0"/>
          </a:p>
        </p:txBody>
      </p:sp>
      <p:sp>
        <p:nvSpPr>
          <p:cNvPr id="27" name="Shape 25"/>
          <p:cNvSpPr/>
          <p:nvPr/>
        </p:nvSpPr>
        <p:spPr>
          <a:xfrm>
            <a:off x="7370064" y="1600200"/>
            <a:ext cx="0" cy="2377440"/>
          </a:xfrm>
          <a:prstGeom prst="line">
            <a:avLst/>
          </a:prstGeom>
          <a:noFill/>
          <a:ln w="9525">
            <a:solidFill>
              <a:srgbClr val="DDDDDD"/>
            </a:solidFill>
            <a:prstDash val="solid"/>
          </a:ln>
        </p:spPr>
      </p:sp>
      <p:sp>
        <p:nvSpPr>
          <p:cNvPr id="28" name="Text 26"/>
          <p:cNvSpPr txBox="1"/>
          <p:nvPr/>
        </p:nvSpPr>
        <p:spPr>
          <a:xfrm>
            <a:off x="7187184" y="4005072"/>
            <a:ext cx="365760" cy="182880"/>
          </a:xfrm>
          <a:prstGeom prst="rect">
            <a:avLst/>
          </a:prstGeom>
          <a:noFill/>
          <a:ln/>
        </p:spPr>
        <p:txBody>
          <a:bodyPr wrap="square" lIns="0" tIns="0" rIns="0" bIns="0" rtlCol="0" anchor="t"/>
          <a:lstStyle/>
          <a:p>
            <a:pPr algn="ctr" indent="0" marL="0">
              <a:buNone/>
            </a:pPr>
            <a:r>
              <a:rPr lang="en-US" sz="1000" dirty="0">
                <a:solidFill>
                  <a:srgbClr val="616161"/>
                </a:solidFill>
              </a:rPr>
              <a:t>4</a:t>
            </a:r>
            <a:endParaRPr lang="en-US" sz="1000" dirty="0"/>
          </a:p>
        </p:txBody>
      </p:sp>
      <p:sp>
        <p:nvSpPr>
          <p:cNvPr id="29" name="Shape 27"/>
          <p:cNvSpPr/>
          <p:nvPr/>
        </p:nvSpPr>
        <p:spPr>
          <a:xfrm>
            <a:off x="8138160" y="1600200"/>
            <a:ext cx="0" cy="2377440"/>
          </a:xfrm>
          <a:prstGeom prst="line">
            <a:avLst/>
          </a:prstGeom>
          <a:noFill/>
          <a:ln w="9525">
            <a:solidFill>
              <a:srgbClr val="DDDDDD"/>
            </a:solidFill>
            <a:prstDash val="solid"/>
          </a:ln>
        </p:spPr>
      </p:sp>
      <p:sp>
        <p:nvSpPr>
          <p:cNvPr id="30" name="Text 28"/>
          <p:cNvSpPr txBox="1"/>
          <p:nvPr/>
        </p:nvSpPr>
        <p:spPr>
          <a:xfrm>
            <a:off x="7955280" y="4005072"/>
            <a:ext cx="365760" cy="182880"/>
          </a:xfrm>
          <a:prstGeom prst="rect">
            <a:avLst/>
          </a:prstGeom>
          <a:noFill/>
          <a:ln/>
        </p:spPr>
        <p:txBody>
          <a:bodyPr wrap="square" lIns="0" tIns="0" rIns="0" bIns="0" rtlCol="0" anchor="t"/>
          <a:lstStyle/>
          <a:p>
            <a:pPr algn="ctr" indent="0" marL="0">
              <a:buNone/>
            </a:pPr>
            <a:r>
              <a:rPr lang="en-US" sz="1000" dirty="0">
                <a:solidFill>
                  <a:srgbClr val="616161"/>
                </a:solidFill>
              </a:rPr>
              <a:t>5</a:t>
            </a:r>
            <a:endParaRPr lang="en-US" sz="1000" dirty="0"/>
          </a:p>
        </p:txBody>
      </p:sp>
      <p:sp>
        <p:nvSpPr>
          <p:cNvPr id="31" name="Text 29"/>
          <p:cNvSpPr txBox="1"/>
          <p:nvPr/>
        </p:nvSpPr>
        <p:spPr>
          <a:xfrm>
            <a:off x="4114800" y="1691640"/>
            <a:ext cx="4114800" cy="228600"/>
          </a:xfrm>
          <a:prstGeom prst="rect">
            <a:avLst/>
          </a:prstGeom>
          <a:noFill/>
          <a:ln/>
        </p:spPr>
        <p:txBody>
          <a:bodyPr wrap="square" lIns="0" tIns="0" rIns="0" bIns="0" rtlCol="0" anchor="t"/>
          <a:lstStyle/>
          <a:p>
            <a:pPr algn="l" indent="0" marL="0">
              <a:buNone/>
            </a:pPr>
            <a:r>
              <a:rPr lang="en-US" sz="1300" b="1" dirty="0">
                <a:solidFill>
                  <a:srgbClr val="1F2430"/>
                </a:solidFill>
              </a:rPr>
              <a:t>Kitchen rules</a:t>
            </a:r>
            <a:endParaRPr lang="en-US" sz="1300" dirty="0"/>
          </a:p>
        </p:txBody>
      </p:sp>
      <p:sp>
        <p:nvSpPr>
          <p:cNvPr id="32" name="Shape 30"/>
          <p:cNvSpPr/>
          <p:nvPr/>
        </p:nvSpPr>
        <p:spPr>
          <a:xfrm>
            <a:off x="4206240" y="2103120"/>
            <a:ext cx="182880" cy="182880"/>
          </a:xfrm>
          <a:prstGeom prst="ellipse">
            <a:avLst/>
          </a:prstGeom>
          <a:solidFill>
            <a:srgbClr val="616161"/>
          </a:solidFill>
          <a:ln/>
        </p:spPr>
      </p:sp>
      <p:sp>
        <p:nvSpPr>
          <p:cNvPr id="33" name="Text 31"/>
          <p:cNvSpPr txBox="1"/>
          <p:nvPr/>
        </p:nvSpPr>
        <p:spPr>
          <a:xfrm>
            <a:off x="4480560" y="2084832"/>
            <a:ext cx="914400" cy="228600"/>
          </a:xfrm>
          <a:prstGeom prst="rect">
            <a:avLst/>
          </a:prstGeom>
          <a:noFill/>
          <a:ln/>
        </p:spPr>
        <p:txBody>
          <a:bodyPr wrap="square" lIns="0" tIns="0" rIns="0" bIns="0" rtlCol="0" anchor="t"/>
          <a:lstStyle/>
          <a:p>
            <a:pPr algn="l" indent="0" marL="0">
              <a:buNone/>
            </a:pPr>
            <a:r>
              <a:rPr lang="en-US" sz="1300" b="1" dirty="0">
                <a:solidFill>
                  <a:srgbClr val="616161"/>
                </a:solidFill>
              </a:rPr>
              <a:t>Rs 0</a:t>
            </a:r>
            <a:endParaRPr lang="en-US" sz="1300" dirty="0"/>
          </a:p>
        </p:txBody>
      </p:sp>
      <p:sp>
        <p:nvSpPr>
          <p:cNvPr id="34" name="Text 32"/>
          <p:cNvSpPr txBox="1"/>
          <p:nvPr/>
        </p:nvSpPr>
        <p:spPr>
          <a:xfrm>
            <a:off x="4114800" y="2514600"/>
            <a:ext cx="4389120" cy="228600"/>
          </a:xfrm>
          <a:prstGeom prst="rect">
            <a:avLst/>
          </a:prstGeom>
          <a:noFill/>
          <a:ln/>
        </p:spPr>
        <p:txBody>
          <a:bodyPr wrap="square" lIns="0" tIns="0" rIns="0" bIns="0" rtlCol="0" anchor="t"/>
          <a:lstStyle/>
          <a:p>
            <a:pPr algn="l" indent="0" marL="0">
              <a:buNone/>
            </a:pPr>
            <a:r>
              <a:rPr lang="en-US" sz="1300" b="1" dirty="0">
                <a:solidFill>
                  <a:srgbClr val="1F2430"/>
                </a:solidFill>
              </a:rPr>
              <a:t>Sunday skip at 25 to 50% uptake</a:t>
            </a:r>
            <a:endParaRPr lang="en-US" sz="1300" dirty="0"/>
          </a:p>
        </p:txBody>
      </p:sp>
      <p:sp>
        <p:nvSpPr>
          <p:cNvPr id="35" name="Shape 33"/>
          <p:cNvSpPr/>
          <p:nvPr/>
        </p:nvSpPr>
        <p:spPr>
          <a:xfrm>
            <a:off x="4604918" y="2834640"/>
            <a:ext cx="307238" cy="274320"/>
          </a:xfrm>
          <a:prstGeom prst="roundRect">
            <a:avLst>
              <a:gd name="adj" fmla="val 13333"/>
            </a:avLst>
          </a:prstGeom>
          <a:solidFill>
            <a:srgbClr val="1565C0"/>
          </a:solidFill>
          <a:ln/>
        </p:spPr>
      </p:sp>
      <p:sp>
        <p:nvSpPr>
          <p:cNvPr id="36" name="Text 34"/>
          <p:cNvSpPr txBox="1"/>
          <p:nvPr/>
        </p:nvSpPr>
        <p:spPr>
          <a:xfrm>
            <a:off x="5080406" y="2834640"/>
            <a:ext cx="1828800" cy="274320"/>
          </a:xfrm>
          <a:prstGeom prst="rect">
            <a:avLst/>
          </a:prstGeom>
          <a:noFill/>
          <a:ln/>
        </p:spPr>
        <p:txBody>
          <a:bodyPr wrap="square" lIns="0" tIns="0" rIns="0" bIns="0" rtlCol="0" anchor="ctr"/>
          <a:lstStyle/>
          <a:p>
            <a:pPr algn="l" indent="0" marL="0">
              <a:buNone/>
            </a:pPr>
            <a:r>
              <a:rPr lang="en-US" sz="1300" b="1" dirty="0">
                <a:solidFill>
                  <a:srgbClr val="1565C0"/>
                </a:solidFill>
              </a:rPr>
              <a:t>Rs 0.40 to 0.80</a:t>
            </a:r>
            <a:endParaRPr lang="en-US" sz="1300" dirty="0"/>
          </a:p>
        </p:txBody>
      </p:sp>
      <p:sp>
        <p:nvSpPr>
          <p:cNvPr id="37" name="Text 35"/>
          <p:cNvSpPr txBox="1"/>
          <p:nvPr/>
        </p:nvSpPr>
        <p:spPr>
          <a:xfrm>
            <a:off x="4114800" y="3246120"/>
            <a:ext cx="4114800" cy="228600"/>
          </a:xfrm>
          <a:prstGeom prst="rect">
            <a:avLst/>
          </a:prstGeom>
          <a:noFill/>
          <a:ln/>
        </p:spPr>
        <p:txBody>
          <a:bodyPr wrap="square" lIns="0" tIns="0" rIns="0" bIns="0" rtlCol="0" anchor="t"/>
          <a:lstStyle/>
          <a:p>
            <a:pPr algn="l" indent="0" marL="0">
              <a:buNone/>
            </a:pPr>
            <a:r>
              <a:rPr lang="en-US" sz="1300" b="1" dirty="0">
                <a:solidFill>
                  <a:srgbClr val="1F2430"/>
                </a:solidFill>
              </a:rPr>
              <a:t>Every-day skip</a:t>
            </a:r>
            <a:endParaRPr lang="en-US" sz="1300" dirty="0"/>
          </a:p>
        </p:txBody>
      </p:sp>
      <p:sp>
        <p:nvSpPr>
          <p:cNvPr id="38" name="Shape 36"/>
          <p:cNvSpPr/>
          <p:nvPr/>
        </p:nvSpPr>
        <p:spPr>
          <a:xfrm>
            <a:off x="6333134" y="3566160"/>
            <a:ext cx="2027773" cy="274320"/>
          </a:xfrm>
          <a:prstGeom prst="roundRect">
            <a:avLst>
              <a:gd name="adj" fmla="val 13333"/>
            </a:avLst>
          </a:prstGeom>
          <a:solidFill>
            <a:srgbClr val="2E7D32"/>
          </a:solidFill>
          <a:ln/>
        </p:spPr>
      </p:sp>
      <p:sp>
        <p:nvSpPr>
          <p:cNvPr id="39" name="Text 37"/>
          <p:cNvSpPr txBox="1"/>
          <p:nvPr/>
        </p:nvSpPr>
        <p:spPr>
          <a:xfrm>
            <a:off x="6333134" y="3566160"/>
            <a:ext cx="2027773" cy="274320"/>
          </a:xfrm>
          <a:prstGeom prst="rect">
            <a:avLst/>
          </a:prstGeom>
          <a:noFill/>
          <a:ln/>
        </p:spPr>
        <p:txBody>
          <a:bodyPr wrap="square" lIns="0" tIns="0" rIns="0" bIns="0" rtlCol="0" anchor="ctr"/>
          <a:lstStyle/>
          <a:p>
            <a:pPr algn="ctr" indent="0" marL="0">
              <a:buNone/>
            </a:pPr>
            <a:r>
              <a:rPr lang="en-US" sz="1300" b="1" dirty="0">
                <a:solidFill>
                  <a:srgbClr val="FFFFFF"/>
                </a:solidFill>
              </a:rPr>
              <a:t>Rs 2.65 to 5.29</a:t>
            </a:r>
            <a:endParaRPr lang="en-US" sz="1300" dirty="0"/>
          </a:p>
        </p:txBody>
      </p:sp>
      <p:sp>
        <p:nvSpPr>
          <p:cNvPr id="40" name="Shape 38"/>
          <p:cNvSpPr/>
          <p:nvPr/>
        </p:nvSpPr>
        <p:spPr>
          <a:xfrm>
            <a:off x="7895844" y="1033272"/>
            <a:ext cx="790956" cy="201168"/>
          </a:xfrm>
          <a:prstGeom prst="roundRect">
            <a:avLst>
              <a:gd name="adj" fmla="val 22727"/>
            </a:avLst>
          </a:prstGeom>
          <a:ln w="12700">
            <a:solidFill>
              <a:srgbClr val="F57F17"/>
            </a:solidFill>
            <a:prstDash val="solid"/>
          </a:ln>
        </p:spPr>
      </p:sp>
      <p:sp>
        <p:nvSpPr>
          <p:cNvPr id="41" name="Text 39"/>
          <p:cNvSpPr txBox="1"/>
          <p:nvPr/>
        </p:nvSpPr>
        <p:spPr>
          <a:xfrm>
            <a:off x="7895844" y="1033272"/>
            <a:ext cx="790956" cy="201168"/>
          </a:xfrm>
          <a:prstGeom prst="rect">
            <a:avLst/>
          </a:prstGeom>
          <a:noFill/>
          <a:ln/>
        </p:spPr>
        <p:txBody>
          <a:bodyPr wrap="square" lIns="0" tIns="0" rIns="0" bIns="0" rtlCol="0" anchor="ctr"/>
          <a:lstStyle/>
          <a:p>
            <a:pPr algn="ctr" indent="0" marL="0">
              <a:buNone/>
            </a:pPr>
            <a:r>
              <a:rPr lang="en-US" sz="900" b="1" spc="100" kern="0" dirty="0">
                <a:solidFill>
                  <a:srgbClr val="8D4A00"/>
                </a:solidFill>
              </a:rPr>
              <a:t>ASSUMED</a:t>
            </a:r>
            <a:endParaRPr lang="en-US" sz="900" dirty="0"/>
          </a:p>
        </p:txBody>
      </p:sp>
      <p:sp>
        <p:nvSpPr>
          <p:cNvPr id="42" name="Shape 40"/>
          <p:cNvSpPr/>
          <p:nvPr/>
        </p:nvSpPr>
        <p:spPr>
          <a:xfrm>
            <a:off x="6894576" y="1033272"/>
            <a:ext cx="928116" cy="201168"/>
          </a:xfrm>
          <a:prstGeom prst="roundRect">
            <a:avLst>
              <a:gd name="adj" fmla="val 22727"/>
            </a:avLst>
          </a:prstGeom>
          <a:solidFill>
            <a:srgbClr val="1A237E"/>
          </a:solidFill>
          <a:ln/>
        </p:spPr>
      </p:sp>
      <p:sp>
        <p:nvSpPr>
          <p:cNvPr id="43" name="Text 41"/>
          <p:cNvSpPr txBox="1"/>
          <p:nvPr/>
        </p:nvSpPr>
        <p:spPr>
          <a:xfrm>
            <a:off x="6894576"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PROJECTED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Four gates came before any score, and the gates overruled the scores</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sp>
        <p:nvSpPr>
          <p:cNvPr id="15" name="Shape 13"/>
          <p:cNvSpPr/>
          <p:nvPr/>
        </p:nvSpPr>
        <p:spPr>
          <a:xfrm>
            <a:off x="457200" y="1280160"/>
            <a:ext cx="3200400" cy="694944"/>
          </a:xfrm>
          <a:prstGeom prst="roundRect">
            <a:avLst>
              <a:gd name="adj" fmla="val 10526"/>
            </a:avLst>
          </a:prstGeom>
          <a:solidFill>
            <a:srgbClr val="E8EAF6"/>
          </a:solidFill>
          <a:ln w="12700">
            <a:solidFill>
              <a:srgbClr val="1A237E"/>
            </a:solidFill>
            <a:prstDash val="solid"/>
          </a:ln>
        </p:spPr>
      </p:sp>
      <p:sp>
        <p:nvSpPr>
          <p:cNvPr id="16" name="Shape 14"/>
          <p:cNvSpPr/>
          <p:nvPr/>
        </p:nvSpPr>
        <p:spPr>
          <a:xfrm>
            <a:off x="621792" y="1426464"/>
            <a:ext cx="402336" cy="402336"/>
          </a:xfrm>
          <a:prstGeom prst="ellipse">
            <a:avLst/>
          </a:prstGeom>
          <a:solidFill>
            <a:srgbClr val="1A237E"/>
          </a:solidFill>
          <a:ln/>
        </p:spPr>
      </p:sp>
      <p:pic>
        <p:nvPicPr>
          <p:cNvPr id="17" name="Image 0" descr="Shield">    </p:cNvPr>
          <p:cNvPicPr>
            <a:picLocks noChangeAspect="1"/>
          </p:cNvPicPr>
          <p:nvPr/>
        </p:nvPicPr>
        <p:blipFill>
          <a:blip r:embed="rId1"/>
          <a:stretch>
            <a:fillRect/>
          </a:stretch>
        </p:blipFill>
        <p:spPr>
          <a:xfrm>
            <a:off x="702259" y="1506931"/>
            <a:ext cx="241402" cy="241402"/>
          </a:xfrm>
          <a:prstGeom prst="rect">
            <a:avLst/>
          </a:prstGeom>
        </p:spPr>
      </p:pic>
      <p:sp>
        <p:nvSpPr>
          <p:cNvPr id="18" name="Text 15"/>
          <p:cNvSpPr txBox="1"/>
          <p:nvPr/>
        </p:nvSpPr>
        <p:spPr>
          <a:xfrm>
            <a:off x="1188720" y="1280160"/>
            <a:ext cx="2423160" cy="694944"/>
          </a:xfrm>
          <a:prstGeom prst="rect">
            <a:avLst/>
          </a:prstGeom>
          <a:noFill/>
          <a:ln/>
        </p:spPr>
        <p:txBody>
          <a:bodyPr wrap="square" lIns="0" tIns="0" rIns="0" bIns="0" rtlCol="0" anchor="ctr"/>
          <a:lstStyle/>
          <a:p>
            <a:pPr algn="l" indent="0" marL="0">
              <a:buNone/>
            </a:pPr>
            <a:r>
              <a:rPr lang="en-US" sz="1150" b="1" dirty="0">
                <a:solidFill>
                  <a:srgbClr val="1A237E"/>
                </a:solidFill>
              </a:rPr>
              <a:t>G1  </a:t>
            </a:r>
            <a:pPr algn="l" indent="0" marL="0">
              <a:buNone/>
            </a:pPr>
            <a:r>
              <a:rPr lang="en-US" sz="1150" dirty="0">
                <a:solidFill>
                  <a:srgbClr val="1F2430"/>
                </a:solidFill>
              </a:rPr>
              <a:t>Absorbers that protect someone are kept</a:t>
            </a:r>
            <a:endParaRPr lang="en-US" sz="1150" dirty="0"/>
          </a:p>
        </p:txBody>
      </p:sp>
      <p:sp>
        <p:nvSpPr>
          <p:cNvPr id="19" name="Shape 16"/>
          <p:cNvSpPr/>
          <p:nvPr/>
        </p:nvSpPr>
        <p:spPr>
          <a:xfrm>
            <a:off x="457200" y="2066544"/>
            <a:ext cx="3200400" cy="694944"/>
          </a:xfrm>
          <a:prstGeom prst="roundRect">
            <a:avLst>
              <a:gd name="adj" fmla="val 10526"/>
            </a:avLst>
          </a:prstGeom>
          <a:solidFill>
            <a:srgbClr val="E8EAF6"/>
          </a:solidFill>
          <a:ln w="12700">
            <a:solidFill>
              <a:srgbClr val="1A237E"/>
            </a:solidFill>
            <a:prstDash val="solid"/>
          </a:ln>
        </p:spPr>
      </p:sp>
      <p:sp>
        <p:nvSpPr>
          <p:cNvPr id="20" name="Shape 17"/>
          <p:cNvSpPr/>
          <p:nvPr/>
        </p:nvSpPr>
        <p:spPr>
          <a:xfrm>
            <a:off x="621792" y="2212848"/>
            <a:ext cx="402336" cy="402336"/>
          </a:xfrm>
          <a:prstGeom prst="ellipse">
            <a:avLst/>
          </a:prstGeom>
          <a:solidFill>
            <a:srgbClr val="1A237E"/>
          </a:solidFill>
          <a:ln/>
        </p:spPr>
      </p:sp>
      <p:pic>
        <p:nvPicPr>
          <p:cNvPr id="21" name="Image 1" descr="FactCheck">    </p:cNvPr>
          <p:cNvPicPr>
            <a:picLocks noChangeAspect="1"/>
          </p:cNvPicPr>
          <p:nvPr/>
        </p:nvPicPr>
        <p:blipFill>
          <a:blip r:embed="rId2"/>
          <a:stretch>
            <a:fillRect/>
          </a:stretch>
        </p:blipFill>
        <p:spPr>
          <a:xfrm>
            <a:off x="702259" y="2293315"/>
            <a:ext cx="241402" cy="241402"/>
          </a:xfrm>
          <a:prstGeom prst="rect">
            <a:avLst/>
          </a:prstGeom>
        </p:spPr>
      </p:pic>
      <p:sp>
        <p:nvSpPr>
          <p:cNvPr id="22" name="Text 18"/>
          <p:cNvSpPr txBox="1"/>
          <p:nvPr/>
        </p:nvSpPr>
        <p:spPr>
          <a:xfrm>
            <a:off x="1188720" y="2066544"/>
            <a:ext cx="2423160" cy="694944"/>
          </a:xfrm>
          <a:prstGeom prst="rect">
            <a:avLst/>
          </a:prstGeom>
          <a:noFill/>
          <a:ln/>
        </p:spPr>
        <p:txBody>
          <a:bodyPr wrap="square" lIns="0" tIns="0" rIns="0" bIns="0" rtlCol="0" anchor="ctr"/>
          <a:lstStyle/>
          <a:p>
            <a:pPr algn="l" indent="0" marL="0">
              <a:buNone/>
            </a:pPr>
            <a:r>
              <a:rPr lang="en-US" sz="1150" b="1" dirty="0">
                <a:solidFill>
                  <a:srgbClr val="1A237E"/>
                </a:solidFill>
              </a:rPr>
              <a:t>G2  </a:t>
            </a:r>
            <a:pPr algn="l" indent="0" marL="0">
              <a:buNone/>
            </a:pPr>
            <a:r>
              <a:rPr lang="en-US" sz="1150" dirty="0">
                <a:solidFill>
                  <a:srgbClr val="1F2430"/>
                </a:solidFill>
              </a:rPr>
              <a:t>The food-safety sequence stays intact</a:t>
            </a:r>
            <a:endParaRPr lang="en-US" sz="1150" dirty="0"/>
          </a:p>
        </p:txBody>
      </p:sp>
      <p:sp>
        <p:nvSpPr>
          <p:cNvPr id="23" name="Shape 19"/>
          <p:cNvSpPr/>
          <p:nvPr/>
        </p:nvSpPr>
        <p:spPr>
          <a:xfrm>
            <a:off x="457200" y="2852928"/>
            <a:ext cx="3200400" cy="694944"/>
          </a:xfrm>
          <a:prstGeom prst="roundRect">
            <a:avLst>
              <a:gd name="adj" fmla="val 10526"/>
            </a:avLst>
          </a:prstGeom>
          <a:solidFill>
            <a:srgbClr val="E8EAF6"/>
          </a:solidFill>
          <a:ln w="12700">
            <a:solidFill>
              <a:srgbClr val="1A237E"/>
            </a:solidFill>
            <a:prstDash val="solid"/>
          </a:ln>
        </p:spPr>
      </p:sp>
      <p:sp>
        <p:nvSpPr>
          <p:cNvPr id="24" name="Shape 20"/>
          <p:cNvSpPr/>
          <p:nvPr/>
        </p:nvSpPr>
        <p:spPr>
          <a:xfrm>
            <a:off x="621792" y="2999232"/>
            <a:ext cx="402336" cy="402336"/>
          </a:xfrm>
          <a:prstGeom prst="ellipse">
            <a:avLst/>
          </a:prstGeom>
          <a:solidFill>
            <a:srgbClr val="1A237E"/>
          </a:solidFill>
          <a:ln/>
        </p:spPr>
      </p:sp>
      <p:pic>
        <p:nvPicPr>
          <p:cNvPr id="25" name="Image 2" descr="TrackChanges">    </p:cNvPr>
          <p:cNvPicPr>
            <a:picLocks noChangeAspect="1"/>
          </p:cNvPicPr>
          <p:nvPr/>
        </p:nvPicPr>
        <p:blipFill>
          <a:blip r:embed="rId3"/>
          <a:stretch>
            <a:fillRect/>
          </a:stretch>
        </p:blipFill>
        <p:spPr>
          <a:xfrm>
            <a:off x="702259" y="3079699"/>
            <a:ext cx="241402" cy="241402"/>
          </a:xfrm>
          <a:prstGeom prst="rect">
            <a:avLst/>
          </a:prstGeom>
        </p:spPr>
      </p:pic>
      <p:sp>
        <p:nvSpPr>
          <p:cNvPr id="26" name="Text 21"/>
          <p:cNvSpPr txBox="1"/>
          <p:nvPr/>
        </p:nvSpPr>
        <p:spPr>
          <a:xfrm>
            <a:off x="1188720" y="2852928"/>
            <a:ext cx="2423160" cy="694944"/>
          </a:xfrm>
          <a:prstGeom prst="rect">
            <a:avLst/>
          </a:prstGeom>
          <a:noFill/>
          <a:ln/>
        </p:spPr>
        <p:txBody>
          <a:bodyPr wrap="square" lIns="0" tIns="0" rIns="0" bIns="0" rtlCol="0" anchor="ctr"/>
          <a:lstStyle/>
          <a:p>
            <a:pPr algn="l" indent="0" marL="0">
              <a:buNone/>
            </a:pPr>
            <a:r>
              <a:rPr lang="en-US" sz="1150" b="1" dirty="0">
                <a:solidFill>
                  <a:srgbClr val="1A237E"/>
                </a:solidFill>
              </a:rPr>
              <a:t>G3  </a:t>
            </a:r>
            <a:pPr algn="l" indent="0" marL="0">
              <a:buNone/>
            </a:pPr>
            <a:r>
              <a:rPr lang="en-US" sz="1150" dirty="0">
                <a:solidFill>
                  <a:srgbClr val="1F2430"/>
                </a:solidFill>
              </a:rPr>
              <a:t>Aims at structure, blames no one, waits on no reversing unknown</a:t>
            </a:r>
            <a:endParaRPr lang="en-US" sz="1150" dirty="0"/>
          </a:p>
        </p:txBody>
      </p:sp>
      <p:sp>
        <p:nvSpPr>
          <p:cNvPr id="27" name="Shape 22"/>
          <p:cNvSpPr/>
          <p:nvPr/>
        </p:nvSpPr>
        <p:spPr>
          <a:xfrm>
            <a:off x="457200" y="3639312"/>
            <a:ext cx="3200400" cy="694944"/>
          </a:xfrm>
          <a:prstGeom prst="roundRect">
            <a:avLst>
              <a:gd name="adj" fmla="val 10526"/>
            </a:avLst>
          </a:prstGeom>
          <a:solidFill>
            <a:srgbClr val="E8EAF6"/>
          </a:solidFill>
          <a:ln w="12700">
            <a:solidFill>
              <a:srgbClr val="1A237E"/>
            </a:solidFill>
            <a:prstDash val="solid"/>
          </a:ln>
        </p:spPr>
      </p:sp>
      <p:sp>
        <p:nvSpPr>
          <p:cNvPr id="28" name="Shape 23"/>
          <p:cNvSpPr/>
          <p:nvPr/>
        </p:nvSpPr>
        <p:spPr>
          <a:xfrm>
            <a:off x="621792" y="3785616"/>
            <a:ext cx="402336" cy="402336"/>
          </a:xfrm>
          <a:prstGeom prst="ellipse">
            <a:avLst/>
          </a:prstGeom>
          <a:solidFill>
            <a:srgbClr val="1A237E"/>
          </a:solidFill>
          <a:ln/>
        </p:spPr>
      </p:sp>
      <p:pic>
        <p:nvPicPr>
          <p:cNvPr id="29" name="Image 3" descr="Event">    </p:cNvPr>
          <p:cNvPicPr>
            <a:picLocks noChangeAspect="1"/>
          </p:cNvPicPr>
          <p:nvPr/>
        </p:nvPicPr>
        <p:blipFill>
          <a:blip r:embed="rId4"/>
          <a:stretch>
            <a:fillRect/>
          </a:stretch>
        </p:blipFill>
        <p:spPr>
          <a:xfrm>
            <a:off x="702259" y="3866083"/>
            <a:ext cx="241402" cy="241402"/>
          </a:xfrm>
          <a:prstGeom prst="rect">
            <a:avLst/>
          </a:prstGeom>
        </p:spPr>
      </p:pic>
      <p:sp>
        <p:nvSpPr>
          <p:cNvPr id="30" name="Text 24"/>
          <p:cNvSpPr txBox="1"/>
          <p:nvPr/>
        </p:nvSpPr>
        <p:spPr>
          <a:xfrm>
            <a:off x="1188720" y="3639312"/>
            <a:ext cx="2423160" cy="694944"/>
          </a:xfrm>
          <a:prstGeom prst="rect">
            <a:avLst/>
          </a:prstGeom>
          <a:noFill/>
          <a:ln/>
        </p:spPr>
        <p:txBody>
          <a:bodyPr wrap="square" lIns="0" tIns="0" rIns="0" bIns="0" rtlCol="0" anchor="ctr"/>
          <a:lstStyle/>
          <a:p>
            <a:pPr algn="l" indent="0" marL="0">
              <a:buNone/>
            </a:pPr>
            <a:r>
              <a:rPr lang="en-US" sz="1150" b="1" dirty="0">
                <a:solidFill>
                  <a:srgbClr val="1A237E"/>
                </a:solidFill>
              </a:rPr>
              <a:t>G4  </a:t>
            </a:r>
            <a:pPr algn="l" indent="0" marL="0">
              <a:buNone/>
            </a:pPr>
            <a:r>
              <a:rPr lang="en-US" sz="1150" dirty="0">
                <a:solidFill>
                  <a:srgbClr val="1F2430"/>
                </a:solidFill>
              </a:rPr>
              <a:t>A quick fix is paired with a fundamental fix on a fixed date</a:t>
            </a:r>
            <a:endParaRPr lang="en-US" sz="1150" dirty="0"/>
          </a:p>
        </p:txBody>
      </p:sp>
      <p:sp>
        <p:nvSpPr>
          <p:cNvPr id="31" name="Text 25"/>
          <p:cNvSpPr txBox="1"/>
          <p:nvPr/>
        </p:nvSpPr>
        <p:spPr>
          <a:xfrm>
            <a:off x="457200" y="4462272"/>
            <a:ext cx="3291840" cy="274320"/>
          </a:xfrm>
          <a:prstGeom prst="rect">
            <a:avLst/>
          </a:prstGeom>
          <a:noFill/>
          <a:ln/>
        </p:spPr>
        <p:txBody>
          <a:bodyPr wrap="square" lIns="0" tIns="0" rIns="0" bIns="0" rtlCol="0" anchor="t"/>
          <a:lstStyle/>
          <a:p>
            <a:pPr algn="l" indent="0" marL="0">
              <a:buNone/>
            </a:pPr>
            <a:r>
              <a:rPr lang="en-US" sz="1100" i="1" dirty="0">
                <a:solidFill>
                  <a:srgbClr val="616161"/>
                </a:solidFill>
              </a:rPr>
              <a:t>Scored 0 to 4 on nine criteria, weights out of 400.</a:t>
            </a:r>
            <a:endParaRPr lang="en-US" sz="1100" dirty="0"/>
          </a:p>
        </p:txBody>
      </p:sp>
      <p:graphicFrame>
        <p:nvGraphicFramePr>
          <p:cNvPr id="32" name="Chart 0" descr=""/>
          <p:cNvGraphicFramePr/>
          <p:nvPr/>
        </p:nvGraphicFramePr>
        <p:xfrm>
          <a:off x="3840480" y="1188720"/>
          <a:ext cx="4846320" cy="3383280"/>
        </p:xfrm>
        <a:graphic xmlns:a="http://schemas.openxmlformats.org/drawingml/2006/main">
          <a:graphicData uri="http://schemas.openxmlformats.org/drawingml/2006/chart">
            <c:chart xmlns:c="http://schemas.openxmlformats.org/drawingml/2006/chart" r:id="rId5"/>
          </a:graphicData>
        </a:graphic>
      </p:graphicFrame>
      <p:sp>
        <p:nvSpPr>
          <p:cNvPr id="33" name="Shape 26"/>
          <p:cNvSpPr/>
          <p:nvPr/>
        </p:nvSpPr>
        <p:spPr>
          <a:xfrm>
            <a:off x="7758684" y="1033272"/>
            <a:ext cx="928116" cy="201168"/>
          </a:xfrm>
          <a:prstGeom prst="roundRect">
            <a:avLst>
              <a:gd name="adj" fmla="val 22727"/>
            </a:avLst>
          </a:prstGeom>
          <a:solidFill>
            <a:srgbClr val="1A237E"/>
          </a:solidFill>
          <a:ln/>
        </p:spPr>
      </p:sp>
      <p:sp>
        <p:nvSpPr>
          <p:cNvPr id="34" name="Text 27"/>
          <p:cNvSpPr txBox="1"/>
          <p:nvPr/>
        </p:nvSpPr>
        <p:spPr>
          <a:xfrm>
            <a:off x="7758684"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PROJECTED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A deliberately weak concept stays in every test</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sp>
        <p:nvSpPr>
          <p:cNvPr id="15" name="Shape 13"/>
          <p:cNvSpPr/>
          <p:nvPr/>
        </p:nvSpPr>
        <p:spPr>
          <a:xfrm>
            <a:off x="6839712" y="109728"/>
            <a:ext cx="91440" cy="91440"/>
          </a:xfrm>
          <a:prstGeom prst="ellipse">
            <a:avLst/>
          </a:prstGeom>
          <a:ln w="9525">
            <a:solidFill>
              <a:srgbClr val="1A237E"/>
            </a:solidFill>
            <a:prstDash val="solid"/>
          </a:ln>
        </p:spPr>
      </p:sp>
      <p:sp>
        <p:nvSpPr>
          <p:cNvPr id="16" name="Shape 14"/>
          <p:cNvSpPr/>
          <p:nvPr/>
        </p:nvSpPr>
        <p:spPr>
          <a:xfrm>
            <a:off x="6986016" y="109728"/>
            <a:ext cx="91440" cy="91440"/>
          </a:xfrm>
          <a:prstGeom prst="ellipse">
            <a:avLst/>
          </a:prstGeom>
          <a:ln w="9525">
            <a:solidFill>
              <a:srgbClr val="1A237E"/>
            </a:solidFill>
            <a:prstDash val="solid"/>
          </a:ln>
        </p:spPr>
      </p:sp>
      <p:sp>
        <p:nvSpPr>
          <p:cNvPr id="17" name="Shape 15"/>
          <p:cNvSpPr/>
          <p:nvPr/>
        </p:nvSpPr>
        <p:spPr>
          <a:xfrm>
            <a:off x="7132320" y="109728"/>
            <a:ext cx="91440" cy="91440"/>
          </a:xfrm>
          <a:prstGeom prst="ellipse">
            <a:avLst/>
          </a:prstGeom>
          <a:ln w="9525">
            <a:solidFill>
              <a:srgbClr val="1A237E"/>
            </a:solidFill>
            <a:prstDash val="solid"/>
          </a:ln>
        </p:spPr>
      </p:sp>
      <p:sp>
        <p:nvSpPr>
          <p:cNvPr id="18" name="Shape 16"/>
          <p:cNvSpPr/>
          <p:nvPr/>
        </p:nvSpPr>
        <p:spPr>
          <a:xfrm>
            <a:off x="7278624" y="109728"/>
            <a:ext cx="91440" cy="91440"/>
          </a:xfrm>
          <a:prstGeom prst="ellipse">
            <a:avLst/>
          </a:prstGeom>
          <a:ln w="9525">
            <a:solidFill>
              <a:srgbClr val="1A237E"/>
            </a:solidFill>
            <a:prstDash val="solid"/>
          </a:ln>
        </p:spPr>
      </p:sp>
      <p:sp>
        <p:nvSpPr>
          <p:cNvPr id="19" name="Shape 17"/>
          <p:cNvSpPr/>
          <p:nvPr/>
        </p:nvSpPr>
        <p:spPr>
          <a:xfrm>
            <a:off x="7424928" y="109728"/>
            <a:ext cx="91440" cy="91440"/>
          </a:xfrm>
          <a:prstGeom prst="ellipse">
            <a:avLst/>
          </a:prstGeom>
          <a:ln w="9525">
            <a:solidFill>
              <a:srgbClr val="1A237E"/>
            </a:solidFill>
            <a:prstDash val="solid"/>
          </a:ln>
        </p:spPr>
      </p:sp>
      <p:sp>
        <p:nvSpPr>
          <p:cNvPr id="20" name="Shape 18"/>
          <p:cNvSpPr/>
          <p:nvPr/>
        </p:nvSpPr>
        <p:spPr>
          <a:xfrm>
            <a:off x="7571232" y="109728"/>
            <a:ext cx="91440" cy="91440"/>
          </a:xfrm>
          <a:prstGeom prst="ellipse">
            <a:avLst/>
          </a:prstGeom>
          <a:ln w="9525">
            <a:solidFill>
              <a:srgbClr val="1A237E"/>
            </a:solidFill>
            <a:prstDash val="solid"/>
          </a:ln>
        </p:spPr>
      </p:sp>
      <p:sp>
        <p:nvSpPr>
          <p:cNvPr id="21" name="Shape 19"/>
          <p:cNvSpPr/>
          <p:nvPr/>
        </p:nvSpPr>
        <p:spPr>
          <a:xfrm>
            <a:off x="7717536" y="109728"/>
            <a:ext cx="91440" cy="91440"/>
          </a:xfrm>
          <a:prstGeom prst="ellipse">
            <a:avLst/>
          </a:prstGeom>
          <a:ln w="9525">
            <a:solidFill>
              <a:srgbClr val="1A237E"/>
            </a:solidFill>
            <a:prstDash val="solid"/>
          </a:ln>
        </p:spPr>
      </p:sp>
      <p:sp>
        <p:nvSpPr>
          <p:cNvPr id="22" name="Shape 20"/>
          <p:cNvSpPr/>
          <p:nvPr/>
        </p:nvSpPr>
        <p:spPr>
          <a:xfrm>
            <a:off x="7863840" y="109728"/>
            <a:ext cx="91440" cy="91440"/>
          </a:xfrm>
          <a:prstGeom prst="ellipse">
            <a:avLst/>
          </a:prstGeom>
          <a:ln w="9525">
            <a:solidFill>
              <a:srgbClr val="1A237E"/>
            </a:solidFill>
            <a:prstDash val="solid"/>
          </a:ln>
        </p:spPr>
      </p:sp>
      <p:sp>
        <p:nvSpPr>
          <p:cNvPr id="23" name="Shape 21"/>
          <p:cNvSpPr/>
          <p:nvPr/>
        </p:nvSpPr>
        <p:spPr>
          <a:xfrm>
            <a:off x="8010144" y="109728"/>
            <a:ext cx="91440" cy="91440"/>
          </a:xfrm>
          <a:prstGeom prst="ellipse">
            <a:avLst/>
          </a:prstGeom>
          <a:ln w="9525">
            <a:solidFill>
              <a:srgbClr val="1A237E"/>
            </a:solidFill>
            <a:prstDash val="solid"/>
          </a:ln>
        </p:spPr>
      </p:sp>
      <p:sp>
        <p:nvSpPr>
          <p:cNvPr id="24" name="Shape 22"/>
          <p:cNvSpPr/>
          <p:nvPr/>
        </p:nvSpPr>
        <p:spPr>
          <a:xfrm>
            <a:off x="8156448" y="109728"/>
            <a:ext cx="91440" cy="91440"/>
          </a:xfrm>
          <a:prstGeom prst="ellipse">
            <a:avLst/>
          </a:prstGeom>
          <a:ln w="9525">
            <a:solidFill>
              <a:srgbClr val="1A237E"/>
            </a:solidFill>
            <a:prstDash val="solid"/>
          </a:ln>
        </p:spPr>
      </p:sp>
      <p:sp>
        <p:nvSpPr>
          <p:cNvPr id="25" name="Shape 23"/>
          <p:cNvSpPr/>
          <p:nvPr/>
        </p:nvSpPr>
        <p:spPr>
          <a:xfrm>
            <a:off x="8302752" y="109728"/>
            <a:ext cx="91440" cy="91440"/>
          </a:xfrm>
          <a:prstGeom prst="ellipse">
            <a:avLst/>
          </a:prstGeom>
          <a:solidFill>
            <a:srgbClr val="1A237E"/>
          </a:solidFill>
          <a:ln w="9525">
            <a:solidFill>
              <a:srgbClr val="1A237E"/>
            </a:solidFill>
            <a:prstDash val="solid"/>
          </a:ln>
        </p:spPr>
      </p:sp>
      <p:sp>
        <p:nvSpPr>
          <p:cNvPr id="26" name="Shape 24"/>
          <p:cNvSpPr/>
          <p:nvPr/>
        </p:nvSpPr>
        <p:spPr>
          <a:xfrm>
            <a:off x="8449056" y="109728"/>
            <a:ext cx="91440" cy="91440"/>
          </a:xfrm>
          <a:prstGeom prst="ellipse">
            <a:avLst/>
          </a:prstGeom>
          <a:ln w="9525">
            <a:solidFill>
              <a:srgbClr val="1A237E"/>
            </a:solidFill>
            <a:prstDash val="solid"/>
          </a:ln>
        </p:spPr>
      </p:sp>
      <p:sp>
        <p:nvSpPr>
          <p:cNvPr id="27" name="Shape 25"/>
          <p:cNvSpPr/>
          <p:nvPr/>
        </p:nvSpPr>
        <p:spPr>
          <a:xfrm>
            <a:off x="8595360" y="109728"/>
            <a:ext cx="91440" cy="91440"/>
          </a:xfrm>
          <a:prstGeom prst="ellipse">
            <a:avLst/>
          </a:prstGeom>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11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Keep the Ratio Cut in every test as a foil, and apply four gates before scores</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11</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Testing only the concepts the team believed in, and ranking by score alone</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If only promising ideas are tested every test passes; a score cannot see sequencing</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More testing effort; no single ranking; weights are the team's judgement</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Both bundles scored 79%, and only one passed G4</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team expects opposition in three places and one likely side effect, the hedge ratchet</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sp>
        <p:nvSpPr>
          <p:cNvPr id="15" name="Text 13"/>
          <p:cNvSpPr txBox="1"/>
          <p:nvPr/>
        </p:nvSpPr>
        <p:spPr>
          <a:xfrm>
            <a:off x="457200" y="1280160"/>
            <a:ext cx="393192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WHERE OPPOSITION IS EXPECTED</a:t>
            </a:r>
            <a:endParaRPr lang="en-US" sz="1000" dirty="0"/>
          </a:p>
        </p:txBody>
      </p:sp>
      <p:sp>
        <p:nvSpPr>
          <p:cNvPr id="16" name="Shape 14"/>
          <p:cNvSpPr/>
          <p:nvPr/>
        </p:nvSpPr>
        <p:spPr>
          <a:xfrm>
            <a:off x="457200" y="1554480"/>
            <a:ext cx="3931920" cy="731520"/>
          </a:xfrm>
          <a:prstGeom prst="roundRect">
            <a:avLst>
              <a:gd name="adj" fmla="val 10000"/>
            </a:avLst>
          </a:prstGeom>
          <a:solidFill>
            <a:srgbClr val="FDECEA"/>
          </a:solidFill>
          <a:ln w="12700">
            <a:solidFill>
              <a:srgbClr val="C62828"/>
            </a:solidFill>
            <a:prstDash val="solid"/>
          </a:ln>
        </p:spPr>
      </p:sp>
      <p:sp>
        <p:nvSpPr>
          <p:cNvPr id="17" name="Shape 15"/>
          <p:cNvSpPr/>
          <p:nvPr/>
        </p:nvSpPr>
        <p:spPr>
          <a:xfrm>
            <a:off x="621792" y="1719072"/>
            <a:ext cx="402336" cy="402336"/>
          </a:xfrm>
          <a:prstGeom prst="ellipse">
            <a:avLst/>
          </a:prstGeom>
          <a:solidFill>
            <a:srgbClr val="C62828"/>
          </a:solidFill>
          <a:ln/>
        </p:spPr>
      </p:sp>
      <p:pic>
        <p:nvPicPr>
          <p:cNvPr id="18" name="Image 0" descr="Engineering">    </p:cNvPr>
          <p:cNvPicPr>
            <a:picLocks noChangeAspect="1"/>
          </p:cNvPicPr>
          <p:nvPr/>
        </p:nvPicPr>
        <p:blipFill>
          <a:blip r:embed="rId1"/>
          <a:stretch>
            <a:fillRect/>
          </a:stretch>
        </p:blipFill>
        <p:spPr>
          <a:xfrm>
            <a:off x="702259" y="1799539"/>
            <a:ext cx="241402" cy="241402"/>
          </a:xfrm>
          <a:prstGeom prst="rect">
            <a:avLst/>
          </a:prstGeom>
        </p:spPr>
      </p:pic>
      <p:sp>
        <p:nvSpPr>
          <p:cNvPr id="19" name="Text 16"/>
          <p:cNvSpPr txBox="1"/>
          <p:nvPr/>
        </p:nvSpPr>
        <p:spPr>
          <a:xfrm>
            <a:off x="1188720" y="1554480"/>
            <a:ext cx="3108960" cy="731520"/>
          </a:xfrm>
          <a:prstGeom prst="rect">
            <a:avLst/>
          </a:prstGeom>
          <a:noFill/>
          <a:ln/>
        </p:spPr>
        <p:txBody>
          <a:bodyPr wrap="square" lIns="0" tIns="0" rIns="0" bIns="0" rtlCol="0" anchor="ctr"/>
          <a:lstStyle/>
          <a:p>
            <a:pPr algn="l" indent="0" marL="0">
              <a:buNone/>
            </a:pPr>
            <a:r>
              <a:rPr lang="en-US" sz="1150" dirty="0">
                <a:solidFill>
                  <a:srgbClr val="1F2430"/>
                </a:solidFill>
              </a:rPr>
              <a:t>The Kadamba operator would oppose the Sunday exit if paid on registered plates</a:t>
            </a:r>
            <a:endParaRPr lang="en-US" sz="1150" dirty="0"/>
          </a:p>
        </p:txBody>
      </p:sp>
      <p:sp>
        <p:nvSpPr>
          <p:cNvPr id="20" name="Shape 17"/>
          <p:cNvSpPr/>
          <p:nvPr/>
        </p:nvSpPr>
        <p:spPr>
          <a:xfrm>
            <a:off x="457200" y="2377440"/>
            <a:ext cx="3931920" cy="731520"/>
          </a:xfrm>
          <a:prstGeom prst="roundRect">
            <a:avLst>
              <a:gd name="adj" fmla="val 10000"/>
            </a:avLst>
          </a:prstGeom>
          <a:solidFill>
            <a:srgbClr val="FDECEA"/>
          </a:solidFill>
          <a:ln w="12700">
            <a:solidFill>
              <a:srgbClr val="C62828"/>
            </a:solidFill>
            <a:prstDash val="solid"/>
          </a:ln>
        </p:spPr>
      </p:sp>
      <p:sp>
        <p:nvSpPr>
          <p:cNvPr id="21" name="Shape 18"/>
          <p:cNvSpPr/>
          <p:nvPr/>
        </p:nvSpPr>
        <p:spPr>
          <a:xfrm>
            <a:off x="621792" y="2542032"/>
            <a:ext cx="402336" cy="402336"/>
          </a:xfrm>
          <a:prstGeom prst="ellipse">
            <a:avLst/>
          </a:prstGeom>
          <a:solidFill>
            <a:srgbClr val="C62828"/>
          </a:solidFill>
          <a:ln/>
        </p:spPr>
      </p:sp>
      <p:pic>
        <p:nvPicPr>
          <p:cNvPr id="22" name="Image 1" descr="LocalShipping">    </p:cNvPr>
          <p:cNvPicPr>
            <a:picLocks noChangeAspect="1"/>
          </p:cNvPicPr>
          <p:nvPr/>
        </p:nvPicPr>
        <p:blipFill>
          <a:blip r:embed="rId2"/>
          <a:stretch>
            <a:fillRect/>
          </a:stretch>
        </p:blipFill>
        <p:spPr>
          <a:xfrm>
            <a:off x="702259" y="2622499"/>
            <a:ext cx="241402" cy="241402"/>
          </a:xfrm>
          <a:prstGeom prst="rect">
            <a:avLst/>
          </a:prstGeom>
        </p:spPr>
      </p:pic>
      <p:sp>
        <p:nvSpPr>
          <p:cNvPr id="23" name="Text 19"/>
          <p:cNvSpPr txBox="1"/>
          <p:nvPr/>
        </p:nvSpPr>
        <p:spPr>
          <a:xfrm>
            <a:off x="1188720" y="2377440"/>
            <a:ext cx="3108960" cy="731520"/>
          </a:xfrm>
          <a:prstGeom prst="rect">
            <a:avLst/>
          </a:prstGeom>
          <a:noFill/>
          <a:ln/>
        </p:spPr>
        <p:txBody>
          <a:bodyPr wrap="square" lIns="0" tIns="0" rIns="0" bIns="0" rtlCol="0" anchor="ctr"/>
          <a:lstStyle/>
          <a:p>
            <a:pPr algn="l" indent="0" marL="0">
              <a:buNone/>
            </a:pPr>
            <a:r>
              <a:rPr lang="en-US" sz="1150" dirty="0">
                <a:solidFill>
                  <a:srgbClr val="1F2430"/>
                </a:solidFill>
              </a:rPr>
              <a:t>Bakul’s operator would resist any run-out risk</a:t>
            </a:r>
            <a:endParaRPr lang="en-US" sz="1150" dirty="0"/>
          </a:p>
        </p:txBody>
      </p:sp>
      <p:sp>
        <p:nvSpPr>
          <p:cNvPr id="24" name="Shape 20"/>
          <p:cNvSpPr/>
          <p:nvPr/>
        </p:nvSpPr>
        <p:spPr>
          <a:xfrm>
            <a:off x="457200" y="3200400"/>
            <a:ext cx="3931920" cy="731520"/>
          </a:xfrm>
          <a:prstGeom prst="roundRect">
            <a:avLst>
              <a:gd name="adj" fmla="val 10000"/>
            </a:avLst>
          </a:prstGeom>
          <a:solidFill>
            <a:srgbClr val="FDECEA"/>
          </a:solidFill>
          <a:ln w="12700">
            <a:solidFill>
              <a:srgbClr val="C62828"/>
            </a:solidFill>
            <a:prstDash val="solid"/>
          </a:ln>
        </p:spPr>
      </p:sp>
      <p:sp>
        <p:nvSpPr>
          <p:cNvPr id="25" name="Shape 21"/>
          <p:cNvSpPr/>
          <p:nvPr/>
        </p:nvSpPr>
        <p:spPr>
          <a:xfrm>
            <a:off x="621792" y="3364992"/>
            <a:ext cx="402336" cy="402336"/>
          </a:xfrm>
          <a:prstGeom prst="ellipse">
            <a:avLst/>
          </a:prstGeom>
          <a:solidFill>
            <a:srgbClr val="C62828"/>
          </a:solidFill>
          <a:ln/>
        </p:spPr>
      </p:sp>
      <p:pic>
        <p:nvPicPr>
          <p:cNvPr id="26" name="Image 2" descr="Groups">    </p:cNvPr>
          <p:cNvPicPr>
            <a:picLocks noChangeAspect="1"/>
          </p:cNvPicPr>
          <p:nvPr/>
        </p:nvPicPr>
        <p:blipFill>
          <a:blip r:embed="rId3"/>
          <a:stretch>
            <a:fillRect/>
          </a:stretch>
        </p:blipFill>
        <p:spPr>
          <a:xfrm>
            <a:off x="702259" y="3445459"/>
            <a:ext cx="241402" cy="241402"/>
          </a:xfrm>
          <a:prstGeom prst="rect">
            <a:avLst/>
          </a:prstGeom>
        </p:spPr>
      </p:pic>
      <p:sp>
        <p:nvSpPr>
          <p:cNvPr id="27" name="Text 22"/>
          <p:cNvSpPr txBox="1"/>
          <p:nvPr/>
        </p:nvSpPr>
        <p:spPr>
          <a:xfrm>
            <a:off x="1188720" y="3200400"/>
            <a:ext cx="3108960" cy="731520"/>
          </a:xfrm>
          <a:prstGeom prst="rect">
            <a:avLst/>
          </a:prstGeom>
          <a:noFill/>
          <a:ln/>
        </p:spPr>
        <p:txBody>
          <a:bodyPr wrap="square" lIns="0" tIns="0" rIns="0" bIns="0" rtlCol="0" anchor="ctr"/>
          <a:lstStyle/>
          <a:p>
            <a:pPr algn="l" indent="0" marL="0">
              <a:buNone/>
            </a:pPr>
            <a:r>
              <a:rPr lang="en-US" sz="1150" dirty="0">
                <a:solidFill>
                  <a:srgbClr val="1F2430"/>
                </a:solidFill>
              </a:rPr>
              <a:t>Outside diners and staff are harmed only if the allowance is left unnamed</a:t>
            </a:r>
            <a:endParaRPr lang="en-US" sz="1150" dirty="0"/>
          </a:p>
        </p:txBody>
      </p:sp>
      <p:sp>
        <p:nvSpPr>
          <p:cNvPr id="28" name="Text 23"/>
          <p:cNvSpPr txBox="1"/>
          <p:nvPr/>
        </p:nvSpPr>
        <p:spPr>
          <a:xfrm>
            <a:off x="4754880" y="1280160"/>
            <a:ext cx="3931920" cy="182880"/>
          </a:xfrm>
          <a:prstGeom prst="rect">
            <a:avLst/>
          </a:prstGeom>
          <a:noFill/>
          <a:ln/>
        </p:spPr>
        <p:txBody>
          <a:bodyPr wrap="square" lIns="0" tIns="0" rIns="0" bIns="0" rtlCol="0" anchor="t"/>
          <a:lstStyle/>
          <a:p>
            <a:pPr algn="l" indent="0" marL="0">
              <a:buNone/>
            </a:pPr>
            <a:r>
              <a:rPr lang="en-US" sz="1000" b="1" spc="100" kern="0" dirty="0">
                <a:solidFill>
                  <a:srgbClr val="616161"/>
                </a:solidFill>
              </a:rPr>
              <a:t>THE LIKELIEST SIDE EFFECT: THE HEDGE RATCHET</a:t>
            </a:r>
            <a:endParaRPr lang="en-US" sz="1000" dirty="0"/>
          </a:p>
        </p:txBody>
      </p:sp>
      <p:sp>
        <p:nvSpPr>
          <p:cNvPr id="29" name="Shape 24"/>
          <p:cNvSpPr/>
          <p:nvPr/>
        </p:nvSpPr>
        <p:spPr>
          <a:xfrm>
            <a:off x="4754880" y="1600200"/>
            <a:ext cx="1920240" cy="640080"/>
          </a:xfrm>
          <a:prstGeom prst="roundRect">
            <a:avLst>
              <a:gd name="adj" fmla="val 11429"/>
            </a:avLst>
          </a:prstGeom>
          <a:solidFill>
            <a:srgbClr val="FFF8E1"/>
          </a:solidFill>
          <a:ln w="12700">
            <a:solidFill>
              <a:srgbClr val="F57F17"/>
            </a:solidFill>
            <a:prstDash val="dash"/>
          </a:ln>
        </p:spPr>
      </p:sp>
      <p:sp>
        <p:nvSpPr>
          <p:cNvPr id="30" name="Text 25"/>
          <p:cNvSpPr txBox="1"/>
          <p:nvPr/>
        </p:nvSpPr>
        <p:spPr>
          <a:xfrm>
            <a:off x="4828032" y="1600200"/>
            <a:ext cx="1773936" cy="640080"/>
          </a:xfrm>
          <a:prstGeom prst="rect">
            <a:avLst/>
          </a:prstGeom>
          <a:noFill/>
          <a:ln/>
        </p:spPr>
        <p:txBody>
          <a:bodyPr wrap="square" lIns="0" tIns="0" rIns="0" bIns="0" rtlCol="0" anchor="ctr"/>
          <a:lstStyle/>
          <a:p>
            <a:pPr algn="ctr" indent="0" marL="0">
              <a:buNone/>
            </a:pPr>
            <a:r>
              <a:rPr lang="en-US" sz="1100" dirty="0">
                <a:solidFill>
                  <a:srgbClr val="1F2430"/>
                </a:solidFill>
              </a:rPr>
              <a:t>A run-out is loud, a surplus is silent</a:t>
            </a:r>
            <a:endParaRPr lang="en-US" sz="1100" dirty="0"/>
          </a:p>
        </p:txBody>
      </p:sp>
      <p:sp>
        <p:nvSpPr>
          <p:cNvPr id="31" name="Shape 26"/>
          <p:cNvSpPr/>
          <p:nvPr/>
        </p:nvSpPr>
        <p:spPr>
          <a:xfrm>
            <a:off x="6766560" y="2331720"/>
            <a:ext cx="1920240" cy="640080"/>
          </a:xfrm>
          <a:prstGeom prst="roundRect">
            <a:avLst>
              <a:gd name="adj" fmla="val 11429"/>
            </a:avLst>
          </a:prstGeom>
          <a:solidFill>
            <a:srgbClr val="FFF8E1"/>
          </a:solidFill>
          <a:ln w="12700">
            <a:solidFill>
              <a:srgbClr val="F57F17"/>
            </a:solidFill>
            <a:prstDash val="dash"/>
          </a:ln>
        </p:spPr>
      </p:sp>
      <p:sp>
        <p:nvSpPr>
          <p:cNvPr id="32" name="Text 27"/>
          <p:cNvSpPr txBox="1"/>
          <p:nvPr/>
        </p:nvSpPr>
        <p:spPr>
          <a:xfrm>
            <a:off x="6839712" y="2331720"/>
            <a:ext cx="1773936" cy="640080"/>
          </a:xfrm>
          <a:prstGeom prst="rect">
            <a:avLst/>
          </a:prstGeom>
          <a:noFill/>
          <a:ln/>
        </p:spPr>
        <p:txBody>
          <a:bodyPr wrap="square" lIns="0" tIns="0" rIns="0" bIns="0" rtlCol="0" anchor="ctr"/>
          <a:lstStyle/>
          <a:p>
            <a:pPr algn="ctr" indent="0" marL="0">
              <a:buNone/>
            </a:pPr>
            <a:r>
              <a:rPr lang="en-US" sz="1100" dirty="0">
                <a:solidFill>
                  <a:srgbClr val="1F2430"/>
                </a:solidFill>
              </a:rPr>
              <a:t>One complaint after a cut</a:t>
            </a:r>
            <a:endParaRPr lang="en-US" sz="1100" dirty="0"/>
          </a:p>
        </p:txBody>
      </p:sp>
      <p:sp>
        <p:nvSpPr>
          <p:cNvPr id="33" name="Shape 28"/>
          <p:cNvSpPr/>
          <p:nvPr/>
        </p:nvSpPr>
        <p:spPr>
          <a:xfrm>
            <a:off x="4754880" y="3063240"/>
            <a:ext cx="1920240" cy="640080"/>
          </a:xfrm>
          <a:prstGeom prst="roundRect">
            <a:avLst>
              <a:gd name="adj" fmla="val 11429"/>
            </a:avLst>
          </a:prstGeom>
          <a:solidFill>
            <a:srgbClr val="FFF8E1"/>
          </a:solidFill>
          <a:ln w="12700">
            <a:solidFill>
              <a:srgbClr val="F57F17"/>
            </a:solidFill>
            <a:prstDash val="dash"/>
          </a:ln>
        </p:spPr>
      </p:sp>
      <p:sp>
        <p:nvSpPr>
          <p:cNvPr id="34" name="Text 29"/>
          <p:cNvSpPr txBox="1"/>
          <p:nvPr/>
        </p:nvSpPr>
        <p:spPr>
          <a:xfrm>
            <a:off x="4828032" y="3063240"/>
            <a:ext cx="1773936" cy="640080"/>
          </a:xfrm>
          <a:prstGeom prst="rect">
            <a:avLst/>
          </a:prstGeom>
          <a:noFill/>
          <a:ln/>
        </p:spPr>
        <p:txBody>
          <a:bodyPr wrap="square" lIns="0" tIns="0" rIns="0" bIns="0" rtlCol="0" anchor="ctr"/>
          <a:lstStyle/>
          <a:p>
            <a:pPr algn="ctr" indent="0" marL="0">
              <a:buNone/>
            </a:pPr>
            <a:r>
              <a:rPr lang="en-US" sz="1100" dirty="0">
                <a:solidFill>
                  <a:srgbClr val="1F2430"/>
                </a:solidFill>
              </a:rPr>
              <a:t>Batch returns to its old size</a:t>
            </a:r>
            <a:endParaRPr lang="en-US" sz="1100" dirty="0"/>
          </a:p>
        </p:txBody>
      </p:sp>
      <p:sp>
        <p:nvSpPr>
          <p:cNvPr id="35" name="Shape 30"/>
          <p:cNvSpPr/>
          <p:nvPr/>
        </p:nvSpPr>
        <p:spPr>
          <a:xfrm>
            <a:off x="6675120" y="1920240"/>
            <a:ext cx="822960" cy="411480"/>
          </a:xfrm>
          <a:prstGeom prst="line">
            <a:avLst/>
          </a:prstGeom>
          <a:noFill/>
          <a:ln w="25400">
            <a:solidFill>
              <a:srgbClr val="F57F17"/>
            </a:solidFill>
            <a:prstDash val="solid"/>
            <a:tailEnd type="triangle"/>
          </a:ln>
        </p:spPr>
      </p:sp>
      <p:sp>
        <p:nvSpPr>
          <p:cNvPr id="36" name="Shape 31"/>
          <p:cNvSpPr/>
          <p:nvPr/>
        </p:nvSpPr>
        <p:spPr>
          <a:xfrm flipH="1">
            <a:off x="6675120" y="2971800"/>
            <a:ext cx="822960" cy="411480"/>
          </a:xfrm>
          <a:prstGeom prst="line">
            <a:avLst/>
          </a:prstGeom>
          <a:noFill/>
          <a:ln w="25400">
            <a:solidFill>
              <a:srgbClr val="F57F17"/>
            </a:solidFill>
            <a:prstDash val="solid"/>
            <a:tailEnd type="triangle"/>
          </a:ln>
        </p:spPr>
      </p:sp>
      <p:sp>
        <p:nvSpPr>
          <p:cNvPr id="37" name="Shape 32"/>
          <p:cNvSpPr/>
          <p:nvPr/>
        </p:nvSpPr>
        <p:spPr>
          <a:xfrm flipV="1">
            <a:off x="5715000" y="2286000"/>
            <a:ext cx="0" cy="777240"/>
          </a:xfrm>
          <a:prstGeom prst="line">
            <a:avLst/>
          </a:prstGeom>
          <a:noFill/>
          <a:ln w="25400">
            <a:solidFill>
              <a:srgbClr val="F57F17"/>
            </a:solidFill>
            <a:prstDash val="dash"/>
            <a:tailEnd type="triangle"/>
          </a:ln>
        </p:spPr>
      </p:sp>
      <p:sp>
        <p:nvSpPr>
          <p:cNvPr id="38" name="Shape 33"/>
          <p:cNvSpPr/>
          <p:nvPr/>
        </p:nvSpPr>
        <p:spPr>
          <a:xfrm>
            <a:off x="457200" y="4069080"/>
            <a:ext cx="1993392" cy="457200"/>
          </a:xfrm>
          <a:prstGeom prst="roundRect">
            <a:avLst>
              <a:gd name="adj" fmla="val 12000"/>
            </a:avLst>
          </a:prstGeom>
          <a:solidFill>
            <a:srgbClr val="E8F5E9"/>
          </a:solidFill>
          <a:ln w="12700">
            <a:solidFill>
              <a:srgbClr val="2E7D32"/>
            </a:solidFill>
            <a:prstDash val="solid"/>
          </a:ln>
        </p:spPr>
      </p:sp>
      <p:sp>
        <p:nvSpPr>
          <p:cNvPr id="39" name="Text 34"/>
          <p:cNvSpPr txBox="1"/>
          <p:nvPr/>
        </p:nvSpPr>
        <p:spPr>
          <a:xfrm>
            <a:off x="521208" y="4069080"/>
            <a:ext cx="1865376" cy="457200"/>
          </a:xfrm>
          <a:prstGeom prst="rect">
            <a:avLst/>
          </a:prstGeom>
          <a:noFill/>
          <a:ln/>
        </p:spPr>
        <p:txBody>
          <a:bodyPr wrap="square" lIns="0" tIns="0" rIns="0" bIns="0" rtlCol="0" anchor="ctr"/>
          <a:lstStyle/>
          <a:p>
            <a:pPr algn="ctr" indent="0" marL="0">
              <a:buNone/>
            </a:pPr>
            <a:r>
              <a:rPr lang="en-US" sz="1050" dirty="0">
                <a:solidFill>
                  <a:srgbClr val="1F2430"/>
                </a:solidFill>
              </a:rPr>
              <a:t>Judge results over months</a:t>
            </a:r>
            <a:endParaRPr lang="en-US" sz="1050" dirty="0"/>
          </a:p>
        </p:txBody>
      </p:sp>
      <p:sp>
        <p:nvSpPr>
          <p:cNvPr id="40" name="Shape 35"/>
          <p:cNvSpPr/>
          <p:nvPr/>
        </p:nvSpPr>
        <p:spPr>
          <a:xfrm>
            <a:off x="2542032" y="4069080"/>
            <a:ext cx="1993392" cy="457200"/>
          </a:xfrm>
          <a:prstGeom prst="roundRect">
            <a:avLst>
              <a:gd name="adj" fmla="val 12000"/>
            </a:avLst>
          </a:prstGeom>
          <a:solidFill>
            <a:srgbClr val="E8F5E9"/>
          </a:solidFill>
          <a:ln w="12700">
            <a:solidFill>
              <a:srgbClr val="2E7D32"/>
            </a:solidFill>
            <a:prstDash val="solid"/>
          </a:ln>
        </p:spPr>
      </p:sp>
      <p:sp>
        <p:nvSpPr>
          <p:cNvPr id="41" name="Text 36"/>
          <p:cNvSpPr txBox="1"/>
          <p:nvPr/>
        </p:nvSpPr>
        <p:spPr>
          <a:xfrm>
            <a:off x="2606040" y="4069080"/>
            <a:ext cx="1865376" cy="457200"/>
          </a:xfrm>
          <a:prstGeom prst="rect">
            <a:avLst/>
          </a:prstGeom>
          <a:noFill/>
          <a:ln/>
        </p:spPr>
        <p:txBody>
          <a:bodyPr wrap="square" lIns="0" tIns="0" rIns="0" bIns="0" rtlCol="0" anchor="ctr"/>
          <a:lstStyle/>
          <a:p>
            <a:pPr algn="ctr" indent="0" marL="0">
              <a:buNone/>
            </a:pPr>
            <a:r>
              <a:rPr lang="en-US" sz="1050" dirty="0">
                <a:solidFill>
                  <a:srgbClr val="1F2430"/>
                </a:solidFill>
              </a:rPr>
              <a:t>Record every run-out</a:t>
            </a:r>
            <a:endParaRPr lang="en-US" sz="1050" dirty="0"/>
          </a:p>
        </p:txBody>
      </p:sp>
      <p:sp>
        <p:nvSpPr>
          <p:cNvPr id="42" name="Shape 37"/>
          <p:cNvSpPr/>
          <p:nvPr/>
        </p:nvSpPr>
        <p:spPr>
          <a:xfrm>
            <a:off x="4626864" y="4069080"/>
            <a:ext cx="1993392" cy="457200"/>
          </a:xfrm>
          <a:prstGeom prst="roundRect">
            <a:avLst>
              <a:gd name="adj" fmla="val 12000"/>
            </a:avLst>
          </a:prstGeom>
          <a:solidFill>
            <a:srgbClr val="E8F5E9"/>
          </a:solidFill>
          <a:ln w="12700">
            <a:solidFill>
              <a:srgbClr val="2E7D32"/>
            </a:solidFill>
            <a:prstDash val="solid"/>
          </a:ln>
        </p:spPr>
      </p:sp>
      <p:sp>
        <p:nvSpPr>
          <p:cNvPr id="43" name="Text 38"/>
          <p:cNvSpPr txBox="1"/>
          <p:nvPr/>
        </p:nvSpPr>
        <p:spPr>
          <a:xfrm>
            <a:off x="4690872" y="4069080"/>
            <a:ext cx="1865376" cy="457200"/>
          </a:xfrm>
          <a:prstGeom prst="rect">
            <a:avLst/>
          </a:prstGeom>
          <a:noFill/>
          <a:ln/>
        </p:spPr>
        <p:txBody>
          <a:bodyPr wrap="square" lIns="0" tIns="0" rIns="0" bIns="0" rtlCol="0" anchor="ctr"/>
          <a:lstStyle/>
          <a:p>
            <a:pPr algn="ctr" indent="0" marL="0">
              <a:buNone/>
            </a:pPr>
            <a:r>
              <a:rPr lang="en-US" sz="1050" dirty="0">
                <a:solidFill>
                  <a:srgbClr val="1F2430"/>
                </a:solidFill>
              </a:rPr>
              <a:t>Keep the late batch and the raw reserve</a:t>
            </a:r>
            <a:endParaRPr lang="en-US" sz="1050" dirty="0"/>
          </a:p>
        </p:txBody>
      </p:sp>
      <p:sp>
        <p:nvSpPr>
          <p:cNvPr id="44" name="Shape 39"/>
          <p:cNvSpPr/>
          <p:nvPr/>
        </p:nvSpPr>
        <p:spPr>
          <a:xfrm>
            <a:off x="6711696" y="4069080"/>
            <a:ext cx="1993392" cy="457200"/>
          </a:xfrm>
          <a:prstGeom prst="roundRect">
            <a:avLst>
              <a:gd name="adj" fmla="val 12000"/>
            </a:avLst>
          </a:prstGeom>
          <a:solidFill>
            <a:srgbClr val="E8F5E9"/>
          </a:solidFill>
          <a:ln w="12700">
            <a:solidFill>
              <a:srgbClr val="2E7D32"/>
            </a:solidFill>
            <a:prstDash val="solid"/>
          </a:ln>
        </p:spPr>
      </p:sp>
      <p:sp>
        <p:nvSpPr>
          <p:cNvPr id="45" name="Text 40"/>
          <p:cNvSpPr txBox="1"/>
          <p:nvPr/>
        </p:nvSpPr>
        <p:spPr>
          <a:xfrm>
            <a:off x="6775704" y="4069080"/>
            <a:ext cx="1865376" cy="457200"/>
          </a:xfrm>
          <a:prstGeom prst="rect">
            <a:avLst/>
          </a:prstGeom>
          <a:noFill/>
          <a:ln/>
        </p:spPr>
        <p:txBody>
          <a:bodyPr wrap="square" lIns="0" tIns="0" rIns="0" bIns="0" rtlCol="0" anchor="ctr"/>
          <a:lstStyle/>
          <a:p>
            <a:pPr algn="ctr" indent="0" marL="0">
              <a:buNone/>
            </a:pPr>
            <a:r>
              <a:rPr lang="en-US" sz="1050" dirty="0">
                <a:solidFill>
                  <a:srgbClr val="1F2430"/>
                </a:solidFill>
              </a:rPr>
              <a:t>Name the allowance; note exam weeks</a:t>
            </a:r>
            <a:endParaRPr lang="en-US" sz="1050" dirty="0"/>
          </a:p>
        </p:txBody>
      </p:sp>
      <p:sp>
        <p:nvSpPr>
          <p:cNvPr id="46" name="Text 41"/>
          <p:cNvSpPr txBox="1"/>
          <p:nvPr/>
        </p:nvSpPr>
        <p:spPr>
          <a:xfrm>
            <a:off x="457200" y="4572000"/>
            <a:ext cx="5486400" cy="201168"/>
          </a:xfrm>
          <a:prstGeom prst="rect">
            <a:avLst/>
          </a:prstGeom>
          <a:noFill/>
          <a:ln/>
        </p:spPr>
        <p:txBody>
          <a:bodyPr wrap="square" lIns="0" tIns="0" rIns="0" bIns="0" rtlCol="0" anchor="t"/>
          <a:lstStyle/>
          <a:p>
            <a:pPr algn="l" indent="0" marL="0">
              <a:buNone/>
            </a:pPr>
            <a:r>
              <a:rPr lang="en-US" sz="1050" i="1" dirty="0">
                <a:solidFill>
                  <a:srgbClr val="616161"/>
                </a:solidFill>
              </a:rPr>
              <a:t>Twelve groups, reasoned from stated positions; none consulted.</a:t>
            </a:r>
            <a:endParaRPr lang="en-US" sz="1050" dirty="0"/>
          </a:p>
        </p:txBody>
      </p:sp>
      <p:sp>
        <p:nvSpPr>
          <p:cNvPr id="47" name="Shape 42"/>
          <p:cNvSpPr/>
          <p:nvPr/>
        </p:nvSpPr>
        <p:spPr>
          <a:xfrm>
            <a:off x="7758684" y="1033272"/>
            <a:ext cx="928116" cy="201168"/>
          </a:xfrm>
          <a:prstGeom prst="roundRect">
            <a:avLst>
              <a:gd name="adj" fmla="val 22727"/>
            </a:avLst>
          </a:prstGeom>
          <a:solidFill>
            <a:srgbClr val="FFF8E1"/>
          </a:solidFill>
          <a:ln w="12700">
            <a:solidFill>
              <a:srgbClr val="F57F17"/>
            </a:solidFill>
            <a:prstDash val="solid"/>
          </a:ln>
        </p:spPr>
      </p:sp>
      <p:sp>
        <p:nvSpPr>
          <p:cNvPr id="48" name="Text 43"/>
          <p:cNvSpPr txBox="1"/>
          <p:nvPr/>
        </p:nvSpPr>
        <p:spPr>
          <a:xfrm>
            <a:off x="7758684"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8D4A00"/>
                </a:solidFill>
              </a:rPr>
              <a:t>CANDIDATE</a:t>
            </a:r>
            <a:endParaRPr lang="en-US" sz="900" dirty="0"/>
          </a:p>
        </p:txBody>
      </p:sp>
      <p:sp>
        <p:nvSpPr>
          <p:cNvPr id="49" name="Shape 44"/>
          <p:cNvSpPr/>
          <p:nvPr/>
        </p:nvSpPr>
        <p:spPr>
          <a:xfrm>
            <a:off x="6825996" y="1033272"/>
            <a:ext cx="859536" cy="201168"/>
          </a:xfrm>
          <a:prstGeom prst="roundRect">
            <a:avLst>
              <a:gd name="adj" fmla="val 22727"/>
            </a:avLst>
          </a:prstGeom>
          <a:solidFill>
            <a:srgbClr val="6A1B9A"/>
          </a:solidFill>
          <a:ln/>
        </p:spPr>
      </p:sp>
      <p:sp>
        <p:nvSpPr>
          <p:cNvPr id="50" name="Text 45"/>
          <p:cNvSpPr txBox="1"/>
          <p:nvPr/>
        </p:nvSpPr>
        <p:spPr>
          <a:xfrm>
            <a:off x="6825996" y="1033272"/>
            <a:ext cx="85953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REASONED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Three parts run together, and the team can finish only two of the thirteen actions alone</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sp>
        <p:nvSpPr>
          <p:cNvPr id="15" name="Shape 13"/>
          <p:cNvSpPr/>
          <p:nvPr/>
        </p:nvSpPr>
        <p:spPr>
          <a:xfrm>
            <a:off x="457200" y="1280160"/>
            <a:ext cx="2194560" cy="731520"/>
          </a:xfrm>
          <a:prstGeom prst="roundRect">
            <a:avLst>
              <a:gd name="adj" fmla="val 10000"/>
            </a:avLst>
          </a:prstGeom>
          <a:solidFill>
            <a:srgbClr val="F3E5F5"/>
          </a:solidFill>
          <a:ln w="12700">
            <a:solidFill>
              <a:srgbClr val="6A1B9A"/>
            </a:solidFill>
            <a:prstDash val="solid"/>
          </a:ln>
        </p:spPr>
      </p:sp>
      <p:sp>
        <p:nvSpPr>
          <p:cNvPr id="16" name="Shape 14"/>
          <p:cNvSpPr/>
          <p:nvPr/>
        </p:nvSpPr>
        <p:spPr>
          <a:xfrm>
            <a:off x="630936" y="1453896"/>
            <a:ext cx="384048" cy="384048"/>
          </a:xfrm>
          <a:prstGeom prst="ellipse">
            <a:avLst/>
          </a:prstGeom>
          <a:solidFill>
            <a:srgbClr val="6A1B9A"/>
          </a:solidFill>
          <a:ln/>
        </p:spPr>
      </p:sp>
      <p:pic>
        <p:nvPicPr>
          <p:cNvPr id="17" name="Image 0" descr="QrCodeScanner">    </p:cNvPr>
          <p:cNvPicPr>
            <a:picLocks noChangeAspect="1"/>
          </p:cNvPicPr>
          <p:nvPr/>
        </p:nvPicPr>
        <p:blipFill>
          <a:blip r:embed="rId1"/>
          <a:stretch>
            <a:fillRect/>
          </a:stretch>
        </p:blipFill>
        <p:spPr>
          <a:xfrm>
            <a:off x="707746" y="1530706"/>
            <a:ext cx="230429" cy="230429"/>
          </a:xfrm>
          <a:prstGeom prst="rect">
            <a:avLst/>
          </a:prstGeom>
        </p:spPr>
      </p:pic>
      <p:sp>
        <p:nvSpPr>
          <p:cNvPr id="18" name="Text 15"/>
          <p:cNvSpPr txBox="1"/>
          <p:nvPr/>
        </p:nvSpPr>
        <p:spPr>
          <a:xfrm>
            <a:off x="1143000" y="1280160"/>
            <a:ext cx="1463040" cy="731520"/>
          </a:xfrm>
          <a:prstGeom prst="rect">
            <a:avLst/>
          </a:prstGeom>
          <a:noFill/>
          <a:ln/>
        </p:spPr>
        <p:txBody>
          <a:bodyPr wrap="square" lIns="0" tIns="0" rIns="0" bIns="0" rtlCol="0" anchor="ctr"/>
          <a:lstStyle/>
          <a:p>
            <a:pPr algn="l" indent="0" marL="0">
              <a:buNone/>
            </a:pPr>
            <a:r>
              <a:rPr lang="en-US" sz="1400" b="1" dirty="0">
                <a:solidFill>
                  <a:srgbClr val="1F2430"/>
                </a:solidFill>
              </a:rPr>
              <a:t>Records</a:t>
            </a:r>
            <a:endParaRPr lang="en-US" sz="1400" dirty="0"/>
          </a:p>
        </p:txBody>
      </p:sp>
      <p:sp>
        <p:nvSpPr>
          <p:cNvPr id="19" name="Shape 16"/>
          <p:cNvSpPr/>
          <p:nvPr/>
        </p:nvSpPr>
        <p:spPr>
          <a:xfrm>
            <a:off x="6492240" y="1280160"/>
            <a:ext cx="2194560" cy="731520"/>
          </a:xfrm>
          <a:prstGeom prst="roundRect">
            <a:avLst>
              <a:gd name="adj" fmla="val 10000"/>
            </a:avLst>
          </a:prstGeom>
          <a:solidFill>
            <a:srgbClr val="E0F2F1"/>
          </a:solidFill>
          <a:ln w="12700">
            <a:solidFill>
              <a:srgbClr val="00695C"/>
            </a:solidFill>
            <a:prstDash val="solid"/>
          </a:ln>
        </p:spPr>
      </p:sp>
      <p:sp>
        <p:nvSpPr>
          <p:cNvPr id="20" name="Shape 17"/>
          <p:cNvSpPr/>
          <p:nvPr/>
        </p:nvSpPr>
        <p:spPr>
          <a:xfrm>
            <a:off x="6665976" y="1453896"/>
            <a:ext cx="384048" cy="384048"/>
          </a:xfrm>
          <a:prstGeom prst="ellipse">
            <a:avLst/>
          </a:prstGeom>
          <a:solidFill>
            <a:srgbClr val="00695C"/>
          </a:solidFill>
          <a:ln/>
        </p:spPr>
      </p:sp>
      <p:pic>
        <p:nvPicPr>
          <p:cNvPr id="21" name="Image 1" descr="AccountBalance">    </p:cNvPr>
          <p:cNvPicPr>
            <a:picLocks noChangeAspect="1"/>
          </p:cNvPicPr>
          <p:nvPr/>
        </p:nvPicPr>
        <p:blipFill>
          <a:blip r:embed="rId2"/>
          <a:stretch>
            <a:fillRect/>
          </a:stretch>
        </p:blipFill>
        <p:spPr>
          <a:xfrm>
            <a:off x="6742786" y="1530706"/>
            <a:ext cx="230429" cy="230429"/>
          </a:xfrm>
          <a:prstGeom prst="rect">
            <a:avLst/>
          </a:prstGeom>
        </p:spPr>
      </p:pic>
      <p:sp>
        <p:nvSpPr>
          <p:cNvPr id="22" name="Text 18"/>
          <p:cNvSpPr txBox="1"/>
          <p:nvPr/>
        </p:nvSpPr>
        <p:spPr>
          <a:xfrm>
            <a:off x="7178040" y="1280160"/>
            <a:ext cx="1463040" cy="731520"/>
          </a:xfrm>
          <a:prstGeom prst="rect">
            <a:avLst/>
          </a:prstGeom>
          <a:noFill/>
          <a:ln/>
        </p:spPr>
        <p:txBody>
          <a:bodyPr wrap="square" lIns="0" tIns="0" rIns="0" bIns="0" rtlCol="0" anchor="ctr"/>
          <a:lstStyle/>
          <a:p>
            <a:pPr algn="l" indent="0" marL="0">
              <a:buNone/>
            </a:pPr>
            <a:r>
              <a:rPr lang="en-US" sz="1400" b="1" dirty="0">
                <a:solidFill>
                  <a:srgbClr val="1F2430"/>
                </a:solidFill>
              </a:rPr>
              <a:t>Rule setters</a:t>
            </a:r>
            <a:endParaRPr lang="en-US" sz="1400" dirty="0"/>
          </a:p>
        </p:txBody>
      </p:sp>
      <p:sp>
        <p:nvSpPr>
          <p:cNvPr id="23" name="Shape 19"/>
          <p:cNvSpPr/>
          <p:nvPr/>
        </p:nvSpPr>
        <p:spPr>
          <a:xfrm>
            <a:off x="2697480" y="1645920"/>
            <a:ext cx="3749040" cy="0"/>
          </a:xfrm>
          <a:prstGeom prst="line">
            <a:avLst/>
          </a:prstGeom>
          <a:noFill/>
          <a:ln w="44450">
            <a:solidFill>
              <a:srgbClr val="2E7D32"/>
            </a:solidFill>
            <a:prstDash val="solid"/>
            <a:tailEnd type="triangle"/>
          </a:ln>
        </p:spPr>
      </p:sp>
      <p:sp>
        <p:nvSpPr>
          <p:cNvPr id="24" name="Text 20"/>
          <p:cNvSpPr txBox="1"/>
          <p:nvPr/>
        </p:nvSpPr>
        <p:spPr>
          <a:xfrm>
            <a:off x="2743200" y="1261872"/>
            <a:ext cx="3657600" cy="347472"/>
          </a:xfrm>
          <a:prstGeom prst="rect">
            <a:avLst/>
          </a:prstGeom>
          <a:noFill/>
          <a:ln/>
        </p:spPr>
        <p:txBody>
          <a:bodyPr wrap="square" lIns="0" tIns="0" rIns="0" bIns="0" rtlCol="0" anchor="t"/>
          <a:lstStyle/>
          <a:p>
            <a:pPr algn="ctr" indent="0" marL="0">
              <a:buNone/>
            </a:pPr>
            <a:r>
              <a:rPr lang="en-US" sz="1150" b="1" dirty="0">
                <a:solidFill>
                  <a:srgbClr val="2E7D32"/>
                </a:solidFill>
              </a:rPr>
              <a:t>weekly ledger, read jointly with operators and the dining services body</a:t>
            </a:r>
            <a:endParaRPr lang="en-US" sz="1150" dirty="0"/>
          </a:p>
        </p:txBody>
      </p:sp>
      <p:sp>
        <p:nvSpPr>
          <p:cNvPr id="25" name="Shape 21"/>
          <p:cNvSpPr/>
          <p:nvPr/>
        </p:nvSpPr>
        <p:spPr>
          <a:xfrm>
            <a:off x="457200" y="2240280"/>
            <a:ext cx="2651760" cy="1234440"/>
          </a:xfrm>
          <a:prstGeom prst="roundRect">
            <a:avLst>
              <a:gd name="adj" fmla="val 5926"/>
            </a:avLst>
          </a:prstGeom>
          <a:solidFill>
            <a:srgbClr val="E0F2F1"/>
          </a:solidFill>
          <a:ln w="12700">
            <a:solidFill>
              <a:srgbClr val="00695C"/>
            </a:solidFill>
            <a:prstDash val="solid"/>
          </a:ln>
        </p:spPr>
      </p:sp>
      <p:sp>
        <p:nvSpPr>
          <p:cNvPr id="26" name="Shape 22"/>
          <p:cNvSpPr/>
          <p:nvPr/>
        </p:nvSpPr>
        <p:spPr>
          <a:xfrm>
            <a:off x="612648" y="2395728"/>
            <a:ext cx="420624" cy="420624"/>
          </a:xfrm>
          <a:prstGeom prst="ellipse">
            <a:avLst/>
          </a:prstGeom>
          <a:solidFill>
            <a:srgbClr val="00695C"/>
          </a:solidFill>
          <a:ln/>
        </p:spPr>
      </p:sp>
      <p:pic>
        <p:nvPicPr>
          <p:cNvPr id="27" name="Image 2" descr="AltRoute">    </p:cNvPr>
          <p:cNvPicPr>
            <a:picLocks noChangeAspect="1"/>
          </p:cNvPicPr>
          <p:nvPr/>
        </p:nvPicPr>
        <p:blipFill>
          <a:blip r:embed="rId3"/>
          <a:stretch>
            <a:fillRect/>
          </a:stretch>
        </p:blipFill>
        <p:spPr>
          <a:xfrm>
            <a:off x="696773" y="2479853"/>
            <a:ext cx="252374" cy="252374"/>
          </a:xfrm>
          <a:prstGeom prst="rect">
            <a:avLst/>
          </a:prstGeom>
        </p:spPr>
      </p:pic>
      <p:sp>
        <p:nvSpPr>
          <p:cNvPr id="28" name="Text 23"/>
          <p:cNvSpPr txBox="1"/>
          <p:nvPr/>
        </p:nvSpPr>
        <p:spPr>
          <a:xfrm>
            <a:off x="1170432" y="2286000"/>
            <a:ext cx="1371600" cy="640080"/>
          </a:xfrm>
          <a:prstGeom prst="rect">
            <a:avLst/>
          </a:prstGeom>
          <a:noFill/>
          <a:ln/>
        </p:spPr>
        <p:txBody>
          <a:bodyPr wrap="square" lIns="0" tIns="0" rIns="0" bIns="0" rtlCol="0" anchor="ctr"/>
          <a:lstStyle/>
          <a:p>
            <a:pPr algn="l" indent="0" marL="0">
              <a:buNone/>
            </a:pPr>
            <a:r>
              <a:rPr lang="en-US" sz="1400" b="1" dirty="0">
                <a:solidFill>
                  <a:srgbClr val="1F2430"/>
                </a:solidFill>
              </a:rPr>
              <a:t>The route</a:t>
            </a:r>
            <a:endParaRPr lang="en-US" sz="1400" dirty="0"/>
          </a:p>
        </p:txBody>
      </p:sp>
      <p:sp>
        <p:nvSpPr>
          <p:cNvPr id="29" name="Text 24"/>
          <p:cNvSpPr txBox="1"/>
          <p:nvPr/>
        </p:nvSpPr>
        <p:spPr>
          <a:xfrm>
            <a:off x="594360" y="2907792"/>
            <a:ext cx="2423160" cy="548640"/>
          </a:xfrm>
          <a:prstGeom prst="rect">
            <a:avLst/>
          </a:prstGeom>
          <a:noFill/>
          <a:ln/>
        </p:spPr>
        <p:txBody>
          <a:bodyPr wrap="square" lIns="0" tIns="0" rIns="0" bIns="0" rtlCol="0" anchor="t"/>
          <a:lstStyle/>
          <a:p>
            <a:pPr algn="l" indent="0" marL="0">
              <a:buNone/>
            </a:pPr>
            <a:r>
              <a:rPr lang="en-US" sz="1050" dirty="0">
                <a:solidFill>
                  <a:srgbClr val="1F2430"/>
                </a:solidFill>
              </a:rPr>
              <a:t>Build the weekly ledger of booked, cooked and eaten for each hall</a:t>
            </a:r>
            <a:endParaRPr lang="en-US" sz="1050" dirty="0"/>
          </a:p>
        </p:txBody>
      </p:sp>
      <p:sp>
        <p:nvSpPr>
          <p:cNvPr id="30" name="Shape 25"/>
          <p:cNvSpPr/>
          <p:nvPr/>
        </p:nvSpPr>
        <p:spPr>
          <a:xfrm>
            <a:off x="3246120" y="2240280"/>
            <a:ext cx="2651760" cy="1234440"/>
          </a:xfrm>
          <a:prstGeom prst="roundRect">
            <a:avLst>
              <a:gd name="adj" fmla="val 5926"/>
            </a:avLst>
          </a:prstGeom>
          <a:solidFill>
            <a:srgbClr val="E3F2FD"/>
          </a:solidFill>
          <a:ln w="12700">
            <a:solidFill>
              <a:srgbClr val="1565C0"/>
            </a:solidFill>
            <a:prstDash val="solid"/>
          </a:ln>
        </p:spPr>
      </p:sp>
      <p:sp>
        <p:nvSpPr>
          <p:cNvPr id="31" name="Shape 26"/>
          <p:cNvSpPr/>
          <p:nvPr/>
        </p:nvSpPr>
        <p:spPr>
          <a:xfrm>
            <a:off x="3401568" y="2395728"/>
            <a:ext cx="420624" cy="420624"/>
          </a:xfrm>
          <a:prstGeom prst="ellipse">
            <a:avLst/>
          </a:prstGeom>
          <a:solidFill>
            <a:srgbClr val="1565C0"/>
          </a:solidFill>
          <a:ln/>
        </p:spPr>
      </p:sp>
      <p:pic>
        <p:nvPicPr>
          <p:cNvPr id="32" name="Image 3" descr="Event">    </p:cNvPr>
          <p:cNvPicPr>
            <a:picLocks noChangeAspect="1"/>
          </p:cNvPicPr>
          <p:nvPr/>
        </p:nvPicPr>
        <p:blipFill>
          <a:blip r:embed="rId4"/>
          <a:stretch>
            <a:fillRect/>
          </a:stretch>
        </p:blipFill>
        <p:spPr>
          <a:xfrm>
            <a:off x="3485693" y="2479853"/>
            <a:ext cx="252374" cy="252374"/>
          </a:xfrm>
          <a:prstGeom prst="rect">
            <a:avLst/>
          </a:prstGeom>
        </p:spPr>
      </p:pic>
      <p:sp>
        <p:nvSpPr>
          <p:cNvPr id="33" name="Text 27"/>
          <p:cNvSpPr txBox="1"/>
          <p:nvPr/>
        </p:nvSpPr>
        <p:spPr>
          <a:xfrm>
            <a:off x="3959352" y="2286000"/>
            <a:ext cx="1371600" cy="640080"/>
          </a:xfrm>
          <a:prstGeom prst="rect">
            <a:avLst/>
          </a:prstGeom>
          <a:noFill/>
          <a:ln/>
        </p:spPr>
        <p:txBody>
          <a:bodyPr wrap="square" lIns="0" tIns="0" rIns="0" bIns="0" rtlCol="0" anchor="ctr"/>
          <a:lstStyle/>
          <a:p>
            <a:pPr algn="l" indent="0" marL="0">
              <a:buNone/>
            </a:pPr>
            <a:r>
              <a:rPr lang="en-US" sz="1400" b="1" dirty="0">
                <a:solidFill>
                  <a:srgbClr val="1F2430"/>
                </a:solidFill>
              </a:rPr>
              <a:t>The exit</a:t>
            </a:r>
            <a:endParaRPr lang="en-US" sz="1400" dirty="0"/>
          </a:p>
        </p:txBody>
      </p:sp>
      <p:sp>
        <p:nvSpPr>
          <p:cNvPr id="34" name="Text 28"/>
          <p:cNvSpPr txBox="1"/>
          <p:nvPr/>
        </p:nvSpPr>
        <p:spPr>
          <a:xfrm>
            <a:off x="3383280" y="2907792"/>
            <a:ext cx="2423160" cy="548640"/>
          </a:xfrm>
          <a:prstGeom prst="rect">
            <a:avLst/>
          </a:prstGeom>
          <a:noFill/>
          <a:ln/>
        </p:spPr>
        <p:txBody>
          <a:bodyPr wrap="square" lIns="0" tIns="0" rIns="0" bIns="0" rtlCol="0" anchor="t"/>
          <a:lstStyle/>
          <a:p>
            <a:pPr algn="l" indent="0" marL="0">
              <a:buNone/>
            </a:pPr>
            <a:r>
              <a:rPr lang="en-US" sz="1050" dirty="0">
                <a:solidFill>
                  <a:srgbClr val="1F2430"/>
                </a:solidFill>
              </a:rPr>
              <a:t>Open the Sunday skip; take the payment-basis question to the rule owner at the same time</a:t>
            </a:r>
            <a:endParaRPr lang="en-US" sz="1050" dirty="0"/>
          </a:p>
        </p:txBody>
      </p:sp>
      <p:sp>
        <p:nvSpPr>
          <p:cNvPr id="35" name="Shape 29"/>
          <p:cNvSpPr/>
          <p:nvPr/>
        </p:nvSpPr>
        <p:spPr>
          <a:xfrm>
            <a:off x="6035040" y="2240280"/>
            <a:ext cx="2651760" cy="1234440"/>
          </a:xfrm>
          <a:prstGeom prst="roundRect">
            <a:avLst>
              <a:gd name="adj" fmla="val 5926"/>
            </a:avLst>
          </a:prstGeom>
          <a:solidFill>
            <a:srgbClr val="FFF8E1"/>
          </a:solidFill>
          <a:ln w="12700">
            <a:solidFill>
              <a:srgbClr val="F57F17"/>
            </a:solidFill>
            <a:prstDash val="solid"/>
          </a:ln>
        </p:spPr>
      </p:sp>
      <p:sp>
        <p:nvSpPr>
          <p:cNvPr id="36" name="Shape 30"/>
          <p:cNvSpPr/>
          <p:nvPr/>
        </p:nvSpPr>
        <p:spPr>
          <a:xfrm>
            <a:off x="6190488" y="2395728"/>
            <a:ext cx="420624" cy="420624"/>
          </a:xfrm>
          <a:prstGeom prst="ellipse">
            <a:avLst/>
          </a:prstGeom>
          <a:solidFill>
            <a:srgbClr val="F57F17"/>
          </a:solidFill>
          <a:ln/>
        </p:spPr>
      </p:sp>
      <p:pic>
        <p:nvPicPr>
          <p:cNvPr id="37" name="Image 4" descr="Tune">    </p:cNvPr>
          <p:cNvPicPr>
            <a:picLocks noChangeAspect="1"/>
          </p:cNvPicPr>
          <p:nvPr/>
        </p:nvPicPr>
        <p:blipFill>
          <a:blip r:embed="rId5"/>
          <a:stretch>
            <a:fillRect/>
          </a:stretch>
        </p:blipFill>
        <p:spPr>
          <a:xfrm>
            <a:off x="6274613" y="2479853"/>
            <a:ext cx="252374" cy="252374"/>
          </a:xfrm>
          <a:prstGeom prst="rect">
            <a:avLst/>
          </a:prstGeom>
        </p:spPr>
      </p:pic>
      <p:sp>
        <p:nvSpPr>
          <p:cNvPr id="38" name="Text 31"/>
          <p:cNvSpPr txBox="1"/>
          <p:nvPr/>
        </p:nvSpPr>
        <p:spPr>
          <a:xfrm>
            <a:off x="6748272" y="2286000"/>
            <a:ext cx="1371600" cy="640080"/>
          </a:xfrm>
          <a:prstGeom prst="rect">
            <a:avLst/>
          </a:prstGeom>
          <a:noFill/>
          <a:ln/>
        </p:spPr>
        <p:txBody>
          <a:bodyPr wrap="square" lIns="0" tIns="0" rIns="0" bIns="0" rtlCol="0" anchor="ctr"/>
          <a:lstStyle/>
          <a:p>
            <a:pPr algn="l" indent="0" marL="0">
              <a:buNone/>
            </a:pPr>
            <a:r>
              <a:rPr lang="en-US" sz="1400" b="1" dirty="0">
                <a:solidFill>
                  <a:srgbClr val="1F2430"/>
                </a:solidFill>
              </a:rPr>
              <a:t>The kitchen</a:t>
            </a:r>
            <a:endParaRPr lang="en-US" sz="1400" dirty="0"/>
          </a:p>
        </p:txBody>
      </p:sp>
      <p:sp>
        <p:nvSpPr>
          <p:cNvPr id="39" name="Text 32"/>
          <p:cNvSpPr txBox="1"/>
          <p:nvPr/>
        </p:nvSpPr>
        <p:spPr>
          <a:xfrm>
            <a:off x="6172200" y="2907792"/>
            <a:ext cx="2423160" cy="548640"/>
          </a:xfrm>
          <a:prstGeom prst="rect">
            <a:avLst/>
          </a:prstGeom>
          <a:noFill/>
          <a:ln/>
        </p:spPr>
        <p:txBody>
          <a:bodyPr wrap="square" lIns="0" tIns="0" rIns="0" bIns="0" rtlCol="0" anchor="t"/>
          <a:lstStyle/>
          <a:p>
            <a:pPr algn="l" indent="0" marL="0">
              <a:buNone/>
            </a:pPr>
            <a:r>
              <a:rPr lang="en-US" sz="1050" dirty="0">
                <a:solidFill>
                  <a:srgbClr val="1F2430"/>
                </a:solidFill>
              </a:rPr>
              <a:t>Plan card, daily sheet and a late batch</a:t>
            </a:r>
            <a:endParaRPr lang="en-US" sz="1050" dirty="0"/>
          </a:p>
        </p:txBody>
      </p:sp>
      <p:sp>
        <p:nvSpPr>
          <p:cNvPr id="40" name="Shape 33"/>
          <p:cNvSpPr/>
          <p:nvPr/>
        </p:nvSpPr>
        <p:spPr>
          <a:xfrm>
            <a:off x="7360920" y="3154680"/>
            <a:ext cx="1143000" cy="219456"/>
          </a:xfrm>
          <a:prstGeom prst="roundRect">
            <a:avLst>
              <a:gd name="adj" fmla="val 25000"/>
            </a:avLst>
          </a:prstGeom>
          <a:solidFill>
            <a:srgbClr val="FFF8E1"/>
          </a:solidFill>
          <a:ln w="12700">
            <a:solidFill>
              <a:srgbClr val="F57F17"/>
            </a:solidFill>
            <a:prstDash val="solid"/>
          </a:ln>
        </p:spPr>
      </p:sp>
      <p:sp>
        <p:nvSpPr>
          <p:cNvPr id="41" name="Text 34"/>
          <p:cNvSpPr txBox="1"/>
          <p:nvPr/>
        </p:nvSpPr>
        <p:spPr>
          <a:xfrm>
            <a:off x="7424928" y="3154680"/>
            <a:ext cx="1014984" cy="219456"/>
          </a:xfrm>
          <a:prstGeom prst="rect">
            <a:avLst/>
          </a:prstGeom>
          <a:noFill/>
          <a:ln/>
        </p:spPr>
        <p:txBody>
          <a:bodyPr wrap="square" lIns="0" tIns="0" rIns="0" bIns="0" rtlCol="0" anchor="ctr"/>
          <a:lstStyle/>
          <a:p>
            <a:pPr algn="ctr" indent="0" marL="0">
              <a:buNone/>
            </a:pPr>
            <a:r>
              <a:rPr lang="en-US" sz="900" b="1" dirty="0">
                <a:solidFill>
                  <a:srgbClr val="8D4A00"/>
                </a:solidFill>
              </a:rPr>
              <a:t>QUICK FIX</a:t>
            </a:r>
            <a:endParaRPr lang="en-US" sz="900" dirty="0"/>
          </a:p>
        </p:txBody>
      </p:sp>
      <p:sp>
        <p:nvSpPr>
          <p:cNvPr id="42" name="Text 35"/>
          <p:cNvSpPr txBox="1"/>
          <p:nvPr/>
        </p:nvSpPr>
        <p:spPr>
          <a:xfrm>
            <a:off x="457200" y="3639312"/>
            <a:ext cx="5486400" cy="182880"/>
          </a:xfrm>
          <a:prstGeom prst="rect">
            <a:avLst/>
          </a:prstGeom>
          <a:noFill/>
          <a:ln/>
        </p:spPr>
        <p:txBody>
          <a:bodyPr wrap="square" lIns="0" tIns="0" rIns="0" bIns="0" rtlCol="0" anchor="t"/>
          <a:lstStyle/>
          <a:p>
            <a:pPr algn="l" indent="0" marL="0">
              <a:buNone/>
            </a:pPr>
            <a:r>
              <a:rPr lang="en-US" sz="1000" b="1" spc="100" kern="0" dirty="0">
                <a:solidFill>
                  <a:srgbClr val="616161"/>
                </a:solidFill>
              </a:rPr>
              <a:t>THIRTEEN ACTIONS, BY WHO CAN FINISH THEM</a:t>
            </a:r>
            <a:endParaRPr lang="en-US" sz="1000" dirty="0"/>
          </a:p>
        </p:txBody>
      </p:sp>
      <p:sp>
        <p:nvSpPr>
          <p:cNvPr id="43" name="Shape 36"/>
          <p:cNvSpPr/>
          <p:nvPr/>
        </p:nvSpPr>
        <p:spPr>
          <a:xfrm>
            <a:off x="493776" y="3895344"/>
            <a:ext cx="292608" cy="292608"/>
          </a:xfrm>
          <a:prstGeom prst="ellipse">
            <a:avLst/>
          </a:prstGeom>
          <a:solidFill>
            <a:srgbClr val="E65100"/>
          </a:solidFill>
          <a:ln/>
        </p:spPr>
      </p:sp>
      <p:sp>
        <p:nvSpPr>
          <p:cNvPr id="44" name="Shape 37"/>
          <p:cNvSpPr/>
          <p:nvPr/>
        </p:nvSpPr>
        <p:spPr>
          <a:xfrm>
            <a:off x="877824" y="3895344"/>
            <a:ext cx="292608" cy="292608"/>
          </a:xfrm>
          <a:prstGeom prst="ellipse">
            <a:avLst/>
          </a:prstGeom>
          <a:solidFill>
            <a:srgbClr val="E65100"/>
          </a:solidFill>
          <a:ln/>
        </p:spPr>
      </p:sp>
      <p:sp>
        <p:nvSpPr>
          <p:cNvPr id="45" name="Shape 38"/>
          <p:cNvSpPr/>
          <p:nvPr/>
        </p:nvSpPr>
        <p:spPr>
          <a:xfrm>
            <a:off x="1261872" y="3895344"/>
            <a:ext cx="292608" cy="292608"/>
          </a:xfrm>
          <a:prstGeom prst="ellipse">
            <a:avLst/>
          </a:prstGeom>
          <a:solidFill>
            <a:srgbClr val="1565C0"/>
          </a:solidFill>
          <a:ln/>
        </p:spPr>
      </p:sp>
      <p:sp>
        <p:nvSpPr>
          <p:cNvPr id="46" name="Shape 39"/>
          <p:cNvSpPr/>
          <p:nvPr/>
        </p:nvSpPr>
        <p:spPr>
          <a:xfrm>
            <a:off x="1645920" y="3895344"/>
            <a:ext cx="292608" cy="292608"/>
          </a:xfrm>
          <a:prstGeom prst="ellipse">
            <a:avLst/>
          </a:prstGeom>
          <a:solidFill>
            <a:srgbClr val="1565C0"/>
          </a:solidFill>
          <a:ln/>
        </p:spPr>
      </p:sp>
      <p:sp>
        <p:nvSpPr>
          <p:cNvPr id="47" name="Shape 40"/>
          <p:cNvSpPr/>
          <p:nvPr/>
        </p:nvSpPr>
        <p:spPr>
          <a:xfrm>
            <a:off x="2029968" y="3895344"/>
            <a:ext cx="292608" cy="292608"/>
          </a:xfrm>
          <a:prstGeom prst="ellipse">
            <a:avLst/>
          </a:prstGeom>
          <a:solidFill>
            <a:srgbClr val="1565C0"/>
          </a:solidFill>
          <a:ln/>
        </p:spPr>
      </p:sp>
      <p:sp>
        <p:nvSpPr>
          <p:cNvPr id="48" name="Shape 41"/>
          <p:cNvSpPr/>
          <p:nvPr/>
        </p:nvSpPr>
        <p:spPr>
          <a:xfrm>
            <a:off x="2414016" y="3895344"/>
            <a:ext cx="292608" cy="292608"/>
          </a:xfrm>
          <a:prstGeom prst="ellipse">
            <a:avLst/>
          </a:prstGeom>
          <a:solidFill>
            <a:srgbClr val="1565C0"/>
          </a:solidFill>
          <a:ln/>
        </p:spPr>
      </p:sp>
      <p:sp>
        <p:nvSpPr>
          <p:cNvPr id="49" name="Shape 42"/>
          <p:cNvSpPr/>
          <p:nvPr/>
        </p:nvSpPr>
        <p:spPr>
          <a:xfrm>
            <a:off x="2798064" y="3895344"/>
            <a:ext cx="292608" cy="292608"/>
          </a:xfrm>
          <a:prstGeom prst="ellipse">
            <a:avLst/>
          </a:prstGeom>
          <a:solidFill>
            <a:srgbClr val="00695C"/>
          </a:solidFill>
          <a:ln/>
        </p:spPr>
      </p:sp>
      <p:sp>
        <p:nvSpPr>
          <p:cNvPr id="50" name="Shape 43"/>
          <p:cNvSpPr/>
          <p:nvPr/>
        </p:nvSpPr>
        <p:spPr>
          <a:xfrm>
            <a:off x="3182112" y="3895344"/>
            <a:ext cx="292608" cy="292608"/>
          </a:xfrm>
          <a:prstGeom prst="ellipse">
            <a:avLst/>
          </a:prstGeom>
          <a:solidFill>
            <a:srgbClr val="00695C"/>
          </a:solidFill>
          <a:ln/>
        </p:spPr>
      </p:sp>
      <p:sp>
        <p:nvSpPr>
          <p:cNvPr id="51" name="Shape 44"/>
          <p:cNvSpPr/>
          <p:nvPr/>
        </p:nvSpPr>
        <p:spPr>
          <a:xfrm>
            <a:off x="3566160" y="3895344"/>
            <a:ext cx="292608" cy="292608"/>
          </a:xfrm>
          <a:prstGeom prst="ellipse">
            <a:avLst/>
          </a:prstGeom>
          <a:solidFill>
            <a:srgbClr val="00695C"/>
          </a:solidFill>
          <a:ln/>
        </p:spPr>
      </p:sp>
      <p:sp>
        <p:nvSpPr>
          <p:cNvPr id="52" name="Shape 45"/>
          <p:cNvSpPr/>
          <p:nvPr/>
        </p:nvSpPr>
        <p:spPr>
          <a:xfrm>
            <a:off x="3950208" y="3895344"/>
            <a:ext cx="292608" cy="292608"/>
          </a:xfrm>
          <a:prstGeom prst="ellipse">
            <a:avLst/>
          </a:prstGeom>
          <a:solidFill>
            <a:srgbClr val="00695C"/>
          </a:solidFill>
          <a:ln/>
        </p:spPr>
      </p:sp>
      <p:sp>
        <p:nvSpPr>
          <p:cNvPr id="53" name="Shape 46"/>
          <p:cNvSpPr/>
          <p:nvPr/>
        </p:nvSpPr>
        <p:spPr>
          <a:xfrm>
            <a:off x="4334256" y="3895344"/>
            <a:ext cx="292608" cy="292608"/>
          </a:xfrm>
          <a:prstGeom prst="ellipse">
            <a:avLst/>
          </a:prstGeom>
          <a:solidFill>
            <a:srgbClr val="00695C"/>
          </a:solidFill>
          <a:ln/>
        </p:spPr>
      </p:sp>
      <p:sp>
        <p:nvSpPr>
          <p:cNvPr id="54" name="Shape 47"/>
          <p:cNvSpPr/>
          <p:nvPr/>
        </p:nvSpPr>
        <p:spPr>
          <a:xfrm>
            <a:off x="4718304" y="3895344"/>
            <a:ext cx="292608" cy="292608"/>
          </a:xfrm>
          <a:prstGeom prst="ellipse">
            <a:avLst/>
          </a:prstGeom>
          <a:solidFill>
            <a:srgbClr val="00695C"/>
          </a:solidFill>
          <a:ln/>
        </p:spPr>
      </p:sp>
      <p:sp>
        <p:nvSpPr>
          <p:cNvPr id="55" name="Shape 48"/>
          <p:cNvSpPr/>
          <p:nvPr/>
        </p:nvSpPr>
        <p:spPr>
          <a:xfrm>
            <a:off x="5102352" y="3895344"/>
            <a:ext cx="292608" cy="292608"/>
          </a:xfrm>
          <a:prstGeom prst="ellipse">
            <a:avLst/>
          </a:prstGeom>
          <a:solidFill>
            <a:srgbClr val="1A237E"/>
          </a:solidFill>
          <a:ln/>
        </p:spPr>
      </p:sp>
      <p:sp>
        <p:nvSpPr>
          <p:cNvPr id="56" name="Shape 49"/>
          <p:cNvSpPr/>
          <p:nvPr/>
        </p:nvSpPr>
        <p:spPr>
          <a:xfrm>
            <a:off x="6611112" y="3849624"/>
            <a:ext cx="128016" cy="128016"/>
          </a:xfrm>
          <a:prstGeom prst="ellipse">
            <a:avLst/>
          </a:prstGeom>
          <a:solidFill>
            <a:srgbClr val="E65100"/>
          </a:solidFill>
          <a:ln/>
        </p:spPr>
      </p:sp>
      <p:sp>
        <p:nvSpPr>
          <p:cNvPr id="57" name="Text 50"/>
          <p:cNvSpPr txBox="1"/>
          <p:nvPr/>
        </p:nvSpPr>
        <p:spPr>
          <a:xfrm>
            <a:off x="6858000" y="3840480"/>
            <a:ext cx="1920240" cy="182880"/>
          </a:xfrm>
          <a:prstGeom prst="rect">
            <a:avLst/>
          </a:prstGeom>
          <a:noFill/>
          <a:ln/>
        </p:spPr>
        <p:txBody>
          <a:bodyPr wrap="square" lIns="0" tIns="0" rIns="0" bIns="0" rtlCol="0" anchor="ctr"/>
          <a:lstStyle/>
          <a:p>
            <a:pPr algn="l" indent="0" marL="0">
              <a:buNone/>
            </a:pPr>
            <a:r>
              <a:rPr lang="en-US" sz="950" dirty="0">
                <a:solidFill>
                  <a:srgbClr val="1F2430"/>
                </a:solidFill>
              </a:rPr>
              <a:t>2  The team alone: ledger, cards and sheet; co-design tests</a:t>
            </a:r>
            <a:endParaRPr lang="en-US" sz="950" dirty="0"/>
          </a:p>
        </p:txBody>
      </p:sp>
      <p:sp>
        <p:nvSpPr>
          <p:cNvPr id="58" name="Shape 51"/>
          <p:cNvSpPr/>
          <p:nvPr/>
        </p:nvSpPr>
        <p:spPr>
          <a:xfrm>
            <a:off x="6611112" y="4050792"/>
            <a:ext cx="128016" cy="128016"/>
          </a:xfrm>
          <a:prstGeom prst="ellipse">
            <a:avLst/>
          </a:prstGeom>
          <a:solidFill>
            <a:srgbClr val="1565C0"/>
          </a:solidFill>
          <a:ln/>
        </p:spPr>
      </p:sp>
      <p:sp>
        <p:nvSpPr>
          <p:cNvPr id="59" name="Text 52"/>
          <p:cNvSpPr txBox="1"/>
          <p:nvPr/>
        </p:nvSpPr>
        <p:spPr>
          <a:xfrm>
            <a:off x="6858000" y="4041648"/>
            <a:ext cx="1920240" cy="182880"/>
          </a:xfrm>
          <a:prstGeom prst="rect">
            <a:avLst/>
          </a:prstGeom>
          <a:noFill/>
          <a:ln/>
        </p:spPr>
        <p:txBody>
          <a:bodyPr wrap="square" lIns="0" tIns="0" rIns="0" bIns="0" rtlCol="0" anchor="ctr"/>
          <a:lstStyle/>
          <a:p>
            <a:pPr algn="l" indent="0" marL="0">
              <a:buNone/>
            </a:pPr>
            <a:r>
              <a:rPr lang="en-US" sz="950" dirty="0">
                <a:solidFill>
                  <a:srgbClr val="1F2430"/>
                </a:solidFill>
              </a:rPr>
              <a:t>4  Convene or support</a:t>
            </a:r>
            <a:endParaRPr lang="en-US" sz="950" dirty="0"/>
          </a:p>
        </p:txBody>
      </p:sp>
      <p:sp>
        <p:nvSpPr>
          <p:cNvPr id="60" name="Shape 53"/>
          <p:cNvSpPr/>
          <p:nvPr/>
        </p:nvSpPr>
        <p:spPr>
          <a:xfrm>
            <a:off x="6611112" y="4251960"/>
            <a:ext cx="128016" cy="128016"/>
          </a:xfrm>
          <a:prstGeom prst="ellipse">
            <a:avLst/>
          </a:prstGeom>
          <a:solidFill>
            <a:srgbClr val="00695C"/>
          </a:solidFill>
          <a:ln/>
        </p:spPr>
      </p:sp>
      <p:sp>
        <p:nvSpPr>
          <p:cNvPr id="61" name="Text 54"/>
          <p:cNvSpPr txBox="1"/>
          <p:nvPr/>
        </p:nvSpPr>
        <p:spPr>
          <a:xfrm>
            <a:off x="6858000" y="4242816"/>
            <a:ext cx="1920240" cy="182880"/>
          </a:xfrm>
          <a:prstGeom prst="rect">
            <a:avLst/>
          </a:prstGeom>
          <a:noFill/>
          <a:ln/>
        </p:spPr>
        <p:txBody>
          <a:bodyPr wrap="square" lIns="0" tIns="0" rIns="0" bIns="0" rtlCol="0" anchor="ctr"/>
          <a:lstStyle/>
          <a:p>
            <a:pPr algn="l" indent="0" marL="0">
              <a:buNone/>
            </a:pPr>
            <a:r>
              <a:rPr lang="en-US" sz="950" dirty="0">
                <a:solidFill>
                  <a:srgbClr val="1F2430"/>
                </a:solidFill>
              </a:rPr>
              <a:t>6  Carried as evidenced proposals</a:t>
            </a:r>
            <a:endParaRPr lang="en-US" sz="950" dirty="0"/>
          </a:p>
        </p:txBody>
      </p:sp>
      <p:sp>
        <p:nvSpPr>
          <p:cNvPr id="62" name="Shape 55"/>
          <p:cNvSpPr/>
          <p:nvPr/>
        </p:nvSpPr>
        <p:spPr>
          <a:xfrm>
            <a:off x="6611112" y="4453128"/>
            <a:ext cx="128016" cy="128016"/>
          </a:xfrm>
          <a:prstGeom prst="ellipse">
            <a:avLst/>
          </a:prstGeom>
          <a:solidFill>
            <a:srgbClr val="1A237E"/>
          </a:solidFill>
          <a:ln/>
        </p:spPr>
      </p:sp>
      <p:sp>
        <p:nvSpPr>
          <p:cNvPr id="63" name="Text 56"/>
          <p:cNvSpPr txBox="1"/>
          <p:nvPr/>
        </p:nvSpPr>
        <p:spPr>
          <a:xfrm>
            <a:off x="6858000" y="4443984"/>
            <a:ext cx="1920240" cy="182880"/>
          </a:xfrm>
          <a:prstGeom prst="rect">
            <a:avLst/>
          </a:prstGeom>
          <a:noFill/>
          <a:ln/>
        </p:spPr>
        <p:txBody>
          <a:bodyPr wrap="square" lIns="0" tIns="0" rIns="0" bIns="0" rtlCol="0" anchor="ctr"/>
          <a:lstStyle/>
          <a:p>
            <a:pPr algn="l" indent="0" marL="0">
              <a:buNone/>
            </a:pPr>
            <a:r>
              <a:rPr lang="en-US" sz="950" dirty="0">
                <a:solidFill>
                  <a:srgbClr val="1F2430"/>
                </a:solidFill>
              </a:rPr>
              <a:t>1  Must complete: handover by week 20</a:t>
            </a:r>
            <a:endParaRPr lang="en-US" sz="950" dirty="0"/>
          </a:p>
        </p:txBody>
      </p:sp>
      <p:sp>
        <p:nvSpPr>
          <p:cNvPr id="64" name="Text 57"/>
          <p:cNvSpPr txBox="1"/>
          <p:nvPr/>
        </p:nvSpPr>
        <p:spPr>
          <a:xfrm>
            <a:off x="457200" y="4370832"/>
            <a:ext cx="7315200" cy="256032"/>
          </a:xfrm>
          <a:prstGeom prst="rect">
            <a:avLst/>
          </a:prstGeom>
          <a:noFill/>
          <a:ln/>
        </p:spPr>
        <p:txBody>
          <a:bodyPr wrap="square" lIns="0" tIns="0" rIns="0" bIns="0" rtlCol="0" anchor="t"/>
          <a:lstStyle/>
          <a:p>
            <a:pPr algn="l" indent="0" marL="0">
              <a:buNone/>
            </a:pPr>
            <a:r>
              <a:rPr lang="en-US" sz="1200" i="1" dirty="0">
                <a:solidFill>
                  <a:srgbClr val="616161"/>
                </a:solidFill>
              </a:rPr>
              <a:t>The Kadamba supervisor decides on the batches; only the rule owner can open the Sunday exit.</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plan runs 20 weeks, and the fundamental fix keeps fixed dates whatever the pilot shows</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sp>
        <p:nvSpPr>
          <p:cNvPr id="15" name="Shape 13"/>
          <p:cNvSpPr/>
          <p:nvPr/>
        </p:nvSpPr>
        <p:spPr>
          <a:xfrm>
            <a:off x="1645920" y="1234440"/>
            <a:ext cx="1732788" cy="237744"/>
          </a:xfrm>
          <a:prstGeom prst="roundRect">
            <a:avLst>
              <a:gd name="adj" fmla="val 19231"/>
            </a:avLst>
          </a:prstGeom>
          <a:solidFill>
            <a:srgbClr val="2E7D32"/>
          </a:solidFill>
          <a:ln/>
        </p:spPr>
      </p:sp>
      <p:sp>
        <p:nvSpPr>
          <p:cNvPr id="16" name="Text 14"/>
          <p:cNvSpPr txBox="1"/>
          <p:nvPr/>
        </p:nvSpPr>
        <p:spPr>
          <a:xfrm>
            <a:off x="1645920" y="1234440"/>
            <a:ext cx="1732788" cy="237744"/>
          </a:xfrm>
          <a:prstGeom prst="rect">
            <a:avLst/>
          </a:prstGeom>
          <a:noFill/>
          <a:ln/>
        </p:spPr>
        <p:txBody>
          <a:bodyPr wrap="square" lIns="0" tIns="0" rIns="0" bIns="0" rtlCol="0" anchor="ctr"/>
          <a:lstStyle/>
          <a:p>
            <a:pPr algn="ctr" indent="0" marL="0">
              <a:buNone/>
            </a:pPr>
            <a:r>
              <a:rPr lang="en-US" sz="950" b="1" dirty="0">
                <a:solidFill>
                  <a:srgbClr val="FFFFFF"/>
                </a:solidFill>
              </a:rPr>
              <a:t>Stage 1  weeks 0 to 4</a:t>
            </a:r>
            <a:endParaRPr lang="en-US" sz="950" dirty="0"/>
          </a:p>
        </p:txBody>
      </p:sp>
      <p:sp>
        <p:nvSpPr>
          <p:cNvPr id="17" name="Shape 15"/>
          <p:cNvSpPr/>
          <p:nvPr/>
        </p:nvSpPr>
        <p:spPr>
          <a:xfrm>
            <a:off x="3406140" y="1234440"/>
            <a:ext cx="1380744" cy="237744"/>
          </a:xfrm>
          <a:prstGeom prst="roundRect">
            <a:avLst>
              <a:gd name="adj" fmla="val 19231"/>
            </a:avLst>
          </a:prstGeom>
          <a:solidFill>
            <a:srgbClr val="1565C0"/>
          </a:solidFill>
          <a:ln/>
        </p:spPr>
      </p:sp>
      <p:sp>
        <p:nvSpPr>
          <p:cNvPr id="18" name="Text 16"/>
          <p:cNvSpPr txBox="1"/>
          <p:nvPr/>
        </p:nvSpPr>
        <p:spPr>
          <a:xfrm>
            <a:off x="3406140" y="1234440"/>
            <a:ext cx="1380744" cy="237744"/>
          </a:xfrm>
          <a:prstGeom prst="rect">
            <a:avLst/>
          </a:prstGeom>
          <a:noFill/>
          <a:ln/>
        </p:spPr>
        <p:txBody>
          <a:bodyPr wrap="square" lIns="0" tIns="0" rIns="0" bIns="0" rtlCol="0" anchor="ctr"/>
          <a:lstStyle/>
          <a:p>
            <a:pPr algn="ctr" indent="0" marL="0">
              <a:buNone/>
            </a:pPr>
            <a:r>
              <a:rPr lang="en-US" sz="950" b="1" dirty="0">
                <a:solidFill>
                  <a:srgbClr val="FFFFFF"/>
                </a:solidFill>
              </a:rPr>
              <a:t>Stage 2  weeks 5 to 8</a:t>
            </a:r>
            <a:endParaRPr lang="en-US" sz="950" dirty="0"/>
          </a:p>
        </p:txBody>
      </p:sp>
      <p:sp>
        <p:nvSpPr>
          <p:cNvPr id="19" name="Shape 17"/>
          <p:cNvSpPr/>
          <p:nvPr/>
        </p:nvSpPr>
        <p:spPr>
          <a:xfrm>
            <a:off x="4814316" y="1234440"/>
            <a:ext cx="3845052" cy="237744"/>
          </a:xfrm>
          <a:prstGeom prst="roundRect">
            <a:avLst>
              <a:gd name="adj" fmla="val 19231"/>
            </a:avLst>
          </a:prstGeom>
          <a:solidFill>
            <a:srgbClr val="6A1B9A"/>
          </a:solidFill>
          <a:ln/>
        </p:spPr>
      </p:sp>
      <p:sp>
        <p:nvSpPr>
          <p:cNvPr id="20" name="Text 18"/>
          <p:cNvSpPr txBox="1"/>
          <p:nvPr/>
        </p:nvSpPr>
        <p:spPr>
          <a:xfrm>
            <a:off x="4814316" y="1234440"/>
            <a:ext cx="3845052" cy="237744"/>
          </a:xfrm>
          <a:prstGeom prst="rect">
            <a:avLst/>
          </a:prstGeom>
          <a:noFill/>
          <a:ln/>
        </p:spPr>
        <p:txBody>
          <a:bodyPr wrap="square" lIns="0" tIns="0" rIns="0" bIns="0" rtlCol="0" anchor="ctr"/>
          <a:lstStyle/>
          <a:p>
            <a:pPr algn="ctr" indent="0" marL="0">
              <a:buNone/>
            </a:pPr>
            <a:r>
              <a:rPr lang="en-US" sz="950" b="1" dirty="0">
                <a:solidFill>
                  <a:srgbClr val="FFFFFF"/>
                </a:solidFill>
              </a:rPr>
              <a:t>Stage 3  weeks 9 to 20</a:t>
            </a:r>
            <a:endParaRPr lang="en-US" sz="950" dirty="0"/>
          </a:p>
        </p:txBody>
      </p:sp>
      <p:sp>
        <p:nvSpPr>
          <p:cNvPr id="21" name="Text 19"/>
          <p:cNvSpPr txBox="1"/>
          <p:nvPr/>
        </p:nvSpPr>
        <p:spPr>
          <a:xfrm>
            <a:off x="1463040" y="148132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0</a:t>
            </a:r>
            <a:endParaRPr lang="en-US" sz="950" dirty="0"/>
          </a:p>
        </p:txBody>
      </p:sp>
      <p:sp>
        <p:nvSpPr>
          <p:cNvPr id="22" name="Text 20"/>
          <p:cNvSpPr txBox="1"/>
          <p:nvPr/>
        </p:nvSpPr>
        <p:spPr>
          <a:xfrm>
            <a:off x="2871216" y="148132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4</a:t>
            </a:r>
            <a:endParaRPr lang="en-US" sz="950" dirty="0"/>
          </a:p>
        </p:txBody>
      </p:sp>
      <p:sp>
        <p:nvSpPr>
          <p:cNvPr id="23" name="Text 21"/>
          <p:cNvSpPr txBox="1"/>
          <p:nvPr/>
        </p:nvSpPr>
        <p:spPr>
          <a:xfrm>
            <a:off x="4279392" y="148132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8</a:t>
            </a:r>
            <a:endParaRPr lang="en-US" sz="950" dirty="0"/>
          </a:p>
        </p:txBody>
      </p:sp>
      <p:sp>
        <p:nvSpPr>
          <p:cNvPr id="24" name="Text 22"/>
          <p:cNvSpPr txBox="1"/>
          <p:nvPr/>
        </p:nvSpPr>
        <p:spPr>
          <a:xfrm>
            <a:off x="5687568" y="148132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12</a:t>
            </a:r>
            <a:endParaRPr lang="en-US" sz="950" dirty="0"/>
          </a:p>
        </p:txBody>
      </p:sp>
      <p:sp>
        <p:nvSpPr>
          <p:cNvPr id="25" name="Text 23"/>
          <p:cNvSpPr txBox="1"/>
          <p:nvPr/>
        </p:nvSpPr>
        <p:spPr>
          <a:xfrm>
            <a:off x="7095744" y="148132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16</a:t>
            </a:r>
            <a:endParaRPr lang="en-US" sz="950" dirty="0"/>
          </a:p>
        </p:txBody>
      </p:sp>
      <p:sp>
        <p:nvSpPr>
          <p:cNvPr id="26" name="Text 24"/>
          <p:cNvSpPr txBox="1"/>
          <p:nvPr/>
        </p:nvSpPr>
        <p:spPr>
          <a:xfrm>
            <a:off x="8503920" y="148132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20</a:t>
            </a:r>
            <a:endParaRPr lang="en-US" sz="950" dirty="0"/>
          </a:p>
        </p:txBody>
      </p:sp>
      <p:sp>
        <p:nvSpPr>
          <p:cNvPr id="27" name="Text 25"/>
          <p:cNvSpPr txBox="1"/>
          <p:nvPr/>
        </p:nvSpPr>
        <p:spPr>
          <a:xfrm>
            <a:off x="457200" y="1691640"/>
            <a:ext cx="1143000" cy="457200"/>
          </a:xfrm>
          <a:prstGeom prst="rect">
            <a:avLst/>
          </a:prstGeom>
          <a:noFill/>
          <a:ln/>
        </p:spPr>
        <p:txBody>
          <a:bodyPr wrap="square" lIns="0" tIns="0" rIns="0" bIns="0" rtlCol="0" anchor="ctr"/>
          <a:lstStyle/>
          <a:p>
            <a:pPr algn="l" indent="0" marL="0">
              <a:buNone/>
            </a:pPr>
            <a:r>
              <a:rPr lang="en-US" sz="1000" b="1" dirty="0">
                <a:solidFill>
                  <a:srgbClr val="1F2430"/>
                </a:solidFill>
              </a:rPr>
              <a:t>Fundamental fix</a:t>
            </a:r>
            <a:endParaRPr lang="en-US" sz="1000" dirty="0"/>
          </a:p>
        </p:txBody>
      </p:sp>
      <p:sp>
        <p:nvSpPr>
          <p:cNvPr id="28" name="Shape 26"/>
          <p:cNvSpPr/>
          <p:nvPr/>
        </p:nvSpPr>
        <p:spPr>
          <a:xfrm>
            <a:off x="1645920" y="1691640"/>
            <a:ext cx="1371600" cy="493776"/>
          </a:xfrm>
          <a:prstGeom prst="roundRect">
            <a:avLst>
              <a:gd name="adj" fmla="val 14815"/>
            </a:avLst>
          </a:prstGeom>
          <a:solidFill>
            <a:srgbClr val="E0F2F1"/>
          </a:solidFill>
          <a:ln w="12700">
            <a:solidFill>
              <a:srgbClr val="00695C"/>
            </a:solidFill>
            <a:prstDash val="solid"/>
          </a:ln>
        </p:spPr>
      </p:sp>
      <p:sp>
        <p:nvSpPr>
          <p:cNvPr id="29" name="Text 27"/>
          <p:cNvSpPr txBox="1"/>
          <p:nvPr/>
        </p:nvSpPr>
        <p:spPr>
          <a:xfrm>
            <a:off x="1700784" y="1691640"/>
            <a:ext cx="1261872" cy="493776"/>
          </a:xfrm>
          <a:prstGeom prst="rect">
            <a:avLst/>
          </a:prstGeom>
          <a:noFill/>
          <a:ln/>
        </p:spPr>
        <p:txBody>
          <a:bodyPr wrap="square" lIns="0" tIns="0" rIns="0" bIns="0" rtlCol="0" anchor="ctr"/>
          <a:lstStyle/>
          <a:p>
            <a:pPr algn="l" indent="0" marL="0">
              <a:buNone/>
            </a:pPr>
            <a:r>
              <a:rPr lang="en-US" sz="950" dirty="0">
                <a:solidFill>
                  <a:srgbClr val="1F2430"/>
                </a:solidFill>
              </a:rPr>
              <a:t>Ledger, charge line, co-design tests</a:t>
            </a:r>
            <a:endParaRPr lang="en-US" sz="950" dirty="0"/>
          </a:p>
        </p:txBody>
      </p:sp>
      <p:sp>
        <p:nvSpPr>
          <p:cNvPr id="30" name="Shape 28"/>
          <p:cNvSpPr/>
          <p:nvPr/>
        </p:nvSpPr>
        <p:spPr>
          <a:xfrm>
            <a:off x="3582162" y="1691640"/>
            <a:ext cx="1547622" cy="493776"/>
          </a:xfrm>
          <a:prstGeom prst="roundRect">
            <a:avLst>
              <a:gd name="adj" fmla="val 14815"/>
            </a:avLst>
          </a:prstGeom>
          <a:solidFill>
            <a:srgbClr val="E0F2F1"/>
          </a:solidFill>
          <a:ln w="12700">
            <a:solidFill>
              <a:srgbClr val="00695C"/>
            </a:solidFill>
            <a:prstDash val="solid"/>
          </a:ln>
        </p:spPr>
      </p:sp>
      <p:sp>
        <p:nvSpPr>
          <p:cNvPr id="31" name="Text 29"/>
          <p:cNvSpPr txBox="1"/>
          <p:nvPr/>
        </p:nvSpPr>
        <p:spPr>
          <a:xfrm>
            <a:off x="3637026" y="1691640"/>
            <a:ext cx="1437894" cy="493776"/>
          </a:xfrm>
          <a:prstGeom prst="rect">
            <a:avLst/>
          </a:prstGeom>
          <a:noFill/>
          <a:ln/>
        </p:spPr>
        <p:txBody>
          <a:bodyPr wrap="square" lIns="0" tIns="0" rIns="0" bIns="0" rtlCol="0" anchor="ctr"/>
          <a:lstStyle/>
          <a:p>
            <a:pPr algn="l" indent="0" marL="0">
              <a:buNone/>
            </a:pPr>
            <a:r>
              <a:rPr lang="en-US" sz="950" dirty="0">
                <a:solidFill>
                  <a:srgbClr val="1F2430"/>
                </a:solidFill>
              </a:rPr>
              <a:t>Sunday skip proposed at week 6, in force about week 10</a:t>
            </a:r>
            <a:endParaRPr lang="en-US" sz="950" dirty="0"/>
          </a:p>
        </p:txBody>
      </p:sp>
      <p:sp>
        <p:nvSpPr>
          <p:cNvPr id="32" name="Shape 30"/>
          <p:cNvSpPr/>
          <p:nvPr/>
        </p:nvSpPr>
        <p:spPr>
          <a:xfrm>
            <a:off x="5236769" y="1691640"/>
            <a:ext cx="3413455" cy="493776"/>
          </a:xfrm>
          <a:prstGeom prst="roundRect">
            <a:avLst>
              <a:gd name="adj" fmla="val 14815"/>
            </a:avLst>
          </a:prstGeom>
          <a:solidFill>
            <a:srgbClr val="E0F2F1"/>
          </a:solidFill>
          <a:ln w="12700">
            <a:solidFill>
              <a:srgbClr val="00695C"/>
            </a:solidFill>
            <a:prstDash val="solid"/>
          </a:ln>
        </p:spPr>
      </p:sp>
      <p:sp>
        <p:nvSpPr>
          <p:cNvPr id="33" name="Text 31"/>
          <p:cNvSpPr txBox="1"/>
          <p:nvPr/>
        </p:nvSpPr>
        <p:spPr>
          <a:xfrm>
            <a:off x="5291633" y="1691640"/>
            <a:ext cx="3303727" cy="493776"/>
          </a:xfrm>
          <a:prstGeom prst="rect">
            <a:avLst/>
          </a:prstGeom>
          <a:noFill/>
          <a:ln/>
        </p:spPr>
        <p:txBody>
          <a:bodyPr wrap="square" lIns="0" tIns="0" rIns="0" bIns="0" rtlCol="0" anchor="ctr"/>
          <a:lstStyle/>
          <a:p>
            <a:pPr algn="l" indent="0" marL="0">
              <a:buNone/>
            </a:pPr>
            <a:r>
              <a:rPr lang="en-US" sz="950" dirty="0">
                <a:solidFill>
                  <a:srgbClr val="1F2430"/>
                </a:solidFill>
              </a:rPr>
              <a:t>Every-day skip decision at week 14; operator forum; menu notes</a:t>
            </a:r>
            <a:endParaRPr lang="en-US" sz="950" dirty="0"/>
          </a:p>
        </p:txBody>
      </p:sp>
      <p:sp>
        <p:nvSpPr>
          <p:cNvPr id="34" name="Text 32"/>
          <p:cNvSpPr txBox="1"/>
          <p:nvPr/>
        </p:nvSpPr>
        <p:spPr>
          <a:xfrm>
            <a:off x="457200" y="2240280"/>
            <a:ext cx="1143000" cy="457200"/>
          </a:xfrm>
          <a:prstGeom prst="rect">
            <a:avLst/>
          </a:prstGeom>
          <a:noFill/>
          <a:ln/>
        </p:spPr>
        <p:txBody>
          <a:bodyPr wrap="square" lIns="0" tIns="0" rIns="0" bIns="0" rtlCol="0" anchor="ctr"/>
          <a:lstStyle/>
          <a:p>
            <a:pPr algn="l" indent="0" marL="0">
              <a:buNone/>
            </a:pPr>
            <a:r>
              <a:rPr lang="en-US" sz="1000" b="1" dirty="0">
                <a:solidFill>
                  <a:srgbClr val="8D4A00"/>
                </a:solidFill>
              </a:rPr>
              <a:t>Quick fix</a:t>
            </a:r>
            <a:endParaRPr lang="en-US" sz="1000" dirty="0"/>
          </a:p>
        </p:txBody>
      </p:sp>
      <p:sp>
        <p:nvSpPr>
          <p:cNvPr id="35" name="Shape 33"/>
          <p:cNvSpPr/>
          <p:nvPr/>
        </p:nvSpPr>
        <p:spPr>
          <a:xfrm>
            <a:off x="1645920" y="2240280"/>
            <a:ext cx="1371600" cy="493776"/>
          </a:xfrm>
          <a:prstGeom prst="roundRect">
            <a:avLst>
              <a:gd name="adj" fmla="val 14815"/>
            </a:avLst>
          </a:prstGeom>
          <a:solidFill>
            <a:srgbClr val="FFF8E1"/>
          </a:solidFill>
          <a:ln w="12700">
            <a:solidFill>
              <a:srgbClr val="F57F17"/>
            </a:solidFill>
            <a:prstDash val="solid"/>
          </a:ln>
        </p:spPr>
      </p:sp>
      <p:sp>
        <p:nvSpPr>
          <p:cNvPr id="36" name="Text 34"/>
          <p:cNvSpPr txBox="1"/>
          <p:nvPr/>
        </p:nvSpPr>
        <p:spPr>
          <a:xfrm>
            <a:off x="1700784" y="2240280"/>
            <a:ext cx="1261872" cy="493776"/>
          </a:xfrm>
          <a:prstGeom prst="rect">
            <a:avLst/>
          </a:prstGeom>
          <a:noFill/>
          <a:ln/>
        </p:spPr>
        <p:txBody>
          <a:bodyPr wrap="square" lIns="0" tIns="0" rIns="0" bIns="0" rtlCol="0" anchor="ctr"/>
          <a:lstStyle/>
          <a:p>
            <a:pPr algn="l" indent="0" marL="0">
              <a:buNone/>
            </a:pPr>
            <a:r>
              <a:rPr lang="en-US" sz="950" dirty="0">
                <a:solidFill>
                  <a:srgbClr val="1F2430"/>
                </a:solidFill>
              </a:rPr>
              <a:t>Cards and sheet drafted with the supervisor</a:t>
            </a:r>
            <a:endParaRPr lang="en-US" sz="950" dirty="0"/>
          </a:p>
        </p:txBody>
      </p:sp>
      <p:sp>
        <p:nvSpPr>
          <p:cNvPr id="37" name="Shape 35"/>
          <p:cNvSpPr/>
          <p:nvPr/>
        </p:nvSpPr>
        <p:spPr>
          <a:xfrm>
            <a:off x="3406140" y="2240280"/>
            <a:ext cx="1723644" cy="493776"/>
          </a:xfrm>
          <a:prstGeom prst="roundRect">
            <a:avLst>
              <a:gd name="adj" fmla="val 14815"/>
            </a:avLst>
          </a:prstGeom>
          <a:solidFill>
            <a:srgbClr val="FFF8E1"/>
          </a:solidFill>
          <a:ln w="12700">
            <a:solidFill>
              <a:srgbClr val="F57F17"/>
            </a:solidFill>
            <a:prstDash val="solid"/>
          </a:ln>
        </p:spPr>
      </p:sp>
      <p:sp>
        <p:nvSpPr>
          <p:cNvPr id="38" name="Text 36"/>
          <p:cNvSpPr txBox="1"/>
          <p:nvPr/>
        </p:nvSpPr>
        <p:spPr>
          <a:xfrm>
            <a:off x="3461004" y="2240280"/>
            <a:ext cx="1613916" cy="493776"/>
          </a:xfrm>
          <a:prstGeom prst="rect">
            <a:avLst/>
          </a:prstGeom>
          <a:noFill/>
          <a:ln/>
        </p:spPr>
        <p:txBody>
          <a:bodyPr wrap="square" lIns="0" tIns="0" rIns="0" bIns="0" rtlCol="0" anchor="ctr"/>
          <a:lstStyle/>
          <a:p>
            <a:pPr algn="l" indent="0" marL="0">
              <a:buNone/>
            </a:pPr>
            <a:r>
              <a:rPr lang="en-US" sz="950" dirty="0">
                <a:solidFill>
                  <a:srgbClr val="1F2430"/>
                </a:solidFill>
              </a:rPr>
              <a:t>Sunday vegetarian pilot: card, allowance, 9:00 batch, sheet</a:t>
            </a:r>
            <a:endParaRPr lang="en-US" sz="950" dirty="0"/>
          </a:p>
        </p:txBody>
      </p:sp>
      <p:sp>
        <p:nvSpPr>
          <p:cNvPr id="39" name="Shape 37"/>
          <p:cNvSpPr/>
          <p:nvPr/>
        </p:nvSpPr>
        <p:spPr>
          <a:xfrm>
            <a:off x="5236769" y="2240280"/>
            <a:ext cx="3413455" cy="493776"/>
          </a:xfrm>
          <a:prstGeom prst="roundRect">
            <a:avLst>
              <a:gd name="adj" fmla="val 14815"/>
            </a:avLst>
          </a:prstGeom>
          <a:solidFill>
            <a:srgbClr val="FFF8E1"/>
          </a:solidFill>
          <a:ln w="12700">
            <a:solidFill>
              <a:srgbClr val="F57F17"/>
            </a:solidFill>
            <a:prstDash val="solid"/>
          </a:ln>
        </p:spPr>
      </p:sp>
      <p:sp>
        <p:nvSpPr>
          <p:cNvPr id="40" name="Text 38"/>
          <p:cNvSpPr txBox="1"/>
          <p:nvPr/>
        </p:nvSpPr>
        <p:spPr>
          <a:xfrm>
            <a:off x="5291633" y="2240280"/>
            <a:ext cx="3303727" cy="493776"/>
          </a:xfrm>
          <a:prstGeom prst="rect">
            <a:avLst/>
          </a:prstGeom>
          <a:noFill/>
          <a:ln/>
        </p:spPr>
        <p:txBody>
          <a:bodyPr wrap="square" lIns="0" tIns="0" rIns="0" bIns="0" rtlCol="0" anchor="ctr"/>
          <a:lstStyle/>
          <a:p>
            <a:pPr algn="l" indent="0" marL="0">
              <a:buNone/>
            </a:pPr>
            <a:r>
              <a:rPr lang="en-US" sz="950" dirty="0">
                <a:solidFill>
                  <a:srgbClr val="1F2430"/>
                </a:solidFill>
              </a:rPr>
              <a:t>Every day, both lines; Yuktāhār re-anchors</a:t>
            </a:r>
            <a:endParaRPr lang="en-US" sz="950" dirty="0"/>
          </a:p>
        </p:txBody>
      </p:sp>
      <p:sp>
        <p:nvSpPr>
          <p:cNvPr id="41" name="Text 39"/>
          <p:cNvSpPr txBox="1"/>
          <p:nvPr/>
        </p:nvSpPr>
        <p:spPr>
          <a:xfrm>
            <a:off x="457200" y="2788920"/>
            <a:ext cx="1143000" cy="457200"/>
          </a:xfrm>
          <a:prstGeom prst="rect">
            <a:avLst/>
          </a:prstGeom>
          <a:noFill/>
          <a:ln/>
        </p:spPr>
        <p:txBody>
          <a:bodyPr wrap="square" lIns="0" tIns="0" rIns="0" bIns="0" rtlCol="0" anchor="ctr"/>
          <a:lstStyle/>
          <a:p>
            <a:pPr algn="l" indent="0" marL="0">
              <a:buNone/>
            </a:pPr>
            <a:r>
              <a:rPr lang="en-US" sz="1000" b="1" dirty="0">
                <a:solidFill>
                  <a:srgbClr val="1F2430"/>
                </a:solidFill>
              </a:rPr>
              <a:t>Handover</a:t>
            </a:r>
            <a:endParaRPr lang="en-US" sz="1000" dirty="0"/>
          </a:p>
        </p:txBody>
      </p:sp>
      <p:sp>
        <p:nvSpPr>
          <p:cNvPr id="42" name="Shape 40"/>
          <p:cNvSpPr/>
          <p:nvPr/>
        </p:nvSpPr>
        <p:spPr>
          <a:xfrm>
            <a:off x="5236769" y="2788920"/>
            <a:ext cx="3413455" cy="384048"/>
          </a:xfrm>
          <a:prstGeom prst="roundRect">
            <a:avLst>
              <a:gd name="adj" fmla="val 19048"/>
            </a:avLst>
          </a:prstGeom>
          <a:solidFill>
            <a:srgbClr val="F2F2F2"/>
          </a:solidFill>
          <a:ln w="12700">
            <a:solidFill>
              <a:srgbClr val="616161"/>
            </a:solidFill>
            <a:prstDash val="solid"/>
          </a:ln>
        </p:spPr>
      </p:sp>
      <p:sp>
        <p:nvSpPr>
          <p:cNvPr id="43" name="Text 41"/>
          <p:cNvSpPr txBox="1"/>
          <p:nvPr/>
        </p:nvSpPr>
        <p:spPr>
          <a:xfrm>
            <a:off x="5291633" y="2788920"/>
            <a:ext cx="3303727" cy="384048"/>
          </a:xfrm>
          <a:prstGeom prst="rect">
            <a:avLst/>
          </a:prstGeom>
          <a:noFill/>
          <a:ln/>
        </p:spPr>
        <p:txBody>
          <a:bodyPr wrap="square" lIns="0" tIns="0" rIns="0" bIns="0" rtlCol="0" anchor="ctr"/>
          <a:lstStyle/>
          <a:p>
            <a:pPr algn="l" indent="0" marL="0">
              <a:buNone/>
            </a:pPr>
            <a:r>
              <a:rPr lang="en-US" sz="950" dirty="0">
                <a:solidFill>
                  <a:srgbClr val="1F2430"/>
                </a:solidFill>
              </a:rPr>
              <a:t>Week 16 the dining services body compiles with the team; week 18 alone; week 20 the team steps back</a:t>
            </a:r>
            <a:endParaRPr lang="en-US" sz="950" dirty="0"/>
          </a:p>
        </p:txBody>
      </p:sp>
      <p:sp>
        <p:nvSpPr>
          <p:cNvPr id="44" name="Text 42"/>
          <p:cNvSpPr txBox="1"/>
          <p:nvPr/>
        </p:nvSpPr>
        <p:spPr>
          <a:xfrm>
            <a:off x="457200" y="3246120"/>
            <a:ext cx="1143000" cy="457200"/>
          </a:xfrm>
          <a:prstGeom prst="rect">
            <a:avLst/>
          </a:prstGeom>
          <a:noFill/>
          <a:ln/>
        </p:spPr>
        <p:txBody>
          <a:bodyPr wrap="square" lIns="0" tIns="0" rIns="0" bIns="0" rtlCol="0" anchor="ctr"/>
          <a:lstStyle/>
          <a:p>
            <a:pPr algn="l" indent="0" marL="0">
              <a:buNone/>
            </a:pPr>
            <a:r>
              <a:rPr lang="en-US" sz="1000" b="1" dirty="0">
                <a:solidFill>
                  <a:srgbClr val="1F2430"/>
                </a:solidFill>
              </a:rPr>
              <a:t>Held until facts are known</a:t>
            </a:r>
            <a:endParaRPr lang="en-US" sz="1000" dirty="0"/>
          </a:p>
        </p:txBody>
      </p:sp>
      <p:sp>
        <p:nvSpPr>
          <p:cNvPr id="45" name="Shape 43"/>
          <p:cNvSpPr/>
          <p:nvPr/>
        </p:nvSpPr>
        <p:spPr>
          <a:xfrm>
            <a:off x="1645920" y="3246120"/>
            <a:ext cx="7004304" cy="365760"/>
          </a:xfrm>
          <a:prstGeom prst="roundRect">
            <a:avLst>
              <a:gd name="adj" fmla="val 20000"/>
            </a:avLst>
          </a:prstGeom>
          <a:solidFill>
            <a:srgbClr val="FDECEA"/>
          </a:solidFill>
          <a:ln w="12700">
            <a:solidFill>
              <a:srgbClr val="C62828"/>
            </a:solidFill>
            <a:prstDash val="dash"/>
          </a:ln>
        </p:spPr>
      </p:sp>
      <p:sp>
        <p:nvSpPr>
          <p:cNvPr id="46" name="Text 44"/>
          <p:cNvSpPr txBox="1"/>
          <p:nvPr/>
        </p:nvSpPr>
        <p:spPr>
          <a:xfrm>
            <a:off x="1700784" y="3246120"/>
            <a:ext cx="6894576" cy="365760"/>
          </a:xfrm>
          <a:prstGeom prst="rect">
            <a:avLst/>
          </a:prstGeom>
          <a:noFill/>
          <a:ln/>
        </p:spPr>
        <p:txBody>
          <a:bodyPr wrap="square" lIns="0" tIns="0" rIns="0" bIns="0" rtlCol="0" anchor="ctr"/>
          <a:lstStyle/>
          <a:p>
            <a:pPr algn="l" indent="0" marL="0">
              <a:buNone/>
            </a:pPr>
            <a:r>
              <a:rPr lang="en-US" sz="950" dirty="0">
                <a:solidFill>
                  <a:srgbClr val="1F2430"/>
                </a:solidFill>
              </a:rPr>
              <a:t>Billing and payment basis (LP10); a named owner (LP9); Bakul once it has records</a:t>
            </a:r>
            <a:endParaRPr lang="en-US" sz="950" dirty="0"/>
          </a:p>
        </p:txBody>
      </p:sp>
      <p:sp>
        <p:nvSpPr>
          <p:cNvPr id="47" name="Shape 45"/>
          <p:cNvSpPr/>
          <p:nvPr/>
        </p:nvSpPr>
        <p:spPr>
          <a:xfrm>
            <a:off x="2980944" y="3648456"/>
            <a:ext cx="146304" cy="146304"/>
          </a:xfrm>
          <a:prstGeom prst="ellipse">
            <a:avLst/>
          </a:prstGeom>
          <a:solidFill>
            <a:srgbClr val="C62828"/>
          </a:solidFill>
          <a:ln/>
        </p:spPr>
      </p:sp>
      <p:sp>
        <p:nvSpPr>
          <p:cNvPr id="48" name="Text 46"/>
          <p:cNvSpPr txBox="1"/>
          <p:nvPr/>
        </p:nvSpPr>
        <p:spPr>
          <a:xfrm>
            <a:off x="2505456" y="3785616"/>
            <a:ext cx="1097280" cy="164592"/>
          </a:xfrm>
          <a:prstGeom prst="rect">
            <a:avLst/>
          </a:prstGeom>
          <a:noFill/>
          <a:ln/>
        </p:spPr>
        <p:txBody>
          <a:bodyPr wrap="square" lIns="0" tIns="0" rIns="0" bIns="0" rtlCol="0" anchor="t"/>
          <a:lstStyle/>
          <a:p>
            <a:pPr algn="ctr" indent="0" marL="0">
              <a:buNone/>
            </a:pPr>
            <a:r>
              <a:rPr lang="en-US" sz="900" b="1" dirty="0">
                <a:solidFill>
                  <a:srgbClr val="C62828"/>
                </a:solidFill>
              </a:rPr>
              <a:t>joint reading</a:t>
            </a:r>
            <a:endParaRPr lang="en-US" sz="900" dirty="0"/>
          </a:p>
        </p:txBody>
      </p:sp>
      <p:sp>
        <p:nvSpPr>
          <p:cNvPr id="49" name="Shape 47"/>
          <p:cNvSpPr/>
          <p:nvPr/>
        </p:nvSpPr>
        <p:spPr>
          <a:xfrm>
            <a:off x="3685032" y="3648456"/>
            <a:ext cx="146304" cy="146304"/>
          </a:xfrm>
          <a:prstGeom prst="ellipse">
            <a:avLst/>
          </a:prstGeom>
          <a:solidFill>
            <a:srgbClr val="C62828"/>
          </a:solidFill>
          <a:ln/>
        </p:spPr>
      </p:sp>
      <p:sp>
        <p:nvSpPr>
          <p:cNvPr id="50" name="Text 48"/>
          <p:cNvSpPr txBox="1"/>
          <p:nvPr/>
        </p:nvSpPr>
        <p:spPr>
          <a:xfrm>
            <a:off x="3209544" y="3785616"/>
            <a:ext cx="1097280" cy="164592"/>
          </a:xfrm>
          <a:prstGeom prst="rect">
            <a:avLst/>
          </a:prstGeom>
          <a:noFill/>
          <a:ln/>
        </p:spPr>
        <p:txBody>
          <a:bodyPr wrap="square" lIns="0" tIns="0" rIns="0" bIns="0" rtlCol="0" anchor="t"/>
          <a:lstStyle/>
          <a:p>
            <a:pPr algn="ctr" indent="0" marL="0">
              <a:buNone/>
            </a:pPr>
            <a:r>
              <a:rPr lang="en-US" sz="900" b="1" dirty="0">
                <a:solidFill>
                  <a:srgbClr val="C62828"/>
                </a:solidFill>
              </a:rPr>
              <a:t>DP1</a:t>
            </a:r>
            <a:endParaRPr lang="en-US" sz="900" dirty="0"/>
          </a:p>
        </p:txBody>
      </p:sp>
      <p:sp>
        <p:nvSpPr>
          <p:cNvPr id="51" name="Shape 49"/>
          <p:cNvSpPr/>
          <p:nvPr/>
        </p:nvSpPr>
        <p:spPr>
          <a:xfrm>
            <a:off x="5093208" y="3648456"/>
            <a:ext cx="146304" cy="146304"/>
          </a:xfrm>
          <a:prstGeom prst="ellipse">
            <a:avLst/>
          </a:prstGeom>
          <a:solidFill>
            <a:srgbClr val="C62828"/>
          </a:solidFill>
          <a:ln/>
        </p:spPr>
      </p:sp>
      <p:sp>
        <p:nvSpPr>
          <p:cNvPr id="52" name="Text 50"/>
          <p:cNvSpPr txBox="1"/>
          <p:nvPr/>
        </p:nvSpPr>
        <p:spPr>
          <a:xfrm>
            <a:off x="4617720" y="3785616"/>
            <a:ext cx="1097280" cy="164592"/>
          </a:xfrm>
          <a:prstGeom prst="rect">
            <a:avLst/>
          </a:prstGeom>
          <a:noFill/>
          <a:ln/>
        </p:spPr>
        <p:txBody>
          <a:bodyPr wrap="square" lIns="0" tIns="0" rIns="0" bIns="0" rtlCol="0" anchor="t"/>
          <a:lstStyle/>
          <a:p>
            <a:pPr algn="ctr" indent="0" marL="0">
              <a:buNone/>
            </a:pPr>
            <a:r>
              <a:rPr lang="en-US" sz="900" b="1" dirty="0">
                <a:solidFill>
                  <a:srgbClr val="C62828"/>
                </a:solidFill>
              </a:rPr>
              <a:t>skip in force</a:t>
            </a:r>
            <a:endParaRPr lang="en-US" sz="900" dirty="0"/>
          </a:p>
        </p:txBody>
      </p:sp>
      <p:sp>
        <p:nvSpPr>
          <p:cNvPr id="53" name="Shape 51"/>
          <p:cNvSpPr/>
          <p:nvPr/>
        </p:nvSpPr>
        <p:spPr>
          <a:xfrm>
            <a:off x="6501384" y="3648456"/>
            <a:ext cx="146304" cy="146304"/>
          </a:xfrm>
          <a:prstGeom prst="ellipse">
            <a:avLst/>
          </a:prstGeom>
          <a:solidFill>
            <a:srgbClr val="C62828"/>
          </a:solidFill>
          <a:ln/>
        </p:spPr>
      </p:sp>
      <p:sp>
        <p:nvSpPr>
          <p:cNvPr id="54" name="Text 52"/>
          <p:cNvSpPr txBox="1"/>
          <p:nvPr/>
        </p:nvSpPr>
        <p:spPr>
          <a:xfrm>
            <a:off x="6025896" y="3785616"/>
            <a:ext cx="1097280" cy="164592"/>
          </a:xfrm>
          <a:prstGeom prst="rect">
            <a:avLst/>
          </a:prstGeom>
          <a:noFill/>
          <a:ln/>
        </p:spPr>
        <p:txBody>
          <a:bodyPr wrap="square" lIns="0" tIns="0" rIns="0" bIns="0" rtlCol="0" anchor="t"/>
          <a:lstStyle/>
          <a:p>
            <a:pPr algn="ctr" indent="0" marL="0">
              <a:buNone/>
            </a:pPr>
            <a:r>
              <a:rPr lang="en-US" sz="900" b="1" dirty="0">
                <a:solidFill>
                  <a:srgbClr val="C62828"/>
                </a:solidFill>
              </a:rPr>
              <a:t>DP2</a:t>
            </a:r>
            <a:endParaRPr lang="en-US" sz="900" dirty="0"/>
          </a:p>
        </p:txBody>
      </p:sp>
      <p:sp>
        <p:nvSpPr>
          <p:cNvPr id="55" name="Shape 53"/>
          <p:cNvSpPr/>
          <p:nvPr/>
        </p:nvSpPr>
        <p:spPr>
          <a:xfrm>
            <a:off x="8613648" y="3648456"/>
            <a:ext cx="146304" cy="146304"/>
          </a:xfrm>
          <a:prstGeom prst="ellipse">
            <a:avLst/>
          </a:prstGeom>
          <a:solidFill>
            <a:srgbClr val="C62828"/>
          </a:solidFill>
          <a:ln/>
        </p:spPr>
      </p:sp>
      <p:sp>
        <p:nvSpPr>
          <p:cNvPr id="56" name="Text 54"/>
          <p:cNvSpPr txBox="1"/>
          <p:nvPr/>
        </p:nvSpPr>
        <p:spPr>
          <a:xfrm>
            <a:off x="7589520" y="3785616"/>
            <a:ext cx="1097280" cy="164592"/>
          </a:xfrm>
          <a:prstGeom prst="rect">
            <a:avLst/>
          </a:prstGeom>
          <a:noFill/>
          <a:ln/>
        </p:spPr>
        <p:txBody>
          <a:bodyPr wrap="square" lIns="0" tIns="0" rIns="0" bIns="0" rtlCol="0" anchor="t"/>
          <a:lstStyle/>
          <a:p>
            <a:pPr algn="r" indent="0" marL="0">
              <a:buNone/>
            </a:pPr>
            <a:r>
              <a:rPr lang="en-US" sz="900" b="1" dirty="0">
                <a:solidFill>
                  <a:srgbClr val="C62828"/>
                </a:solidFill>
              </a:rPr>
              <a:t>team steps back</a:t>
            </a:r>
            <a:endParaRPr lang="en-US" sz="900" dirty="0"/>
          </a:p>
        </p:txBody>
      </p:sp>
      <p:sp>
        <p:nvSpPr>
          <p:cNvPr id="57" name="Shape 55"/>
          <p:cNvSpPr/>
          <p:nvPr/>
        </p:nvSpPr>
        <p:spPr>
          <a:xfrm>
            <a:off x="457200" y="4023360"/>
            <a:ext cx="1993392" cy="713232"/>
          </a:xfrm>
          <a:prstGeom prst="roundRect">
            <a:avLst>
              <a:gd name="adj" fmla="val 7692"/>
            </a:avLst>
          </a:prstGeom>
          <a:solidFill>
            <a:srgbClr val="E8EAF6"/>
          </a:solidFill>
          <a:ln/>
        </p:spPr>
      </p:sp>
      <p:sp>
        <p:nvSpPr>
          <p:cNvPr id="58" name="Text 56"/>
          <p:cNvSpPr txBox="1"/>
          <p:nvPr/>
        </p:nvSpPr>
        <p:spPr>
          <a:xfrm>
            <a:off x="530352" y="4041648"/>
            <a:ext cx="1874520" cy="164592"/>
          </a:xfrm>
          <a:prstGeom prst="rect">
            <a:avLst/>
          </a:prstGeom>
          <a:noFill/>
          <a:ln/>
        </p:spPr>
        <p:txBody>
          <a:bodyPr wrap="square" lIns="0" tIns="0" rIns="0" bIns="0" rtlCol="0" anchor="t"/>
          <a:lstStyle/>
          <a:p>
            <a:pPr algn="l" indent="0" marL="0">
              <a:buNone/>
            </a:pPr>
            <a:r>
              <a:rPr lang="en-US" sz="950" b="1" dirty="0">
                <a:solidFill>
                  <a:srgbClr val="1A237E"/>
                </a:solidFill>
              </a:rPr>
              <a:t>DP1, week 6</a:t>
            </a:r>
            <a:endParaRPr lang="en-US" sz="950" dirty="0"/>
          </a:p>
        </p:txBody>
      </p:sp>
      <p:sp>
        <p:nvSpPr>
          <p:cNvPr id="59" name="Text 57"/>
          <p:cNvSpPr txBox="1"/>
          <p:nvPr/>
        </p:nvSpPr>
        <p:spPr>
          <a:xfrm>
            <a:off x="530352" y="4206240"/>
            <a:ext cx="1874520" cy="512064"/>
          </a:xfrm>
          <a:prstGeom prst="rect">
            <a:avLst/>
          </a:prstGeom>
          <a:noFill/>
          <a:ln/>
        </p:spPr>
        <p:txBody>
          <a:bodyPr wrap="square" lIns="0" tIns="0" rIns="0" bIns="0" rtlCol="0" anchor="t"/>
          <a:lstStyle/>
          <a:p>
            <a:pPr algn="l" indent="0" marL="0">
              <a:buNone/>
            </a:pPr>
            <a:r>
              <a:rPr lang="en-US" sz="900" dirty="0">
                <a:solidFill>
                  <a:srgbClr val="1F2430"/>
                </a:solidFill>
              </a:rPr>
              <a:t>Goes ahead on this date; if declined, the charge line goes to the escalation forum</a:t>
            </a:r>
            <a:endParaRPr lang="en-US" sz="900" dirty="0"/>
          </a:p>
        </p:txBody>
      </p:sp>
      <p:sp>
        <p:nvSpPr>
          <p:cNvPr id="60" name="Shape 58"/>
          <p:cNvSpPr/>
          <p:nvPr/>
        </p:nvSpPr>
        <p:spPr>
          <a:xfrm>
            <a:off x="2542032" y="4023360"/>
            <a:ext cx="1993392" cy="713232"/>
          </a:xfrm>
          <a:prstGeom prst="roundRect">
            <a:avLst>
              <a:gd name="adj" fmla="val 7692"/>
            </a:avLst>
          </a:prstGeom>
          <a:solidFill>
            <a:srgbClr val="E8EAF6"/>
          </a:solidFill>
          <a:ln/>
        </p:spPr>
      </p:sp>
      <p:sp>
        <p:nvSpPr>
          <p:cNvPr id="61" name="Text 59"/>
          <p:cNvSpPr txBox="1"/>
          <p:nvPr/>
        </p:nvSpPr>
        <p:spPr>
          <a:xfrm>
            <a:off x="2615184" y="4041648"/>
            <a:ext cx="1874520" cy="164592"/>
          </a:xfrm>
          <a:prstGeom prst="rect">
            <a:avLst/>
          </a:prstGeom>
          <a:noFill/>
          <a:ln/>
        </p:spPr>
        <p:txBody>
          <a:bodyPr wrap="square" lIns="0" tIns="0" rIns="0" bIns="0" rtlCol="0" anchor="t"/>
          <a:lstStyle/>
          <a:p>
            <a:pPr algn="l" indent="0" marL="0">
              <a:buNone/>
            </a:pPr>
            <a:r>
              <a:rPr lang="en-US" sz="950" b="1" dirty="0">
                <a:solidFill>
                  <a:srgbClr val="1A237E"/>
                </a:solidFill>
              </a:rPr>
              <a:t>DP2, week 14</a:t>
            </a:r>
            <a:endParaRPr lang="en-US" sz="950" dirty="0"/>
          </a:p>
        </p:txBody>
      </p:sp>
      <p:sp>
        <p:nvSpPr>
          <p:cNvPr id="62" name="Text 60"/>
          <p:cNvSpPr txBox="1"/>
          <p:nvPr/>
        </p:nvSpPr>
        <p:spPr>
          <a:xfrm>
            <a:off x="2615184" y="4206240"/>
            <a:ext cx="1874520" cy="512064"/>
          </a:xfrm>
          <a:prstGeom prst="rect">
            <a:avLst/>
          </a:prstGeom>
          <a:noFill/>
          <a:ln/>
        </p:spPr>
        <p:txBody>
          <a:bodyPr wrap="square" lIns="0" tIns="0" rIns="0" bIns="0" rtlCol="0" anchor="t"/>
          <a:lstStyle/>
          <a:p>
            <a:pPr algn="l" indent="0" marL="0">
              <a:buNone/>
            </a:pPr>
            <a:r>
              <a:rPr lang="en-US" sz="900" dirty="0">
                <a:solidFill>
                  <a:srgbClr val="1F2430"/>
                </a:solidFill>
              </a:rPr>
              <a:t>Sunday uptake at least 25% and no Sunday over 10 short; under 10%, retest the wording</a:t>
            </a:r>
            <a:endParaRPr lang="en-US" sz="900" dirty="0"/>
          </a:p>
        </p:txBody>
      </p:sp>
      <p:sp>
        <p:nvSpPr>
          <p:cNvPr id="63" name="Shape 61"/>
          <p:cNvSpPr/>
          <p:nvPr/>
        </p:nvSpPr>
        <p:spPr>
          <a:xfrm>
            <a:off x="4626864" y="4023360"/>
            <a:ext cx="1993392" cy="713232"/>
          </a:xfrm>
          <a:prstGeom prst="roundRect">
            <a:avLst>
              <a:gd name="adj" fmla="val 7692"/>
            </a:avLst>
          </a:prstGeom>
          <a:solidFill>
            <a:srgbClr val="E8EAF6"/>
          </a:solidFill>
          <a:ln/>
        </p:spPr>
      </p:sp>
      <p:sp>
        <p:nvSpPr>
          <p:cNvPr id="64" name="Text 62"/>
          <p:cNvSpPr txBox="1"/>
          <p:nvPr/>
        </p:nvSpPr>
        <p:spPr>
          <a:xfrm>
            <a:off x="4700016" y="4041648"/>
            <a:ext cx="1874520" cy="164592"/>
          </a:xfrm>
          <a:prstGeom prst="rect">
            <a:avLst/>
          </a:prstGeom>
          <a:noFill/>
          <a:ln/>
        </p:spPr>
        <p:txBody>
          <a:bodyPr wrap="square" lIns="0" tIns="0" rIns="0" bIns="0" rtlCol="0" anchor="t"/>
          <a:lstStyle/>
          <a:p>
            <a:pPr algn="l" indent="0" marL="0">
              <a:buNone/>
            </a:pPr>
            <a:r>
              <a:rPr lang="en-US" sz="950" b="1" dirty="0">
                <a:solidFill>
                  <a:srgbClr val="1A237E"/>
                </a:solidFill>
              </a:rPr>
              <a:t>DP3, after a term of DP2</a:t>
            </a:r>
            <a:endParaRPr lang="en-US" sz="950" dirty="0"/>
          </a:p>
        </p:txBody>
      </p:sp>
      <p:sp>
        <p:nvSpPr>
          <p:cNvPr id="65" name="Text 63"/>
          <p:cNvSpPr txBox="1"/>
          <p:nvPr/>
        </p:nvSpPr>
        <p:spPr>
          <a:xfrm>
            <a:off x="4700016" y="4206240"/>
            <a:ext cx="1874520" cy="512064"/>
          </a:xfrm>
          <a:prstGeom prst="rect">
            <a:avLst/>
          </a:prstGeom>
          <a:noFill/>
          <a:ln/>
        </p:spPr>
        <p:txBody>
          <a:bodyPr wrap="square" lIns="0" tIns="0" rIns="0" bIns="0" rtlCol="0" anchor="t"/>
          <a:lstStyle/>
          <a:p>
            <a:pPr algn="l" indent="0" marL="0">
              <a:buNone/>
            </a:pPr>
            <a:r>
              <a:rPr lang="en-US" sz="900" dirty="0">
                <a:solidFill>
                  <a:srgbClr val="1F2430"/>
                </a:solidFill>
              </a:rPr>
              <a:t>Opt-in on the lowest-turnout days</a:t>
            </a:r>
            <a:endParaRPr lang="en-US" sz="900" dirty="0"/>
          </a:p>
        </p:txBody>
      </p:sp>
      <p:sp>
        <p:nvSpPr>
          <p:cNvPr id="66" name="Shape 64"/>
          <p:cNvSpPr/>
          <p:nvPr/>
        </p:nvSpPr>
        <p:spPr>
          <a:xfrm>
            <a:off x="6711696" y="4023360"/>
            <a:ext cx="1993392" cy="713232"/>
          </a:xfrm>
          <a:prstGeom prst="roundRect">
            <a:avLst>
              <a:gd name="adj" fmla="val 7692"/>
            </a:avLst>
          </a:prstGeom>
          <a:solidFill>
            <a:srgbClr val="E8EAF6"/>
          </a:solidFill>
          <a:ln/>
        </p:spPr>
      </p:sp>
      <p:sp>
        <p:nvSpPr>
          <p:cNvPr id="67" name="Text 65"/>
          <p:cNvSpPr txBox="1"/>
          <p:nvPr/>
        </p:nvSpPr>
        <p:spPr>
          <a:xfrm>
            <a:off x="6784848" y="4041648"/>
            <a:ext cx="1874520" cy="164592"/>
          </a:xfrm>
          <a:prstGeom prst="rect">
            <a:avLst/>
          </a:prstGeom>
          <a:noFill/>
          <a:ln/>
        </p:spPr>
        <p:txBody>
          <a:bodyPr wrap="square" lIns="0" tIns="0" rIns="0" bIns="0" rtlCol="0" anchor="t"/>
          <a:lstStyle/>
          <a:p>
            <a:pPr algn="l" indent="0" marL="0">
              <a:buNone/>
            </a:pPr>
            <a:r>
              <a:rPr lang="en-US" sz="950" b="1" dirty="0">
                <a:solidFill>
                  <a:srgbClr val="1A237E"/>
                </a:solidFill>
              </a:rPr>
              <a:t>DP4, payment basis known</a:t>
            </a:r>
            <a:endParaRPr lang="en-US" sz="950" dirty="0"/>
          </a:p>
        </p:txBody>
      </p:sp>
      <p:sp>
        <p:nvSpPr>
          <p:cNvPr id="68" name="Text 66"/>
          <p:cNvSpPr txBox="1"/>
          <p:nvPr/>
        </p:nvSpPr>
        <p:spPr>
          <a:xfrm>
            <a:off x="6784848" y="4206240"/>
            <a:ext cx="1874520" cy="512064"/>
          </a:xfrm>
          <a:prstGeom prst="rect">
            <a:avLst/>
          </a:prstGeom>
          <a:noFill/>
          <a:ln/>
        </p:spPr>
        <p:txBody>
          <a:bodyPr wrap="square" lIns="0" tIns="0" rIns="0" bIns="0" rtlCol="0" anchor="t"/>
          <a:lstStyle/>
          <a:p>
            <a:pPr algn="l" indent="0" marL="0">
              <a:buNone/>
            </a:pPr>
            <a:r>
              <a:rPr lang="en-US" sz="900" dirty="0">
                <a:solidFill>
                  <a:srgbClr val="1F2430"/>
                </a:solidFill>
              </a:rPr>
              <a:t>Bill on consumption or pay on served plates</a:t>
            </a:r>
            <a:endParaRPr lang="en-US" sz="900" dirty="0"/>
          </a:p>
        </p:txBody>
      </p:sp>
      <p:sp>
        <p:nvSpPr>
          <p:cNvPr id="69" name="Shape 67"/>
          <p:cNvSpPr/>
          <p:nvPr/>
        </p:nvSpPr>
        <p:spPr>
          <a:xfrm>
            <a:off x="7895844" y="914400"/>
            <a:ext cx="790956" cy="201168"/>
          </a:xfrm>
          <a:prstGeom prst="roundRect">
            <a:avLst>
              <a:gd name="adj" fmla="val 22727"/>
            </a:avLst>
          </a:prstGeom>
          <a:solidFill>
            <a:srgbClr val="00695C"/>
          </a:solidFill>
          <a:ln/>
        </p:spPr>
      </p:sp>
      <p:sp>
        <p:nvSpPr>
          <p:cNvPr id="70" name="Text 68"/>
          <p:cNvSpPr txBox="1"/>
          <p:nvPr/>
        </p:nvSpPr>
        <p:spPr>
          <a:xfrm>
            <a:off x="7895844" y="914400"/>
            <a:ext cx="79095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PLANNED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Sunday skip is proposed at week 6 whatever the kitchen pilot shows</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sp>
        <p:nvSpPr>
          <p:cNvPr id="15" name="Shape 13"/>
          <p:cNvSpPr/>
          <p:nvPr/>
        </p:nvSpPr>
        <p:spPr>
          <a:xfrm>
            <a:off x="6839712" y="109728"/>
            <a:ext cx="91440" cy="91440"/>
          </a:xfrm>
          <a:prstGeom prst="ellipse">
            <a:avLst/>
          </a:prstGeom>
          <a:ln w="9525">
            <a:solidFill>
              <a:srgbClr val="1A237E"/>
            </a:solidFill>
            <a:prstDash val="solid"/>
          </a:ln>
        </p:spPr>
      </p:sp>
      <p:sp>
        <p:nvSpPr>
          <p:cNvPr id="16" name="Shape 14"/>
          <p:cNvSpPr/>
          <p:nvPr/>
        </p:nvSpPr>
        <p:spPr>
          <a:xfrm>
            <a:off x="6986016" y="109728"/>
            <a:ext cx="91440" cy="91440"/>
          </a:xfrm>
          <a:prstGeom prst="ellipse">
            <a:avLst/>
          </a:prstGeom>
          <a:ln w="9525">
            <a:solidFill>
              <a:srgbClr val="1A237E"/>
            </a:solidFill>
            <a:prstDash val="solid"/>
          </a:ln>
        </p:spPr>
      </p:sp>
      <p:sp>
        <p:nvSpPr>
          <p:cNvPr id="17" name="Shape 15"/>
          <p:cNvSpPr/>
          <p:nvPr/>
        </p:nvSpPr>
        <p:spPr>
          <a:xfrm>
            <a:off x="7132320" y="109728"/>
            <a:ext cx="91440" cy="91440"/>
          </a:xfrm>
          <a:prstGeom prst="ellipse">
            <a:avLst/>
          </a:prstGeom>
          <a:ln w="9525">
            <a:solidFill>
              <a:srgbClr val="1A237E"/>
            </a:solidFill>
            <a:prstDash val="solid"/>
          </a:ln>
        </p:spPr>
      </p:sp>
      <p:sp>
        <p:nvSpPr>
          <p:cNvPr id="18" name="Shape 16"/>
          <p:cNvSpPr/>
          <p:nvPr/>
        </p:nvSpPr>
        <p:spPr>
          <a:xfrm>
            <a:off x="7278624" y="109728"/>
            <a:ext cx="91440" cy="91440"/>
          </a:xfrm>
          <a:prstGeom prst="ellipse">
            <a:avLst/>
          </a:prstGeom>
          <a:ln w="9525">
            <a:solidFill>
              <a:srgbClr val="1A237E"/>
            </a:solidFill>
            <a:prstDash val="solid"/>
          </a:ln>
        </p:spPr>
      </p:sp>
      <p:sp>
        <p:nvSpPr>
          <p:cNvPr id="19" name="Shape 17"/>
          <p:cNvSpPr/>
          <p:nvPr/>
        </p:nvSpPr>
        <p:spPr>
          <a:xfrm>
            <a:off x="7424928" y="109728"/>
            <a:ext cx="91440" cy="91440"/>
          </a:xfrm>
          <a:prstGeom prst="ellipse">
            <a:avLst/>
          </a:prstGeom>
          <a:ln w="9525">
            <a:solidFill>
              <a:srgbClr val="1A237E"/>
            </a:solidFill>
            <a:prstDash val="solid"/>
          </a:ln>
        </p:spPr>
      </p:sp>
      <p:sp>
        <p:nvSpPr>
          <p:cNvPr id="20" name="Shape 18"/>
          <p:cNvSpPr/>
          <p:nvPr/>
        </p:nvSpPr>
        <p:spPr>
          <a:xfrm>
            <a:off x="7571232" y="109728"/>
            <a:ext cx="91440" cy="91440"/>
          </a:xfrm>
          <a:prstGeom prst="ellipse">
            <a:avLst/>
          </a:prstGeom>
          <a:ln w="9525">
            <a:solidFill>
              <a:srgbClr val="1A237E"/>
            </a:solidFill>
            <a:prstDash val="solid"/>
          </a:ln>
        </p:spPr>
      </p:sp>
      <p:sp>
        <p:nvSpPr>
          <p:cNvPr id="21" name="Shape 19"/>
          <p:cNvSpPr/>
          <p:nvPr/>
        </p:nvSpPr>
        <p:spPr>
          <a:xfrm>
            <a:off x="7717536" y="109728"/>
            <a:ext cx="91440" cy="91440"/>
          </a:xfrm>
          <a:prstGeom prst="ellipse">
            <a:avLst/>
          </a:prstGeom>
          <a:ln w="9525">
            <a:solidFill>
              <a:srgbClr val="1A237E"/>
            </a:solidFill>
            <a:prstDash val="solid"/>
          </a:ln>
        </p:spPr>
      </p:sp>
      <p:sp>
        <p:nvSpPr>
          <p:cNvPr id="22" name="Shape 20"/>
          <p:cNvSpPr/>
          <p:nvPr/>
        </p:nvSpPr>
        <p:spPr>
          <a:xfrm>
            <a:off x="7863840" y="109728"/>
            <a:ext cx="91440" cy="91440"/>
          </a:xfrm>
          <a:prstGeom prst="ellipse">
            <a:avLst/>
          </a:prstGeom>
          <a:ln w="9525">
            <a:solidFill>
              <a:srgbClr val="1A237E"/>
            </a:solidFill>
            <a:prstDash val="solid"/>
          </a:ln>
        </p:spPr>
      </p:sp>
      <p:sp>
        <p:nvSpPr>
          <p:cNvPr id="23" name="Shape 21"/>
          <p:cNvSpPr/>
          <p:nvPr/>
        </p:nvSpPr>
        <p:spPr>
          <a:xfrm>
            <a:off x="8010144" y="109728"/>
            <a:ext cx="91440" cy="91440"/>
          </a:xfrm>
          <a:prstGeom prst="ellipse">
            <a:avLst/>
          </a:prstGeom>
          <a:ln w="9525">
            <a:solidFill>
              <a:srgbClr val="1A237E"/>
            </a:solidFill>
            <a:prstDash val="solid"/>
          </a:ln>
        </p:spPr>
      </p:sp>
      <p:sp>
        <p:nvSpPr>
          <p:cNvPr id="24" name="Shape 22"/>
          <p:cNvSpPr/>
          <p:nvPr/>
        </p:nvSpPr>
        <p:spPr>
          <a:xfrm>
            <a:off x="8156448" y="109728"/>
            <a:ext cx="91440" cy="91440"/>
          </a:xfrm>
          <a:prstGeom prst="ellipse">
            <a:avLst/>
          </a:prstGeom>
          <a:ln w="9525">
            <a:solidFill>
              <a:srgbClr val="1A237E"/>
            </a:solidFill>
            <a:prstDash val="solid"/>
          </a:ln>
        </p:spPr>
      </p:sp>
      <p:sp>
        <p:nvSpPr>
          <p:cNvPr id="25" name="Shape 23"/>
          <p:cNvSpPr/>
          <p:nvPr/>
        </p:nvSpPr>
        <p:spPr>
          <a:xfrm>
            <a:off x="8302752" y="109728"/>
            <a:ext cx="91440" cy="91440"/>
          </a:xfrm>
          <a:prstGeom prst="ellipse">
            <a:avLst/>
          </a:prstGeom>
          <a:ln w="9525">
            <a:solidFill>
              <a:srgbClr val="1A237E"/>
            </a:solidFill>
            <a:prstDash val="solid"/>
          </a:ln>
        </p:spPr>
      </p:sp>
      <p:sp>
        <p:nvSpPr>
          <p:cNvPr id="26" name="Shape 24"/>
          <p:cNvSpPr/>
          <p:nvPr/>
        </p:nvSpPr>
        <p:spPr>
          <a:xfrm>
            <a:off x="8449056" y="109728"/>
            <a:ext cx="91440" cy="91440"/>
          </a:xfrm>
          <a:prstGeom prst="ellipse">
            <a:avLst/>
          </a:prstGeom>
          <a:solidFill>
            <a:srgbClr val="1A237E"/>
          </a:solidFill>
          <a:ln w="9525">
            <a:solidFill>
              <a:srgbClr val="1A237E"/>
            </a:solidFill>
            <a:prstDash val="solid"/>
          </a:ln>
        </p:spPr>
      </p:sp>
      <p:sp>
        <p:nvSpPr>
          <p:cNvPr id="27" name="Shape 25"/>
          <p:cNvSpPr/>
          <p:nvPr/>
        </p:nvSpPr>
        <p:spPr>
          <a:xfrm>
            <a:off x="8595360" y="109728"/>
            <a:ext cx="91440" cy="91440"/>
          </a:xfrm>
          <a:prstGeom prst="ellipse">
            <a:avLst/>
          </a:prstGeom>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12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Fix the Sunday skip at week 6, open until 8 pm on Saturday, independent of the kitchen pilot</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12</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Waiting for the kitchen to prove itself, or a Sunday opt-in</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The crest stays safe below about two thirds uptake; waiting risks the exit never opening</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The rule owner acts before any kitchen result, and uptake is unknown (assumed 25 to 50%)</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The opt-in left the crest 23 to 65 short and charged forgetful students Rs 81</a:t>
            </a:r>
            <a:endParaRPr lang="en-US" sz="1200" dirty="0"/>
          </a:p>
        </p:txBody>
      </p:sp>
      <p:sp>
        <p:nvSpPr>
          <p:cNvPr id="51" name="Shape 45"/>
          <p:cNvSpPr/>
          <p:nvPr/>
        </p:nvSpPr>
        <p:spPr>
          <a:xfrm>
            <a:off x="7895844" y="1033272"/>
            <a:ext cx="790956" cy="201168"/>
          </a:xfrm>
          <a:prstGeom prst="roundRect">
            <a:avLst>
              <a:gd name="adj" fmla="val 22727"/>
            </a:avLst>
          </a:prstGeom>
          <a:ln w="12700">
            <a:solidFill>
              <a:srgbClr val="F57F17"/>
            </a:solidFill>
            <a:prstDash val="solid"/>
          </a:ln>
        </p:spPr>
      </p:sp>
      <p:sp>
        <p:nvSpPr>
          <p:cNvPr id="52" name="Text 46"/>
          <p:cNvSpPr txBox="1"/>
          <p:nvPr/>
        </p:nvSpPr>
        <p:spPr>
          <a:xfrm>
            <a:off x="7895844" y="1033272"/>
            <a:ext cx="790956" cy="201168"/>
          </a:xfrm>
          <a:prstGeom prst="rect">
            <a:avLst/>
          </a:prstGeom>
          <a:noFill/>
          <a:ln/>
        </p:spPr>
        <p:txBody>
          <a:bodyPr wrap="square" lIns="0" tIns="0" rIns="0" bIns="0" rtlCol="0" anchor="ctr"/>
          <a:lstStyle/>
          <a:p>
            <a:pPr algn="ctr" indent="0" marL="0">
              <a:buNone/>
            </a:pPr>
            <a:r>
              <a:rPr lang="en-US" sz="900" b="1" spc="100" kern="0" dirty="0">
                <a:solidFill>
                  <a:srgbClr val="8D4A00"/>
                </a:solidFill>
              </a:rPr>
              <a:t>ASSUMED</a:t>
            </a:r>
            <a:endParaRPr lang="en-US" sz="900" dirty="0"/>
          </a:p>
        </p:txBody>
      </p:sp>
      <p:sp>
        <p:nvSpPr>
          <p:cNvPr id="53" name="Shape 47"/>
          <p:cNvSpPr/>
          <p:nvPr/>
        </p:nvSpPr>
        <p:spPr>
          <a:xfrm>
            <a:off x="6894576" y="1033272"/>
            <a:ext cx="928116" cy="201168"/>
          </a:xfrm>
          <a:prstGeom prst="roundRect">
            <a:avLst>
              <a:gd name="adj" fmla="val 22727"/>
            </a:avLst>
          </a:prstGeom>
          <a:solidFill>
            <a:srgbClr val="1A237E"/>
          </a:solidFill>
          <a:ln/>
        </p:spPr>
      </p:sp>
      <p:sp>
        <p:nvSpPr>
          <p:cNvPr id="54" name="Text 48"/>
          <p:cNvSpPr txBox="1"/>
          <p:nvPr/>
        </p:nvSpPr>
        <p:spPr>
          <a:xfrm>
            <a:off x="6894576"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PROJECTED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Sunday pilot has clear success conditions and six stop conditions</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sp>
        <p:nvSpPr>
          <p:cNvPr id="15" name="Shape 13"/>
          <p:cNvSpPr/>
          <p:nvPr/>
        </p:nvSpPr>
        <p:spPr>
          <a:xfrm>
            <a:off x="457200" y="1280160"/>
            <a:ext cx="3840480" cy="3063240"/>
          </a:xfrm>
          <a:prstGeom prst="roundRect">
            <a:avLst>
              <a:gd name="adj" fmla="val 2388"/>
            </a:avLst>
          </a:prstGeom>
          <a:solidFill>
            <a:srgbClr val="E8F5E9"/>
          </a:solidFill>
          <a:ln/>
        </p:spPr>
      </p:sp>
      <p:sp>
        <p:nvSpPr>
          <p:cNvPr id="16" name="Text 14"/>
          <p:cNvSpPr txBox="1"/>
          <p:nvPr/>
        </p:nvSpPr>
        <p:spPr>
          <a:xfrm>
            <a:off x="640080" y="1371600"/>
            <a:ext cx="3200400" cy="182880"/>
          </a:xfrm>
          <a:prstGeom prst="rect">
            <a:avLst/>
          </a:prstGeom>
          <a:noFill/>
          <a:ln/>
        </p:spPr>
        <p:txBody>
          <a:bodyPr wrap="square" lIns="0" tIns="0" rIns="0" bIns="0" rtlCol="0" anchor="t"/>
          <a:lstStyle/>
          <a:p>
            <a:pPr algn="l" indent="0" marL="0">
              <a:buNone/>
            </a:pPr>
            <a:r>
              <a:rPr lang="en-US" sz="1000" b="1" spc="200" kern="0" dirty="0">
                <a:solidFill>
                  <a:srgbClr val="2E7D32"/>
                </a:solidFill>
              </a:rPr>
              <a:t>SUCCESS</a:t>
            </a:r>
            <a:endParaRPr lang="en-US" sz="1000" dirty="0"/>
          </a:p>
        </p:txBody>
      </p:sp>
      <p:sp>
        <p:nvSpPr>
          <p:cNvPr id="17" name="Text 15"/>
          <p:cNvSpPr txBox="1"/>
          <p:nvPr/>
        </p:nvSpPr>
        <p:spPr>
          <a:xfrm>
            <a:off x="640080" y="1600200"/>
            <a:ext cx="3474720" cy="228600"/>
          </a:xfrm>
          <a:prstGeom prst="rect">
            <a:avLst/>
          </a:prstGeom>
          <a:noFill/>
          <a:ln/>
        </p:spPr>
        <p:txBody>
          <a:bodyPr wrap="square" lIns="0" tIns="0" rIns="0" bIns="0" rtlCol="0" anchor="t"/>
          <a:lstStyle/>
          <a:p>
            <a:pPr algn="l" indent="0" marL="0">
              <a:buNone/>
            </a:pPr>
            <a:r>
              <a:rPr lang="en-US" sz="1200" b="1" dirty="0">
                <a:solidFill>
                  <a:srgbClr val="1F2430"/>
                </a:solidFill>
              </a:rPr>
              <a:t>Sunday vegetarian surplus, portions</a:t>
            </a:r>
            <a:endParaRPr lang="en-US" sz="1200" dirty="0"/>
          </a:p>
        </p:txBody>
      </p:sp>
      <p:sp>
        <p:nvSpPr>
          <p:cNvPr id="18" name="Shape 16"/>
          <p:cNvSpPr/>
          <p:nvPr/>
        </p:nvSpPr>
        <p:spPr>
          <a:xfrm>
            <a:off x="640080" y="1901952"/>
            <a:ext cx="2743200" cy="274320"/>
          </a:xfrm>
          <a:prstGeom prst="roundRect">
            <a:avLst>
              <a:gd name="adj" fmla="val 13333"/>
            </a:avLst>
          </a:prstGeom>
          <a:solidFill>
            <a:srgbClr val="C62828"/>
          </a:solidFill>
          <a:ln/>
        </p:spPr>
      </p:sp>
      <p:sp>
        <p:nvSpPr>
          <p:cNvPr id="19" name="Text 17"/>
          <p:cNvSpPr txBox="1"/>
          <p:nvPr/>
        </p:nvSpPr>
        <p:spPr>
          <a:xfrm>
            <a:off x="731520" y="1901952"/>
            <a:ext cx="2560320" cy="274320"/>
          </a:xfrm>
          <a:prstGeom prst="rect">
            <a:avLst/>
          </a:prstGeom>
          <a:noFill/>
          <a:ln/>
        </p:spPr>
        <p:txBody>
          <a:bodyPr wrap="square" lIns="0" tIns="0" rIns="0" bIns="0" rtlCol="0" anchor="ctr"/>
          <a:lstStyle/>
          <a:p>
            <a:pPr algn="l" indent="0" marL="0">
              <a:buNone/>
            </a:pPr>
            <a:r>
              <a:rPr lang="en-US" sz="1100" b="1" dirty="0">
                <a:solidFill>
                  <a:srgbClr val="FFFFFF"/>
                </a:solidFill>
              </a:rPr>
              <a:t>about 370 now</a:t>
            </a:r>
            <a:endParaRPr lang="en-US" sz="1100" dirty="0"/>
          </a:p>
        </p:txBody>
      </p:sp>
      <p:sp>
        <p:nvSpPr>
          <p:cNvPr id="20" name="Shape 18"/>
          <p:cNvSpPr/>
          <p:nvPr/>
        </p:nvSpPr>
        <p:spPr>
          <a:xfrm>
            <a:off x="640080" y="2240280"/>
            <a:ext cx="731520" cy="274320"/>
          </a:xfrm>
          <a:prstGeom prst="roundRect">
            <a:avLst>
              <a:gd name="adj" fmla="val 13333"/>
            </a:avLst>
          </a:prstGeom>
          <a:solidFill>
            <a:srgbClr val="2E7D32"/>
          </a:solidFill>
          <a:ln/>
        </p:spPr>
      </p:sp>
      <p:sp>
        <p:nvSpPr>
          <p:cNvPr id="21" name="Text 19"/>
          <p:cNvSpPr txBox="1"/>
          <p:nvPr/>
        </p:nvSpPr>
        <p:spPr>
          <a:xfrm>
            <a:off x="1463040" y="2240280"/>
            <a:ext cx="2377440" cy="274320"/>
          </a:xfrm>
          <a:prstGeom prst="rect">
            <a:avLst/>
          </a:prstGeom>
          <a:noFill/>
          <a:ln/>
        </p:spPr>
        <p:txBody>
          <a:bodyPr wrap="square" lIns="0" tIns="0" rIns="0" bIns="0" rtlCol="0" anchor="ctr"/>
          <a:lstStyle/>
          <a:p>
            <a:pPr algn="l" indent="0" marL="0">
              <a:buNone/>
            </a:pPr>
            <a:r>
              <a:rPr lang="en-US" sz="1100" b="1" dirty="0">
                <a:solidFill>
                  <a:srgbClr val="2E7D32"/>
                </a:solidFill>
              </a:rPr>
              <a:t>under 100 (model about 45)</a:t>
            </a:r>
            <a:endParaRPr lang="en-US" sz="1100" dirty="0"/>
          </a:p>
        </p:txBody>
      </p:sp>
      <p:sp>
        <p:nvSpPr>
          <p:cNvPr id="22" name="Shape 20"/>
          <p:cNvSpPr/>
          <p:nvPr/>
        </p:nvSpPr>
        <p:spPr>
          <a:xfrm>
            <a:off x="685800" y="2715768"/>
            <a:ext cx="274320" cy="274320"/>
          </a:xfrm>
          <a:prstGeom prst="ellipse">
            <a:avLst/>
          </a:prstGeom>
          <a:solidFill>
            <a:srgbClr val="2E7D32"/>
          </a:solidFill>
          <a:ln/>
        </p:spPr>
      </p:sp>
      <p:pic>
        <p:nvPicPr>
          <p:cNvPr id="23" name="Image 0" descr="CheckCircle">    </p:cNvPr>
          <p:cNvPicPr>
            <a:picLocks noChangeAspect="1"/>
          </p:cNvPicPr>
          <p:nvPr/>
        </p:nvPicPr>
        <p:blipFill>
          <a:blip r:embed="rId1"/>
          <a:stretch>
            <a:fillRect/>
          </a:stretch>
        </p:blipFill>
        <p:spPr>
          <a:xfrm>
            <a:off x="740664" y="2770632"/>
            <a:ext cx="164592" cy="164592"/>
          </a:xfrm>
          <a:prstGeom prst="rect">
            <a:avLst/>
          </a:prstGeom>
        </p:spPr>
      </p:pic>
      <p:sp>
        <p:nvSpPr>
          <p:cNvPr id="24" name="Text 21"/>
          <p:cNvSpPr txBox="1"/>
          <p:nvPr/>
        </p:nvSpPr>
        <p:spPr>
          <a:xfrm>
            <a:off x="1051560" y="2697480"/>
            <a:ext cx="3108960" cy="329184"/>
          </a:xfrm>
          <a:prstGeom prst="rect">
            <a:avLst/>
          </a:prstGeom>
          <a:noFill/>
          <a:ln/>
        </p:spPr>
        <p:txBody>
          <a:bodyPr wrap="square" lIns="0" tIns="0" rIns="0" bIns="0" rtlCol="0" anchor="ctr"/>
          <a:lstStyle/>
          <a:p>
            <a:pPr algn="l" indent="0" marL="0">
              <a:buNone/>
            </a:pPr>
            <a:r>
              <a:rPr lang="en-US" sz="1150" dirty="0">
                <a:solidFill>
                  <a:srgbClr val="1F2430"/>
                </a:solidFill>
              </a:rPr>
              <a:t>No Sunday more than 10 short</a:t>
            </a:r>
            <a:endParaRPr lang="en-US" sz="1150" dirty="0"/>
          </a:p>
        </p:txBody>
      </p:sp>
      <p:sp>
        <p:nvSpPr>
          <p:cNvPr id="25" name="Shape 22"/>
          <p:cNvSpPr/>
          <p:nvPr/>
        </p:nvSpPr>
        <p:spPr>
          <a:xfrm>
            <a:off x="685800" y="3118104"/>
            <a:ext cx="274320" cy="274320"/>
          </a:xfrm>
          <a:prstGeom prst="ellipse">
            <a:avLst/>
          </a:prstGeom>
          <a:solidFill>
            <a:srgbClr val="2E7D32"/>
          </a:solidFill>
          <a:ln/>
        </p:spPr>
      </p:sp>
      <p:pic>
        <p:nvPicPr>
          <p:cNvPr id="26" name="Image 1" descr="CheckCircle">    </p:cNvPr>
          <p:cNvPicPr>
            <a:picLocks noChangeAspect="1"/>
          </p:cNvPicPr>
          <p:nvPr/>
        </p:nvPicPr>
        <p:blipFill>
          <a:blip r:embed="rId2"/>
          <a:stretch>
            <a:fillRect/>
          </a:stretch>
        </p:blipFill>
        <p:spPr>
          <a:xfrm>
            <a:off x="740664" y="3172968"/>
            <a:ext cx="164592" cy="164592"/>
          </a:xfrm>
          <a:prstGeom prst="rect">
            <a:avLst/>
          </a:prstGeom>
        </p:spPr>
      </p:pic>
      <p:sp>
        <p:nvSpPr>
          <p:cNvPr id="27" name="Text 23"/>
          <p:cNvSpPr txBox="1"/>
          <p:nvPr/>
        </p:nvSpPr>
        <p:spPr>
          <a:xfrm>
            <a:off x="1051560" y="3099816"/>
            <a:ext cx="3108960" cy="329184"/>
          </a:xfrm>
          <a:prstGeom prst="rect">
            <a:avLst/>
          </a:prstGeom>
          <a:noFill/>
          <a:ln/>
        </p:spPr>
        <p:txBody>
          <a:bodyPr wrap="square" lIns="0" tIns="0" rIns="0" bIns="0" rtlCol="0" anchor="ctr"/>
          <a:lstStyle/>
          <a:p>
            <a:pPr algn="l" indent="0" marL="0">
              <a:buNone/>
            </a:pPr>
            <a:r>
              <a:rPr lang="en-US" sz="1150" dirty="0">
                <a:solidFill>
                  <a:srgbClr val="1F2430"/>
                </a:solidFill>
              </a:rPr>
              <a:t>Run-outs no more frequent than on comparison days</a:t>
            </a:r>
            <a:endParaRPr lang="en-US" sz="1150" dirty="0"/>
          </a:p>
        </p:txBody>
      </p:sp>
      <p:sp>
        <p:nvSpPr>
          <p:cNvPr id="28" name="Shape 24"/>
          <p:cNvSpPr/>
          <p:nvPr/>
        </p:nvSpPr>
        <p:spPr>
          <a:xfrm>
            <a:off x="685800" y="3520440"/>
            <a:ext cx="274320" cy="274320"/>
          </a:xfrm>
          <a:prstGeom prst="ellipse">
            <a:avLst/>
          </a:prstGeom>
          <a:solidFill>
            <a:srgbClr val="2E7D32"/>
          </a:solidFill>
          <a:ln/>
        </p:spPr>
      </p:sp>
      <p:pic>
        <p:nvPicPr>
          <p:cNvPr id="29" name="Image 2" descr="CheckCircle">    </p:cNvPr>
          <p:cNvPicPr>
            <a:picLocks noChangeAspect="1"/>
          </p:cNvPicPr>
          <p:nvPr/>
        </p:nvPicPr>
        <p:blipFill>
          <a:blip r:embed="rId3"/>
          <a:stretch>
            <a:fillRect/>
          </a:stretch>
        </p:blipFill>
        <p:spPr>
          <a:xfrm>
            <a:off x="740664" y="3575304"/>
            <a:ext cx="164592" cy="164592"/>
          </a:xfrm>
          <a:prstGeom prst="rect">
            <a:avLst/>
          </a:prstGeom>
        </p:spPr>
      </p:pic>
      <p:sp>
        <p:nvSpPr>
          <p:cNvPr id="30" name="Text 25"/>
          <p:cNvSpPr txBox="1"/>
          <p:nvPr/>
        </p:nvSpPr>
        <p:spPr>
          <a:xfrm>
            <a:off x="1051560" y="3502152"/>
            <a:ext cx="3108960" cy="329184"/>
          </a:xfrm>
          <a:prstGeom prst="rect">
            <a:avLst/>
          </a:prstGeom>
          <a:noFill/>
          <a:ln/>
        </p:spPr>
        <p:txBody>
          <a:bodyPr wrap="square" lIns="0" tIns="0" rIns="0" bIns="0" rtlCol="0" anchor="ctr"/>
          <a:lstStyle/>
          <a:p>
            <a:pPr algn="l" indent="0" marL="0">
              <a:buNone/>
            </a:pPr>
            <a:r>
              <a:rPr lang="en-US" sz="1150" dirty="0">
                <a:solidFill>
                  <a:srgbClr val="1F2430"/>
                </a:solidFill>
              </a:rPr>
              <a:t>Every allowance meal served</a:t>
            </a:r>
            <a:endParaRPr lang="en-US" sz="1150" dirty="0"/>
          </a:p>
        </p:txBody>
      </p:sp>
      <p:sp>
        <p:nvSpPr>
          <p:cNvPr id="31" name="Shape 26"/>
          <p:cNvSpPr/>
          <p:nvPr/>
        </p:nvSpPr>
        <p:spPr>
          <a:xfrm>
            <a:off x="685800" y="3922776"/>
            <a:ext cx="274320" cy="274320"/>
          </a:xfrm>
          <a:prstGeom prst="ellipse">
            <a:avLst/>
          </a:prstGeom>
          <a:solidFill>
            <a:srgbClr val="2E7D32"/>
          </a:solidFill>
          <a:ln/>
        </p:spPr>
      </p:sp>
      <p:pic>
        <p:nvPicPr>
          <p:cNvPr id="32" name="Image 3" descr="CheckCircle">    </p:cNvPr>
          <p:cNvPicPr>
            <a:picLocks noChangeAspect="1"/>
          </p:cNvPicPr>
          <p:nvPr/>
        </p:nvPicPr>
        <p:blipFill>
          <a:blip r:embed="rId4"/>
          <a:stretch>
            <a:fillRect/>
          </a:stretch>
        </p:blipFill>
        <p:spPr>
          <a:xfrm>
            <a:off x="740664" y="3977640"/>
            <a:ext cx="164592" cy="164592"/>
          </a:xfrm>
          <a:prstGeom prst="rect">
            <a:avLst/>
          </a:prstGeom>
        </p:spPr>
      </p:pic>
      <p:sp>
        <p:nvSpPr>
          <p:cNvPr id="33" name="Text 27"/>
          <p:cNvSpPr txBox="1"/>
          <p:nvPr/>
        </p:nvSpPr>
        <p:spPr>
          <a:xfrm>
            <a:off x="1051560" y="3904488"/>
            <a:ext cx="3108960" cy="329184"/>
          </a:xfrm>
          <a:prstGeom prst="rect">
            <a:avLst/>
          </a:prstGeom>
          <a:noFill/>
          <a:ln/>
        </p:spPr>
        <p:txBody>
          <a:bodyPr wrap="square" lIns="0" tIns="0" rIns="0" bIns="0" rtlCol="0" anchor="ctr"/>
          <a:lstStyle/>
          <a:p>
            <a:pPr algn="l" indent="0" marL="0">
              <a:buNone/>
            </a:pPr>
            <a:r>
              <a:rPr lang="en-US" sz="1150" dirty="0">
                <a:solidFill>
                  <a:srgbClr val="1F2430"/>
                </a:solidFill>
              </a:rPr>
              <a:t>Grams and taste hold; every safety step recorded</a:t>
            </a:r>
            <a:endParaRPr lang="en-US" sz="1150" dirty="0"/>
          </a:p>
        </p:txBody>
      </p:sp>
      <p:sp>
        <p:nvSpPr>
          <p:cNvPr id="34" name="Text 28"/>
          <p:cNvSpPr txBox="1"/>
          <p:nvPr/>
        </p:nvSpPr>
        <p:spPr>
          <a:xfrm>
            <a:off x="4572000" y="1325880"/>
            <a:ext cx="4114800" cy="182880"/>
          </a:xfrm>
          <a:prstGeom prst="rect">
            <a:avLst/>
          </a:prstGeom>
          <a:noFill/>
          <a:ln/>
        </p:spPr>
        <p:txBody>
          <a:bodyPr wrap="square" lIns="0" tIns="0" rIns="0" bIns="0" rtlCol="0" anchor="t"/>
          <a:lstStyle/>
          <a:p>
            <a:pPr algn="l" indent="0" marL="0">
              <a:buNone/>
            </a:pPr>
            <a:r>
              <a:rPr lang="en-US" sz="1000" b="1" spc="200" kern="0" dirty="0">
                <a:solidFill>
                  <a:srgbClr val="C62828"/>
                </a:solidFill>
              </a:rPr>
              <a:t>STOP CONDITIONS</a:t>
            </a:r>
            <a:endParaRPr lang="en-US" sz="1000" dirty="0"/>
          </a:p>
        </p:txBody>
      </p:sp>
      <p:sp>
        <p:nvSpPr>
          <p:cNvPr id="35" name="Shape 29"/>
          <p:cNvSpPr/>
          <p:nvPr/>
        </p:nvSpPr>
        <p:spPr>
          <a:xfrm>
            <a:off x="4572000" y="1600200"/>
            <a:ext cx="2011680" cy="822960"/>
          </a:xfrm>
          <a:prstGeom prst="roundRect">
            <a:avLst>
              <a:gd name="adj" fmla="val 8889"/>
            </a:avLst>
          </a:prstGeom>
          <a:solidFill>
            <a:srgbClr val="FDECEA"/>
          </a:solidFill>
          <a:ln w="12700">
            <a:solidFill>
              <a:srgbClr val="C62828"/>
            </a:solidFill>
            <a:prstDash val="solid"/>
          </a:ln>
        </p:spPr>
      </p:sp>
      <p:sp>
        <p:nvSpPr>
          <p:cNvPr id="36" name="Shape 30"/>
          <p:cNvSpPr/>
          <p:nvPr/>
        </p:nvSpPr>
        <p:spPr>
          <a:xfrm>
            <a:off x="4700016" y="1847088"/>
            <a:ext cx="329184" cy="329184"/>
          </a:xfrm>
          <a:prstGeom prst="ellipse">
            <a:avLst/>
          </a:prstGeom>
          <a:solidFill>
            <a:srgbClr val="C62828"/>
          </a:solidFill>
          <a:ln/>
        </p:spPr>
      </p:sp>
      <p:pic>
        <p:nvPicPr>
          <p:cNvPr id="37" name="Image 4" descr="Stop">    </p:cNvPr>
          <p:cNvPicPr>
            <a:picLocks noChangeAspect="1"/>
          </p:cNvPicPr>
          <p:nvPr/>
        </p:nvPicPr>
        <p:blipFill>
          <a:blip r:embed="rId5"/>
          <a:stretch>
            <a:fillRect/>
          </a:stretch>
        </p:blipFill>
        <p:spPr>
          <a:xfrm>
            <a:off x="4765853" y="1912925"/>
            <a:ext cx="197510" cy="197510"/>
          </a:xfrm>
          <a:prstGeom prst="rect">
            <a:avLst/>
          </a:prstGeom>
        </p:spPr>
      </p:pic>
      <p:sp>
        <p:nvSpPr>
          <p:cNvPr id="38" name="Text 31"/>
          <p:cNvSpPr txBox="1"/>
          <p:nvPr/>
        </p:nvSpPr>
        <p:spPr>
          <a:xfrm>
            <a:off x="5138928" y="1600200"/>
            <a:ext cx="1389888" cy="822960"/>
          </a:xfrm>
          <a:prstGeom prst="rect">
            <a:avLst/>
          </a:prstGeom>
          <a:noFill/>
          <a:ln/>
        </p:spPr>
        <p:txBody>
          <a:bodyPr wrap="square" lIns="0" tIns="0" rIns="0" bIns="0" rtlCol="0" anchor="ctr"/>
          <a:lstStyle/>
          <a:p>
            <a:pPr algn="l" indent="0" marL="0">
              <a:buNone/>
            </a:pPr>
            <a:r>
              <a:rPr lang="en-US" sz="1100" dirty="0">
                <a:solidFill>
                  <a:srgbClr val="1F2430"/>
                </a:solidFill>
              </a:rPr>
              <a:t>Shortage beyond one top-up on two Sundays running</a:t>
            </a:r>
            <a:endParaRPr lang="en-US" sz="1100" dirty="0"/>
          </a:p>
        </p:txBody>
      </p:sp>
      <p:sp>
        <p:nvSpPr>
          <p:cNvPr id="39" name="Shape 32"/>
          <p:cNvSpPr/>
          <p:nvPr/>
        </p:nvSpPr>
        <p:spPr>
          <a:xfrm>
            <a:off x="6675120" y="1600200"/>
            <a:ext cx="2011680" cy="822960"/>
          </a:xfrm>
          <a:prstGeom prst="roundRect">
            <a:avLst>
              <a:gd name="adj" fmla="val 8889"/>
            </a:avLst>
          </a:prstGeom>
          <a:solidFill>
            <a:srgbClr val="FDECEA"/>
          </a:solidFill>
          <a:ln w="12700">
            <a:solidFill>
              <a:srgbClr val="C62828"/>
            </a:solidFill>
            <a:prstDash val="solid"/>
          </a:ln>
        </p:spPr>
      </p:sp>
      <p:sp>
        <p:nvSpPr>
          <p:cNvPr id="40" name="Shape 33"/>
          <p:cNvSpPr/>
          <p:nvPr/>
        </p:nvSpPr>
        <p:spPr>
          <a:xfrm>
            <a:off x="6803136" y="1847088"/>
            <a:ext cx="329184" cy="329184"/>
          </a:xfrm>
          <a:prstGeom prst="ellipse">
            <a:avLst/>
          </a:prstGeom>
          <a:solidFill>
            <a:srgbClr val="C62828"/>
          </a:solidFill>
          <a:ln/>
        </p:spPr>
      </p:sp>
      <p:pic>
        <p:nvPicPr>
          <p:cNvPr id="41" name="Image 5" descr="Stop">    </p:cNvPr>
          <p:cNvPicPr>
            <a:picLocks noChangeAspect="1"/>
          </p:cNvPicPr>
          <p:nvPr/>
        </p:nvPicPr>
        <p:blipFill>
          <a:blip r:embed="rId6"/>
          <a:stretch>
            <a:fillRect/>
          </a:stretch>
        </p:blipFill>
        <p:spPr>
          <a:xfrm>
            <a:off x="6868973" y="1912925"/>
            <a:ext cx="197510" cy="197510"/>
          </a:xfrm>
          <a:prstGeom prst="rect">
            <a:avLst/>
          </a:prstGeom>
        </p:spPr>
      </p:pic>
      <p:sp>
        <p:nvSpPr>
          <p:cNvPr id="42" name="Text 34"/>
          <p:cNvSpPr txBox="1"/>
          <p:nvPr/>
        </p:nvSpPr>
        <p:spPr>
          <a:xfrm>
            <a:off x="7242048" y="1600200"/>
            <a:ext cx="1389888" cy="822960"/>
          </a:xfrm>
          <a:prstGeom prst="rect">
            <a:avLst/>
          </a:prstGeom>
          <a:noFill/>
          <a:ln/>
        </p:spPr>
        <p:txBody>
          <a:bodyPr wrap="square" lIns="0" tIns="0" rIns="0" bIns="0" rtlCol="0" anchor="ctr"/>
          <a:lstStyle/>
          <a:p>
            <a:pPr algn="l" indent="0" marL="0">
              <a:buNone/>
            </a:pPr>
            <a:r>
              <a:rPr lang="en-US" sz="1100" dirty="0">
                <a:solidFill>
                  <a:srgbClr val="1F2430"/>
                </a:solidFill>
              </a:rPr>
              <a:t>The late batch fails twice</a:t>
            </a:r>
            <a:endParaRPr lang="en-US" sz="1100" dirty="0"/>
          </a:p>
        </p:txBody>
      </p:sp>
      <p:sp>
        <p:nvSpPr>
          <p:cNvPr id="43" name="Shape 35"/>
          <p:cNvSpPr/>
          <p:nvPr/>
        </p:nvSpPr>
        <p:spPr>
          <a:xfrm>
            <a:off x="4572000" y="2514600"/>
            <a:ext cx="2011680" cy="822960"/>
          </a:xfrm>
          <a:prstGeom prst="roundRect">
            <a:avLst>
              <a:gd name="adj" fmla="val 8889"/>
            </a:avLst>
          </a:prstGeom>
          <a:solidFill>
            <a:srgbClr val="FDECEA"/>
          </a:solidFill>
          <a:ln w="12700">
            <a:solidFill>
              <a:srgbClr val="C62828"/>
            </a:solidFill>
            <a:prstDash val="solid"/>
          </a:ln>
        </p:spPr>
      </p:sp>
      <p:sp>
        <p:nvSpPr>
          <p:cNvPr id="44" name="Shape 36"/>
          <p:cNvSpPr/>
          <p:nvPr/>
        </p:nvSpPr>
        <p:spPr>
          <a:xfrm>
            <a:off x="4700016" y="2761488"/>
            <a:ext cx="329184" cy="329184"/>
          </a:xfrm>
          <a:prstGeom prst="ellipse">
            <a:avLst/>
          </a:prstGeom>
          <a:solidFill>
            <a:srgbClr val="C62828"/>
          </a:solidFill>
          <a:ln/>
        </p:spPr>
      </p:sp>
      <p:pic>
        <p:nvPicPr>
          <p:cNvPr id="45" name="Image 6" descr="Stop">    </p:cNvPr>
          <p:cNvPicPr>
            <a:picLocks noChangeAspect="1"/>
          </p:cNvPicPr>
          <p:nvPr/>
        </p:nvPicPr>
        <p:blipFill>
          <a:blip r:embed="rId7"/>
          <a:stretch>
            <a:fillRect/>
          </a:stretch>
        </p:blipFill>
        <p:spPr>
          <a:xfrm>
            <a:off x="4765853" y="2827325"/>
            <a:ext cx="197510" cy="197510"/>
          </a:xfrm>
          <a:prstGeom prst="rect">
            <a:avLst/>
          </a:prstGeom>
        </p:spPr>
      </p:pic>
      <p:sp>
        <p:nvSpPr>
          <p:cNvPr id="46" name="Text 37"/>
          <p:cNvSpPr txBox="1"/>
          <p:nvPr/>
        </p:nvSpPr>
        <p:spPr>
          <a:xfrm>
            <a:off x="5138928" y="2514600"/>
            <a:ext cx="1389888" cy="822960"/>
          </a:xfrm>
          <a:prstGeom prst="rect">
            <a:avLst/>
          </a:prstGeom>
          <a:noFill/>
          <a:ln/>
        </p:spPr>
        <p:txBody>
          <a:bodyPr wrap="square" lIns="0" tIns="0" rIns="0" bIns="0" rtlCol="0" anchor="ctr"/>
          <a:lstStyle/>
          <a:p>
            <a:pPr algn="l" indent="0" marL="0">
              <a:buNone/>
            </a:pPr>
            <a:r>
              <a:rPr lang="en-US" sz="1100" dirty="0">
                <a:solidFill>
                  <a:srgbClr val="1F2430"/>
                </a:solidFill>
              </a:rPr>
              <a:t>Any allowance meal missed</a:t>
            </a:r>
            <a:endParaRPr lang="en-US" sz="1100" dirty="0"/>
          </a:p>
        </p:txBody>
      </p:sp>
      <p:sp>
        <p:nvSpPr>
          <p:cNvPr id="47" name="Shape 38"/>
          <p:cNvSpPr/>
          <p:nvPr/>
        </p:nvSpPr>
        <p:spPr>
          <a:xfrm>
            <a:off x="6675120" y="2514600"/>
            <a:ext cx="2011680" cy="822960"/>
          </a:xfrm>
          <a:prstGeom prst="roundRect">
            <a:avLst>
              <a:gd name="adj" fmla="val 8889"/>
            </a:avLst>
          </a:prstGeom>
          <a:solidFill>
            <a:srgbClr val="FDECEA"/>
          </a:solidFill>
          <a:ln w="12700">
            <a:solidFill>
              <a:srgbClr val="C62828"/>
            </a:solidFill>
            <a:prstDash val="solid"/>
          </a:ln>
        </p:spPr>
      </p:sp>
      <p:sp>
        <p:nvSpPr>
          <p:cNvPr id="48" name="Shape 39"/>
          <p:cNvSpPr/>
          <p:nvPr/>
        </p:nvSpPr>
        <p:spPr>
          <a:xfrm>
            <a:off x="6803136" y="2761488"/>
            <a:ext cx="329184" cy="329184"/>
          </a:xfrm>
          <a:prstGeom prst="ellipse">
            <a:avLst/>
          </a:prstGeom>
          <a:solidFill>
            <a:srgbClr val="C62828"/>
          </a:solidFill>
          <a:ln/>
        </p:spPr>
      </p:sp>
      <p:pic>
        <p:nvPicPr>
          <p:cNvPr id="49" name="Image 7" descr="Stop">    </p:cNvPr>
          <p:cNvPicPr>
            <a:picLocks noChangeAspect="1"/>
          </p:cNvPicPr>
          <p:nvPr/>
        </p:nvPicPr>
        <p:blipFill>
          <a:blip r:embed="rId8"/>
          <a:stretch>
            <a:fillRect/>
          </a:stretch>
        </p:blipFill>
        <p:spPr>
          <a:xfrm>
            <a:off x="6868973" y="2827325"/>
            <a:ext cx="197510" cy="197510"/>
          </a:xfrm>
          <a:prstGeom prst="rect">
            <a:avLst/>
          </a:prstGeom>
        </p:spPr>
      </p:pic>
      <p:sp>
        <p:nvSpPr>
          <p:cNvPr id="50" name="Text 40"/>
          <p:cNvSpPr txBox="1"/>
          <p:nvPr/>
        </p:nvSpPr>
        <p:spPr>
          <a:xfrm>
            <a:off x="7242048" y="2514600"/>
            <a:ext cx="1389888" cy="822960"/>
          </a:xfrm>
          <a:prstGeom prst="rect">
            <a:avLst/>
          </a:prstGeom>
          <a:noFill/>
          <a:ln/>
        </p:spPr>
        <p:txBody>
          <a:bodyPr wrap="square" lIns="0" tIns="0" rIns="0" bIns="0" rtlCol="0" anchor="ctr"/>
          <a:lstStyle/>
          <a:p>
            <a:pPr algn="l" indent="0" marL="0">
              <a:buNone/>
            </a:pPr>
            <a:r>
              <a:rPr lang="en-US" sz="1100" dirty="0">
                <a:solidFill>
                  <a:srgbClr val="1F2430"/>
                </a:solidFill>
              </a:rPr>
              <a:t>Grams below standard</a:t>
            </a:r>
            <a:endParaRPr lang="en-US" sz="1100" dirty="0"/>
          </a:p>
        </p:txBody>
      </p:sp>
      <p:sp>
        <p:nvSpPr>
          <p:cNvPr id="51" name="Shape 41"/>
          <p:cNvSpPr/>
          <p:nvPr/>
        </p:nvSpPr>
        <p:spPr>
          <a:xfrm>
            <a:off x="4572000" y="3429000"/>
            <a:ext cx="2011680" cy="822960"/>
          </a:xfrm>
          <a:prstGeom prst="roundRect">
            <a:avLst>
              <a:gd name="adj" fmla="val 8889"/>
            </a:avLst>
          </a:prstGeom>
          <a:solidFill>
            <a:srgbClr val="FDECEA"/>
          </a:solidFill>
          <a:ln w="12700">
            <a:solidFill>
              <a:srgbClr val="C62828"/>
            </a:solidFill>
            <a:prstDash val="solid"/>
          </a:ln>
        </p:spPr>
      </p:sp>
      <p:sp>
        <p:nvSpPr>
          <p:cNvPr id="52" name="Shape 42"/>
          <p:cNvSpPr/>
          <p:nvPr/>
        </p:nvSpPr>
        <p:spPr>
          <a:xfrm>
            <a:off x="4700016" y="3675888"/>
            <a:ext cx="329184" cy="329184"/>
          </a:xfrm>
          <a:prstGeom prst="ellipse">
            <a:avLst/>
          </a:prstGeom>
          <a:solidFill>
            <a:srgbClr val="C62828"/>
          </a:solidFill>
          <a:ln/>
        </p:spPr>
      </p:sp>
      <p:pic>
        <p:nvPicPr>
          <p:cNvPr id="53" name="Image 8" descr="Stop">    </p:cNvPr>
          <p:cNvPicPr>
            <a:picLocks noChangeAspect="1"/>
          </p:cNvPicPr>
          <p:nvPr/>
        </p:nvPicPr>
        <p:blipFill>
          <a:blip r:embed="rId9"/>
          <a:stretch>
            <a:fillRect/>
          </a:stretch>
        </p:blipFill>
        <p:spPr>
          <a:xfrm>
            <a:off x="4765853" y="3741725"/>
            <a:ext cx="197510" cy="197510"/>
          </a:xfrm>
          <a:prstGeom prst="rect">
            <a:avLst/>
          </a:prstGeom>
        </p:spPr>
      </p:pic>
      <p:sp>
        <p:nvSpPr>
          <p:cNvPr id="54" name="Text 43"/>
          <p:cNvSpPr txBox="1"/>
          <p:nvPr/>
        </p:nvSpPr>
        <p:spPr>
          <a:xfrm>
            <a:off x="5138928" y="3429000"/>
            <a:ext cx="1389888" cy="822960"/>
          </a:xfrm>
          <a:prstGeom prst="rect">
            <a:avLst/>
          </a:prstGeom>
          <a:noFill/>
          <a:ln/>
        </p:spPr>
        <p:txBody>
          <a:bodyPr wrap="square" lIns="0" tIns="0" rIns="0" bIns="0" rtlCol="0" anchor="ctr"/>
          <a:lstStyle/>
          <a:p>
            <a:pPr algn="l" indent="0" marL="0">
              <a:buNone/>
            </a:pPr>
            <a:r>
              <a:rPr lang="en-US" sz="1100" dirty="0">
                <a:solidFill>
                  <a:srgbClr val="1F2430"/>
                </a:solidFill>
              </a:rPr>
              <a:t>Any figure used against staff</a:t>
            </a:r>
            <a:endParaRPr lang="en-US" sz="1100" dirty="0"/>
          </a:p>
        </p:txBody>
      </p:sp>
      <p:sp>
        <p:nvSpPr>
          <p:cNvPr id="55" name="Shape 44"/>
          <p:cNvSpPr/>
          <p:nvPr/>
        </p:nvSpPr>
        <p:spPr>
          <a:xfrm>
            <a:off x="6675120" y="3429000"/>
            <a:ext cx="2011680" cy="822960"/>
          </a:xfrm>
          <a:prstGeom prst="roundRect">
            <a:avLst>
              <a:gd name="adj" fmla="val 8889"/>
            </a:avLst>
          </a:prstGeom>
          <a:solidFill>
            <a:srgbClr val="FDECEA"/>
          </a:solidFill>
          <a:ln w="12700">
            <a:solidFill>
              <a:srgbClr val="C62828"/>
            </a:solidFill>
            <a:prstDash val="solid"/>
          </a:ln>
        </p:spPr>
      </p:sp>
      <p:sp>
        <p:nvSpPr>
          <p:cNvPr id="56" name="Shape 45"/>
          <p:cNvSpPr/>
          <p:nvPr/>
        </p:nvSpPr>
        <p:spPr>
          <a:xfrm>
            <a:off x="6803136" y="3675888"/>
            <a:ext cx="329184" cy="329184"/>
          </a:xfrm>
          <a:prstGeom prst="ellipse">
            <a:avLst/>
          </a:prstGeom>
          <a:solidFill>
            <a:srgbClr val="C62828"/>
          </a:solidFill>
          <a:ln/>
        </p:spPr>
      </p:sp>
      <p:pic>
        <p:nvPicPr>
          <p:cNvPr id="57" name="Image 9" descr="Stop">    </p:cNvPr>
          <p:cNvPicPr>
            <a:picLocks noChangeAspect="1"/>
          </p:cNvPicPr>
          <p:nvPr/>
        </p:nvPicPr>
        <p:blipFill>
          <a:blip r:embed="rId10"/>
          <a:stretch>
            <a:fillRect/>
          </a:stretch>
        </p:blipFill>
        <p:spPr>
          <a:xfrm>
            <a:off x="6868973" y="3741725"/>
            <a:ext cx="197510" cy="197510"/>
          </a:xfrm>
          <a:prstGeom prst="rect">
            <a:avLst/>
          </a:prstGeom>
        </p:spPr>
      </p:pic>
      <p:sp>
        <p:nvSpPr>
          <p:cNvPr id="58" name="Text 46"/>
          <p:cNvSpPr txBox="1"/>
          <p:nvPr/>
        </p:nvSpPr>
        <p:spPr>
          <a:xfrm>
            <a:off x="7242048" y="3429000"/>
            <a:ext cx="1389888" cy="822960"/>
          </a:xfrm>
          <a:prstGeom prst="rect">
            <a:avLst/>
          </a:prstGeom>
          <a:noFill/>
          <a:ln/>
        </p:spPr>
        <p:txBody>
          <a:bodyPr wrap="square" lIns="0" tIns="0" rIns="0" bIns="0" rtlCol="0" anchor="ctr"/>
          <a:lstStyle/>
          <a:p>
            <a:pPr algn="l" indent="0" marL="0">
              <a:buNone/>
            </a:pPr>
            <a:r>
              <a:rPr lang="en-US" sz="1100" dirty="0">
                <a:solidFill>
                  <a:srgbClr val="1F2430"/>
                </a:solidFill>
              </a:rPr>
              <a:t>Consent withdrawn</a:t>
            </a:r>
            <a:endParaRPr lang="en-US" sz="1100" dirty="0"/>
          </a:p>
        </p:txBody>
      </p:sp>
      <p:sp>
        <p:nvSpPr>
          <p:cNvPr id="59" name="Text 47"/>
          <p:cNvSpPr txBox="1"/>
          <p:nvPr/>
        </p:nvSpPr>
        <p:spPr>
          <a:xfrm>
            <a:off x="457200" y="4434840"/>
            <a:ext cx="8229600" cy="320040"/>
          </a:xfrm>
          <a:prstGeom prst="rect">
            <a:avLst/>
          </a:prstGeom>
          <a:noFill/>
          <a:ln/>
        </p:spPr>
        <p:txBody>
          <a:bodyPr wrap="square" lIns="0" tIns="0" rIns="0" bIns="0" rtlCol="0" anchor="t"/>
          <a:lstStyle/>
          <a:p>
            <a:pPr algn="l" indent="0" marL="0">
              <a:buNone/>
            </a:pPr>
            <a:r>
              <a:rPr lang="en-US" sz="1150" dirty="0">
                <a:solidFill>
                  <a:srgbClr val="616161"/>
                </a:solidFill>
              </a:rPr>
              <a:t>Judged at week 16 against Sunday non-vegetarian, Saturday vegetarian and earlier Sundays. Run by the Kadamba supervisor.</a:t>
            </a:r>
            <a:endParaRPr lang="en-US" sz="1150" dirty="0"/>
          </a:p>
        </p:txBody>
      </p:sp>
      <p:sp>
        <p:nvSpPr>
          <p:cNvPr id="60" name="Shape 48"/>
          <p:cNvSpPr/>
          <p:nvPr/>
        </p:nvSpPr>
        <p:spPr>
          <a:xfrm>
            <a:off x="7895844" y="1033272"/>
            <a:ext cx="790956" cy="201168"/>
          </a:xfrm>
          <a:prstGeom prst="roundRect">
            <a:avLst>
              <a:gd name="adj" fmla="val 22727"/>
            </a:avLst>
          </a:prstGeom>
          <a:solidFill>
            <a:srgbClr val="00695C"/>
          </a:solidFill>
          <a:ln/>
        </p:spPr>
      </p:sp>
      <p:sp>
        <p:nvSpPr>
          <p:cNvPr id="61" name="Text 49"/>
          <p:cNvSpPr txBox="1"/>
          <p:nvPr/>
        </p:nvSpPr>
        <p:spPr>
          <a:xfrm>
            <a:off x="7895844" y="1033272"/>
            <a:ext cx="79095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PLANNED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team plans its own exit at week 20</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sp>
        <p:nvSpPr>
          <p:cNvPr id="15" name="Shape 13"/>
          <p:cNvSpPr/>
          <p:nvPr/>
        </p:nvSpPr>
        <p:spPr>
          <a:xfrm>
            <a:off x="6839712" y="109728"/>
            <a:ext cx="91440" cy="91440"/>
          </a:xfrm>
          <a:prstGeom prst="ellipse">
            <a:avLst/>
          </a:prstGeom>
          <a:ln w="9525">
            <a:solidFill>
              <a:srgbClr val="1A237E"/>
            </a:solidFill>
            <a:prstDash val="solid"/>
          </a:ln>
        </p:spPr>
      </p:sp>
      <p:sp>
        <p:nvSpPr>
          <p:cNvPr id="16" name="Shape 14"/>
          <p:cNvSpPr/>
          <p:nvPr/>
        </p:nvSpPr>
        <p:spPr>
          <a:xfrm>
            <a:off x="6986016" y="109728"/>
            <a:ext cx="91440" cy="91440"/>
          </a:xfrm>
          <a:prstGeom prst="ellipse">
            <a:avLst/>
          </a:prstGeom>
          <a:ln w="9525">
            <a:solidFill>
              <a:srgbClr val="1A237E"/>
            </a:solidFill>
            <a:prstDash val="solid"/>
          </a:ln>
        </p:spPr>
      </p:sp>
      <p:sp>
        <p:nvSpPr>
          <p:cNvPr id="17" name="Shape 15"/>
          <p:cNvSpPr/>
          <p:nvPr/>
        </p:nvSpPr>
        <p:spPr>
          <a:xfrm>
            <a:off x="7132320" y="109728"/>
            <a:ext cx="91440" cy="91440"/>
          </a:xfrm>
          <a:prstGeom prst="ellipse">
            <a:avLst/>
          </a:prstGeom>
          <a:ln w="9525">
            <a:solidFill>
              <a:srgbClr val="1A237E"/>
            </a:solidFill>
            <a:prstDash val="solid"/>
          </a:ln>
        </p:spPr>
      </p:sp>
      <p:sp>
        <p:nvSpPr>
          <p:cNvPr id="18" name="Shape 16"/>
          <p:cNvSpPr/>
          <p:nvPr/>
        </p:nvSpPr>
        <p:spPr>
          <a:xfrm>
            <a:off x="7278624" y="109728"/>
            <a:ext cx="91440" cy="91440"/>
          </a:xfrm>
          <a:prstGeom prst="ellipse">
            <a:avLst/>
          </a:prstGeom>
          <a:ln w="9525">
            <a:solidFill>
              <a:srgbClr val="1A237E"/>
            </a:solidFill>
            <a:prstDash val="solid"/>
          </a:ln>
        </p:spPr>
      </p:sp>
      <p:sp>
        <p:nvSpPr>
          <p:cNvPr id="19" name="Shape 17"/>
          <p:cNvSpPr/>
          <p:nvPr/>
        </p:nvSpPr>
        <p:spPr>
          <a:xfrm>
            <a:off x="7424928" y="109728"/>
            <a:ext cx="91440" cy="91440"/>
          </a:xfrm>
          <a:prstGeom prst="ellipse">
            <a:avLst/>
          </a:prstGeom>
          <a:ln w="9525">
            <a:solidFill>
              <a:srgbClr val="1A237E"/>
            </a:solidFill>
            <a:prstDash val="solid"/>
          </a:ln>
        </p:spPr>
      </p:sp>
      <p:sp>
        <p:nvSpPr>
          <p:cNvPr id="20" name="Shape 18"/>
          <p:cNvSpPr/>
          <p:nvPr/>
        </p:nvSpPr>
        <p:spPr>
          <a:xfrm>
            <a:off x="7571232" y="109728"/>
            <a:ext cx="91440" cy="91440"/>
          </a:xfrm>
          <a:prstGeom prst="ellipse">
            <a:avLst/>
          </a:prstGeom>
          <a:ln w="9525">
            <a:solidFill>
              <a:srgbClr val="1A237E"/>
            </a:solidFill>
            <a:prstDash val="solid"/>
          </a:ln>
        </p:spPr>
      </p:sp>
      <p:sp>
        <p:nvSpPr>
          <p:cNvPr id="21" name="Shape 19"/>
          <p:cNvSpPr/>
          <p:nvPr/>
        </p:nvSpPr>
        <p:spPr>
          <a:xfrm>
            <a:off x="7717536" y="109728"/>
            <a:ext cx="91440" cy="91440"/>
          </a:xfrm>
          <a:prstGeom prst="ellipse">
            <a:avLst/>
          </a:prstGeom>
          <a:ln w="9525">
            <a:solidFill>
              <a:srgbClr val="1A237E"/>
            </a:solidFill>
            <a:prstDash val="solid"/>
          </a:ln>
        </p:spPr>
      </p:sp>
      <p:sp>
        <p:nvSpPr>
          <p:cNvPr id="22" name="Shape 20"/>
          <p:cNvSpPr/>
          <p:nvPr/>
        </p:nvSpPr>
        <p:spPr>
          <a:xfrm>
            <a:off x="7863840" y="109728"/>
            <a:ext cx="91440" cy="91440"/>
          </a:xfrm>
          <a:prstGeom prst="ellipse">
            <a:avLst/>
          </a:prstGeom>
          <a:ln w="9525">
            <a:solidFill>
              <a:srgbClr val="1A237E"/>
            </a:solidFill>
            <a:prstDash val="solid"/>
          </a:ln>
        </p:spPr>
      </p:sp>
      <p:sp>
        <p:nvSpPr>
          <p:cNvPr id="23" name="Shape 21"/>
          <p:cNvSpPr/>
          <p:nvPr/>
        </p:nvSpPr>
        <p:spPr>
          <a:xfrm>
            <a:off x="8010144" y="109728"/>
            <a:ext cx="91440" cy="91440"/>
          </a:xfrm>
          <a:prstGeom prst="ellipse">
            <a:avLst/>
          </a:prstGeom>
          <a:ln w="9525">
            <a:solidFill>
              <a:srgbClr val="1A237E"/>
            </a:solidFill>
            <a:prstDash val="solid"/>
          </a:ln>
        </p:spPr>
      </p:sp>
      <p:sp>
        <p:nvSpPr>
          <p:cNvPr id="24" name="Shape 22"/>
          <p:cNvSpPr/>
          <p:nvPr/>
        </p:nvSpPr>
        <p:spPr>
          <a:xfrm>
            <a:off x="8156448" y="109728"/>
            <a:ext cx="91440" cy="91440"/>
          </a:xfrm>
          <a:prstGeom prst="ellipse">
            <a:avLst/>
          </a:prstGeom>
          <a:ln w="9525">
            <a:solidFill>
              <a:srgbClr val="1A237E"/>
            </a:solidFill>
            <a:prstDash val="solid"/>
          </a:ln>
        </p:spPr>
      </p:sp>
      <p:sp>
        <p:nvSpPr>
          <p:cNvPr id="25" name="Shape 23"/>
          <p:cNvSpPr/>
          <p:nvPr/>
        </p:nvSpPr>
        <p:spPr>
          <a:xfrm>
            <a:off x="8302752" y="109728"/>
            <a:ext cx="91440" cy="91440"/>
          </a:xfrm>
          <a:prstGeom prst="ellipse">
            <a:avLst/>
          </a:prstGeom>
          <a:ln w="9525">
            <a:solidFill>
              <a:srgbClr val="1A237E"/>
            </a:solidFill>
            <a:prstDash val="solid"/>
          </a:ln>
        </p:spPr>
      </p:sp>
      <p:sp>
        <p:nvSpPr>
          <p:cNvPr id="26" name="Shape 24"/>
          <p:cNvSpPr/>
          <p:nvPr/>
        </p:nvSpPr>
        <p:spPr>
          <a:xfrm>
            <a:off x="8449056" y="109728"/>
            <a:ext cx="91440" cy="91440"/>
          </a:xfrm>
          <a:prstGeom prst="ellipse">
            <a:avLst/>
          </a:prstGeom>
          <a:ln w="9525">
            <a:solidFill>
              <a:srgbClr val="1A237E"/>
            </a:solidFill>
            <a:prstDash val="solid"/>
          </a:ln>
        </p:spPr>
      </p:sp>
      <p:sp>
        <p:nvSpPr>
          <p:cNvPr id="27" name="Shape 25"/>
          <p:cNvSpPr/>
          <p:nvPr/>
        </p:nvSpPr>
        <p:spPr>
          <a:xfrm>
            <a:off x="8595360" y="109728"/>
            <a:ext cx="91440" cy="91440"/>
          </a:xfrm>
          <a:prstGeom prst="ellipse">
            <a:avLst/>
          </a:prstGeom>
          <a:solidFill>
            <a:srgbClr val="1A237E"/>
          </a:solidFill>
          <a:ln w="9525">
            <a:solidFill>
              <a:srgbClr val="1A237E"/>
            </a:solidFill>
            <a:prstDash val="solid"/>
          </a:ln>
        </p:spPr>
      </p:sp>
      <p:sp>
        <p:nvSpPr>
          <p:cNvPr id="28" name="Text 26"/>
          <p:cNvSpPr txBox="1"/>
          <p:nvPr/>
        </p:nvSpPr>
        <p:spPr>
          <a:xfrm>
            <a:off x="457200" y="91440"/>
            <a:ext cx="2743200" cy="182880"/>
          </a:xfrm>
          <a:prstGeom prst="rect">
            <a:avLst/>
          </a:prstGeom>
          <a:noFill/>
          <a:ln/>
        </p:spPr>
        <p:txBody>
          <a:bodyPr wrap="square" lIns="0" tIns="0" rIns="0" bIns="0" rtlCol="0" anchor="t"/>
          <a:lstStyle/>
          <a:p>
            <a:pPr algn="l" indent="0" marL="0">
              <a:buNone/>
            </a:pPr>
            <a:r>
              <a:rPr lang="en-US" sz="1000" b="1" spc="100" kern="0" dirty="0">
                <a:solidFill>
                  <a:srgbClr val="1A237E"/>
                </a:solidFill>
              </a:rPr>
              <a:t>Decision 13 of 13</a:t>
            </a:r>
            <a:endParaRPr lang="en-US" sz="1000" dirty="0"/>
          </a:p>
        </p:txBody>
      </p:sp>
      <p:sp>
        <p:nvSpPr>
          <p:cNvPr id="29" name="Shape 27"/>
          <p:cNvSpPr/>
          <p:nvPr/>
        </p:nvSpPr>
        <p:spPr>
          <a:xfrm>
            <a:off x="457200" y="1280160"/>
            <a:ext cx="2926080" cy="3108960"/>
          </a:xfrm>
          <a:prstGeom prst="roundRect">
            <a:avLst>
              <a:gd name="adj" fmla="val 2500"/>
            </a:avLst>
          </a:prstGeom>
          <a:solidFill>
            <a:srgbClr val="1A237E"/>
          </a:solidFill>
          <a:ln/>
        </p:spPr>
      </p:sp>
      <p:sp>
        <p:nvSpPr>
          <p:cNvPr id="30" name="Text 28"/>
          <p:cNvSpPr txBox="1"/>
          <p:nvPr/>
        </p:nvSpPr>
        <p:spPr>
          <a:xfrm>
            <a:off x="640080" y="1463040"/>
            <a:ext cx="2560320" cy="228600"/>
          </a:xfrm>
          <a:prstGeom prst="rect">
            <a:avLst/>
          </a:prstGeom>
          <a:noFill/>
          <a:ln/>
        </p:spPr>
        <p:txBody>
          <a:bodyPr wrap="square" lIns="0" tIns="0" rIns="0" bIns="0" rtlCol="0" anchor="t"/>
          <a:lstStyle/>
          <a:p>
            <a:pPr algn="l" indent="0" marL="0">
              <a:buNone/>
            </a:pPr>
            <a:r>
              <a:rPr lang="en-US" sz="1100" b="1" spc="300" kern="0" dirty="0">
                <a:solidFill>
                  <a:srgbClr val="B8BFE6"/>
                </a:solidFill>
              </a:rPr>
              <a:t>DECISION</a:t>
            </a:r>
            <a:endParaRPr lang="en-US" sz="1100" dirty="0"/>
          </a:p>
        </p:txBody>
      </p:sp>
      <p:sp>
        <p:nvSpPr>
          <p:cNvPr id="31" name="Text 29"/>
          <p:cNvSpPr txBox="1"/>
          <p:nvPr/>
        </p:nvSpPr>
        <p:spPr>
          <a:xfrm>
            <a:off x="640080" y="1783080"/>
            <a:ext cx="2560320" cy="17373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The dining services body compiles the ledger from week 16 and alone from week 18</a:t>
            </a:r>
            <a:endParaRPr lang="en-US" sz="1800" dirty="0"/>
          </a:p>
        </p:txBody>
      </p:sp>
      <p:sp>
        <p:nvSpPr>
          <p:cNvPr id="32" name="Text 30"/>
          <p:cNvSpPr txBox="1"/>
          <p:nvPr/>
        </p:nvSpPr>
        <p:spPr>
          <a:xfrm>
            <a:off x="640080" y="3520440"/>
            <a:ext cx="1097280" cy="777240"/>
          </a:xfrm>
          <a:prstGeom prst="rect">
            <a:avLst/>
          </a:prstGeom>
          <a:noFill/>
          <a:ln/>
        </p:spPr>
        <p:txBody>
          <a:bodyPr wrap="square" lIns="0" tIns="0" rIns="0" bIns="0" rtlCol="0" anchor="b"/>
          <a:lstStyle/>
          <a:p>
            <a:pPr algn="l" indent="0" marL="0">
              <a:buNone/>
            </a:pPr>
            <a:r>
              <a:rPr lang="en-US" sz="5400" b="1" dirty="0">
                <a:solidFill>
                  <a:srgbClr val="3949AB"/>
                </a:solidFill>
                <a:latin typeface="Cambria" pitchFamily="34" charset="0"/>
                <a:ea typeface="Cambria" pitchFamily="34" charset="-122"/>
                <a:cs typeface="Cambria" pitchFamily="34" charset="-120"/>
              </a:rPr>
              <a:t>13</a:t>
            </a:r>
            <a:endParaRPr lang="en-US" sz="5400" dirty="0"/>
          </a:p>
        </p:txBody>
      </p:sp>
      <p:sp>
        <p:nvSpPr>
          <p:cNvPr id="33" name="Shape 31"/>
          <p:cNvSpPr/>
          <p:nvPr/>
        </p:nvSpPr>
        <p:spPr>
          <a:xfrm>
            <a:off x="3611880" y="1280160"/>
            <a:ext cx="5074920" cy="868680"/>
          </a:xfrm>
          <a:prstGeom prst="roundRect">
            <a:avLst>
              <a:gd name="adj" fmla="val 8421"/>
            </a:avLst>
          </a:prstGeom>
          <a:solidFill>
            <a:srgbClr val="F2F2F2"/>
          </a:solidFill>
          <a:ln/>
        </p:spPr>
      </p:sp>
      <p:sp>
        <p:nvSpPr>
          <p:cNvPr id="34" name="Shape 32"/>
          <p:cNvSpPr/>
          <p:nvPr/>
        </p:nvSpPr>
        <p:spPr>
          <a:xfrm>
            <a:off x="3703320" y="1485900"/>
            <a:ext cx="457200" cy="457200"/>
          </a:xfrm>
          <a:prstGeom prst="ellipse">
            <a:avLst/>
          </a:prstGeom>
          <a:solidFill>
            <a:srgbClr val="616161"/>
          </a:solidFill>
          <a:ln/>
        </p:spPr>
      </p:sp>
      <p:pic>
        <p:nvPicPr>
          <p:cNvPr id="35" name="Image 0" descr="SwapHoriz">    </p:cNvPr>
          <p:cNvPicPr>
            <a:picLocks noChangeAspect="1"/>
          </p:cNvPicPr>
          <p:nvPr/>
        </p:nvPicPr>
        <p:blipFill>
          <a:blip r:embed="rId1"/>
          <a:stretch>
            <a:fillRect/>
          </a:stretch>
        </p:blipFill>
        <p:spPr>
          <a:xfrm>
            <a:off x="3794760" y="1577340"/>
            <a:ext cx="274320" cy="274320"/>
          </a:xfrm>
          <a:prstGeom prst="rect">
            <a:avLst/>
          </a:prstGeom>
        </p:spPr>
      </p:pic>
      <p:sp>
        <p:nvSpPr>
          <p:cNvPr id="36" name="Text 33"/>
          <p:cNvSpPr txBox="1"/>
          <p:nvPr/>
        </p:nvSpPr>
        <p:spPr>
          <a:xfrm>
            <a:off x="4297680" y="1371600"/>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ALTERNATIVES</a:t>
            </a:r>
            <a:endParaRPr lang="en-US" sz="1000" dirty="0"/>
          </a:p>
        </p:txBody>
      </p:sp>
      <p:sp>
        <p:nvSpPr>
          <p:cNvPr id="37" name="Text 34"/>
          <p:cNvSpPr txBox="1"/>
          <p:nvPr/>
        </p:nvSpPr>
        <p:spPr>
          <a:xfrm>
            <a:off x="4297680" y="1563624"/>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The team continuing to run the ledger and the pilot</a:t>
            </a:r>
            <a:endParaRPr lang="en-US" sz="1300" dirty="0"/>
          </a:p>
        </p:txBody>
      </p:sp>
      <p:sp>
        <p:nvSpPr>
          <p:cNvPr id="38" name="Shape 35"/>
          <p:cNvSpPr/>
          <p:nvPr/>
        </p:nvSpPr>
        <p:spPr>
          <a:xfrm>
            <a:off x="3611880" y="2258568"/>
            <a:ext cx="5074920" cy="868680"/>
          </a:xfrm>
          <a:prstGeom prst="roundRect">
            <a:avLst>
              <a:gd name="adj" fmla="val 8421"/>
            </a:avLst>
          </a:prstGeom>
          <a:solidFill>
            <a:srgbClr val="E8F5E9"/>
          </a:solidFill>
          <a:ln/>
        </p:spPr>
      </p:sp>
      <p:sp>
        <p:nvSpPr>
          <p:cNvPr id="39" name="Shape 36"/>
          <p:cNvSpPr/>
          <p:nvPr/>
        </p:nvSpPr>
        <p:spPr>
          <a:xfrm>
            <a:off x="3703320" y="2464308"/>
            <a:ext cx="457200" cy="457200"/>
          </a:xfrm>
          <a:prstGeom prst="ellipse">
            <a:avLst/>
          </a:prstGeom>
          <a:solidFill>
            <a:srgbClr val="2E7D32"/>
          </a:solidFill>
          <a:ln/>
        </p:spPr>
      </p:sp>
      <p:pic>
        <p:nvPicPr>
          <p:cNvPr id="40" name="Image 1" descr="CheckCircle">    </p:cNvPr>
          <p:cNvPicPr>
            <a:picLocks noChangeAspect="1"/>
          </p:cNvPicPr>
          <p:nvPr/>
        </p:nvPicPr>
        <p:blipFill>
          <a:blip r:embed="rId2"/>
          <a:stretch>
            <a:fillRect/>
          </a:stretch>
        </p:blipFill>
        <p:spPr>
          <a:xfrm>
            <a:off x="3794760" y="2555748"/>
            <a:ext cx="274320" cy="274320"/>
          </a:xfrm>
          <a:prstGeom prst="rect">
            <a:avLst/>
          </a:prstGeom>
        </p:spPr>
      </p:pic>
      <p:sp>
        <p:nvSpPr>
          <p:cNvPr id="41" name="Text 37"/>
          <p:cNvSpPr txBox="1"/>
          <p:nvPr/>
        </p:nvSpPr>
        <p:spPr>
          <a:xfrm>
            <a:off x="4297680" y="2350008"/>
            <a:ext cx="4206240" cy="182880"/>
          </a:xfrm>
          <a:prstGeom prst="rect">
            <a:avLst/>
          </a:prstGeom>
          <a:noFill/>
          <a:ln/>
        </p:spPr>
        <p:txBody>
          <a:bodyPr wrap="square" lIns="0" tIns="0" rIns="0" bIns="0" rtlCol="0" anchor="t"/>
          <a:lstStyle/>
          <a:p>
            <a:pPr algn="l" indent="0" marL="0">
              <a:buNone/>
            </a:pPr>
            <a:r>
              <a:rPr lang="en-US" sz="1000" b="1" spc="200" kern="0" dirty="0">
                <a:solidFill>
                  <a:srgbClr val="616161"/>
                </a:solidFill>
              </a:rPr>
              <a:t>REASON</a:t>
            </a:r>
            <a:endParaRPr lang="en-US" sz="1000" dirty="0"/>
          </a:p>
        </p:txBody>
      </p:sp>
      <p:sp>
        <p:nvSpPr>
          <p:cNvPr id="42" name="Text 38"/>
          <p:cNvSpPr txBox="1"/>
          <p:nvPr/>
        </p:nvSpPr>
        <p:spPr>
          <a:xfrm>
            <a:off x="4297680" y="2542032"/>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A team that stays becomes the thing the system depends on</a:t>
            </a:r>
            <a:endParaRPr lang="en-US" sz="1300" dirty="0"/>
          </a:p>
        </p:txBody>
      </p:sp>
      <p:sp>
        <p:nvSpPr>
          <p:cNvPr id="43" name="Shape 39"/>
          <p:cNvSpPr/>
          <p:nvPr/>
        </p:nvSpPr>
        <p:spPr>
          <a:xfrm>
            <a:off x="3611880" y="3236976"/>
            <a:ext cx="5074920" cy="868680"/>
          </a:xfrm>
          <a:prstGeom prst="roundRect">
            <a:avLst>
              <a:gd name="adj" fmla="val 8421"/>
            </a:avLst>
          </a:prstGeom>
          <a:solidFill>
            <a:srgbClr val="FFF8E1"/>
          </a:solidFill>
          <a:ln/>
        </p:spPr>
      </p:sp>
      <p:sp>
        <p:nvSpPr>
          <p:cNvPr id="44" name="Shape 40"/>
          <p:cNvSpPr/>
          <p:nvPr/>
        </p:nvSpPr>
        <p:spPr>
          <a:xfrm>
            <a:off x="3703320" y="3442716"/>
            <a:ext cx="457200" cy="457200"/>
          </a:xfrm>
          <a:prstGeom prst="ellipse">
            <a:avLst/>
          </a:prstGeom>
          <a:solidFill>
            <a:srgbClr val="F57F17"/>
          </a:solidFill>
          <a:ln/>
        </p:spPr>
      </p:sp>
      <p:pic>
        <p:nvPicPr>
          <p:cNvPr id="45" name="Image 2" descr="Balance">    </p:cNvPr>
          <p:cNvPicPr>
            <a:picLocks noChangeAspect="1"/>
          </p:cNvPicPr>
          <p:nvPr/>
        </p:nvPicPr>
        <p:blipFill>
          <a:blip r:embed="rId3"/>
          <a:stretch>
            <a:fillRect/>
          </a:stretch>
        </p:blipFill>
        <p:spPr>
          <a:xfrm>
            <a:off x="3794760" y="3534156"/>
            <a:ext cx="274320" cy="274320"/>
          </a:xfrm>
          <a:prstGeom prst="rect">
            <a:avLst/>
          </a:prstGeom>
        </p:spPr>
      </p:pic>
      <p:sp>
        <p:nvSpPr>
          <p:cNvPr id="46" name="Text 41"/>
          <p:cNvSpPr txBox="1"/>
          <p:nvPr/>
        </p:nvSpPr>
        <p:spPr>
          <a:xfrm>
            <a:off x="4297680" y="3328416"/>
            <a:ext cx="4206240" cy="182880"/>
          </a:xfrm>
          <a:prstGeom prst="rect">
            <a:avLst/>
          </a:prstGeom>
          <a:noFill/>
          <a:ln/>
        </p:spPr>
        <p:txBody>
          <a:bodyPr wrap="square" lIns="0" tIns="0" rIns="0" bIns="0" rtlCol="0" anchor="t"/>
          <a:lstStyle/>
          <a:p>
            <a:pPr algn="l" indent="0" marL="0">
              <a:buNone/>
            </a:pPr>
            <a:r>
              <a:rPr lang="en-US" sz="1000" b="1" spc="200" kern="0" dirty="0">
                <a:solidFill>
                  <a:srgbClr val="8D4A00"/>
                </a:solidFill>
              </a:rPr>
              <a:t>TRADE-OFF</a:t>
            </a:r>
            <a:endParaRPr lang="en-US" sz="1000" dirty="0"/>
          </a:p>
        </p:txBody>
      </p:sp>
      <p:sp>
        <p:nvSpPr>
          <p:cNvPr id="47" name="Text 42"/>
          <p:cNvSpPr txBox="1"/>
          <p:nvPr/>
        </p:nvSpPr>
        <p:spPr>
          <a:xfrm>
            <a:off x="4297680" y="3520440"/>
            <a:ext cx="4251960" cy="548640"/>
          </a:xfrm>
          <a:prstGeom prst="rect">
            <a:avLst/>
          </a:prstGeom>
          <a:noFill/>
          <a:ln/>
        </p:spPr>
        <p:txBody>
          <a:bodyPr wrap="square" lIns="0" tIns="0" rIns="0" bIns="0" rtlCol="0" anchor="t"/>
          <a:lstStyle/>
          <a:p>
            <a:pPr algn="l" indent="0" marL="0">
              <a:buNone/>
            </a:pPr>
            <a:r>
              <a:rPr lang="en-US" sz="1300" dirty="0">
                <a:solidFill>
                  <a:srgbClr val="1F2430"/>
                </a:solidFill>
              </a:rPr>
              <a:t>Less continuity and control over how the ledger is read after handover</a:t>
            </a:r>
            <a:endParaRPr lang="en-US" sz="1300" dirty="0"/>
          </a:p>
        </p:txBody>
      </p:sp>
      <p:sp>
        <p:nvSpPr>
          <p:cNvPr id="48" name="Shape 43"/>
          <p:cNvSpPr/>
          <p:nvPr/>
        </p:nvSpPr>
        <p:spPr>
          <a:xfrm>
            <a:off x="3694176" y="4334256"/>
            <a:ext cx="256032" cy="256032"/>
          </a:xfrm>
          <a:prstGeom prst="ellipse">
            <a:avLst/>
          </a:prstGeom>
          <a:solidFill>
            <a:srgbClr val="1A237E"/>
          </a:solidFill>
          <a:ln/>
        </p:spPr>
      </p:sp>
      <p:pic>
        <p:nvPicPr>
          <p:cNvPr id="49" name="Image 3" descr="Insights">    </p:cNvPr>
          <p:cNvPicPr>
            <a:picLocks noChangeAspect="1"/>
          </p:cNvPicPr>
          <p:nvPr/>
        </p:nvPicPr>
        <p:blipFill>
          <a:blip r:embed="rId4"/>
          <a:stretch>
            <a:fillRect/>
          </a:stretch>
        </p:blipFill>
        <p:spPr>
          <a:xfrm>
            <a:off x="3745382" y="4385462"/>
            <a:ext cx="153619" cy="153619"/>
          </a:xfrm>
          <a:prstGeom prst="rect">
            <a:avLst/>
          </a:prstGeom>
        </p:spPr>
      </p:pic>
      <p:sp>
        <p:nvSpPr>
          <p:cNvPr id="50" name="Text 44"/>
          <p:cNvSpPr txBox="1"/>
          <p:nvPr/>
        </p:nvSpPr>
        <p:spPr>
          <a:xfrm>
            <a:off x="4069080" y="4352544"/>
            <a:ext cx="4617720" cy="228600"/>
          </a:xfrm>
          <a:prstGeom prst="rect">
            <a:avLst/>
          </a:prstGeom>
          <a:noFill/>
          <a:ln/>
        </p:spPr>
        <p:txBody>
          <a:bodyPr wrap="square" lIns="0" tIns="0" rIns="0" bIns="0" rtlCol="0" anchor="ctr"/>
          <a:lstStyle/>
          <a:p>
            <a:pPr algn="l" indent="0" marL="0">
              <a:buNone/>
            </a:pPr>
            <a:r>
              <a:rPr lang="en-US" sz="1200" i="1" dirty="0">
                <a:solidFill>
                  <a:srgbClr val="1F2430"/>
                </a:solidFill>
              </a:rPr>
              <a:t>An effective ratio drifting toward 70% for four weeks signals failure</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If adopted, Kadamba's daily surplus could fall from 254 to 471 portions to about 69 to 120</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48740" y="4841748"/>
            <a:ext cx="146304" cy="146304"/>
          </a:xfrm>
          <a:prstGeom prst="ellipse">
            <a:avLst/>
          </a:prstGeom>
          <a:solidFill>
            <a:srgbClr val="1A237E"/>
          </a:solidFill>
          <a:ln/>
        </p:spPr>
      </p:sp>
      <p:sp>
        <p:nvSpPr>
          <p:cNvPr id="9" name="Shape 7"/>
          <p:cNvSpPr/>
          <p:nvPr/>
        </p:nvSpPr>
        <p:spPr>
          <a:xfrm>
            <a:off x="1312164" y="4805172"/>
            <a:ext cx="219456" cy="219456"/>
          </a:xfrm>
          <a:prstGeom prst="ellipse">
            <a:avLst/>
          </a:prstGeom>
          <a:ln w="9525">
            <a:solidFill>
              <a:srgbClr val="1A237E"/>
            </a:solidFill>
            <a:prstDash val="solid"/>
          </a:ln>
        </p:spPr>
      </p:sp>
      <p:sp>
        <p:nvSpPr>
          <p:cNvPr id="10" name="Shape 8"/>
          <p:cNvSpPr/>
          <p:nvPr/>
        </p:nvSpPr>
        <p:spPr>
          <a:xfrm>
            <a:off x="1554480" y="4864608"/>
            <a:ext cx="100584" cy="100584"/>
          </a:xfrm>
          <a:prstGeom prst="ellipse">
            <a:avLst/>
          </a:prstGeom>
          <a:ln w="9525">
            <a:solidFill>
              <a:srgbClr val="9AA3B5"/>
            </a:solidFill>
            <a:prstDash val="solid"/>
          </a:ln>
        </p:spPr>
      </p:sp>
      <p:sp>
        <p:nvSpPr>
          <p:cNvPr id="11" name="Shape 9"/>
          <p:cNvSpPr/>
          <p:nvPr/>
        </p:nvSpPr>
        <p:spPr>
          <a:xfrm>
            <a:off x="1737360" y="4864608"/>
            <a:ext cx="100584" cy="100584"/>
          </a:xfrm>
          <a:prstGeom prst="ellipse">
            <a:avLst/>
          </a:prstGeom>
          <a:ln w="9525">
            <a:solidFill>
              <a:srgbClr val="9AA3B5"/>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6 Designing and testing interventions</a:t>
            </a:r>
            <a:endParaRPr lang="en-US" sz="1000" dirty="0"/>
          </a:p>
        </p:txBody>
      </p:sp>
      <p:sp>
        <p:nvSpPr>
          <p:cNvPr id="15" name="Text 13"/>
          <p:cNvSpPr txBox="1"/>
          <p:nvPr/>
        </p:nvSpPr>
        <p:spPr>
          <a:xfrm>
            <a:off x="457200" y="1280160"/>
            <a:ext cx="5486400" cy="182880"/>
          </a:xfrm>
          <a:prstGeom prst="rect">
            <a:avLst/>
          </a:prstGeom>
          <a:noFill/>
          <a:ln/>
        </p:spPr>
        <p:txBody>
          <a:bodyPr wrap="square" lIns="0" tIns="0" rIns="0" bIns="0" rtlCol="0" anchor="t"/>
          <a:lstStyle/>
          <a:p>
            <a:pPr algn="l" indent="0" marL="0">
              <a:buNone/>
            </a:pPr>
            <a:r>
              <a:rPr lang="en-US" sz="1000" b="1" spc="100" kern="0" dirty="0">
                <a:solidFill>
                  <a:srgbClr val="616161"/>
                </a:solidFill>
              </a:rPr>
              <a:t>FIRST-BATCH SURPLUS AT KADAMBA, PORTIONS A DAY</a:t>
            </a:r>
            <a:endParaRPr lang="en-US" sz="1000" dirty="0"/>
          </a:p>
        </p:txBody>
      </p:sp>
      <p:sp>
        <p:nvSpPr>
          <p:cNvPr id="16" name="Shape 14"/>
          <p:cNvSpPr/>
          <p:nvPr/>
        </p:nvSpPr>
        <p:spPr>
          <a:xfrm>
            <a:off x="1828800" y="1737360"/>
            <a:ext cx="0" cy="960120"/>
          </a:xfrm>
          <a:prstGeom prst="line">
            <a:avLst/>
          </a:prstGeom>
          <a:noFill/>
          <a:ln w="9525">
            <a:solidFill>
              <a:srgbClr val="DDDDDD"/>
            </a:solidFill>
            <a:prstDash val="solid"/>
          </a:ln>
        </p:spPr>
      </p:sp>
      <p:sp>
        <p:nvSpPr>
          <p:cNvPr id="17" name="Text 15"/>
          <p:cNvSpPr txBox="1"/>
          <p:nvPr/>
        </p:nvSpPr>
        <p:spPr>
          <a:xfrm>
            <a:off x="1645920" y="271576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0</a:t>
            </a:r>
            <a:endParaRPr lang="en-US" sz="950" dirty="0"/>
          </a:p>
        </p:txBody>
      </p:sp>
      <p:sp>
        <p:nvSpPr>
          <p:cNvPr id="18" name="Shape 16"/>
          <p:cNvSpPr/>
          <p:nvPr/>
        </p:nvSpPr>
        <p:spPr>
          <a:xfrm>
            <a:off x="3163824" y="1737360"/>
            <a:ext cx="0" cy="960120"/>
          </a:xfrm>
          <a:prstGeom prst="line">
            <a:avLst/>
          </a:prstGeom>
          <a:noFill/>
          <a:ln w="9525">
            <a:solidFill>
              <a:srgbClr val="DDDDDD"/>
            </a:solidFill>
            <a:prstDash val="solid"/>
          </a:ln>
        </p:spPr>
      </p:sp>
      <p:sp>
        <p:nvSpPr>
          <p:cNvPr id="19" name="Text 17"/>
          <p:cNvSpPr txBox="1"/>
          <p:nvPr/>
        </p:nvSpPr>
        <p:spPr>
          <a:xfrm>
            <a:off x="2980944" y="271576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100</a:t>
            </a:r>
            <a:endParaRPr lang="en-US" sz="950" dirty="0"/>
          </a:p>
        </p:txBody>
      </p:sp>
      <p:sp>
        <p:nvSpPr>
          <p:cNvPr id="20" name="Shape 18"/>
          <p:cNvSpPr/>
          <p:nvPr/>
        </p:nvSpPr>
        <p:spPr>
          <a:xfrm>
            <a:off x="4498848" y="1737360"/>
            <a:ext cx="0" cy="960120"/>
          </a:xfrm>
          <a:prstGeom prst="line">
            <a:avLst/>
          </a:prstGeom>
          <a:noFill/>
          <a:ln w="9525">
            <a:solidFill>
              <a:srgbClr val="DDDDDD"/>
            </a:solidFill>
            <a:prstDash val="solid"/>
          </a:ln>
        </p:spPr>
      </p:sp>
      <p:sp>
        <p:nvSpPr>
          <p:cNvPr id="21" name="Text 19"/>
          <p:cNvSpPr txBox="1"/>
          <p:nvPr/>
        </p:nvSpPr>
        <p:spPr>
          <a:xfrm>
            <a:off x="4315968" y="271576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200</a:t>
            </a:r>
            <a:endParaRPr lang="en-US" sz="950" dirty="0"/>
          </a:p>
        </p:txBody>
      </p:sp>
      <p:sp>
        <p:nvSpPr>
          <p:cNvPr id="22" name="Shape 20"/>
          <p:cNvSpPr/>
          <p:nvPr/>
        </p:nvSpPr>
        <p:spPr>
          <a:xfrm>
            <a:off x="5833872" y="1737360"/>
            <a:ext cx="0" cy="960120"/>
          </a:xfrm>
          <a:prstGeom prst="line">
            <a:avLst/>
          </a:prstGeom>
          <a:noFill/>
          <a:ln w="9525">
            <a:solidFill>
              <a:srgbClr val="DDDDDD"/>
            </a:solidFill>
            <a:prstDash val="solid"/>
          </a:ln>
        </p:spPr>
      </p:sp>
      <p:sp>
        <p:nvSpPr>
          <p:cNvPr id="23" name="Text 21"/>
          <p:cNvSpPr txBox="1"/>
          <p:nvPr/>
        </p:nvSpPr>
        <p:spPr>
          <a:xfrm>
            <a:off x="5650992" y="271576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300</a:t>
            </a:r>
            <a:endParaRPr lang="en-US" sz="950" dirty="0"/>
          </a:p>
        </p:txBody>
      </p:sp>
      <p:sp>
        <p:nvSpPr>
          <p:cNvPr id="24" name="Shape 22"/>
          <p:cNvSpPr/>
          <p:nvPr/>
        </p:nvSpPr>
        <p:spPr>
          <a:xfrm>
            <a:off x="7168896" y="1737360"/>
            <a:ext cx="0" cy="960120"/>
          </a:xfrm>
          <a:prstGeom prst="line">
            <a:avLst/>
          </a:prstGeom>
          <a:noFill/>
          <a:ln w="9525">
            <a:solidFill>
              <a:srgbClr val="DDDDDD"/>
            </a:solidFill>
            <a:prstDash val="solid"/>
          </a:ln>
        </p:spPr>
      </p:sp>
      <p:sp>
        <p:nvSpPr>
          <p:cNvPr id="25" name="Text 23"/>
          <p:cNvSpPr txBox="1"/>
          <p:nvPr/>
        </p:nvSpPr>
        <p:spPr>
          <a:xfrm>
            <a:off x="6986016" y="271576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400</a:t>
            </a:r>
            <a:endParaRPr lang="en-US" sz="950" dirty="0"/>
          </a:p>
        </p:txBody>
      </p:sp>
      <p:sp>
        <p:nvSpPr>
          <p:cNvPr id="26" name="Shape 24"/>
          <p:cNvSpPr/>
          <p:nvPr/>
        </p:nvSpPr>
        <p:spPr>
          <a:xfrm>
            <a:off x="8503920" y="1737360"/>
            <a:ext cx="0" cy="960120"/>
          </a:xfrm>
          <a:prstGeom prst="line">
            <a:avLst/>
          </a:prstGeom>
          <a:noFill/>
          <a:ln w="9525">
            <a:solidFill>
              <a:srgbClr val="DDDDDD"/>
            </a:solidFill>
            <a:prstDash val="solid"/>
          </a:ln>
        </p:spPr>
      </p:sp>
      <p:sp>
        <p:nvSpPr>
          <p:cNvPr id="27" name="Text 25"/>
          <p:cNvSpPr txBox="1"/>
          <p:nvPr/>
        </p:nvSpPr>
        <p:spPr>
          <a:xfrm>
            <a:off x="8321040" y="271576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500</a:t>
            </a:r>
            <a:endParaRPr lang="en-US" sz="950" dirty="0"/>
          </a:p>
        </p:txBody>
      </p:sp>
      <p:sp>
        <p:nvSpPr>
          <p:cNvPr id="28" name="Text 26"/>
          <p:cNvSpPr txBox="1"/>
          <p:nvPr/>
        </p:nvSpPr>
        <p:spPr>
          <a:xfrm>
            <a:off x="457200" y="1783080"/>
            <a:ext cx="1280160" cy="365760"/>
          </a:xfrm>
          <a:prstGeom prst="rect">
            <a:avLst/>
          </a:prstGeom>
          <a:noFill/>
          <a:ln/>
        </p:spPr>
        <p:txBody>
          <a:bodyPr wrap="square" lIns="0" tIns="0" rIns="0" bIns="0" rtlCol="0" anchor="ctr"/>
          <a:lstStyle/>
          <a:p>
            <a:pPr algn="l" indent="0" marL="0">
              <a:buNone/>
            </a:pPr>
            <a:r>
              <a:rPr lang="en-US" sz="1300" b="1" dirty="0">
                <a:solidFill>
                  <a:srgbClr val="1F2430"/>
                </a:solidFill>
              </a:rPr>
              <a:t>Now</a:t>
            </a:r>
            <a:endParaRPr lang="en-US" sz="1300" dirty="0"/>
          </a:p>
        </p:txBody>
      </p:sp>
      <p:sp>
        <p:nvSpPr>
          <p:cNvPr id="29" name="Shape 27"/>
          <p:cNvSpPr/>
          <p:nvPr/>
        </p:nvSpPr>
        <p:spPr>
          <a:xfrm>
            <a:off x="5219761" y="1810512"/>
            <a:ext cx="2897002" cy="310896"/>
          </a:xfrm>
          <a:prstGeom prst="roundRect">
            <a:avLst>
              <a:gd name="adj" fmla="val 11765"/>
            </a:avLst>
          </a:prstGeom>
          <a:solidFill>
            <a:srgbClr val="C62828"/>
          </a:solidFill>
          <a:ln/>
        </p:spPr>
      </p:sp>
      <p:sp>
        <p:nvSpPr>
          <p:cNvPr id="30" name="Text 28"/>
          <p:cNvSpPr txBox="1"/>
          <p:nvPr/>
        </p:nvSpPr>
        <p:spPr>
          <a:xfrm>
            <a:off x="5219761" y="1810512"/>
            <a:ext cx="2897002" cy="310896"/>
          </a:xfrm>
          <a:prstGeom prst="rect">
            <a:avLst/>
          </a:prstGeom>
          <a:noFill/>
          <a:ln/>
        </p:spPr>
        <p:txBody>
          <a:bodyPr wrap="square" lIns="0" tIns="0" rIns="0" bIns="0" rtlCol="0" anchor="ctr"/>
          <a:lstStyle/>
          <a:p>
            <a:pPr algn="ctr" indent="0" marL="0">
              <a:buNone/>
            </a:pPr>
            <a:r>
              <a:rPr lang="en-US" sz="1200" b="1" dirty="0">
                <a:solidFill>
                  <a:srgbClr val="FFFFFF"/>
                </a:solidFill>
              </a:rPr>
              <a:t>254 to 471</a:t>
            </a:r>
            <a:endParaRPr lang="en-US" sz="1200" dirty="0"/>
          </a:p>
        </p:txBody>
      </p:sp>
      <p:sp>
        <p:nvSpPr>
          <p:cNvPr id="31" name="Text 29"/>
          <p:cNvSpPr txBox="1"/>
          <p:nvPr/>
        </p:nvSpPr>
        <p:spPr>
          <a:xfrm>
            <a:off x="457200" y="2240280"/>
            <a:ext cx="1325880" cy="365760"/>
          </a:xfrm>
          <a:prstGeom prst="rect">
            <a:avLst/>
          </a:prstGeom>
          <a:noFill/>
          <a:ln/>
        </p:spPr>
        <p:txBody>
          <a:bodyPr wrap="square" lIns="0" tIns="0" rIns="0" bIns="0" rtlCol="0" anchor="ctr"/>
          <a:lstStyle/>
          <a:p>
            <a:pPr algn="l" indent="0" marL="0">
              <a:buNone/>
            </a:pPr>
            <a:r>
              <a:rPr lang="en-US" sz="1150" b="1" dirty="0">
                <a:solidFill>
                  <a:srgbClr val="1F2430"/>
                </a:solidFill>
              </a:rPr>
              <a:t>After about four months</a:t>
            </a:r>
            <a:endParaRPr lang="en-US" sz="1150" dirty="0"/>
          </a:p>
        </p:txBody>
      </p:sp>
      <p:sp>
        <p:nvSpPr>
          <p:cNvPr id="32" name="Shape 30"/>
          <p:cNvSpPr/>
          <p:nvPr/>
        </p:nvSpPr>
        <p:spPr>
          <a:xfrm>
            <a:off x="2749967" y="2267712"/>
            <a:ext cx="680862" cy="310896"/>
          </a:xfrm>
          <a:prstGeom prst="roundRect">
            <a:avLst>
              <a:gd name="adj" fmla="val 11765"/>
            </a:avLst>
          </a:prstGeom>
          <a:solidFill>
            <a:srgbClr val="2E7D32"/>
          </a:solidFill>
          <a:ln/>
        </p:spPr>
      </p:sp>
      <p:sp>
        <p:nvSpPr>
          <p:cNvPr id="33" name="Text 31"/>
          <p:cNvSpPr txBox="1"/>
          <p:nvPr/>
        </p:nvSpPr>
        <p:spPr>
          <a:xfrm>
            <a:off x="3522269" y="2267712"/>
            <a:ext cx="1828800" cy="310896"/>
          </a:xfrm>
          <a:prstGeom prst="rect">
            <a:avLst/>
          </a:prstGeom>
          <a:noFill/>
          <a:ln/>
        </p:spPr>
        <p:txBody>
          <a:bodyPr wrap="square" lIns="0" tIns="0" rIns="0" bIns="0" rtlCol="0" anchor="ctr"/>
          <a:lstStyle/>
          <a:p>
            <a:pPr algn="l" indent="0" marL="0">
              <a:buNone/>
            </a:pPr>
            <a:r>
              <a:rPr lang="en-US" sz="1200" b="1" dirty="0">
                <a:solidFill>
                  <a:srgbClr val="2E7D32"/>
                </a:solidFill>
              </a:rPr>
              <a:t>about 69 to 120</a:t>
            </a:r>
            <a:endParaRPr lang="en-US" sz="1200" dirty="0"/>
          </a:p>
        </p:txBody>
      </p:sp>
      <p:sp>
        <p:nvSpPr>
          <p:cNvPr id="34" name="Text 32"/>
          <p:cNvSpPr txBox="1"/>
          <p:nvPr/>
        </p:nvSpPr>
        <p:spPr>
          <a:xfrm>
            <a:off x="457200" y="3063240"/>
            <a:ext cx="5486400" cy="182880"/>
          </a:xfrm>
          <a:prstGeom prst="rect">
            <a:avLst/>
          </a:prstGeom>
          <a:noFill/>
          <a:ln/>
        </p:spPr>
        <p:txBody>
          <a:bodyPr wrap="square" lIns="0" tIns="0" rIns="0" bIns="0" rtlCol="0" anchor="t"/>
          <a:lstStyle/>
          <a:p>
            <a:pPr algn="l" indent="0" marL="0">
              <a:buNone/>
            </a:pPr>
            <a:r>
              <a:rPr lang="en-US" sz="1000" b="1" spc="100" kern="0" dirty="0">
                <a:solidFill>
                  <a:srgbClr val="616161"/>
                </a:solidFill>
              </a:rPr>
              <a:t>WEEKLY CHARGE FOR UNEATEN BREAKFASTS, RS LAKH</a:t>
            </a:r>
            <a:endParaRPr lang="en-US" sz="1000" dirty="0"/>
          </a:p>
        </p:txBody>
      </p:sp>
      <p:sp>
        <p:nvSpPr>
          <p:cNvPr id="35" name="Shape 33"/>
          <p:cNvSpPr/>
          <p:nvPr/>
        </p:nvSpPr>
        <p:spPr>
          <a:xfrm>
            <a:off x="1828800" y="3337560"/>
            <a:ext cx="0" cy="914400"/>
          </a:xfrm>
          <a:prstGeom prst="line">
            <a:avLst/>
          </a:prstGeom>
          <a:noFill/>
          <a:ln w="9525">
            <a:solidFill>
              <a:srgbClr val="DDDDDD"/>
            </a:solidFill>
            <a:prstDash val="solid"/>
          </a:ln>
        </p:spPr>
      </p:sp>
      <p:sp>
        <p:nvSpPr>
          <p:cNvPr id="36" name="Text 34"/>
          <p:cNvSpPr txBox="1"/>
          <p:nvPr/>
        </p:nvSpPr>
        <p:spPr>
          <a:xfrm>
            <a:off x="1645920" y="427024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0</a:t>
            </a:r>
            <a:endParaRPr lang="en-US" sz="950" dirty="0"/>
          </a:p>
        </p:txBody>
      </p:sp>
      <p:sp>
        <p:nvSpPr>
          <p:cNvPr id="37" name="Shape 35"/>
          <p:cNvSpPr/>
          <p:nvPr/>
        </p:nvSpPr>
        <p:spPr>
          <a:xfrm>
            <a:off x="4053840" y="3337560"/>
            <a:ext cx="0" cy="914400"/>
          </a:xfrm>
          <a:prstGeom prst="line">
            <a:avLst/>
          </a:prstGeom>
          <a:noFill/>
          <a:ln w="9525">
            <a:solidFill>
              <a:srgbClr val="DDDDDD"/>
            </a:solidFill>
            <a:prstDash val="solid"/>
          </a:ln>
        </p:spPr>
      </p:sp>
      <p:sp>
        <p:nvSpPr>
          <p:cNvPr id="38" name="Text 36"/>
          <p:cNvSpPr txBox="1"/>
          <p:nvPr/>
        </p:nvSpPr>
        <p:spPr>
          <a:xfrm>
            <a:off x="3870960" y="427024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1</a:t>
            </a:r>
            <a:endParaRPr lang="en-US" sz="950" dirty="0"/>
          </a:p>
        </p:txBody>
      </p:sp>
      <p:sp>
        <p:nvSpPr>
          <p:cNvPr id="39" name="Shape 37"/>
          <p:cNvSpPr/>
          <p:nvPr/>
        </p:nvSpPr>
        <p:spPr>
          <a:xfrm>
            <a:off x="6278880" y="3337560"/>
            <a:ext cx="0" cy="914400"/>
          </a:xfrm>
          <a:prstGeom prst="line">
            <a:avLst/>
          </a:prstGeom>
          <a:noFill/>
          <a:ln w="9525">
            <a:solidFill>
              <a:srgbClr val="DDDDDD"/>
            </a:solidFill>
            <a:prstDash val="solid"/>
          </a:ln>
        </p:spPr>
      </p:sp>
      <p:sp>
        <p:nvSpPr>
          <p:cNvPr id="40" name="Text 38"/>
          <p:cNvSpPr txBox="1"/>
          <p:nvPr/>
        </p:nvSpPr>
        <p:spPr>
          <a:xfrm>
            <a:off x="6096000" y="427024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2</a:t>
            </a:r>
            <a:endParaRPr lang="en-US" sz="950" dirty="0"/>
          </a:p>
        </p:txBody>
      </p:sp>
      <p:sp>
        <p:nvSpPr>
          <p:cNvPr id="41" name="Shape 39"/>
          <p:cNvSpPr/>
          <p:nvPr/>
        </p:nvSpPr>
        <p:spPr>
          <a:xfrm>
            <a:off x="8503920" y="3337560"/>
            <a:ext cx="0" cy="914400"/>
          </a:xfrm>
          <a:prstGeom prst="line">
            <a:avLst/>
          </a:prstGeom>
          <a:noFill/>
          <a:ln w="9525">
            <a:solidFill>
              <a:srgbClr val="DDDDDD"/>
            </a:solidFill>
            <a:prstDash val="solid"/>
          </a:ln>
        </p:spPr>
      </p:sp>
      <p:sp>
        <p:nvSpPr>
          <p:cNvPr id="42" name="Text 40"/>
          <p:cNvSpPr txBox="1"/>
          <p:nvPr/>
        </p:nvSpPr>
        <p:spPr>
          <a:xfrm>
            <a:off x="8321040" y="4270248"/>
            <a:ext cx="365760" cy="164592"/>
          </a:xfrm>
          <a:prstGeom prst="rect">
            <a:avLst/>
          </a:prstGeom>
          <a:noFill/>
          <a:ln/>
        </p:spPr>
        <p:txBody>
          <a:bodyPr wrap="square" lIns="0" tIns="0" rIns="0" bIns="0" rtlCol="0" anchor="t"/>
          <a:lstStyle/>
          <a:p>
            <a:pPr algn="ctr" indent="0" marL="0">
              <a:buNone/>
            </a:pPr>
            <a:r>
              <a:rPr lang="en-US" sz="950" dirty="0">
                <a:solidFill>
                  <a:srgbClr val="616161"/>
                </a:solidFill>
              </a:rPr>
              <a:t>3</a:t>
            </a:r>
            <a:endParaRPr lang="en-US" sz="950" dirty="0"/>
          </a:p>
        </p:txBody>
      </p:sp>
      <p:sp>
        <p:nvSpPr>
          <p:cNvPr id="43" name="Text 41"/>
          <p:cNvSpPr txBox="1"/>
          <p:nvPr/>
        </p:nvSpPr>
        <p:spPr>
          <a:xfrm>
            <a:off x="457200" y="3364992"/>
            <a:ext cx="1280160" cy="237744"/>
          </a:xfrm>
          <a:prstGeom prst="rect">
            <a:avLst/>
          </a:prstGeom>
          <a:noFill/>
          <a:ln/>
        </p:spPr>
        <p:txBody>
          <a:bodyPr wrap="square" lIns="0" tIns="0" rIns="0" bIns="0" rtlCol="0" anchor="t"/>
          <a:lstStyle/>
          <a:p>
            <a:pPr algn="l" indent="0" marL="0">
              <a:buNone/>
            </a:pPr>
            <a:r>
              <a:rPr lang="en-US" sz="1200" b="1" dirty="0">
                <a:solidFill>
                  <a:srgbClr val="1F2430"/>
                </a:solidFill>
              </a:rPr>
              <a:t>Now</a:t>
            </a:r>
            <a:endParaRPr lang="en-US" sz="1200" dirty="0"/>
          </a:p>
        </p:txBody>
      </p:sp>
      <p:sp>
        <p:nvSpPr>
          <p:cNvPr id="44" name="Shape 42"/>
          <p:cNvSpPr/>
          <p:nvPr/>
        </p:nvSpPr>
        <p:spPr>
          <a:xfrm>
            <a:off x="1828800" y="3383280"/>
            <a:ext cx="5495849" cy="219456"/>
          </a:xfrm>
          <a:prstGeom prst="roundRect">
            <a:avLst>
              <a:gd name="adj" fmla="val 16667"/>
            </a:avLst>
          </a:prstGeom>
          <a:solidFill>
            <a:srgbClr val="C62828"/>
          </a:solidFill>
          <a:ln/>
        </p:spPr>
      </p:sp>
      <p:sp>
        <p:nvSpPr>
          <p:cNvPr id="45" name="Text 43"/>
          <p:cNvSpPr txBox="1"/>
          <p:nvPr/>
        </p:nvSpPr>
        <p:spPr>
          <a:xfrm>
            <a:off x="1920240" y="3383280"/>
            <a:ext cx="1828800" cy="219456"/>
          </a:xfrm>
          <a:prstGeom prst="rect">
            <a:avLst/>
          </a:prstGeom>
          <a:noFill/>
          <a:ln/>
        </p:spPr>
        <p:txBody>
          <a:bodyPr wrap="square" lIns="0" tIns="0" rIns="0" bIns="0" rtlCol="0" anchor="ctr"/>
          <a:lstStyle/>
          <a:p>
            <a:pPr algn="l" indent="0" marL="0">
              <a:buNone/>
            </a:pPr>
            <a:r>
              <a:rPr lang="en-US" sz="1100" b="1" dirty="0">
                <a:solidFill>
                  <a:srgbClr val="FFFFFF"/>
                </a:solidFill>
              </a:rPr>
              <a:t>about 2.47</a:t>
            </a:r>
            <a:endParaRPr lang="en-US" sz="1100" dirty="0"/>
          </a:p>
        </p:txBody>
      </p:sp>
      <p:sp>
        <p:nvSpPr>
          <p:cNvPr id="46" name="Text 44"/>
          <p:cNvSpPr txBox="1"/>
          <p:nvPr/>
        </p:nvSpPr>
        <p:spPr>
          <a:xfrm>
            <a:off x="457200" y="3657600"/>
            <a:ext cx="1280160" cy="237744"/>
          </a:xfrm>
          <a:prstGeom prst="rect">
            <a:avLst/>
          </a:prstGeom>
          <a:noFill/>
          <a:ln/>
        </p:spPr>
        <p:txBody>
          <a:bodyPr wrap="square" lIns="0" tIns="0" rIns="0" bIns="0" rtlCol="0" anchor="t"/>
          <a:lstStyle/>
          <a:p>
            <a:pPr algn="l" indent="0" marL="0">
              <a:buNone/>
            </a:pPr>
            <a:r>
              <a:rPr lang="en-US" sz="1200" b="1" dirty="0">
                <a:solidFill>
                  <a:srgbClr val="1F2430"/>
                </a:solidFill>
              </a:rPr>
              <a:t>Sunday skip</a:t>
            </a:r>
            <a:endParaRPr lang="en-US" sz="1200" dirty="0"/>
          </a:p>
        </p:txBody>
      </p:sp>
      <p:sp>
        <p:nvSpPr>
          <p:cNvPr id="47" name="Shape 45"/>
          <p:cNvSpPr/>
          <p:nvPr/>
        </p:nvSpPr>
        <p:spPr>
          <a:xfrm>
            <a:off x="6879641" y="3675888"/>
            <a:ext cx="222504" cy="219456"/>
          </a:xfrm>
          <a:prstGeom prst="roundRect">
            <a:avLst>
              <a:gd name="adj" fmla="val 16667"/>
            </a:avLst>
          </a:prstGeom>
          <a:solidFill>
            <a:srgbClr val="1565C0"/>
          </a:solidFill>
          <a:ln/>
        </p:spPr>
      </p:sp>
      <p:sp>
        <p:nvSpPr>
          <p:cNvPr id="48" name="Text 46"/>
          <p:cNvSpPr txBox="1"/>
          <p:nvPr/>
        </p:nvSpPr>
        <p:spPr>
          <a:xfrm>
            <a:off x="7175297" y="3675888"/>
            <a:ext cx="1371600" cy="219456"/>
          </a:xfrm>
          <a:prstGeom prst="rect">
            <a:avLst/>
          </a:prstGeom>
          <a:noFill/>
          <a:ln/>
        </p:spPr>
        <p:txBody>
          <a:bodyPr wrap="square" lIns="0" tIns="0" rIns="0" bIns="0" rtlCol="0" anchor="ctr"/>
          <a:lstStyle/>
          <a:p>
            <a:pPr algn="l" indent="0" marL="0">
              <a:buNone/>
            </a:pPr>
            <a:r>
              <a:rPr lang="en-US" sz="1100" b="1" dirty="0">
                <a:solidFill>
                  <a:srgbClr val="1565C0"/>
                </a:solidFill>
              </a:rPr>
              <a:t>2.27 to 2.37</a:t>
            </a:r>
            <a:endParaRPr lang="en-US" sz="1100" dirty="0"/>
          </a:p>
        </p:txBody>
      </p:sp>
      <p:sp>
        <p:nvSpPr>
          <p:cNvPr id="49" name="Text 47"/>
          <p:cNvSpPr txBox="1"/>
          <p:nvPr/>
        </p:nvSpPr>
        <p:spPr>
          <a:xfrm>
            <a:off x="457200" y="3950208"/>
            <a:ext cx="1280160" cy="237744"/>
          </a:xfrm>
          <a:prstGeom prst="rect">
            <a:avLst/>
          </a:prstGeom>
          <a:noFill/>
          <a:ln/>
        </p:spPr>
        <p:txBody>
          <a:bodyPr wrap="square" lIns="0" tIns="0" rIns="0" bIns="0" rtlCol="0" anchor="t"/>
          <a:lstStyle/>
          <a:p>
            <a:pPr algn="l" indent="0" marL="0">
              <a:buNone/>
            </a:pPr>
            <a:r>
              <a:rPr lang="en-US" sz="1200" b="1" dirty="0">
                <a:solidFill>
                  <a:srgbClr val="1F2430"/>
                </a:solidFill>
              </a:rPr>
              <a:t>Every-day skip</a:t>
            </a:r>
            <a:endParaRPr lang="en-US" sz="1200" dirty="0"/>
          </a:p>
        </p:txBody>
      </p:sp>
      <p:sp>
        <p:nvSpPr>
          <p:cNvPr id="50" name="Shape 48"/>
          <p:cNvSpPr/>
          <p:nvPr/>
        </p:nvSpPr>
        <p:spPr>
          <a:xfrm>
            <a:off x="4565599" y="3968496"/>
            <a:ext cx="1379525" cy="219456"/>
          </a:xfrm>
          <a:prstGeom prst="roundRect">
            <a:avLst>
              <a:gd name="adj" fmla="val 16667"/>
            </a:avLst>
          </a:prstGeom>
          <a:solidFill>
            <a:srgbClr val="2E7D32"/>
          </a:solidFill>
          <a:ln/>
        </p:spPr>
      </p:sp>
      <p:sp>
        <p:nvSpPr>
          <p:cNvPr id="51" name="Text 49"/>
          <p:cNvSpPr txBox="1"/>
          <p:nvPr/>
        </p:nvSpPr>
        <p:spPr>
          <a:xfrm>
            <a:off x="6018276" y="3968496"/>
            <a:ext cx="1371600" cy="219456"/>
          </a:xfrm>
          <a:prstGeom prst="rect">
            <a:avLst/>
          </a:prstGeom>
          <a:noFill/>
          <a:ln/>
        </p:spPr>
        <p:txBody>
          <a:bodyPr wrap="square" lIns="0" tIns="0" rIns="0" bIns="0" rtlCol="0" anchor="ctr"/>
          <a:lstStyle/>
          <a:p>
            <a:pPr algn="l" indent="0" marL="0">
              <a:buNone/>
            </a:pPr>
            <a:r>
              <a:rPr lang="en-US" sz="1100" b="1" dirty="0">
                <a:solidFill>
                  <a:srgbClr val="2E7D32"/>
                </a:solidFill>
              </a:rPr>
              <a:t>1.23 to 1.85</a:t>
            </a:r>
            <a:endParaRPr lang="en-US" sz="1100" dirty="0"/>
          </a:p>
        </p:txBody>
      </p:sp>
      <p:sp>
        <p:nvSpPr>
          <p:cNvPr id="52" name="Text 50"/>
          <p:cNvSpPr txBox="1"/>
          <p:nvPr/>
        </p:nvSpPr>
        <p:spPr>
          <a:xfrm>
            <a:off x="457200" y="4526280"/>
            <a:ext cx="8229600" cy="228600"/>
          </a:xfrm>
          <a:prstGeom prst="rect">
            <a:avLst/>
          </a:prstGeom>
          <a:noFill/>
          <a:ln/>
        </p:spPr>
        <p:txBody>
          <a:bodyPr wrap="square" lIns="0" tIns="0" rIns="0" bIns="0" rtlCol="0" anchor="t"/>
          <a:lstStyle/>
          <a:p>
            <a:pPr algn="l" indent="0" marL="0">
              <a:buNone/>
            </a:pPr>
            <a:r>
              <a:rPr lang="en-US" sz="1100" i="1" dirty="0">
                <a:solidFill>
                  <a:srgbClr val="616161"/>
                </a:solidFill>
              </a:rPr>
              <a:t>Surplus starts to fall with the Sunday pilot; the charge moves only when the skip comes into force. Not tested on campus.</a:t>
            </a:r>
            <a:endParaRPr lang="en-US" sz="1100" dirty="0"/>
          </a:p>
        </p:txBody>
      </p:sp>
      <p:sp>
        <p:nvSpPr>
          <p:cNvPr id="53" name="Shape 51"/>
          <p:cNvSpPr/>
          <p:nvPr/>
        </p:nvSpPr>
        <p:spPr>
          <a:xfrm>
            <a:off x="7895844" y="1033272"/>
            <a:ext cx="790956" cy="201168"/>
          </a:xfrm>
          <a:prstGeom prst="roundRect">
            <a:avLst>
              <a:gd name="adj" fmla="val 22727"/>
            </a:avLst>
          </a:prstGeom>
          <a:ln w="12700">
            <a:solidFill>
              <a:srgbClr val="F57F17"/>
            </a:solidFill>
            <a:prstDash val="solid"/>
          </a:ln>
        </p:spPr>
      </p:sp>
      <p:sp>
        <p:nvSpPr>
          <p:cNvPr id="54" name="Text 52"/>
          <p:cNvSpPr txBox="1"/>
          <p:nvPr/>
        </p:nvSpPr>
        <p:spPr>
          <a:xfrm>
            <a:off x="7895844" y="1033272"/>
            <a:ext cx="790956" cy="201168"/>
          </a:xfrm>
          <a:prstGeom prst="rect">
            <a:avLst/>
          </a:prstGeom>
          <a:noFill/>
          <a:ln/>
        </p:spPr>
        <p:txBody>
          <a:bodyPr wrap="square" lIns="0" tIns="0" rIns="0" bIns="0" rtlCol="0" anchor="ctr"/>
          <a:lstStyle/>
          <a:p>
            <a:pPr algn="ctr" indent="0" marL="0">
              <a:buNone/>
            </a:pPr>
            <a:r>
              <a:rPr lang="en-US" sz="900" b="1" spc="100" kern="0" dirty="0">
                <a:solidFill>
                  <a:srgbClr val="8D4A00"/>
                </a:solidFill>
              </a:rPr>
              <a:t>ASSUMED</a:t>
            </a:r>
            <a:endParaRPr lang="en-US" sz="900" dirty="0"/>
          </a:p>
        </p:txBody>
      </p:sp>
      <p:sp>
        <p:nvSpPr>
          <p:cNvPr id="55" name="Shape 53"/>
          <p:cNvSpPr/>
          <p:nvPr/>
        </p:nvSpPr>
        <p:spPr>
          <a:xfrm>
            <a:off x="6894576" y="1033272"/>
            <a:ext cx="928116" cy="201168"/>
          </a:xfrm>
          <a:prstGeom prst="roundRect">
            <a:avLst>
              <a:gd name="adj" fmla="val 22727"/>
            </a:avLst>
          </a:prstGeom>
          <a:solidFill>
            <a:srgbClr val="1A237E"/>
          </a:solidFill>
          <a:ln/>
        </p:spPr>
      </p:sp>
      <p:sp>
        <p:nvSpPr>
          <p:cNvPr id="56" name="Text 54"/>
          <p:cNvSpPr txBox="1"/>
          <p:nvPr/>
        </p:nvSpPr>
        <p:spPr>
          <a:xfrm>
            <a:off x="6894576" y="1033272"/>
            <a:ext cx="928116" cy="201168"/>
          </a:xfrm>
          <a:prstGeom prst="rect">
            <a:avLst/>
          </a:prstGeom>
          <a:noFill/>
          <a:ln/>
        </p:spPr>
        <p:txBody>
          <a:bodyPr wrap="square" lIns="0" tIns="0" rIns="0" bIns="0" rtlCol="0" anchor="ctr"/>
          <a:lstStyle/>
          <a:p>
            <a:pPr algn="ctr" indent="0" marL="0">
              <a:buNone/>
            </a:pPr>
            <a:r>
              <a:rPr lang="en-US" sz="900" b="1" spc="100" kern="0" dirty="0">
                <a:solidFill>
                  <a:srgbClr val="FFFFFF"/>
                </a:solidFill>
              </a:rPr>
              <a:t>PROJECTED</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The registration rule explains the gap, and kitchen practice decides how much becomes surplus</a:t>
            </a:r>
            <a:endParaRPr lang="en-US" sz="2400" dirty="0"/>
          </a:p>
        </p:txBody>
      </p:sp>
      <p:sp>
        <p:nvSpPr>
          <p:cNvPr id="3" name="Shape 1"/>
          <p:cNvSpPr/>
          <p:nvPr/>
        </p:nvSpPr>
        <p:spPr>
          <a:xfrm>
            <a:off x="457200" y="4864608"/>
            <a:ext cx="100584" cy="100584"/>
          </a:xfrm>
          <a:prstGeom prst="ellipse">
            <a:avLst/>
          </a:prstGeom>
          <a:solidFill>
            <a:srgbClr val="FFFFFF"/>
          </a:solidFill>
          <a:ln/>
        </p:spPr>
      </p:sp>
      <p:sp>
        <p:nvSpPr>
          <p:cNvPr id="4" name="Shape 2"/>
          <p:cNvSpPr/>
          <p:nvPr/>
        </p:nvSpPr>
        <p:spPr>
          <a:xfrm>
            <a:off x="640080" y="4864608"/>
            <a:ext cx="100584" cy="100584"/>
          </a:xfrm>
          <a:prstGeom prst="ellipse">
            <a:avLst/>
          </a:prstGeom>
          <a:solidFill>
            <a:srgbClr val="FFFFFF"/>
          </a:solidFill>
          <a:ln/>
        </p:spPr>
      </p:sp>
      <p:sp>
        <p:nvSpPr>
          <p:cNvPr id="5" name="Shape 3"/>
          <p:cNvSpPr/>
          <p:nvPr/>
        </p:nvSpPr>
        <p:spPr>
          <a:xfrm>
            <a:off x="822960" y="4864608"/>
            <a:ext cx="100584" cy="100584"/>
          </a:xfrm>
          <a:prstGeom prst="ellipse">
            <a:avLst/>
          </a:prstGeom>
          <a:solidFill>
            <a:srgbClr val="FFFFFF"/>
          </a:solidFill>
          <a:ln/>
        </p:spPr>
      </p:sp>
      <p:sp>
        <p:nvSpPr>
          <p:cNvPr id="6" name="Shape 4"/>
          <p:cNvSpPr/>
          <p:nvPr/>
        </p:nvSpPr>
        <p:spPr>
          <a:xfrm>
            <a:off x="1005840" y="4864608"/>
            <a:ext cx="100584" cy="100584"/>
          </a:xfrm>
          <a:prstGeom prst="ellipse">
            <a:avLst/>
          </a:prstGeom>
          <a:solidFill>
            <a:srgbClr val="FFFFFF"/>
          </a:solidFill>
          <a:ln/>
        </p:spPr>
      </p:sp>
      <p:sp>
        <p:nvSpPr>
          <p:cNvPr id="7" name="Shape 5"/>
          <p:cNvSpPr/>
          <p:nvPr/>
        </p:nvSpPr>
        <p:spPr>
          <a:xfrm>
            <a:off x="1188720" y="4864608"/>
            <a:ext cx="100584" cy="100584"/>
          </a:xfrm>
          <a:prstGeom prst="ellipse">
            <a:avLst/>
          </a:prstGeom>
          <a:solidFill>
            <a:srgbClr val="FFFFFF"/>
          </a:solidFill>
          <a:ln/>
        </p:spPr>
      </p:sp>
      <p:sp>
        <p:nvSpPr>
          <p:cNvPr id="8" name="Shape 6"/>
          <p:cNvSpPr/>
          <p:nvPr/>
        </p:nvSpPr>
        <p:spPr>
          <a:xfrm>
            <a:off x="1371600" y="4864608"/>
            <a:ext cx="100584" cy="100584"/>
          </a:xfrm>
          <a:prstGeom prst="ellipse">
            <a:avLst/>
          </a:prstGeom>
          <a:solidFill>
            <a:srgbClr val="FFFFFF"/>
          </a:solidFill>
          <a:ln/>
        </p:spPr>
      </p:sp>
      <p:sp>
        <p:nvSpPr>
          <p:cNvPr id="9" name="Shape 7"/>
          <p:cNvSpPr/>
          <p:nvPr/>
        </p:nvSpPr>
        <p:spPr>
          <a:xfrm>
            <a:off x="1531620" y="4841748"/>
            <a:ext cx="146304" cy="146304"/>
          </a:xfrm>
          <a:prstGeom prst="ellipse">
            <a:avLst/>
          </a:prstGeom>
          <a:solidFill>
            <a:srgbClr val="FFFFFF"/>
          </a:solidFill>
          <a:ln/>
        </p:spPr>
      </p:sp>
      <p:sp>
        <p:nvSpPr>
          <p:cNvPr id="10" name="Shape 8"/>
          <p:cNvSpPr/>
          <p:nvPr/>
        </p:nvSpPr>
        <p:spPr>
          <a:xfrm>
            <a:off x="1495044" y="4805172"/>
            <a:ext cx="219456" cy="219456"/>
          </a:xfrm>
          <a:prstGeom prst="ellipse">
            <a:avLst/>
          </a:prstGeom>
          <a:ln w="9525">
            <a:solidFill>
              <a:srgbClr val="FFFFFF"/>
            </a:solidFill>
            <a:prstDash val="solid"/>
          </a:ln>
        </p:spPr>
      </p:sp>
      <p:sp>
        <p:nvSpPr>
          <p:cNvPr id="11" name="Shape 9"/>
          <p:cNvSpPr/>
          <p:nvPr/>
        </p:nvSpPr>
        <p:spPr>
          <a:xfrm>
            <a:off x="1737360" y="4864608"/>
            <a:ext cx="100584" cy="100584"/>
          </a:xfrm>
          <a:prstGeom prst="ellipse">
            <a:avLst/>
          </a:prstGeom>
          <a:ln w="9525">
            <a:solidFill>
              <a:srgbClr val="6B74A8"/>
            </a:solidFill>
            <a:prstDash val="solid"/>
          </a:ln>
        </p:spPr>
      </p:sp>
      <p:sp>
        <p:nvSpPr>
          <p:cNvPr id="12" name="Shape 10"/>
          <p:cNvSpPr/>
          <p:nvPr/>
        </p:nvSpPr>
        <p:spPr>
          <a:xfrm>
            <a:off x="1920240" y="4864608"/>
            <a:ext cx="100584" cy="100584"/>
          </a:xfrm>
          <a:prstGeom prst="ellipse">
            <a:avLst/>
          </a:prstGeom>
          <a:ln w="9525">
            <a:solidFill>
              <a:srgbClr val="6B74A8"/>
            </a:solidFill>
            <a:prstDash val="solid"/>
          </a:ln>
        </p:spPr>
      </p:sp>
      <p:sp>
        <p:nvSpPr>
          <p:cNvPr id="13" name="Shape 11"/>
          <p:cNvSpPr/>
          <p:nvPr/>
        </p:nvSpPr>
        <p:spPr>
          <a:xfrm>
            <a:off x="2103120" y="4864608"/>
            <a:ext cx="100584" cy="100584"/>
          </a:xfrm>
          <a:prstGeom prst="ellipse">
            <a:avLst/>
          </a:prstGeom>
          <a:ln w="9525">
            <a:solidFill>
              <a:srgbClr val="6B74A8"/>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B8BFE6"/>
                </a:solidFill>
              </a:rPr>
              <a:t>7 What the findings mean for the institution</a:t>
            </a:r>
            <a:endParaRPr lang="en-US" sz="1000" dirty="0"/>
          </a:p>
        </p:txBody>
      </p:sp>
      <p:sp>
        <p:nvSpPr>
          <p:cNvPr id="15" name="Shape 13"/>
          <p:cNvSpPr/>
          <p:nvPr/>
        </p:nvSpPr>
        <p:spPr>
          <a:xfrm>
            <a:off x="594360" y="1600200"/>
            <a:ext cx="1005840" cy="1005840"/>
          </a:xfrm>
          <a:prstGeom prst="ellipse">
            <a:avLst/>
          </a:prstGeom>
          <a:ln w="25400">
            <a:solidFill>
              <a:srgbClr val="B8BFE6"/>
            </a:solidFill>
            <a:prstDash val="solid"/>
          </a:ln>
        </p:spPr>
      </p:sp>
      <p:sp>
        <p:nvSpPr>
          <p:cNvPr id="16" name="Shape 14"/>
          <p:cNvSpPr/>
          <p:nvPr/>
        </p:nvSpPr>
        <p:spPr>
          <a:xfrm>
            <a:off x="594360" y="1600200"/>
            <a:ext cx="1005840" cy="1005840"/>
          </a:xfrm>
          <a:prstGeom prst="pie">
            <a:avLst>
              <a:gd name="adj1" fmla="val 16200000"/>
              <a:gd name="adj2" fmla="val 2613600"/>
            </a:avLst>
          </a:prstGeom>
          <a:solidFill>
            <a:srgbClr val="E65100"/>
          </a:solidFill>
          <a:ln/>
        </p:spPr>
      </p:sp>
      <p:sp>
        <p:nvSpPr>
          <p:cNvPr id="17" name="Text 15"/>
          <p:cNvSpPr txBox="1"/>
          <p:nvPr/>
        </p:nvSpPr>
        <p:spPr>
          <a:xfrm>
            <a:off x="457200" y="2651760"/>
            <a:ext cx="1280160" cy="228600"/>
          </a:xfrm>
          <a:prstGeom prst="rect">
            <a:avLst/>
          </a:prstGeom>
          <a:noFill/>
          <a:ln/>
        </p:spPr>
        <p:txBody>
          <a:bodyPr wrap="square" lIns="0" tIns="0" rIns="0" bIns="0" rtlCol="0" anchor="t"/>
          <a:lstStyle/>
          <a:p>
            <a:pPr algn="ctr" indent="0" marL="0">
              <a:buNone/>
            </a:pPr>
            <a:r>
              <a:rPr lang="en-US" sz="1200" b="1" dirty="0">
                <a:solidFill>
                  <a:srgbClr val="FFFFFF"/>
                </a:solidFill>
              </a:rPr>
              <a:t>Kadamba</a:t>
            </a:r>
            <a:endParaRPr lang="en-US" sz="1200" dirty="0"/>
          </a:p>
        </p:txBody>
      </p:sp>
      <p:sp>
        <p:nvSpPr>
          <p:cNvPr id="18" name="Shape 16"/>
          <p:cNvSpPr/>
          <p:nvPr/>
        </p:nvSpPr>
        <p:spPr>
          <a:xfrm>
            <a:off x="1965960" y="1600200"/>
            <a:ext cx="1005840" cy="1005840"/>
          </a:xfrm>
          <a:prstGeom prst="ellipse">
            <a:avLst/>
          </a:prstGeom>
          <a:ln w="25400">
            <a:solidFill>
              <a:srgbClr val="B8BFE6"/>
            </a:solidFill>
            <a:prstDash val="solid"/>
          </a:ln>
        </p:spPr>
      </p:sp>
      <p:sp>
        <p:nvSpPr>
          <p:cNvPr id="19" name="Shape 17"/>
          <p:cNvSpPr/>
          <p:nvPr/>
        </p:nvSpPr>
        <p:spPr>
          <a:xfrm>
            <a:off x="1965960" y="1600200"/>
            <a:ext cx="1005840" cy="1005840"/>
          </a:xfrm>
          <a:prstGeom prst="pie">
            <a:avLst>
              <a:gd name="adj1" fmla="val 16200000"/>
              <a:gd name="adj2" fmla="val 648000"/>
            </a:avLst>
          </a:prstGeom>
          <a:solidFill>
            <a:srgbClr val="E65100"/>
          </a:solidFill>
          <a:ln/>
        </p:spPr>
      </p:sp>
      <p:sp>
        <p:nvSpPr>
          <p:cNvPr id="20" name="Text 18"/>
          <p:cNvSpPr txBox="1"/>
          <p:nvPr/>
        </p:nvSpPr>
        <p:spPr>
          <a:xfrm>
            <a:off x="1828800" y="2651760"/>
            <a:ext cx="1280160" cy="228600"/>
          </a:xfrm>
          <a:prstGeom prst="rect">
            <a:avLst/>
          </a:prstGeom>
          <a:noFill/>
          <a:ln/>
        </p:spPr>
        <p:txBody>
          <a:bodyPr wrap="square" lIns="0" tIns="0" rIns="0" bIns="0" rtlCol="0" anchor="t"/>
          <a:lstStyle/>
          <a:p>
            <a:pPr algn="ctr" indent="0" marL="0">
              <a:buNone/>
            </a:pPr>
            <a:r>
              <a:rPr lang="en-US" sz="1200" b="1" dirty="0">
                <a:solidFill>
                  <a:srgbClr val="FFFFFF"/>
                </a:solidFill>
              </a:rPr>
              <a:t>Yuktāhār</a:t>
            </a:r>
            <a:endParaRPr lang="en-US" sz="1200" dirty="0"/>
          </a:p>
        </p:txBody>
      </p:sp>
      <p:sp>
        <p:nvSpPr>
          <p:cNvPr id="21" name="Text 19"/>
          <p:cNvSpPr txBox="1"/>
          <p:nvPr/>
        </p:nvSpPr>
        <p:spPr>
          <a:xfrm>
            <a:off x="457200" y="3017520"/>
            <a:ext cx="2651760" cy="640080"/>
          </a:xfrm>
          <a:prstGeom prst="rect">
            <a:avLst/>
          </a:prstGeom>
          <a:noFill/>
          <a:ln/>
        </p:spPr>
        <p:txBody>
          <a:bodyPr wrap="square" lIns="0" tIns="0" rIns="0" bIns="0" rtlCol="0" anchor="t"/>
          <a:lstStyle/>
          <a:p>
            <a:pPr algn="l" indent="0" marL="0">
              <a:buNone/>
            </a:pPr>
            <a:r>
              <a:rPr lang="en-US" sz="1200" dirty="0">
                <a:solidFill>
                  <a:srgbClr val="B8BFE6"/>
                </a:solidFill>
              </a:rPr>
              <a:t>Share the rules, differ in kitchen practice, and show the same wide gap</a:t>
            </a:r>
            <a:endParaRPr lang="en-US" sz="1200" dirty="0"/>
          </a:p>
        </p:txBody>
      </p:sp>
      <p:sp>
        <p:nvSpPr>
          <p:cNvPr id="22" name="Shape 20"/>
          <p:cNvSpPr/>
          <p:nvPr/>
        </p:nvSpPr>
        <p:spPr>
          <a:xfrm>
            <a:off x="3474720" y="1371600"/>
            <a:ext cx="2377440" cy="731520"/>
          </a:xfrm>
          <a:prstGeom prst="roundRect">
            <a:avLst>
              <a:gd name="adj" fmla="val 10000"/>
            </a:avLst>
          </a:prstGeom>
          <a:solidFill>
            <a:srgbClr val="FDECEA"/>
          </a:solidFill>
          <a:ln w="12700">
            <a:solidFill>
              <a:srgbClr val="C62828"/>
            </a:solidFill>
            <a:prstDash val="solid"/>
          </a:ln>
        </p:spPr>
      </p:sp>
      <p:sp>
        <p:nvSpPr>
          <p:cNvPr id="23" name="Text 21"/>
          <p:cNvSpPr txBox="1"/>
          <p:nvPr/>
        </p:nvSpPr>
        <p:spPr>
          <a:xfrm>
            <a:off x="3474720" y="1371600"/>
            <a:ext cx="2377440" cy="731520"/>
          </a:xfrm>
          <a:prstGeom prst="rect">
            <a:avLst/>
          </a:prstGeom>
          <a:noFill/>
          <a:ln/>
        </p:spPr>
        <p:txBody>
          <a:bodyPr wrap="square" lIns="0" tIns="0" rIns="0" bIns="0" rtlCol="0" anchor="ctr"/>
          <a:lstStyle/>
          <a:p>
            <a:pPr algn="ctr" indent="0" marL="0">
              <a:buNone/>
            </a:pPr>
            <a:r>
              <a:rPr lang="en-US" sz="1400" b="1" dirty="0">
                <a:solidFill>
                  <a:srgbClr val="1F2430"/>
                </a:solidFill>
              </a:rPr>
              <a:t>Centre: no correction</a:t>
            </a:r>
            <a:endParaRPr lang="en-US" sz="1400" dirty="0"/>
          </a:p>
        </p:txBody>
      </p:sp>
      <p:sp>
        <p:nvSpPr>
          <p:cNvPr id="24" name="Shape 22"/>
          <p:cNvSpPr/>
          <p:nvPr/>
        </p:nvSpPr>
        <p:spPr>
          <a:xfrm>
            <a:off x="3474720" y="2926080"/>
            <a:ext cx="2377440" cy="731520"/>
          </a:xfrm>
          <a:prstGeom prst="roundRect">
            <a:avLst>
              <a:gd name="adj" fmla="val 10000"/>
            </a:avLst>
          </a:prstGeom>
          <a:solidFill>
            <a:srgbClr val="E8F5E9"/>
          </a:solidFill>
          <a:ln w="12700">
            <a:solidFill>
              <a:srgbClr val="2E7D32"/>
            </a:solidFill>
            <a:prstDash val="solid"/>
          </a:ln>
        </p:spPr>
      </p:sp>
      <p:sp>
        <p:nvSpPr>
          <p:cNvPr id="25" name="Text 23"/>
          <p:cNvSpPr txBox="1"/>
          <p:nvPr/>
        </p:nvSpPr>
        <p:spPr>
          <a:xfrm>
            <a:off x="3474720" y="2926080"/>
            <a:ext cx="2377440" cy="731520"/>
          </a:xfrm>
          <a:prstGeom prst="rect">
            <a:avLst/>
          </a:prstGeom>
          <a:noFill/>
          <a:ln/>
        </p:spPr>
        <p:txBody>
          <a:bodyPr wrap="square" lIns="0" tIns="0" rIns="0" bIns="0" rtlCol="0" anchor="ctr"/>
          <a:lstStyle/>
          <a:p>
            <a:pPr algn="ctr" indent="0" marL="0">
              <a:buNone/>
            </a:pPr>
            <a:r>
              <a:rPr lang="en-US" sz="1400" b="1" dirty="0">
                <a:solidFill>
                  <a:srgbClr val="1F2430"/>
                </a:solidFill>
              </a:rPr>
              <a:t>Kitchen: local loops that work</a:t>
            </a:r>
            <a:endParaRPr lang="en-US" sz="1400" dirty="0"/>
          </a:p>
        </p:txBody>
      </p:sp>
      <p:sp>
        <p:nvSpPr>
          <p:cNvPr id="26" name="Shape 24"/>
          <p:cNvSpPr/>
          <p:nvPr/>
        </p:nvSpPr>
        <p:spPr>
          <a:xfrm flipV="1">
            <a:off x="4663440" y="2651760"/>
            <a:ext cx="0" cy="274320"/>
          </a:xfrm>
          <a:prstGeom prst="line">
            <a:avLst/>
          </a:prstGeom>
          <a:noFill/>
          <a:ln w="31750">
            <a:solidFill>
              <a:srgbClr val="FF8A80"/>
            </a:solidFill>
            <a:prstDash val="dash"/>
          </a:ln>
        </p:spPr>
      </p:sp>
      <p:sp>
        <p:nvSpPr>
          <p:cNvPr id="27" name="Shape 25"/>
          <p:cNvSpPr/>
          <p:nvPr/>
        </p:nvSpPr>
        <p:spPr>
          <a:xfrm>
            <a:off x="4507992" y="2267712"/>
            <a:ext cx="310896" cy="310896"/>
          </a:xfrm>
          <a:prstGeom prst="ellipse">
            <a:avLst/>
          </a:prstGeom>
          <a:solidFill>
            <a:srgbClr val="C62828"/>
          </a:solidFill>
          <a:ln/>
        </p:spPr>
      </p:sp>
      <p:pic>
        <p:nvPicPr>
          <p:cNvPr id="28" name="Image 0" descr="LinkOff">    </p:cNvPr>
          <p:cNvPicPr>
            <a:picLocks noChangeAspect="1"/>
          </p:cNvPicPr>
          <p:nvPr/>
        </p:nvPicPr>
        <p:blipFill>
          <a:blip r:embed="rId1"/>
          <a:stretch>
            <a:fillRect/>
          </a:stretch>
        </p:blipFill>
        <p:spPr>
          <a:xfrm>
            <a:off x="4570171" y="2329891"/>
            <a:ext cx="186538" cy="186538"/>
          </a:xfrm>
          <a:prstGeom prst="rect">
            <a:avLst/>
          </a:prstGeom>
        </p:spPr>
      </p:pic>
      <p:sp>
        <p:nvSpPr>
          <p:cNvPr id="29" name="Shape 26"/>
          <p:cNvSpPr/>
          <p:nvPr/>
        </p:nvSpPr>
        <p:spPr>
          <a:xfrm flipV="1">
            <a:off x="4663440" y="2121408"/>
            <a:ext cx="0" cy="73152"/>
          </a:xfrm>
          <a:prstGeom prst="line">
            <a:avLst/>
          </a:prstGeom>
          <a:noFill/>
          <a:ln w="31750">
            <a:solidFill>
              <a:srgbClr val="FF8A80"/>
            </a:solidFill>
            <a:prstDash val="dash"/>
            <a:tailEnd type="triangle"/>
          </a:ln>
        </p:spPr>
      </p:sp>
      <p:sp>
        <p:nvSpPr>
          <p:cNvPr id="30" name="Shape 27"/>
          <p:cNvSpPr/>
          <p:nvPr/>
        </p:nvSpPr>
        <p:spPr>
          <a:xfrm>
            <a:off x="6172200" y="1417320"/>
            <a:ext cx="457200" cy="457200"/>
          </a:xfrm>
          <a:prstGeom prst="ellipse">
            <a:avLst/>
          </a:prstGeom>
          <a:solidFill>
            <a:srgbClr val="1A237E"/>
          </a:solidFill>
          <a:ln/>
        </p:spPr>
      </p:sp>
      <p:pic>
        <p:nvPicPr>
          <p:cNvPr id="31" name="Image 1" descr="Loop">    </p:cNvPr>
          <p:cNvPicPr>
            <a:picLocks noChangeAspect="1"/>
          </p:cNvPicPr>
          <p:nvPr/>
        </p:nvPicPr>
        <p:blipFill>
          <a:blip r:embed="rId2"/>
          <a:stretch>
            <a:fillRect/>
          </a:stretch>
        </p:blipFill>
        <p:spPr>
          <a:xfrm>
            <a:off x="6263640" y="1508760"/>
            <a:ext cx="274320" cy="274320"/>
          </a:xfrm>
          <a:prstGeom prst="rect">
            <a:avLst/>
          </a:prstGeom>
        </p:spPr>
      </p:pic>
      <p:sp>
        <p:nvSpPr>
          <p:cNvPr id="32" name="Text 28"/>
          <p:cNvSpPr txBox="1"/>
          <p:nvPr/>
        </p:nvSpPr>
        <p:spPr>
          <a:xfrm>
            <a:off x="6766560" y="1371600"/>
            <a:ext cx="1920240" cy="640080"/>
          </a:xfrm>
          <a:prstGeom prst="rect">
            <a:avLst/>
          </a:prstGeom>
          <a:noFill/>
          <a:ln/>
        </p:spPr>
        <p:txBody>
          <a:bodyPr wrap="square" lIns="0" tIns="0" rIns="0" bIns="0" rtlCol="0" anchor="ctr"/>
          <a:lstStyle/>
          <a:p>
            <a:pPr algn="l" indent="0" marL="0">
              <a:buNone/>
            </a:pPr>
            <a:r>
              <a:rPr lang="en-US" sz="1250" dirty="0">
                <a:solidFill>
                  <a:srgbClr val="FFFFFF"/>
                </a:solidFill>
              </a:rPr>
              <a:t>Every working loop sits inside a kitchen</a:t>
            </a:r>
            <a:endParaRPr lang="en-US" sz="1250" dirty="0"/>
          </a:p>
        </p:txBody>
      </p:sp>
      <p:sp>
        <p:nvSpPr>
          <p:cNvPr id="33" name="Shape 29"/>
          <p:cNvSpPr/>
          <p:nvPr/>
        </p:nvSpPr>
        <p:spPr>
          <a:xfrm>
            <a:off x="6172200" y="2286000"/>
            <a:ext cx="457200" cy="457200"/>
          </a:xfrm>
          <a:prstGeom prst="ellipse">
            <a:avLst/>
          </a:prstGeom>
          <a:solidFill>
            <a:srgbClr val="1A237E"/>
          </a:solidFill>
          <a:ln/>
        </p:spPr>
      </p:sp>
      <p:pic>
        <p:nvPicPr>
          <p:cNvPr id="34" name="Image 2" descr="VisibilityOff">    </p:cNvPr>
          <p:cNvPicPr>
            <a:picLocks noChangeAspect="1"/>
          </p:cNvPicPr>
          <p:nvPr/>
        </p:nvPicPr>
        <p:blipFill>
          <a:blip r:embed="rId3"/>
          <a:stretch>
            <a:fillRect/>
          </a:stretch>
        </p:blipFill>
        <p:spPr>
          <a:xfrm>
            <a:off x="6263640" y="2377440"/>
            <a:ext cx="274320" cy="274320"/>
          </a:xfrm>
          <a:prstGeom prst="rect">
            <a:avLst/>
          </a:prstGeom>
        </p:spPr>
      </p:pic>
      <p:sp>
        <p:nvSpPr>
          <p:cNvPr id="35" name="Text 30"/>
          <p:cNvSpPr txBox="1"/>
          <p:nvPr/>
        </p:nvSpPr>
        <p:spPr>
          <a:xfrm>
            <a:off x="6766560" y="2240280"/>
            <a:ext cx="1920240" cy="640080"/>
          </a:xfrm>
          <a:prstGeom prst="rect">
            <a:avLst/>
          </a:prstGeom>
          <a:noFill/>
          <a:ln/>
        </p:spPr>
        <p:txBody>
          <a:bodyPr wrap="square" lIns="0" tIns="0" rIns="0" bIns="0" rtlCol="0" anchor="ctr"/>
          <a:lstStyle/>
          <a:p>
            <a:pPr algn="l" indent="0" marL="0">
              <a:buNone/>
            </a:pPr>
            <a:r>
              <a:rPr lang="en-US" sz="1250" dirty="0">
                <a:solidFill>
                  <a:srgbClr val="FFFFFF"/>
                </a:solidFill>
              </a:rPr>
              <a:t>A quick fix can make the central problem harder to see</a:t>
            </a:r>
            <a:endParaRPr lang="en-US" sz="1250" dirty="0"/>
          </a:p>
        </p:txBody>
      </p:sp>
      <p:sp>
        <p:nvSpPr>
          <p:cNvPr id="36" name="Shape 31"/>
          <p:cNvSpPr/>
          <p:nvPr/>
        </p:nvSpPr>
        <p:spPr>
          <a:xfrm>
            <a:off x="6172200" y="3154680"/>
            <a:ext cx="457200" cy="457200"/>
          </a:xfrm>
          <a:prstGeom prst="ellipse">
            <a:avLst/>
          </a:prstGeom>
          <a:solidFill>
            <a:srgbClr val="1A237E"/>
          </a:solidFill>
          <a:ln/>
        </p:spPr>
      </p:sp>
      <p:pic>
        <p:nvPicPr>
          <p:cNvPr id="37" name="Image 3" descr="AccountTree">    </p:cNvPr>
          <p:cNvPicPr>
            <a:picLocks noChangeAspect="1"/>
          </p:cNvPicPr>
          <p:nvPr/>
        </p:nvPicPr>
        <p:blipFill>
          <a:blip r:embed="rId4"/>
          <a:stretch>
            <a:fillRect/>
          </a:stretch>
        </p:blipFill>
        <p:spPr>
          <a:xfrm>
            <a:off x="6263640" y="3246120"/>
            <a:ext cx="274320" cy="274320"/>
          </a:xfrm>
          <a:prstGeom prst="rect">
            <a:avLst/>
          </a:prstGeom>
        </p:spPr>
      </p:pic>
      <p:sp>
        <p:nvSpPr>
          <p:cNvPr id="38" name="Text 32"/>
          <p:cNvSpPr txBox="1"/>
          <p:nvPr/>
        </p:nvSpPr>
        <p:spPr>
          <a:xfrm>
            <a:off x="6766560" y="3108960"/>
            <a:ext cx="1920240" cy="640080"/>
          </a:xfrm>
          <a:prstGeom prst="rect">
            <a:avLst/>
          </a:prstGeom>
          <a:noFill/>
          <a:ln/>
        </p:spPr>
        <p:txBody>
          <a:bodyPr wrap="square" lIns="0" tIns="0" rIns="0" bIns="0" rtlCol="0" anchor="ctr"/>
          <a:lstStyle/>
          <a:p>
            <a:pPr algn="l" indent="0" marL="0">
              <a:buNone/>
            </a:pPr>
            <a:r>
              <a:rPr lang="en-US" sz="1250" dirty="0">
                <a:solidFill>
                  <a:srgbClr val="FFFFFF"/>
                </a:solidFill>
              </a:rPr>
              <a:t>No office owns the chain from registration to bin</a:t>
            </a:r>
            <a:endParaRPr lang="en-US" sz="1250" dirty="0"/>
          </a:p>
        </p:txBody>
      </p:sp>
      <p:sp>
        <p:nvSpPr>
          <p:cNvPr id="39" name="Text 33"/>
          <p:cNvSpPr txBox="1"/>
          <p:nvPr/>
        </p:nvSpPr>
        <p:spPr>
          <a:xfrm>
            <a:off x="457200" y="4297680"/>
            <a:ext cx="7315200" cy="274320"/>
          </a:xfrm>
          <a:prstGeom prst="rect">
            <a:avLst/>
          </a:prstGeom>
          <a:noFill/>
          <a:ln/>
        </p:spPr>
        <p:txBody>
          <a:bodyPr wrap="square" lIns="0" tIns="0" rIns="0" bIns="0" rtlCol="0" anchor="t"/>
          <a:lstStyle/>
          <a:p>
            <a:pPr algn="l" indent="0" marL="0">
              <a:buNone/>
            </a:pPr>
            <a:r>
              <a:rPr lang="en-US" sz="1400" dirty="0">
                <a:solidFill>
                  <a:srgbClr val="B8BFE6"/>
                </a:solidFill>
              </a:rPr>
              <a:t>The first step costs a weekly sheet and a meeting.</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Six students, one visit per kitchen and two record sets limit what the evidence can show</a:t>
            </a:r>
            <a:endParaRPr lang="en-US" sz="2400" dirty="0"/>
          </a:p>
        </p:txBody>
      </p:sp>
      <p:sp>
        <p:nvSpPr>
          <p:cNvPr id="3" name="Shape 1"/>
          <p:cNvSpPr/>
          <p:nvPr/>
        </p:nvSpPr>
        <p:spPr>
          <a:xfrm>
            <a:off x="457200" y="4864608"/>
            <a:ext cx="100584" cy="100584"/>
          </a:xfrm>
          <a:prstGeom prst="ellipse">
            <a:avLst/>
          </a:prstGeom>
          <a:solidFill>
            <a:srgbClr val="FFFFFF"/>
          </a:solidFill>
          <a:ln/>
        </p:spPr>
      </p:sp>
      <p:sp>
        <p:nvSpPr>
          <p:cNvPr id="4" name="Shape 2"/>
          <p:cNvSpPr/>
          <p:nvPr/>
        </p:nvSpPr>
        <p:spPr>
          <a:xfrm>
            <a:off x="640080" y="4864608"/>
            <a:ext cx="100584" cy="100584"/>
          </a:xfrm>
          <a:prstGeom prst="ellipse">
            <a:avLst/>
          </a:prstGeom>
          <a:solidFill>
            <a:srgbClr val="FFFFFF"/>
          </a:solidFill>
          <a:ln/>
        </p:spPr>
      </p:sp>
      <p:sp>
        <p:nvSpPr>
          <p:cNvPr id="5" name="Shape 3"/>
          <p:cNvSpPr/>
          <p:nvPr/>
        </p:nvSpPr>
        <p:spPr>
          <a:xfrm>
            <a:off x="822960" y="4864608"/>
            <a:ext cx="100584" cy="100584"/>
          </a:xfrm>
          <a:prstGeom prst="ellipse">
            <a:avLst/>
          </a:prstGeom>
          <a:solidFill>
            <a:srgbClr val="FFFFFF"/>
          </a:solidFill>
          <a:ln/>
        </p:spPr>
      </p:sp>
      <p:sp>
        <p:nvSpPr>
          <p:cNvPr id="6" name="Shape 4"/>
          <p:cNvSpPr/>
          <p:nvPr/>
        </p:nvSpPr>
        <p:spPr>
          <a:xfrm>
            <a:off x="1005840" y="4864608"/>
            <a:ext cx="100584" cy="100584"/>
          </a:xfrm>
          <a:prstGeom prst="ellipse">
            <a:avLst/>
          </a:prstGeom>
          <a:solidFill>
            <a:srgbClr val="FFFFFF"/>
          </a:solidFill>
          <a:ln/>
        </p:spPr>
      </p:sp>
      <p:sp>
        <p:nvSpPr>
          <p:cNvPr id="7" name="Shape 5"/>
          <p:cNvSpPr/>
          <p:nvPr/>
        </p:nvSpPr>
        <p:spPr>
          <a:xfrm>
            <a:off x="1188720" y="4864608"/>
            <a:ext cx="100584" cy="100584"/>
          </a:xfrm>
          <a:prstGeom prst="ellipse">
            <a:avLst/>
          </a:prstGeom>
          <a:solidFill>
            <a:srgbClr val="FFFFFF"/>
          </a:solidFill>
          <a:ln/>
        </p:spPr>
      </p:sp>
      <p:sp>
        <p:nvSpPr>
          <p:cNvPr id="8" name="Shape 6"/>
          <p:cNvSpPr/>
          <p:nvPr/>
        </p:nvSpPr>
        <p:spPr>
          <a:xfrm>
            <a:off x="1371600" y="4864608"/>
            <a:ext cx="100584" cy="100584"/>
          </a:xfrm>
          <a:prstGeom prst="ellipse">
            <a:avLst/>
          </a:prstGeom>
          <a:solidFill>
            <a:srgbClr val="FFFFFF"/>
          </a:solidFill>
          <a:ln/>
        </p:spPr>
      </p:sp>
      <p:sp>
        <p:nvSpPr>
          <p:cNvPr id="9" name="Shape 7"/>
          <p:cNvSpPr/>
          <p:nvPr/>
        </p:nvSpPr>
        <p:spPr>
          <a:xfrm>
            <a:off x="1554480" y="4864608"/>
            <a:ext cx="100584" cy="100584"/>
          </a:xfrm>
          <a:prstGeom prst="ellipse">
            <a:avLst/>
          </a:prstGeom>
          <a:solidFill>
            <a:srgbClr val="FFFFFF"/>
          </a:solidFill>
          <a:ln/>
        </p:spPr>
      </p:sp>
      <p:sp>
        <p:nvSpPr>
          <p:cNvPr id="10" name="Shape 8"/>
          <p:cNvSpPr/>
          <p:nvPr/>
        </p:nvSpPr>
        <p:spPr>
          <a:xfrm>
            <a:off x="1714500" y="4841748"/>
            <a:ext cx="146304" cy="146304"/>
          </a:xfrm>
          <a:prstGeom prst="ellipse">
            <a:avLst/>
          </a:prstGeom>
          <a:solidFill>
            <a:srgbClr val="FFFFFF"/>
          </a:solidFill>
          <a:ln/>
        </p:spPr>
      </p:sp>
      <p:sp>
        <p:nvSpPr>
          <p:cNvPr id="11" name="Shape 9"/>
          <p:cNvSpPr/>
          <p:nvPr/>
        </p:nvSpPr>
        <p:spPr>
          <a:xfrm>
            <a:off x="1677924" y="4805172"/>
            <a:ext cx="219456" cy="219456"/>
          </a:xfrm>
          <a:prstGeom prst="ellipse">
            <a:avLst/>
          </a:prstGeom>
          <a:ln w="9525">
            <a:solidFill>
              <a:srgbClr val="FFFFFF"/>
            </a:solidFill>
            <a:prstDash val="solid"/>
          </a:ln>
        </p:spPr>
      </p:sp>
      <p:sp>
        <p:nvSpPr>
          <p:cNvPr id="12" name="Shape 10"/>
          <p:cNvSpPr/>
          <p:nvPr/>
        </p:nvSpPr>
        <p:spPr>
          <a:xfrm>
            <a:off x="1920240" y="4864608"/>
            <a:ext cx="100584" cy="100584"/>
          </a:xfrm>
          <a:prstGeom prst="ellipse">
            <a:avLst/>
          </a:prstGeom>
          <a:ln w="9525">
            <a:solidFill>
              <a:srgbClr val="6B74A8"/>
            </a:solidFill>
            <a:prstDash val="solid"/>
          </a:ln>
        </p:spPr>
      </p:sp>
      <p:sp>
        <p:nvSpPr>
          <p:cNvPr id="13" name="Shape 11"/>
          <p:cNvSpPr/>
          <p:nvPr/>
        </p:nvSpPr>
        <p:spPr>
          <a:xfrm>
            <a:off x="2103120" y="4864608"/>
            <a:ext cx="100584" cy="100584"/>
          </a:xfrm>
          <a:prstGeom prst="ellipse">
            <a:avLst/>
          </a:prstGeom>
          <a:ln w="9525">
            <a:solidFill>
              <a:srgbClr val="6B74A8"/>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B8BFE6"/>
                </a:solidFill>
              </a:rPr>
              <a:t>8 Limitations and open questions</a:t>
            </a:r>
            <a:endParaRPr lang="en-US" sz="1000" dirty="0"/>
          </a:p>
        </p:txBody>
      </p:sp>
      <p:sp>
        <p:nvSpPr>
          <p:cNvPr id="15" name="Shape 13"/>
          <p:cNvSpPr/>
          <p:nvPr/>
        </p:nvSpPr>
        <p:spPr>
          <a:xfrm>
            <a:off x="457200" y="1325880"/>
            <a:ext cx="1572768" cy="1691640"/>
          </a:xfrm>
          <a:prstGeom prst="roundRect">
            <a:avLst>
              <a:gd name="adj" fmla="val 4651"/>
            </a:avLst>
          </a:prstGeom>
          <a:solidFill>
            <a:srgbClr val="E8EAF6"/>
          </a:solidFill>
          <a:ln w="12700">
            <a:solidFill>
              <a:srgbClr val="1A237E"/>
            </a:solidFill>
            <a:prstDash val="solid"/>
          </a:ln>
        </p:spPr>
      </p:sp>
      <p:sp>
        <p:nvSpPr>
          <p:cNvPr id="16" name="Text 14"/>
          <p:cNvSpPr txBox="1"/>
          <p:nvPr/>
        </p:nvSpPr>
        <p:spPr>
          <a:xfrm>
            <a:off x="457200" y="1371600"/>
            <a:ext cx="1572768" cy="731520"/>
          </a:xfrm>
          <a:prstGeom prst="rect">
            <a:avLst/>
          </a:prstGeom>
          <a:noFill/>
          <a:ln/>
        </p:spPr>
        <p:txBody>
          <a:bodyPr wrap="square" lIns="0" tIns="0" rIns="0" bIns="0" rtlCol="0" anchor="ctr"/>
          <a:lstStyle/>
          <a:p>
            <a:pPr algn="ctr" indent="0" marL="0">
              <a:buNone/>
            </a:pPr>
            <a:r>
              <a:rPr lang="en-US" sz="4400" b="1" dirty="0">
                <a:solidFill>
                  <a:srgbClr val="1A237E"/>
                </a:solidFill>
                <a:latin typeface="Cambria" pitchFamily="34" charset="0"/>
                <a:ea typeface="Cambria" pitchFamily="34" charset="-122"/>
                <a:cs typeface="Cambria" pitchFamily="34" charset="-120"/>
              </a:rPr>
              <a:t>6</a:t>
            </a:r>
            <a:endParaRPr lang="en-US" sz="4400" dirty="0"/>
          </a:p>
        </p:txBody>
      </p:sp>
      <p:sp>
        <p:nvSpPr>
          <p:cNvPr id="17" name="Text 15"/>
          <p:cNvSpPr txBox="1"/>
          <p:nvPr/>
        </p:nvSpPr>
        <p:spPr>
          <a:xfrm>
            <a:off x="548640" y="2103120"/>
            <a:ext cx="1389888" cy="868680"/>
          </a:xfrm>
          <a:prstGeom prst="rect">
            <a:avLst/>
          </a:prstGeom>
          <a:noFill/>
          <a:ln/>
        </p:spPr>
        <p:txBody>
          <a:bodyPr wrap="square" lIns="0" tIns="0" rIns="0" bIns="0" rtlCol="0" anchor="t"/>
          <a:lstStyle/>
          <a:p>
            <a:pPr algn="ctr" indent="0" marL="0">
              <a:buNone/>
            </a:pPr>
            <a:r>
              <a:rPr lang="en-US" sz="1100" dirty="0">
                <a:solidFill>
                  <a:srgbClr val="1F2430"/>
                </a:solidFill>
              </a:rPr>
              <a:t>students: six people are not a population</a:t>
            </a:r>
            <a:endParaRPr lang="en-US" sz="1100" dirty="0"/>
          </a:p>
        </p:txBody>
      </p:sp>
      <p:sp>
        <p:nvSpPr>
          <p:cNvPr id="18" name="Shape 16"/>
          <p:cNvSpPr/>
          <p:nvPr/>
        </p:nvSpPr>
        <p:spPr>
          <a:xfrm>
            <a:off x="2121408" y="1325880"/>
            <a:ext cx="1572768" cy="1691640"/>
          </a:xfrm>
          <a:prstGeom prst="roundRect">
            <a:avLst>
              <a:gd name="adj" fmla="val 4651"/>
            </a:avLst>
          </a:prstGeom>
          <a:solidFill>
            <a:srgbClr val="E8EAF6"/>
          </a:solidFill>
          <a:ln w="12700">
            <a:solidFill>
              <a:srgbClr val="1A237E"/>
            </a:solidFill>
            <a:prstDash val="solid"/>
          </a:ln>
        </p:spPr>
      </p:sp>
      <p:sp>
        <p:nvSpPr>
          <p:cNvPr id="19" name="Text 17"/>
          <p:cNvSpPr txBox="1"/>
          <p:nvPr/>
        </p:nvSpPr>
        <p:spPr>
          <a:xfrm>
            <a:off x="2121408" y="1371600"/>
            <a:ext cx="1572768" cy="731520"/>
          </a:xfrm>
          <a:prstGeom prst="rect">
            <a:avLst/>
          </a:prstGeom>
          <a:noFill/>
          <a:ln/>
        </p:spPr>
        <p:txBody>
          <a:bodyPr wrap="square" lIns="0" tIns="0" rIns="0" bIns="0" rtlCol="0" anchor="ctr"/>
          <a:lstStyle/>
          <a:p>
            <a:pPr algn="ctr" indent="0" marL="0">
              <a:buNone/>
            </a:pPr>
            <a:r>
              <a:rPr lang="en-US" sz="4400" b="1" dirty="0">
                <a:solidFill>
                  <a:srgbClr val="1A237E"/>
                </a:solidFill>
                <a:latin typeface="Cambria" pitchFamily="34" charset="0"/>
                <a:ea typeface="Cambria" pitchFamily="34" charset="-122"/>
                <a:cs typeface="Cambria" pitchFamily="34" charset="-120"/>
              </a:rPr>
              <a:t>1</a:t>
            </a:r>
            <a:endParaRPr lang="en-US" sz="4400" dirty="0"/>
          </a:p>
        </p:txBody>
      </p:sp>
      <p:sp>
        <p:nvSpPr>
          <p:cNvPr id="20" name="Text 18"/>
          <p:cNvSpPr txBox="1"/>
          <p:nvPr/>
        </p:nvSpPr>
        <p:spPr>
          <a:xfrm>
            <a:off x="2212848" y="2103120"/>
            <a:ext cx="1389888" cy="868680"/>
          </a:xfrm>
          <a:prstGeom prst="rect">
            <a:avLst/>
          </a:prstGeom>
          <a:noFill/>
          <a:ln/>
        </p:spPr>
        <p:txBody>
          <a:bodyPr wrap="square" lIns="0" tIns="0" rIns="0" bIns="0" rtlCol="0" anchor="t"/>
          <a:lstStyle/>
          <a:p>
            <a:pPr algn="ctr" indent="0" marL="0">
              <a:buNone/>
            </a:pPr>
            <a:r>
              <a:rPr lang="en-US" sz="1100" dirty="0">
                <a:solidFill>
                  <a:srgbClr val="1F2430"/>
                </a:solidFill>
              </a:rPr>
              <a:t>visit per kitchen: operators describe their own practice</a:t>
            </a:r>
            <a:endParaRPr lang="en-US" sz="1100" dirty="0"/>
          </a:p>
        </p:txBody>
      </p:sp>
      <p:sp>
        <p:nvSpPr>
          <p:cNvPr id="21" name="Shape 19"/>
          <p:cNvSpPr/>
          <p:nvPr/>
        </p:nvSpPr>
        <p:spPr>
          <a:xfrm>
            <a:off x="3785616" y="1325880"/>
            <a:ext cx="1572768" cy="1691640"/>
          </a:xfrm>
          <a:prstGeom prst="roundRect">
            <a:avLst>
              <a:gd name="adj" fmla="val 4651"/>
            </a:avLst>
          </a:prstGeom>
          <a:solidFill>
            <a:srgbClr val="E8EAF6"/>
          </a:solidFill>
          <a:ln w="12700">
            <a:solidFill>
              <a:srgbClr val="1A237E"/>
            </a:solidFill>
            <a:prstDash val="solid"/>
          </a:ln>
        </p:spPr>
      </p:sp>
      <p:sp>
        <p:nvSpPr>
          <p:cNvPr id="22" name="Text 20"/>
          <p:cNvSpPr txBox="1"/>
          <p:nvPr/>
        </p:nvSpPr>
        <p:spPr>
          <a:xfrm>
            <a:off x="3785616" y="1371600"/>
            <a:ext cx="1572768" cy="731520"/>
          </a:xfrm>
          <a:prstGeom prst="rect">
            <a:avLst/>
          </a:prstGeom>
          <a:noFill/>
          <a:ln/>
        </p:spPr>
        <p:txBody>
          <a:bodyPr wrap="square" lIns="0" tIns="0" rIns="0" bIns="0" rtlCol="0" anchor="ctr"/>
          <a:lstStyle/>
          <a:p>
            <a:pPr algn="ctr" indent="0" marL="0">
              <a:buNone/>
            </a:pPr>
            <a:r>
              <a:rPr lang="en-US" sz="4400" b="1" dirty="0">
                <a:solidFill>
                  <a:srgbClr val="1A237E"/>
                </a:solidFill>
                <a:latin typeface="Cambria" pitchFamily="34" charset="0"/>
                <a:ea typeface="Cambria" pitchFamily="34" charset="-122"/>
                <a:cs typeface="Cambria" pitchFamily="34" charset="-120"/>
              </a:rPr>
              <a:t>2</a:t>
            </a:r>
            <a:endParaRPr lang="en-US" sz="4400" dirty="0"/>
          </a:p>
        </p:txBody>
      </p:sp>
      <p:sp>
        <p:nvSpPr>
          <p:cNvPr id="23" name="Text 21"/>
          <p:cNvSpPr txBox="1"/>
          <p:nvPr/>
        </p:nvSpPr>
        <p:spPr>
          <a:xfrm>
            <a:off x="3877056" y="2103120"/>
            <a:ext cx="1389888" cy="868680"/>
          </a:xfrm>
          <a:prstGeom prst="rect">
            <a:avLst/>
          </a:prstGeom>
          <a:noFill/>
          <a:ln/>
        </p:spPr>
        <p:txBody>
          <a:bodyPr wrap="square" lIns="0" tIns="0" rIns="0" bIns="0" rtlCol="0" anchor="t"/>
          <a:lstStyle/>
          <a:p>
            <a:pPr algn="ctr" indent="0" marL="0">
              <a:buNone/>
            </a:pPr>
            <a:r>
              <a:rPr lang="en-US" sz="1100" dirty="0">
                <a:solidFill>
                  <a:srgbClr val="1F2430"/>
                </a:solidFill>
              </a:rPr>
              <a:t>record sets, two halls, two months; Bakul has none</a:t>
            </a:r>
            <a:endParaRPr lang="en-US" sz="1100" dirty="0"/>
          </a:p>
        </p:txBody>
      </p:sp>
      <p:sp>
        <p:nvSpPr>
          <p:cNvPr id="24" name="Shape 22"/>
          <p:cNvSpPr/>
          <p:nvPr/>
        </p:nvSpPr>
        <p:spPr>
          <a:xfrm>
            <a:off x="5449824" y="1325880"/>
            <a:ext cx="1572768" cy="1691640"/>
          </a:xfrm>
          <a:prstGeom prst="roundRect">
            <a:avLst>
              <a:gd name="adj" fmla="val 4651"/>
            </a:avLst>
          </a:prstGeom>
          <a:solidFill>
            <a:srgbClr val="E8EAF6"/>
          </a:solidFill>
          <a:ln w="12700">
            <a:solidFill>
              <a:srgbClr val="1A237E"/>
            </a:solidFill>
            <a:prstDash val="solid"/>
          </a:ln>
        </p:spPr>
      </p:sp>
      <p:sp>
        <p:nvSpPr>
          <p:cNvPr id="25" name="Text 23"/>
          <p:cNvSpPr txBox="1"/>
          <p:nvPr/>
        </p:nvSpPr>
        <p:spPr>
          <a:xfrm>
            <a:off x="5449824" y="1371600"/>
            <a:ext cx="1572768" cy="731520"/>
          </a:xfrm>
          <a:prstGeom prst="rect">
            <a:avLst/>
          </a:prstGeom>
          <a:noFill/>
          <a:ln/>
        </p:spPr>
        <p:txBody>
          <a:bodyPr wrap="square" lIns="0" tIns="0" rIns="0" bIns="0" rtlCol="0" anchor="ctr"/>
          <a:lstStyle/>
          <a:p>
            <a:pPr algn="ctr" indent="0" marL="0">
              <a:buNone/>
            </a:pPr>
            <a:r>
              <a:rPr lang="en-US" sz="4400" b="1" dirty="0">
                <a:solidFill>
                  <a:srgbClr val="1A237E"/>
                </a:solidFill>
                <a:latin typeface="Cambria" pitchFamily="34" charset="0"/>
                <a:ea typeface="Cambria" pitchFamily="34" charset="-122"/>
                <a:cs typeface="Cambria" pitchFamily="34" charset="-120"/>
              </a:rPr>
              <a:t>1</a:t>
            </a:r>
            <a:endParaRPr lang="en-US" sz="4400" dirty="0"/>
          </a:p>
        </p:txBody>
      </p:sp>
      <p:sp>
        <p:nvSpPr>
          <p:cNvPr id="26" name="Text 24"/>
          <p:cNvSpPr txBox="1"/>
          <p:nvPr/>
        </p:nvSpPr>
        <p:spPr>
          <a:xfrm>
            <a:off x="5541264" y="2103120"/>
            <a:ext cx="1389888" cy="868680"/>
          </a:xfrm>
          <a:prstGeom prst="rect">
            <a:avLst/>
          </a:prstGeom>
          <a:noFill/>
          <a:ln/>
        </p:spPr>
        <p:txBody>
          <a:bodyPr wrap="square" lIns="0" tIns="0" rIns="0" bIns="0" rtlCol="0" anchor="t"/>
          <a:lstStyle/>
          <a:p>
            <a:pPr algn="ctr" indent="0" marL="0">
              <a:buNone/>
            </a:pPr>
            <a:r>
              <a:rPr lang="en-US" sz="1100" dirty="0">
                <a:solidFill>
                  <a:srgbClr val="1F2430"/>
                </a:solidFill>
              </a:rPr>
              <a:t>hall’s scans feed the model: shocks are assumed</a:t>
            </a:r>
            <a:endParaRPr lang="en-US" sz="1100" dirty="0"/>
          </a:p>
        </p:txBody>
      </p:sp>
      <p:sp>
        <p:nvSpPr>
          <p:cNvPr id="27" name="Shape 25"/>
          <p:cNvSpPr/>
          <p:nvPr/>
        </p:nvSpPr>
        <p:spPr>
          <a:xfrm>
            <a:off x="7114032" y="1325880"/>
            <a:ext cx="1572768" cy="1691640"/>
          </a:xfrm>
          <a:prstGeom prst="roundRect">
            <a:avLst>
              <a:gd name="adj" fmla="val 4651"/>
            </a:avLst>
          </a:prstGeom>
          <a:solidFill>
            <a:srgbClr val="E8EAF6"/>
          </a:solidFill>
          <a:ln w="12700">
            <a:solidFill>
              <a:srgbClr val="1A237E"/>
            </a:solidFill>
            <a:prstDash val="solid"/>
          </a:ln>
        </p:spPr>
      </p:sp>
      <p:sp>
        <p:nvSpPr>
          <p:cNvPr id="28" name="Text 26"/>
          <p:cNvSpPr txBox="1"/>
          <p:nvPr/>
        </p:nvSpPr>
        <p:spPr>
          <a:xfrm>
            <a:off x="7114032" y="1371600"/>
            <a:ext cx="1572768" cy="731520"/>
          </a:xfrm>
          <a:prstGeom prst="rect">
            <a:avLst/>
          </a:prstGeom>
          <a:noFill/>
          <a:ln/>
        </p:spPr>
        <p:txBody>
          <a:bodyPr wrap="square" lIns="0" tIns="0" rIns="0" bIns="0" rtlCol="0" anchor="ctr"/>
          <a:lstStyle/>
          <a:p>
            <a:pPr algn="ctr" indent="0" marL="0">
              <a:buNone/>
            </a:pPr>
            <a:r>
              <a:rPr lang="en-US" sz="4400" b="1" dirty="0">
                <a:solidFill>
                  <a:srgbClr val="1A237E"/>
                </a:solidFill>
                <a:latin typeface="Cambria" pitchFamily="34" charset="0"/>
                <a:ea typeface="Cambria" pitchFamily="34" charset="-122"/>
                <a:cs typeface="Cambria" pitchFamily="34" charset="-120"/>
              </a:rPr>
              <a:t>0</a:t>
            </a:r>
            <a:endParaRPr lang="en-US" sz="4400" dirty="0"/>
          </a:p>
        </p:txBody>
      </p:sp>
      <p:sp>
        <p:nvSpPr>
          <p:cNvPr id="29" name="Text 27"/>
          <p:cNvSpPr txBox="1"/>
          <p:nvPr/>
        </p:nvSpPr>
        <p:spPr>
          <a:xfrm>
            <a:off x="7205472" y="2103120"/>
            <a:ext cx="1389888" cy="868680"/>
          </a:xfrm>
          <a:prstGeom prst="rect">
            <a:avLst/>
          </a:prstGeom>
          <a:noFill/>
          <a:ln/>
        </p:spPr>
        <p:txBody>
          <a:bodyPr wrap="square" lIns="0" tIns="0" rIns="0" bIns="0" rtlCol="0" anchor="t"/>
          <a:lstStyle/>
          <a:p>
            <a:pPr algn="ctr" indent="0" marL="0">
              <a:buNone/>
            </a:pPr>
            <a:r>
              <a:rPr lang="en-US" sz="1100" dirty="0">
                <a:solidFill>
                  <a:srgbClr val="1F2430"/>
                </a:solidFill>
              </a:rPr>
              <a:t>co-design tests run: responses are reasoned, no one consulted</a:t>
            </a:r>
            <a:endParaRPr lang="en-US" sz="1100" dirty="0"/>
          </a:p>
        </p:txBody>
      </p:sp>
      <p:sp>
        <p:nvSpPr>
          <p:cNvPr id="30" name="Shape 28"/>
          <p:cNvSpPr/>
          <p:nvPr/>
        </p:nvSpPr>
        <p:spPr>
          <a:xfrm>
            <a:off x="457200" y="3246120"/>
            <a:ext cx="4069080" cy="420624"/>
          </a:xfrm>
          <a:prstGeom prst="roundRect">
            <a:avLst>
              <a:gd name="adj" fmla="val 13043"/>
            </a:avLst>
          </a:prstGeom>
          <a:solidFill>
            <a:srgbClr val="F2F2F2"/>
          </a:solidFill>
          <a:ln w="12700">
            <a:solidFill>
              <a:srgbClr val="616161"/>
            </a:solidFill>
            <a:prstDash val="dash"/>
          </a:ln>
        </p:spPr>
      </p:sp>
      <p:sp>
        <p:nvSpPr>
          <p:cNvPr id="31" name="Text 29"/>
          <p:cNvSpPr txBox="1"/>
          <p:nvPr/>
        </p:nvSpPr>
        <p:spPr>
          <a:xfrm>
            <a:off x="521208" y="3246120"/>
            <a:ext cx="3941064" cy="420624"/>
          </a:xfrm>
          <a:prstGeom prst="rect">
            <a:avLst/>
          </a:prstGeom>
          <a:noFill/>
          <a:ln/>
        </p:spPr>
        <p:txBody>
          <a:bodyPr wrap="square" lIns="0" tIns="0" rIns="0" bIns="0" rtlCol="0" anchor="ctr"/>
          <a:lstStyle/>
          <a:p>
            <a:pPr algn="ctr" indent="0" marL="0">
              <a:buNone/>
            </a:pPr>
            <a:r>
              <a:rPr lang="en-US" sz="1100" dirty="0">
                <a:solidFill>
                  <a:srgbClr val="1F2430"/>
                </a:solidFill>
              </a:rPr>
              <a:t>The loop test is strict by design: three describes the evidence</a:t>
            </a:r>
            <a:endParaRPr lang="en-US" sz="1100" dirty="0"/>
          </a:p>
        </p:txBody>
      </p:sp>
      <p:sp>
        <p:nvSpPr>
          <p:cNvPr id="32" name="Shape 30"/>
          <p:cNvSpPr/>
          <p:nvPr/>
        </p:nvSpPr>
        <p:spPr>
          <a:xfrm>
            <a:off x="4617720" y="3246120"/>
            <a:ext cx="4069080" cy="420624"/>
          </a:xfrm>
          <a:prstGeom prst="roundRect">
            <a:avLst>
              <a:gd name="adj" fmla="val 13043"/>
            </a:avLst>
          </a:prstGeom>
          <a:solidFill>
            <a:srgbClr val="F2F2F2"/>
          </a:solidFill>
          <a:ln w="12700">
            <a:solidFill>
              <a:srgbClr val="616161"/>
            </a:solidFill>
            <a:prstDash val="dash"/>
          </a:ln>
        </p:spPr>
      </p:sp>
      <p:sp>
        <p:nvSpPr>
          <p:cNvPr id="33" name="Text 31"/>
          <p:cNvSpPr txBox="1"/>
          <p:nvPr/>
        </p:nvSpPr>
        <p:spPr>
          <a:xfrm>
            <a:off x="4681728" y="3246120"/>
            <a:ext cx="3941064" cy="420624"/>
          </a:xfrm>
          <a:prstGeom prst="rect">
            <a:avLst/>
          </a:prstGeom>
          <a:noFill/>
          <a:ln/>
        </p:spPr>
        <p:txBody>
          <a:bodyPr wrap="square" lIns="0" tIns="0" rIns="0" bIns="0" rtlCol="0" anchor="ctr"/>
          <a:lstStyle/>
          <a:p>
            <a:pPr algn="ctr" indent="0" marL="0">
              <a:buNone/>
            </a:pPr>
            <a:r>
              <a:rPr lang="en-US" sz="1100" dirty="0">
                <a:solidFill>
                  <a:srgbClr val="1F2430"/>
                </a:solidFill>
              </a:rPr>
              <a:t>Scoring weights are the team’s judgement</a:t>
            </a:r>
            <a:endParaRPr lang="en-US" sz="1100" dirty="0"/>
          </a:p>
        </p:txBody>
      </p:sp>
      <p:sp>
        <p:nvSpPr>
          <p:cNvPr id="34" name="Shape 32"/>
          <p:cNvSpPr/>
          <p:nvPr/>
        </p:nvSpPr>
        <p:spPr>
          <a:xfrm>
            <a:off x="457200" y="3749040"/>
            <a:ext cx="4069080" cy="420624"/>
          </a:xfrm>
          <a:prstGeom prst="roundRect">
            <a:avLst>
              <a:gd name="adj" fmla="val 13043"/>
            </a:avLst>
          </a:prstGeom>
          <a:solidFill>
            <a:srgbClr val="F2F2F2"/>
          </a:solidFill>
          <a:ln w="12700">
            <a:solidFill>
              <a:srgbClr val="616161"/>
            </a:solidFill>
            <a:prstDash val="dash"/>
          </a:ln>
        </p:spPr>
      </p:sp>
      <p:sp>
        <p:nvSpPr>
          <p:cNvPr id="35" name="Text 33"/>
          <p:cNvSpPr txBox="1"/>
          <p:nvPr/>
        </p:nvSpPr>
        <p:spPr>
          <a:xfrm>
            <a:off x="521208" y="3749040"/>
            <a:ext cx="3941064" cy="420624"/>
          </a:xfrm>
          <a:prstGeom prst="rect">
            <a:avLst/>
          </a:prstGeom>
          <a:noFill/>
          <a:ln/>
        </p:spPr>
        <p:txBody>
          <a:bodyPr wrap="square" lIns="0" tIns="0" rIns="0" bIns="0" rtlCol="0" anchor="ctr"/>
          <a:lstStyle/>
          <a:p>
            <a:pPr algn="ctr" indent="0" marL="0">
              <a:buNone/>
            </a:pPr>
            <a:r>
              <a:rPr lang="en-US" sz="1100" dirty="0">
                <a:solidFill>
                  <a:srgbClr val="1F2430"/>
                </a:solidFill>
              </a:rPr>
              <a:t>Halls differ in five ways beyond the planning rule</a:t>
            </a:r>
            <a:endParaRPr lang="en-US" sz="1100" dirty="0"/>
          </a:p>
        </p:txBody>
      </p:sp>
      <p:sp>
        <p:nvSpPr>
          <p:cNvPr id="36" name="Shape 34"/>
          <p:cNvSpPr/>
          <p:nvPr/>
        </p:nvSpPr>
        <p:spPr>
          <a:xfrm>
            <a:off x="4617720" y="3749040"/>
            <a:ext cx="4069080" cy="420624"/>
          </a:xfrm>
          <a:prstGeom prst="roundRect">
            <a:avLst>
              <a:gd name="adj" fmla="val 13043"/>
            </a:avLst>
          </a:prstGeom>
          <a:solidFill>
            <a:srgbClr val="F2F2F2"/>
          </a:solidFill>
          <a:ln w="12700">
            <a:solidFill>
              <a:srgbClr val="616161"/>
            </a:solidFill>
            <a:prstDash val="dash"/>
          </a:ln>
        </p:spPr>
      </p:sp>
      <p:sp>
        <p:nvSpPr>
          <p:cNvPr id="37" name="Text 35"/>
          <p:cNvSpPr txBox="1"/>
          <p:nvPr/>
        </p:nvSpPr>
        <p:spPr>
          <a:xfrm>
            <a:off x="4681728" y="3749040"/>
            <a:ext cx="3941064" cy="420624"/>
          </a:xfrm>
          <a:prstGeom prst="rect">
            <a:avLst/>
          </a:prstGeom>
          <a:noFill/>
          <a:ln/>
        </p:spPr>
        <p:txBody>
          <a:bodyPr wrap="square" lIns="0" tIns="0" rIns="0" bIns="0" rtlCol="0" anchor="ctr"/>
          <a:lstStyle/>
          <a:p>
            <a:pPr algn="ctr" indent="0" marL="0">
              <a:buNone/>
            </a:pPr>
            <a:r>
              <a:rPr lang="en-US" sz="1100" dirty="0">
                <a:solidFill>
                  <a:srgbClr val="1F2430"/>
                </a:solidFill>
              </a:rPr>
              <a:t>Interviewers were peers of the respondents</a:t>
            </a:r>
            <a:endParaRPr lang="en-US" sz="1100" dirty="0"/>
          </a:p>
        </p:txBody>
      </p:sp>
      <p:sp>
        <p:nvSpPr>
          <p:cNvPr id="38" name="Text 36"/>
          <p:cNvSpPr txBox="1"/>
          <p:nvPr/>
        </p:nvSpPr>
        <p:spPr>
          <a:xfrm>
            <a:off x="457200" y="4389120"/>
            <a:ext cx="7315200" cy="256032"/>
          </a:xfrm>
          <a:prstGeom prst="rect">
            <a:avLst/>
          </a:prstGeom>
          <a:noFill/>
          <a:ln/>
        </p:spPr>
        <p:txBody>
          <a:bodyPr wrap="square" lIns="0" tIns="0" rIns="0" bIns="0" rtlCol="0" anchor="t"/>
          <a:lstStyle/>
          <a:p>
            <a:pPr algn="l" indent="0" marL="0">
              <a:buNone/>
            </a:pPr>
            <a:r>
              <a:rPr lang="en-US" sz="1400" dirty="0">
                <a:solidFill>
                  <a:srgbClr val="B8BFE6"/>
                </a:solidFill>
              </a:rPr>
              <a:t>Disposal after the close and a live breakfast were not observed.</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Three conflicts between sources stay open, and eight questions name who could answer them</a:t>
            </a:r>
            <a:endParaRPr lang="en-US" sz="2400" dirty="0"/>
          </a:p>
        </p:txBody>
      </p:sp>
      <p:sp>
        <p:nvSpPr>
          <p:cNvPr id="3" name="Shape 1"/>
          <p:cNvSpPr/>
          <p:nvPr/>
        </p:nvSpPr>
        <p:spPr>
          <a:xfrm>
            <a:off x="457200" y="4864608"/>
            <a:ext cx="100584" cy="100584"/>
          </a:xfrm>
          <a:prstGeom prst="ellipse">
            <a:avLst/>
          </a:prstGeom>
          <a:solidFill>
            <a:srgbClr val="1A237E"/>
          </a:solidFill>
          <a:ln/>
        </p:spPr>
      </p:sp>
      <p:sp>
        <p:nvSpPr>
          <p:cNvPr id="4" name="Shape 2"/>
          <p:cNvSpPr/>
          <p:nvPr/>
        </p:nvSpPr>
        <p:spPr>
          <a:xfrm>
            <a:off x="640080" y="4864608"/>
            <a:ext cx="100584" cy="100584"/>
          </a:xfrm>
          <a:prstGeom prst="ellipse">
            <a:avLst/>
          </a:prstGeom>
          <a:solidFill>
            <a:srgbClr val="1A237E"/>
          </a:solidFill>
          <a:ln/>
        </p:spPr>
      </p:sp>
      <p:sp>
        <p:nvSpPr>
          <p:cNvPr id="5" name="Shape 3"/>
          <p:cNvSpPr/>
          <p:nvPr/>
        </p:nvSpPr>
        <p:spPr>
          <a:xfrm>
            <a:off x="822960" y="4864608"/>
            <a:ext cx="100584" cy="100584"/>
          </a:xfrm>
          <a:prstGeom prst="ellipse">
            <a:avLst/>
          </a:prstGeom>
          <a:solidFill>
            <a:srgbClr val="1A237E"/>
          </a:solidFill>
          <a:ln/>
        </p:spPr>
      </p:sp>
      <p:sp>
        <p:nvSpPr>
          <p:cNvPr id="6" name="Shape 4"/>
          <p:cNvSpPr/>
          <p:nvPr/>
        </p:nvSpPr>
        <p:spPr>
          <a:xfrm>
            <a:off x="1005840" y="4864608"/>
            <a:ext cx="100584" cy="100584"/>
          </a:xfrm>
          <a:prstGeom prst="ellipse">
            <a:avLst/>
          </a:prstGeom>
          <a:solidFill>
            <a:srgbClr val="1A237E"/>
          </a:solidFill>
          <a:ln/>
        </p:spPr>
      </p:sp>
      <p:sp>
        <p:nvSpPr>
          <p:cNvPr id="7" name="Shape 5"/>
          <p:cNvSpPr/>
          <p:nvPr/>
        </p:nvSpPr>
        <p:spPr>
          <a:xfrm>
            <a:off x="1188720" y="4864608"/>
            <a:ext cx="100584" cy="100584"/>
          </a:xfrm>
          <a:prstGeom prst="ellipse">
            <a:avLst/>
          </a:prstGeom>
          <a:solidFill>
            <a:srgbClr val="1A237E"/>
          </a:solidFill>
          <a:ln/>
        </p:spPr>
      </p:sp>
      <p:sp>
        <p:nvSpPr>
          <p:cNvPr id="8" name="Shape 6"/>
          <p:cNvSpPr/>
          <p:nvPr/>
        </p:nvSpPr>
        <p:spPr>
          <a:xfrm>
            <a:off x="1371600" y="4864608"/>
            <a:ext cx="100584" cy="100584"/>
          </a:xfrm>
          <a:prstGeom prst="ellipse">
            <a:avLst/>
          </a:prstGeom>
          <a:solidFill>
            <a:srgbClr val="1A237E"/>
          </a:solidFill>
          <a:ln/>
        </p:spPr>
      </p:sp>
      <p:sp>
        <p:nvSpPr>
          <p:cNvPr id="9" name="Shape 7"/>
          <p:cNvSpPr/>
          <p:nvPr/>
        </p:nvSpPr>
        <p:spPr>
          <a:xfrm>
            <a:off x="1554480" y="4864608"/>
            <a:ext cx="100584" cy="100584"/>
          </a:xfrm>
          <a:prstGeom prst="ellipse">
            <a:avLst/>
          </a:prstGeom>
          <a:solidFill>
            <a:srgbClr val="1A237E"/>
          </a:solidFill>
          <a:ln/>
        </p:spPr>
      </p:sp>
      <p:sp>
        <p:nvSpPr>
          <p:cNvPr id="10" name="Shape 8"/>
          <p:cNvSpPr/>
          <p:nvPr/>
        </p:nvSpPr>
        <p:spPr>
          <a:xfrm>
            <a:off x="1714500" y="4841748"/>
            <a:ext cx="146304" cy="146304"/>
          </a:xfrm>
          <a:prstGeom prst="ellipse">
            <a:avLst/>
          </a:prstGeom>
          <a:solidFill>
            <a:srgbClr val="1A237E"/>
          </a:solidFill>
          <a:ln/>
        </p:spPr>
      </p:sp>
      <p:sp>
        <p:nvSpPr>
          <p:cNvPr id="11" name="Shape 9"/>
          <p:cNvSpPr/>
          <p:nvPr/>
        </p:nvSpPr>
        <p:spPr>
          <a:xfrm>
            <a:off x="1677924" y="4805172"/>
            <a:ext cx="219456" cy="219456"/>
          </a:xfrm>
          <a:prstGeom prst="ellipse">
            <a:avLst/>
          </a:prstGeom>
          <a:ln w="9525">
            <a:solidFill>
              <a:srgbClr val="1A237E"/>
            </a:solidFill>
            <a:prstDash val="solid"/>
          </a:ln>
        </p:spPr>
      </p:sp>
      <p:sp>
        <p:nvSpPr>
          <p:cNvPr id="12" name="Shape 10"/>
          <p:cNvSpPr/>
          <p:nvPr/>
        </p:nvSpPr>
        <p:spPr>
          <a:xfrm>
            <a:off x="1920240" y="4864608"/>
            <a:ext cx="100584" cy="100584"/>
          </a:xfrm>
          <a:prstGeom prst="ellipse">
            <a:avLst/>
          </a:prstGeom>
          <a:ln w="9525">
            <a:solidFill>
              <a:srgbClr val="9AA3B5"/>
            </a:solidFill>
            <a:prstDash val="solid"/>
          </a:ln>
        </p:spPr>
      </p:sp>
      <p:sp>
        <p:nvSpPr>
          <p:cNvPr id="13" name="Shape 11"/>
          <p:cNvSpPr/>
          <p:nvPr/>
        </p:nvSpPr>
        <p:spPr>
          <a:xfrm>
            <a:off x="2103120" y="4864608"/>
            <a:ext cx="100584" cy="100584"/>
          </a:xfrm>
          <a:prstGeom prst="ellipse">
            <a:avLst/>
          </a:prstGeom>
          <a:ln w="9525">
            <a:solidFill>
              <a:srgbClr val="9AA3B5"/>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616161"/>
                </a:solidFill>
              </a:rPr>
              <a:t>8 Limitations and open questions</a:t>
            </a:r>
            <a:endParaRPr lang="en-US" sz="1000" dirty="0"/>
          </a:p>
        </p:txBody>
      </p:sp>
      <p:sp>
        <p:nvSpPr>
          <p:cNvPr id="15" name="Shape 13"/>
          <p:cNvSpPr/>
          <p:nvPr/>
        </p:nvSpPr>
        <p:spPr>
          <a:xfrm>
            <a:off x="457200" y="1280160"/>
            <a:ext cx="2651760" cy="1600200"/>
          </a:xfrm>
          <a:prstGeom prst="roundRect">
            <a:avLst>
              <a:gd name="adj" fmla="val 4571"/>
            </a:avLst>
          </a:prstGeom>
          <a:solidFill>
            <a:srgbClr val="FDECEA"/>
          </a:solidFill>
          <a:ln w="12700">
            <a:solidFill>
              <a:srgbClr val="C62828"/>
            </a:solidFill>
            <a:prstDash val="solid"/>
          </a:ln>
        </p:spPr>
      </p:sp>
      <p:sp>
        <p:nvSpPr>
          <p:cNvPr id="16" name="Shape 14"/>
          <p:cNvSpPr/>
          <p:nvPr/>
        </p:nvSpPr>
        <p:spPr>
          <a:xfrm>
            <a:off x="594360" y="1444752"/>
            <a:ext cx="365760" cy="365760"/>
          </a:xfrm>
          <a:prstGeom prst="ellipse">
            <a:avLst/>
          </a:prstGeom>
          <a:solidFill>
            <a:srgbClr val="C62828"/>
          </a:solidFill>
          <a:ln/>
        </p:spPr>
      </p:sp>
      <p:sp>
        <p:nvSpPr>
          <p:cNvPr id="17" name="Text 15"/>
          <p:cNvSpPr txBox="1"/>
          <p:nvPr/>
        </p:nvSpPr>
        <p:spPr>
          <a:xfrm>
            <a:off x="594360" y="14447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8" name="Text 16"/>
          <p:cNvSpPr txBox="1"/>
          <p:nvPr/>
        </p:nvSpPr>
        <p:spPr>
          <a:xfrm>
            <a:off x="1097280" y="1371600"/>
            <a:ext cx="1920240" cy="548640"/>
          </a:xfrm>
          <a:prstGeom prst="rect">
            <a:avLst/>
          </a:prstGeom>
          <a:noFill/>
          <a:ln/>
        </p:spPr>
        <p:txBody>
          <a:bodyPr wrap="square" lIns="0" tIns="0" rIns="0" bIns="0" rtlCol="0" anchor="ctr"/>
          <a:lstStyle/>
          <a:p>
            <a:pPr algn="l" indent="0" marL="0">
              <a:buNone/>
            </a:pPr>
            <a:r>
              <a:rPr lang="en-US" sz="1250" b="1" dirty="0">
                <a:solidFill>
                  <a:srgbClr val="1F2430"/>
                </a:solidFill>
              </a:rPr>
              <a:t>Who heads the dining services body</a:t>
            </a:r>
            <a:endParaRPr lang="en-US" sz="1250" dirty="0"/>
          </a:p>
        </p:txBody>
      </p:sp>
      <p:sp>
        <p:nvSpPr>
          <p:cNvPr id="19" name="Text 17"/>
          <p:cNvSpPr txBox="1"/>
          <p:nvPr/>
        </p:nvSpPr>
        <p:spPr>
          <a:xfrm>
            <a:off x="594360" y="2011680"/>
            <a:ext cx="2423160" cy="822960"/>
          </a:xfrm>
          <a:prstGeom prst="rect">
            <a:avLst/>
          </a:prstGeom>
          <a:noFill/>
          <a:ln/>
        </p:spPr>
        <p:txBody>
          <a:bodyPr wrap="square" lIns="0" tIns="0" rIns="0" bIns="0" rtlCol="0" anchor="t"/>
          <a:lstStyle/>
          <a:p>
            <a:pPr algn="l" indent="0" marL="0">
              <a:buNone/>
            </a:pPr>
            <a:r>
              <a:rPr lang="en-US" sz="1100" dirty="0">
                <a:solidFill>
                  <a:srgbClr val="1F2430"/>
                </a:solidFill>
              </a:rPr>
              <a:t>Two different people are on record</a:t>
            </a:r>
            <a:endParaRPr lang="en-US" sz="1100" dirty="0"/>
          </a:p>
        </p:txBody>
      </p:sp>
      <p:sp>
        <p:nvSpPr>
          <p:cNvPr id="20" name="Shape 18"/>
          <p:cNvSpPr/>
          <p:nvPr/>
        </p:nvSpPr>
        <p:spPr>
          <a:xfrm>
            <a:off x="3246120" y="1280160"/>
            <a:ext cx="2651760" cy="1600200"/>
          </a:xfrm>
          <a:prstGeom prst="roundRect">
            <a:avLst>
              <a:gd name="adj" fmla="val 4571"/>
            </a:avLst>
          </a:prstGeom>
          <a:solidFill>
            <a:srgbClr val="FDECEA"/>
          </a:solidFill>
          <a:ln w="12700">
            <a:solidFill>
              <a:srgbClr val="C62828"/>
            </a:solidFill>
            <a:prstDash val="solid"/>
          </a:ln>
        </p:spPr>
      </p:sp>
      <p:sp>
        <p:nvSpPr>
          <p:cNvPr id="21" name="Shape 19"/>
          <p:cNvSpPr/>
          <p:nvPr/>
        </p:nvSpPr>
        <p:spPr>
          <a:xfrm>
            <a:off x="3383280" y="1444752"/>
            <a:ext cx="365760" cy="365760"/>
          </a:xfrm>
          <a:prstGeom prst="ellipse">
            <a:avLst/>
          </a:prstGeom>
          <a:solidFill>
            <a:srgbClr val="C62828"/>
          </a:solidFill>
          <a:ln/>
        </p:spPr>
      </p:sp>
      <p:sp>
        <p:nvSpPr>
          <p:cNvPr id="22" name="Text 20"/>
          <p:cNvSpPr txBox="1"/>
          <p:nvPr/>
        </p:nvSpPr>
        <p:spPr>
          <a:xfrm>
            <a:off x="3383280" y="14447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3" name="Text 21"/>
          <p:cNvSpPr txBox="1"/>
          <p:nvPr/>
        </p:nvSpPr>
        <p:spPr>
          <a:xfrm>
            <a:off x="3886200" y="1371600"/>
            <a:ext cx="1920240" cy="548640"/>
          </a:xfrm>
          <a:prstGeom prst="rect">
            <a:avLst/>
          </a:prstGeom>
          <a:noFill/>
          <a:ln/>
        </p:spPr>
        <p:txBody>
          <a:bodyPr wrap="square" lIns="0" tIns="0" rIns="0" bIns="0" rtlCol="0" anchor="ctr"/>
          <a:lstStyle/>
          <a:p>
            <a:pPr algn="l" indent="0" marL="0">
              <a:buNone/>
            </a:pPr>
            <a:r>
              <a:rPr lang="en-US" sz="1250" b="1" dirty="0">
                <a:solidFill>
                  <a:srgbClr val="1F2430"/>
                </a:solidFill>
              </a:rPr>
              <a:t>Whether Skip Meal lowers the count Kadamba cooks from</a:t>
            </a:r>
            <a:endParaRPr lang="en-US" sz="1250" dirty="0"/>
          </a:p>
        </p:txBody>
      </p:sp>
      <p:sp>
        <p:nvSpPr>
          <p:cNvPr id="24" name="Text 22"/>
          <p:cNvSpPr txBox="1"/>
          <p:nvPr/>
        </p:nvSpPr>
        <p:spPr>
          <a:xfrm>
            <a:off x="3383280" y="2011680"/>
            <a:ext cx="2423160" cy="822960"/>
          </a:xfrm>
          <a:prstGeom prst="rect">
            <a:avLst/>
          </a:prstGeom>
          <a:noFill/>
          <a:ln/>
        </p:spPr>
        <p:txBody>
          <a:bodyPr wrap="square" lIns="0" tIns="0" rIns="0" bIns="0" rtlCol="0" anchor="t"/>
          <a:lstStyle/>
          <a:p>
            <a:pPr algn="l" indent="0" marL="0">
              <a:buNone/>
            </a:pPr>
            <a:r>
              <a:rPr lang="en-US" sz="1100" dirty="0">
                <a:solidFill>
                  <a:srgbClr val="1F2430"/>
                </a:solidFill>
              </a:rPr>
              <a:t>The institution says yes; the portal says staff are told; the operator says it cooks on registrations</a:t>
            </a:r>
            <a:endParaRPr lang="en-US" sz="1100" dirty="0"/>
          </a:p>
        </p:txBody>
      </p:sp>
      <p:sp>
        <p:nvSpPr>
          <p:cNvPr id="25" name="Shape 23"/>
          <p:cNvSpPr/>
          <p:nvPr/>
        </p:nvSpPr>
        <p:spPr>
          <a:xfrm>
            <a:off x="6035040" y="1280160"/>
            <a:ext cx="2651760" cy="1600200"/>
          </a:xfrm>
          <a:prstGeom prst="roundRect">
            <a:avLst>
              <a:gd name="adj" fmla="val 4571"/>
            </a:avLst>
          </a:prstGeom>
          <a:solidFill>
            <a:srgbClr val="FDECEA"/>
          </a:solidFill>
          <a:ln w="12700">
            <a:solidFill>
              <a:srgbClr val="C62828"/>
            </a:solidFill>
            <a:prstDash val="solid"/>
          </a:ln>
        </p:spPr>
      </p:sp>
      <p:sp>
        <p:nvSpPr>
          <p:cNvPr id="26" name="Shape 24"/>
          <p:cNvSpPr/>
          <p:nvPr/>
        </p:nvSpPr>
        <p:spPr>
          <a:xfrm>
            <a:off x="6172200" y="1444752"/>
            <a:ext cx="365760" cy="365760"/>
          </a:xfrm>
          <a:prstGeom prst="ellipse">
            <a:avLst/>
          </a:prstGeom>
          <a:solidFill>
            <a:srgbClr val="C62828"/>
          </a:solidFill>
          <a:ln/>
        </p:spPr>
      </p:sp>
      <p:sp>
        <p:nvSpPr>
          <p:cNvPr id="27" name="Text 25"/>
          <p:cNvSpPr txBox="1"/>
          <p:nvPr/>
        </p:nvSpPr>
        <p:spPr>
          <a:xfrm>
            <a:off x="6172200" y="14447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8" name="Text 26"/>
          <p:cNvSpPr txBox="1"/>
          <p:nvPr/>
        </p:nvSpPr>
        <p:spPr>
          <a:xfrm>
            <a:off x="6675120" y="1371600"/>
            <a:ext cx="1920240" cy="548640"/>
          </a:xfrm>
          <a:prstGeom prst="rect">
            <a:avLst/>
          </a:prstGeom>
          <a:noFill/>
          <a:ln/>
        </p:spPr>
        <p:txBody>
          <a:bodyPr wrap="square" lIns="0" tIns="0" rIns="0" bIns="0" rtlCol="0" anchor="ctr"/>
          <a:lstStyle/>
          <a:p>
            <a:pPr algn="l" indent="0" marL="0">
              <a:buNone/>
            </a:pPr>
            <a:r>
              <a:rPr lang="en-US" sz="1250" b="1" dirty="0">
                <a:solidFill>
                  <a:srgbClr val="1F2430"/>
                </a:solidFill>
              </a:rPr>
              <a:t>Whether operators are paid on registered or served plates</a:t>
            </a:r>
            <a:endParaRPr lang="en-US" sz="1250" dirty="0"/>
          </a:p>
        </p:txBody>
      </p:sp>
      <p:sp>
        <p:nvSpPr>
          <p:cNvPr id="29" name="Text 27"/>
          <p:cNvSpPr txBox="1"/>
          <p:nvPr/>
        </p:nvSpPr>
        <p:spPr>
          <a:xfrm>
            <a:off x="6172200" y="2011680"/>
            <a:ext cx="2423160" cy="822960"/>
          </a:xfrm>
          <a:prstGeom prst="rect">
            <a:avLst/>
          </a:prstGeom>
          <a:noFill/>
          <a:ln/>
        </p:spPr>
        <p:txBody>
          <a:bodyPr wrap="square" lIns="0" tIns="0" rIns="0" bIns="0" rtlCol="0" anchor="t"/>
          <a:lstStyle/>
          <a:p>
            <a:pPr algn="l" indent="0" marL="0">
              <a:buNone/>
            </a:pPr>
            <a:r>
              <a:rPr lang="en-US" sz="1100" dirty="0">
                <a:solidFill>
                  <a:srgbClr val="1F2430"/>
                </a:solidFill>
              </a:rPr>
              <a:t>The one that matters most</a:t>
            </a:r>
            <a:endParaRPr lang="en-US" sz="1100" dirty="0"/>
          </a:p>
        </p:txBody>
      </p:sp>
      <p:sp>
        <p:nvSpPr>
          <p:cNvPr id="30" name="Shape 28"/>
          <p:cNvSpPr/>
          <p:nvPr/>
        </p:nvSpPr>
        <p:spPr>
          <a:xfrm>
            <a:off x="457200" y="3017520"/>
            <a:ext cx="4069080" cy="338328"/>
          </a:xfrm>
          <a:prstGeom prst="roundRect">
            <a:avLst>
              <a:gd name="adj" fmla="val 13514"/>
            </a:avLst>
          </a:prstGeom>
          <a:solidFill>
            <a:srgbClr val="F2F2F2"/>
          </a:solidFill>
          <a:ln/>
        </p:spPr>
      </p:sp>
      <p:sp>
        <p:nvSpPr>
          <p:cNvPr id="31" name="Text 29"/>
          <p:cNvSpPr txBox="1"/>
          <p:nvPr/>
        </p:nvSpPr>
        <p:spPr>
          <a:xfrm>
            <a:off x="548640" y="3017520"/>
            <a:ext cx="3931920" cy="338328"/>
          </a:xfrm>
          <a:prstGeom prst="rect">
            <a:avLst/>
          </a:prstGeom>
          <a:noFill/>
          <a:ln/>
        </p:spPr>
        <p:txBody>
          <a:bodyPr wrap="square" lIns="0" tIns="0" rIns="0" bIns="0" rtlCol="0" anchor="ctr"/>
          <a:lstStyle/>
          <a:p>
            <a:pPr algn="l" indent="0" marL="0">
              <a:buNone/>
            </a:pPr>
            <a:r>
              <a:rPr lang="en-US" sz="1000" b="1" dirty="0">
                <a:solidFill>
                  <a:srgbClr val="1F2430"/>
                </a:solidFill>
              </a:rPr>
              <a:t>Payment basis</a:t>
            </a:r>
            <a:pPr algn="l" indent="0" marL="0">
              <a:buNone/>
            </a:pPr>
            <a:r>
              <a:rPr lang="en-US" sz="1000" dirty="0">
                <a:solidFill>
                  <a:srgbClr val="616161"/>
                </a:solidFill>
              </a:rPr>
              <a:t>  contracts or the dining services body</a:t>
            </a:r>
            <a:endParaRPr lang="en-US" sz="1000" dirty="0"/>
          </a:p>
        </p:txBody>
      </p:sp>
      <p:sp>
        <p:nvSpPr>
          <p:cNvPr id="32" name="Shape 30"/>
          <p:cNvSpPr/>
          <p:nvPr/>
        </p:nvSpPr>
        <p:spPr>
          <a:xfrm>
            <a:off x="4617720" y="3017520"/>
            <a:ext cx="4069080" cy="338328"/>
          </a:xfrm>
          <a:prstGeom prst="roundRect">
            <a:avLst>
              <a:gd name="adj" fmla="val 13514"/>
            </a:avLst>
          </a:prstGeom>
          <a:solidFill>
            <a:srgbClr val="F2F2F2"/>
          </a:solidFill>
          <a:ln/>
        </p:spPr>
      </p:sp>
      <p:sp>
        <p:nvSpPr>
          <p:cNvPr id="33" name="Text 31"/>
          <p:cNvSpPr txBox="1"/>
          <p:nvPr/>
        </p:nvSpPr>
        <p:spPr>
          <a:xfrm>
            <a:off x="4709160" y="3017520"/>
            <a:ext cx="3931920" cy="338328"/>
          </a:xfrm>
          <a:prstGeom prst="rect">
            <a:avLst/>
          </a:prstGeom>
          <a:noFill/>
          <a:ln/>
        </p:spPr>
        <p:txBody>
          <a:bodyPr wrap="square" lIns="0" tIns="0" rIns="0" bIns="0" rtlCol="0" anchor="ctr"/>
          <a:lstStyle/>
          <a:p>
            <a:pPr algn="l" indent="0" marL="0">
              <a:buNone/>
            </a:pPr>
            <a:r>
              <a:rPr lang="en-US" sz="1000" b="1" dirty="0">
                <a:solidFill>
                  <a:srgbClr val="1F2430"/>
                </a:solidFill>
              </a:rPr>
              <a:t>Skip Meal count</a:t>
            </a:r>
            <a:pPr algn="l" indent="0" marL="0">
              <a:buNone/>
            </a:pPr>
            <a:r>
              <a:rPr lang="en-US" sz="1000" dirty="0">
                <a:solidFill>
                  <a:srgbClr val="616161"/>
                </a:solidFill>
              </a:rPr>
              <a:t>  the dining services body</a:t>
            </a:r>
            <a:endParaRPr lang="en-US" sz="1000" dirty="0"/>
          </a:p>
        </p:txBody>
      </p:sp>
      <p:sp>
        <p:nvSpPr>
          <p:cNvPr id="34" name="Shape 32"/>
          <p:cNvSpPr/>
          <p:nvPr/>
        </p:nvSpPr>
        <p:spPr>
          <a:xfrm>
            <a:off x="457200" y="3401568"/>
            <a:ext cx="4069080" cy="338328"/>
          </a:xfrm>
          <a:prstGeom prst="roundRect">
            <a:avLst>
              <a:gd name="adj" fmla="val 13514"/>
            </a:avLst>
          </a:prstGeom>
          <a:solidFill>
            <a:srgbClr val="F2F2F2"/>
          </a:solidFill>
          <a:ln/>
        </p:spPr>
      </p:sp>
      <p:sp>
        <p:nvSpPr>
          <p:cNvPr id="35" name="Text 33"/>
          <p:cNvSpPr txBox="1"/>
          <p:nvPr/>
        </p:nvSpPr>
        <p:spPr>
          <a:xfrm>
            <a:off x="548640" y="3401568"/>
            <a:ext cx="3931920" cy="338328"/>
          </a:xfrm>
          <a:prstGeom prst="rect">
            <a:avLst/>
          </a:prstGeom>
          <a:noFill/>
          <a:ln/>
        </p:spPr>
        <p:txBody>
          <a:bodyPr wrap="square" lIns="0" tIns="0" rIns="0" bIns="0" rtlCol="0" anchor="ctr"/>
          <a:lstStyle/>
          <a:p>
            <a:pPr algn="l" indent="0" marL="0">
              <a:buNone/>
            </a:pPr>
            <a:r>
              <a:rPr lang="en-US" sz="1000" b="1" dirty="0">
                <a:solidFill>
                  <a:srgbClr val="1F2430"/>
                </a:solidFill>
              </a:rPr>
              <a:t>Sunday skip uptake</a:t>
            </a:r>
            <a:pPr algn="l" indent="0" marL="0">
              <a:buNone/>
            </a:pPr>
            <a:r>
              <a:rPr lang="en-US" sz="1000" dirty="0">
                <a:solidFill>
                  <a:srgbClr val="616161"/>
                </a:solidFill>
              </a:rPr>
              <a:t>  students</a:t>
            </a:r>
            <a:endParaRPr lang="en-US" sz="1000" dirty="0"/>
          </a:p>
        </p:txBody>
      </p:sp>
      <p:sp>
        <p:nvSpPr>
          <p:cNvPr id="36" name="Shape 34"/>
          <p:cNvSpPr/>
          <p:nvPr/>
        </p:nvSpPr>
        <p:spPr>
          <a:xfrm>
            <a:off x="4617720" y="3401568"/>
            <a:ext cx="4069080" cy="338328"/>
          </a:xfrm>
          <a:prstGeom prst="roundRect">
            <a:avLst>
              <a:gd name="adj" fmla="val 13514"/>
            </a:avLst>
          </a:prstGeom>
          <a:solidFill>
            <a:srgbClr val="F2F2F2"/>
          </a:solidFill>
          <a:ln/>
        </p:spPr>
      </p:sp>
      <p:sp>
        <p:nvSpPr>
          <p:cNvPr id="37" name="Text 35"/>
          <p:cNvSpPr txBox="1"/>
          <p:nvPr/>
        </p:nvSpPr>
        <p:spPr>
          <a:xfrm>
            <a:off x="4709160" y="3401568"/>
            <a:ext cx="3931920" cy="338328"/>
          </a:xfrm>
          <a:prstGeom prst="rect">
            <a:avLst/>
          </a:prstGeom>
          <a:noFill/>
          <a:ln/>
        </p:spPr>
        <p:txBody>
          <a:bodyPr wrap="square" lIns="0" tIns="0" rIns="0" bIns="0" rtlCol="0" anchor="ctr"/>
          <a:lstStyle/>
          <a:p>
            <a:pPr algn="l" indent="0" marL="0">
              <a:buNone/>
            </a:pPr>
            <a:r>
              <a:rPr lang="en-US" sz="1000" b="1" dirty="0">
                <a:solidFill>
                  <a:srgbClr val="1F2430"/>
                </a:solidFill>
              </a:rPr>
              <a:t>Late batch landing by 9:15</a:t>
            </a:r>
            <a:pPr algn="l" indent="0" marL="0">
              <a:buNone/>
            </a:pPr>
            <a:r>
              <a:rPr lang="en-US" sz="1000" dirty="0">
                <a:solidFill>
                  <a:srgbClr val="616161"/>
                </a:solidFill>
              </a:rPr>
              <a:t>  operators</a:t>
            </a:r>
            <a:endParaRPr lang="en-US" sz="1000" dirty="0"/>
          </a:p>
        </p:txBody>
      </p:sp>
      <p:sp>
        <p:nvSpPr>
          <p:cNvPr id="38" name="Shape 36"/>
          <p:cNvSpPr/>
          <p:nvPr/>
        </p:nvSpPr>
        <p:spPr>
          <a:xfrm>
            <a:off x="457200" y="3785616"/>
            <a:ext cx="4069080" cy="338328"/>
          </a:xfrm>
          <a:prstGeom prst="roundRect">
            <a:avLst>
              <a:gd name="adj" fmla="val 13514"/>
            </a:avLst>
          </a:prstGeom>
          <a:solidFill>
            <a:srgbClr val="F2F2F2"/>
          </a:solidFill>
          <a:ln/>
        </p:spPr>
      </p:sp>
      <p:sp>
        <p:nvSpPr>
          <p:cNvPr id="39" name="Text 37"/>
          <p:cNvSpPr txBox="1"/>
          <p:nvPr/>
        </p:nvSpPr>
        <p:spPr>
          <a:xfrm>
            <a:off x="548640" y="3785616"/>
            <a:ext cx="3931920" cy="338328"/>
          </a:xfrm>
          <a:prstGeom prst="rect">
            <a:avLst/>
          </a:prstGeom>
          <a:noFill/>
          <a:ln/>
        </p:spPr>
        <p:txBody>
          <a:bodyPr wrap="square" lIns="0" tIns="0" rIns="0" bIns="0" rtlCol="0" anchor="ctr"/>
          <a:lstStyle/>
          <a:p>
            <a:pPr algn="l" indent="0" marL="0">
              <a:buNone/>
            </a:pPr>
            <a:r>
              <a:rPr lang="en-US" sz="1000" b="1" dirty="0">
                <a:solidFill>
                  <a:srgbClr val="1F2430"/>
                </a:solidFill>
              </a:rPr>
              <a:t>What Kadamba’s 5 to 10% waste is a percentage of</a:t>
            </a:r>
            <a:pPr algn="l" indent="0" marL="0">
              <a:buNone/>
            </a:pPr>
            <a:r>
              <a:rPr lang="en-US" sz="1000" dirty="0">
                <a:solidFill>
                  <a:srgbClr val="616161"/>
                </a:solidFill>
              </a:rPr>
              <a:t>  operators</a:t>
            </a:r>
            <a:endParaRPr lang="en-US" sz="1000" dirty="0"/>
          </a:p>
        </p:txBody>
      </p:sp>
      <p:sp>
        <p:nvSpPr>
          <p:cNvPr id="40" name="Shape 38"/>
          <p:cNvSpPr/>
          <p:nvPr/>
        </p:nvSpPr>
        <p:spPr>
          <a:xfrm>
            <a:off x="4617720" y="3785616"/>
            <a:ext cx="4069080" cy="338328"/>
          </a:xfrm>
          <a:prstGeom prst="roundRect">
            <a:avLst>
              <a:gd name="adj" fmla="val 13514"/>
            </a:avLst>
          </a:prstGeom>
          <a:solidFill>
            <a:srgbClr val="F2F2F2"/>
          </a:solidFill>
          <a:ln/>
        </p:spPr>
      </p:sp>
      <p:sp>
        <p:nvSpPr>
          <p:cNvPr id="41" name="Text 39"/>
          <p:cNvSpPr txBox="1"/>
          <p:nvPr/>
        </p:nvSpPr>
        <p:spPr>
          <a:xfrm>
            <a:off x="4709160" y="3785616"/>
            <a:ext cx="3931920" cy="338328"/>
          </a:xfrm>
          <a:prstGeom prst="rect">
            <a:avLst/>
          </a:prstGeom>
          <a:noFill/>
          <a:ln/>
        </p:spPr>
        <p:txBody>
          <a:bodyPr wrap="square" lIns="0" tIns="0" rIns="0" bIns="0" rtlCol="0" anchor="ctr"/>
          <a:lstStyle/>
          <a:p>
            <a:pPr algn="l" indent="0" marL="0">
              <a:buNone/>
            </a:pPr>
            <a:r>
              <a:rPr lang="en-US" sz="1000" b="1" dirty="0">
                <a:solidFill>
                  <a:srgbClr val="1F2430"/>
                </a:solidFill>
              </a:rPr>
              <a:t>Who set the four-day close and the cap of five</a:t>
            </a:r>
            <a:pPr algn="l" indent="0" marL="0">
              <a:buNone/>
            </a:pPr>
            <a:r>
              <a:rPr lang="en-US" sz="1000" dirty="0">
                <a:solidFill>
                  <a:srgbClr val="616161"/>
                </a:solidFill>
              </a:rPr>
              <a:t>  the institution and its contracts</a:t>
            </a:r>
            <a:endParaRPr lang="en-US" sz="1000" dirty="0"/>
          </a:p>
        </p:txBody>
      </p:sp>
      <p:sp>
        <p:nvSpPr>
          <p:cNvPr id="42" name="Shape 40"/>
          <p:cNvSpPr/>
          <p:nvPr/>
        </p:nvSpPr>
        <p:spPr>
          <a:xfrm>
            <a:off x="457200" y="4169664"/>
            <a:ext cx="4069080" cy="338328"/>
          </a:xfrm>
          <a:prstGeom prst="roundRect">
            <a:avLst>
              <a:gd name="adj" fmla="val 13514"/>
            </a:avLst>
          </a:prstGeom>
          <a:solidFill>
            <a:srgbClr val="F2F2F2"/>
          </a:solidFill>
          <a:ln/>
        </p:spPr>
      </p:sp>
      <p:sp>
        <p:nvSpPr>
          <p:cNvPr id="43" name="Text 41"/>
          <p:cNvSpPr txBox="1"/>
          <p:nvPr/>
        </p:nvSpPr>
        <p:spPr>
          <a:xfrm>
            <a:off x="548640" y="4169664"/>
            <a:ext cx="3931920" cy="338328"/>
          </a:xfrm>
          <a:prstGeom prst="rect">
            <a:avLst/>
          </a:prstGeom>
          <a:noFill/>
          <a:ln/>
        </p:spPr>
        <p:txBody>
          <a:bodyPr wrap="square" lIns="0" tIns="0" rIns="0" bIns="0" rtlCol="0" anchor="ctr"/>
          <a:lstStyle/>
          <a:p>
            <a:pPr algn="l" indent="0" marL="0">
              <a:buNone/>
            </a:pPr>
            <a:r>
              <a:rPr lang="en-US" sz="1000" b="1" dirty="0">
                <a:solidFill>
                  <a:srgbClr val="1F2430"/>
                </a:solidFill>
              </a:rPr>
              <a:t>Who heads the dining services body</a:t>
            </a:r>
            <a:pPr algn="l" indent="0" marL="0">
              <a:buNone/>
            </a:pPr>
            <a:r>
              <a:rPr lang="en-US" sz="1000" dirty="0">
                <a:solidFill>
                  <a:srgbClr val="616161"/>
                </a:solidFill>
              </a:rPr>
              <a:t>  the dining services body</a:t>
            </a:r>
            <a:endParaRPr lang="en-US" sz="1000" dirty="0"/>
          </a:p>
        </p:txBody>
      </p:sp>
      <p:sp>
        <p:nvSpPr>
          <p:cNvPr id="44" name="Shape 42"/>
          <p:cNvSpPr/>
          <p:nvPr/>
        </p:nvSpPr>
        <p:spPr>
          <a:xfrm>
            <a:off x="4617720" y="4169664"/>
            <a:ext cx="4069080" cy="338328"/>
          </a:xfrm>
          <a:prstGeom prst="roundRect">
            <a:avLst>
              <a:gd name="adj" fmla="val 13514"/>
            </a:avLst>
          </a:prstGeom>
          <a:solidFill>
            <a:srgbClr val="F2F2F2"/>
          </a:solidFill>
          <a:ln/>
        </p:spPr>
      </p:sp>
      <p:sp>
        <p:nvSpPr>
          <p:cNvPr id="45" name="Text 43"/>
          <p:cNvSpPr txBox="1"/>
          <p:nvPr/>
        </p:nvSpPr>
        <p:spPr>
          <a:xfrm>
            <a:off x="4709160" y="4169664"/>
            <a:ext cx="3931920" cy="338328"/>
          </a:xfrm>
          <a:prstGeom prst="rect">
            <a:avLst/>
          </a:prstGeom>
          <a:noFill/>
          <a:ln/>
        </p:spPr>
        <p:txBody>
          <a:bodyPr wrap="square" lIns="0" tIns="0" rIns="0" bIns="0" rtlCol="0" anchor="ctr"/>
          <a:lstStyle/>
          <a:p>
            <a:pPr algn="l" indent="0" marL="0">
              <a:buNone/>
            </a:pPr>
            <a:r>
              <a:rPr lang="en-US" sz="1000" b="1" dirty="0">
                <a:solidFill>
                  <a:srgbClr val="1F2430"/>
                </a:solidFill>
              </a:rPr>
              <a:t>Whether the April pattern holds in other months and halls</a:t>
            </a:r>
            <a:pPr algn="l" indent="0" marL="0">
              <a:buNone/>
            </a:pPr>
            <a:r>
              <a:rPr lang="en-US" sz="1000" dirty="0">
                <a:solidFill>
                  <a:srgbClr val="616161"/>
                </a:solidFill>
              </a:rPr>
              <a:t>  scan exports not yet obtained</a:t>
            </a:r>
            <a:endParaRPr lang="en-US" sz="1000" dirty="0"/>
          </a:p>
        </p:txBody>
      </p:sp>
      <p:sp>
        <p:nvSpPr>
          <p:cNvPr id="46" name="Shape 44"/>
          <p:cNvSpPr/>
          <p:nvPr/>
        </p:nvSpPr>
        <p:spPr>
          <a:xfrm>
            <a:off x="8101584" y="1033272"/>
            <a:ext cx="585216" cy="201168"/>
          </a:xfrm>
          <a:prstGeom prst="roundRect">
            <a:avLst>
              <a:gd name="adj" fmla="val 22727"/>
            </a:avLst>
          </a:prstGeom>
          <a:ln w="12700">
            <a:solidFill>
              <a:srgbClr val="C62828"/>
            </a:solidFill>
            <a:prstDash val="solid"/>
          </a:ln>
        </p:spPr>
      </p:sp>
      <p:sp>
        <p:nvSpPr>
          <p:cNvPr id="47" name="Text 45"/>
          <p:cNvSpPr txBox="1"/>
          <p:nvPr/>
        </p:nvSpPr>
        <p:spPr>
          <a:xfrm>
            <a:off x="8101584" y="1033272"/>
            <a:ext cx="585216" cy="201168"/>
          </a:xfrm>
          <a:prstGeom prst="rect">
            <a:avLst/>
          </a:prstGeom>
          <a:noFill/>
          <a:ln/>
        </p:spPr>
        <p:txBody>
          <a:bodyPr wrap="square" lIns="0" tIns="0" rIns="0" bIns="0" rtlCol="0" anchor="ctr"/>
          <a:lstStyle/>
          <a:p>
            <a:pPr algn="ctr" indent="0" marL="0">
              <a:buNone/>
            </a:pPr>
            <a:r>
              <a:rPr lang="en-US" sz="900" b="1" spc="100" kern="0" dirty="0">
                <a:solidFill>
                  <a:srgbClr val="C62828"/>
                </a:solidFill>
              </a:rPr>
              <a:t>OPEN</a:t>
            </a:r>
            <a:endParaRPr lang="en-US" sz="900" dirty="0"/>
          </a:p>
        </p:txBody>
      </p:sp>
      <p:sp>
        <p:nvSpPr>
          <p:cNvPr id="48" name="Text 46"/>
          <p:cNvSpPr txBox="1"/>
          <p:nvPr/>
        </p:nvSpPr>
        <p:spPr>
          <a:xfrm>
            <a:off x="457200" y="4590288"/>
            <a:ext cx="4572000" cy="201168"/>
          </a:xfrm>
          <a:prstGeom prst="rect">
            <a:avLst/>
          </a:prstGeom>
          <a:noFill/>
          <a:ln/>
        </p:spPr>
        <p:txBody>
          <a:bodyPr wrap="square" lIns="0" tIns="0" rIns="0" bIns="0" rtlCol="0" anchor="t"/>
          <a:lstStyle/>
          <a:p>
            <a:pPr algn="l" indent="0" marL="0">
              <a:buNone/>
            </a:pPr>
            <a:r>
              <a:rPr lang="en-US" sz="1050" i="1" dirty="0">
                <a:solidFill>
                  <a:srgbClr val="616161"/>
                </a:solidFill>
              </a:rPr>
              <a:t>The case does not choose between them.</a:t>
            </a:r>
            <a:endParaRPr lang="en-US" sz="10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Measuring and routing are different things, and the system measures its problem every day</a:t>
            </a:r>
            <a:endParaRPr lang="en-US" sz="2400" dirty="0"/>
          </a:p>
        </p:txBody>
      </p:sp>
      <p:sp>
        <p:nvSpPr>
          <p:cNvPr id="3" name="Shape 1"/>
          <p:cNvSpPr/>
          <p:nvPr/>
        </p:nvSpPr>
        <p:spPr>
          <a:xfrm>
            <a:off x="457200" y="4864608"/>
            <a:ext cx="100584" cy="100584"/>
          </a:xfrm>
          <a:prstGeom prst="ellipse">
            <a:avLst/>
          </a:prstGeom>
          <a:solidFill>
            <a:srgbClr val="FFFFFF"/>
          </a:solidFill>
          <a:ln/>
        </p:spPr>
      </p:sp>
      <p:sp>
        <p:nvSpPr>
          <p:cNvPr id="4" name="Shape 2"/>
          <p:cNvSpPr/>
          <p:nvPr/>
        </p:nvSpPr>
        <p:spPr>
          <a:xfrm>
            <a:off x="640080" y="4864608"/>
            <a:ext cx="100584" cy="100584"/>
          </a:xfrm>
          <a:prstGeom prst="ellipse">
            <a:avLst/>
          </a:prstGeom>
          <a:solidFill>
            <a:srgbClr val="FFFFFF"/>
          </a:solidFill>
          <a:ln/>
        </p:spPr>
      </p:sp>
      <p:sp>
        <p:nvSpPr>
          <p:cNvPr id="5" name="Shape 3"/>
          <p:cNvSpPr/>
          <p:nvPr/>
        </p:nvSpPr>
        <p:spPr>
          <a:xfrm>
            <a:off x="822960" y="4864608"/>
            <a:ext cx="100584" cy="100584"/>
          </a:xfrm>
          <a:prstGeom prst="ellipse">
            <a:avLst/>
          </a:prstGeom>
          <a:solidFill>
            <a:srgbClr val="FFFFFF"/>
          </a:solidFill>
          <a:ln/>
        </p:spPr>
      </p:sp>
      <p:sp>
        <p:nvSpPr>
          <p:cNvPr id="6" name="Shape 4"/>
          <p:cNvSpPr/>
          <p:nvPr/>
        </p:nvSpPr>
        <p:spPr>
          <a:xfrm>
            <a:off x="1005840" y="4864608"/>
            <a:ext cx="100584" cy="100584"/>
          </a:xfrm>
          <a:prstGeom prst="ellipse">
            <a:avLst/>
          </a:prstGeom>
          <a:solidFill>
            <a:srgbClr val="FFFFFF"/>
          </a:solidFill>
          <a:ln/>
        </p:spPr>
      </p:sp>
      <p:sp>
        <p:nvSpPr>
          <p:cNvPr id="7" name="Shape 5"/>
          <p:cNvSpPr/>
          <p:nvPr/>
        </p:nvSpPr>
        <p:spPr>
          <a:xfrm>
            <a:off x="1188720" y="4864608"/>
            <a:ext cx="100584" cy="100584"/>
          </a:xfrm>
          <a:prstGeom prst="ellipse">
            <a:avLst/>
          </a:prstGeom>
          <a:solidFill>
            <a:srgbClr val="FFFFFF"/>
          </a:solidFill>
          <a:ln/>
        </p:spPr>
      </p:sp>
      <p:sp>
        <p:nvSpPr>
          <p:cNvPr id="8" name="Shape 6"/>
          <p:cNvSpPr/>
          <p:nvPr/>
        </p:nvSpPr>
        <p:spPr>
          <a:xfrm>
            <a:off x="1371600" y="4864608"/>
            <a:ext cx="100584" cy="100584"/>
          </a:xfrm>
          <a:prstGeom prst="ellipse">
            <a:avLst/>
          </a:prstGeom>
          <a:solidFill>
            <a:srgbClr val="FFFFFF"/>
          </a:solidFill>
          <a:ln/>
        </p:spPr>
      </p:sp>
      <p:sp>
        <p:nvSpPr>
          <p:cNvPr id="9" name="Shape 7"/>
          <p:cNvSpPr/>
          <p:nvPr/>
        </p:nvSpPr>
        <p:spPr>
          <a:xfrm>
            <a:off x="1554480" y="4864608"/>
            <a:ext cx="100584" cy="100584"/>
          </a:xfrm>
          <a:prstGeom prst="ellipse">
            <a:avLst/>
          </a:prstGeom>
          <a:solidFill>
            <a:srgbClr val="FFFFFF"/>
          </a:solidFill>
          <a:ln/>
        </p:spPr>
      </p:sp>
      <p:sp>
        <p:nvSpPr>
          <p:cNvPr id="10" name="Shape 8"/>
          <p:cNvSpPr/>
          <p:nvPr/>
        </p:nvSpPr>
        <p:spPr>
          <a:xfrm>
            <a:off x="1737360" y="4864608"/>
            <a:ext cx="100584" cy="100584"/>
          </a:xfrm>
          <a:prstGeom prst="ellipse">
            <a:avLst/>
          </a:prstGeom>
          <a:solidFill>
            <a:srgbClr val="FFFFFF"/>
          </a:solidFill>
          <a:ln/>
        </p:spPr>
      </p:sp>
      <p:sp>
        <p:nvSpPr>
          <p:cNvPr id="11" name="Shape 9"/>
          <p:cNvSpPr/>
          <p:nvPr/>
        </p:nvSpPr>
        <p:spPr>
          <a:xfrm>
            <a:off x="1897380" y="4841748"/>
            <a:ext cx="146304" cy="146304"/>
          </a:xfrm>
          <a:prstGeom prst="ellipse">
            <a:avLst/>
          </a:prstGeom>
          <a:solidFill>
            <a:srgbClr val="FFFFFF"/>
          </a:solidFill>
          <a:ln/>
        </p:spPr>
      </p:sp>
      <p:sp>
        <p:nvSpPr>
          <p:cNvPr id="12" name="Shape 10"/>
          <p:cNvSpPr/>
          <p:nvPr/>
        </p:nvSpPr>
        <p:spPr>
          <a:xfrm>
            <a:off x="1860804" y="4805172"/>
            <a:ext cx="219456" cy="219456"/>
          </a:xfrm>
          <a:prstGeom prst="ellipse">
            <a:avLst/>
          </a:prstGeom>
          <a:ln w="9525">
            <a:solidFill>
              <a:srgbClr val="FFFFFF"/>
            </a:solidFill>
            <a:prstDash val="solid"/>
          </a:ln>
        </p:spPr>
      </p:sp>
      <p:sp>
        <p:nvSpPr>
          <p:cNvPr id="13" name="Shape 11"/>
          <p:cNvSpPr/>
          <p:nvPr/>
        </p:nvSpPr>
        <p:spPr>
          <a:xfrm>
            <a:off x="2103120" y="4864608"/>
            <a:ext cx="100584" cy="100584"/>
          </a:xfrm>
          <a:prstGeom prst="ellipse">
            <a:avLst/>
          </a:prstGeom>
          <a:ln w="9525">
            <a:solidFill>
              <a:srgbClr val="6B74A8"/>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B8BFE6"/>
                </a:solidFill>
              </a:rPr>
              <a:t>9 Reflections</a:t>
            </a:r>
            <a:endParaRPr lang="en-US" sz="1000" dirty="0"/>
          </a:p>
        </p:txBody>
      </p:sp>
      <p:sp>
        <p:nvSpPr>
          <p:cNvPr id="15" name="Shape 13"/>
          <p:cNvSpPr/>
          <p:nvPr/>
        </p:nvSpPr>
        <p:spPr>
          <a:xfrm>
            <a:off x="457200" y="1280160"/>
            <a:ext cx="2651760" cy="2606040"/>
          </a:xfrm>
          <a:prstGeom prst="roundRect">
            <a:avLst>
              <a:gd name="adj" fmla="val 2807"/>
            </a:avLst>
          </a:prstGeom>
          <a:solidFill>
            <a:srgbClr val="E8F5E9"/>
          </a:solidFill>
          <a:ln w="12700">
            <a:solidFill>
              <a:srgbClr val="2E7D32"/>
            </a:solidFill>
            <a:prstDash val="solid"/>
          </a:ln>
        </p:spPr>
      </p:sp>
      <p:sp>
        <p:nvSpPr>
          <p:cNvPr id="16" name="Text 14"/>
          <p:cNvSpPr txBox="1"/>
          <p:nvPr/>
        </p:nvSpPr>
        <p:spPr>
          <a:xfrm>
            <a:off x="594360" y="1371600"/>
            <a:ext cx="2377440" cy="320040"/>
          </a:xfrm>
          <a:prstGeom prst="rect">
            <a:avLst/>
          </a:prstGeom>
          <a:noFill/>
          <a:ln/>
        </p:spPr>
        <p:txBody>
          <a:bodyPr wrap="square" lIns="0" tIns="0" rIns="0" bIns="0" rtlCol="0" anchor="t"/>
          <a:lstStyle/>
          <a:p>
            <a:pPr algn="l" indent="0" marL="0">
              <a:buNone/>
            </a:pPr>
            <a:r>
              <a:rPr lang="en-US" sz="1500" b="1" dirty="0">
                <a:solidFill>
                  <a:srgbClr val="1F2430"/>
                </a:solidFill>
                <a:latin typeface="Cambria" pitchFamily="34" charset="0"/>
                <a:ea typeface="Cambria" pitchFamily="34" charset="-122"/>
                <a:cs typeface="Cambria" pitchFamily="34" charset="-120"/>
              </a:rPr>
              <a:t>What worked</a:t>
            </a:r>
            <a:endParaRPr lang="en-US" sz="1500" dirty="0"/>
          </a:p>
        </p:txBody>
      </p:sp>
      <p:sp>
        <p:nvSpPr>
          <p:cNvPr id="17" name="Shape 15"/>
          <p:cNvSpPr/>
          <p:nvPr/>
        </p:nvSpPr>
        <p:spPr>
          <a:xfrm>
            <a:off x="676656" y="1883664"/>
            <a:ext cx="109728" cy="109728"/>
          </a:xfrm>
          <a:prstGeom prst="ellipse">
            <a:avLst/>
          </a:prstGeom>
          <a:solidFill>
            <a:srgbClr val="2E7D32"/>
          </a:solidFill>
          <a:ln/>
        </p:spPr>
      </p:sp>
      <p:sp>
        <p:nvSpPr>
          <p:cNvPr id="18" name="Text 16"/>
          <p:cNvSpPr txBox="1"/>
          <p:nvPr/>
        </p:nvSpPr>
        <p:spPr>
          <a:xfrm>
            <a:off x="914400" y="1783080"/>
            <a:ext cx="2103120" cy="658368"/>
          </a:xfrm>
          <a:prstGeom prst="rect">
            <a:avLst/>
          </a:prstGeom>
          <a:noFill/>
          <a:ln/>
        </p:spPr>
        <p:txBody>
          <a:bodyPr wrap="square" lIns="0" tIns="0" rIns="0" bIns="0" rtlCol="0" anchor="t"/>
          <a:lstStyle/>
          <a:p>
            <a:pPr algn="l" indent="0" marL="0">
              <a:buNone/>
            </a:pPr>
            <a:r>
              <a:rPr lang="en-US" sz="1100" dirty="0">
                <a:solidFill>
                  <a:srgbClr val="1F2430"/>
                </a:solidFill>
              </a:rPr>
              <a:t>Saying how sure we were from the first document</a:t>
            </a:r>
            <a:endParaRPr lang="en-US" sz="1100" dirty="0"/>
          </a:p>
        </p:txBody>
      </p:sp>
      <p:sp>
        <p:nvSpPr>
          <p:cNvPr id="19" name="Shape 17"/>
          <p:cNvSpPr/>
          <p:nvPr/>
        </p:nvSpPr>
        <p:spPr>
          <a:xfrm>
            <a:off x="676656" y="2578608"/>
            <a:ext cx="109728" cy="109728"/>
          </a:xfrm>
          <a:prstGeom prst="ellipse">
            <a:avLst/>
          </a:prstGeom>
          <a:solidFill>
            <a:srgbClr val="2E7D32"/>
          </a:solidFill>
          <a:ln/>
        </p:spPr>
      </p:sp>
      <p:sp>
        <p:nvSpPr>
          <p:cNvPr id="20" name="Text 18"/>
          <p:cNvSpPr txBox="1"/>
          <p:nvPr/>
        </p:nvSpPr>
        <p:spPr>
          <a:xfrm>
            <a:off x="914400" y="2478024"/>
            <a:ext cx="2103120" cy="658368"/>
          </a:xfrm>
          <a:prstGeom prst="rect">
            <a:avLst/>
          </a:prstGeom>
          <a:noFill/>
          <a:ln/>
        </p:spPr>
        <p:txBody>
          <a:bodyPr wrap="square" lIns="0" tIns="0" rIns="0" bIns="0" rtlCol="0" anchor="t"/>
          <a:lstStyle/>
          <a:p>
            <a:pPr algn="l" indent="0" marL="0">
              <a:buNone/>
            </a:pPr>
            <a:r>
              <a:rPr lang="en-US" sz="1100" dirty="0">
                <a:solidFill>
                  <a:srgbClr val="1F2430"/>
                </a:solidFill>
              </a:rPr>
              <a:t>Treating each operator as its own system</a:t>
            </a:r>
            <a:endParaRPr lang="en-US" sz="1100" dirty="0"/>
          </a:p>
        </p:txBody>
      </p:sp>
      <p:sp>
        <p:nvSpPr>
          <p:cNvPr id="21" name="Shape 19"/>
          <p:cNvSpPr/>
          <p:nvPr/>
        </p:nvSpPr>
        <p:spPr>
          <a:xfrm>
            <a:off x="676656" y="3273552"/>
            <a:ext cx="109728" cy="109728"/>
          </a:xfrm>
          <a:prstGeom prst="ellipse">
            <a:avLst/>
          </a:prstGeom>
          <a:solidFill>
            <a:srgbClr val="2E7D32"/>
          </a:solidFill>
          <a:ln/>
        </p:spPr>
      </p:sp>
      <p:sp>
        <p:nvSpPr>
          <p:cNvPr id="22" name="Text 20"/>
          <p:cNvSpPr txBox="1"/>
          <p:nvPr/>
        </p:nvSpPr>
        <p:spPr>
          <a:xfrm>
            <a:off x="914400" y="3172968"/>
            <a:ext cx="2103120" cy="658368"/>
          </a:xfrm>
          <a:prstGeom prst="rect">
            <a:avLst/>
          </a:prstGeom>
          <a:noFill/>
          <a:ln/>
        </p:spPr>
        <p:txBody>
          <a:bodyPr wrap="square" lIns="0" tIns="0" rIns="0" bIns="0" rtlCol="0" anchor="t"/>
          <a:lstStyle/>
          <a:p>
            <a:pPr algn="l" indent="0" marL="0">
              <a:buNone/>
            </a:pPr>
            <a:r>
              <a:rPr lang="en-US" sz="1100" dirty="0">
                <a:solidFill>
                  <a:srgbClr val="1F2430"/>
                </a:solidFill>
              </a:rPr>
              <a:t>Keeping a foil in every test</a:t>
            </a:r>
            <a:endParaRPr lang="en-US" sz="1100" dirty="0"/>
          </a:p>
        </p:txBody>
      </p:sp>
      <p:sp>
        <p:nvSpPr>
          <p:cNvPr id="23" name="Shape 21"/>
          <p:cNvSpPr/>
          <p:nvPr/>
        </p:nvSpPr>
        <p:spPr>
          <a:xfrm>
            <a:off x="3246120" y="1280160"/>
            <a:ext cx="2651760" cy="2606040"/>
          </a:xfrm>
          <a:prstGeom prst="roundRect">
            <a:avLst>
              <a:gd name="adj" fmla="val 2807"/>
            </a:avLst>
          </a:prstGeom>
          <a:solidFill>
            <a:srgbClr val="FFF8E1"/>
          </a:solidFill>
          <a:ln w="12700">
            <a:solidFill>
              <a:srgbClr val="F57F17"/>
            </a:solidFill>
            <a:prstDash val="solid"/>
          </a:ln>
        </p:spPr>
      </p:sp>
      <p:sp>
        <p:nvSpPr>
          <p:cNvPr id="24" name="Text 22"/>
          <p:cNvSpPr txBox="1"/>
          <p:nvPr/>
        </p:nvSpPr>
        <p:spPr>
          <a:xfrm>
            <a:off x="3383280" y="1371600"/>
            <a:ext cx="2377440" cy="320040"/>
          </a:xfrm>
          <a:prstGeom prst="rect">
            <a:avLst/>
          </a:prstGeom>
          <a:noFill/>
          <a:ln/>
        </p:spPr>
        <p:txBody>
          <a:bodyPr wrap="square" lIns="0" tIns="0" rIns="0" bIns="0" rtlCol="0" anchor="t"/>
          <a:lstStyle/>
          <a:p>
            <a:pPr algn="l" indent="0" marL="0">
              <a:buNone/>
            </a:pPr>
            <a:r>
              <a:rPr lang="en-US" sz="1500" b="1" dirty="0">
                <a:solidFill>
                  <a:srgbClr val="1F2430"/>
                </a:solidFill>
                <a:latin typeface="Cambria" pitchFamily="34" charset="0"/>
                <a:ea typeface="Cambria" pitchFamily="34" charset="-122"/>
                <a:cs typeface="Cambria" pitchFamily="34" charset="-120"/>
              </a:rPr>
              <a:t>What we would change</a:t>
            </a:r>
            <a:endParaRPr lang="en-US" sz="1500" dirty="0"/>
          </a:p>
        </p:txBody>
      </p:sp>
      <p:sp>
        <p:nvSpPr>
          <p:cNvPr id="25" name="Shape 23"/>
          <p:cNvSpPr/>
          <p:nvPr/>
        </p:nvSpPr>
        <p:spPr>
          <a:xfrm>
            <a:off x="3465576" y="1883664"/>
            <a:ext cx="109728" cy="109728"/>
          </a:xfrm>
          <a:prstGeom prst="ellipse">
            <a:avLst/>
          </a:prstGeom>
          <a:solidFill>
            <a:srgbClr val="F57F17"/>
          </a:solidFill>
          <a:ln/>
        </p:spPr>
      </p:sp>
      <p:sp>
        <p:nvSpPr>
          <p:cNvPr id="26" name="Text 24"/>
          <p:cNvSpPr txBox="1"/>
          <p:nvPr/>
        </p:nvSpPr>
        <p:spPr>
          <a:xfrm>
            <a:off x="3703320" y="1783080"/>
            <a:ext cx="2103120" cy="658368"/>
          </a:xfrm>
          <a:prstGeom prst="rect">
            <a:avLst/>
          </a:prstGeom>
          <a:noFill/>
          <a:ln/>
        </p:spPr>
        <p:txBody>
          <a:bodyPr wrap="square" lIns="0" tIns="0" rIns="0" bIns="0" rtlCol="0" anchor="t"/>
          <a:lstStyle/>
          <a:p>
            <a:pPr algn="l" indent="0" marL="0">
              <a:buNone/>
            </a:pPr>
            <a:r>
              <a:rPr lang="en-US" sz="1100" dirty="0">
                <a:solidFill>
                  <a:srgbClr val="1F2430"/>
                </a:solidFill>
              </a:rPr>
              <a:t>Go to the kitchens first and ask for the records sooner</a:t>
            </a:r>
            <a:endParaRPr lang="en-US" sz="1100" dirty="0"/>
          </a:p>
        </p:txBody>
      </p:sp>
      <p:sp>
        <p:nvSpPr>
          <p:cNvPr id="27" name="Shape 25"/>
          <p:cNvSpPr/>
          <p:nvPr/>
        </p:nvSpPr>
        <p:spPr>
          <a:xfrm>
            <a:off x="3465576" y="2578608"/>
            <a:ext cx="109728" cy="109728"/>
          </a:xfrm>
          <a:prstGeom prst="ellipse">
            <a:avLst/>
          </a:prstGeom>
          <a:solidFill>
            <a:srgbClr val="F57F17"/>
          </a:solidFill>
          <a:ln/>
        </p:spPr>
      </p:sp>
      <p:sp>
        <p:nvSpPr>
          <p:cNvPr id="28" name="Text 26"/>
          <p:cNvSpPr txBox="1"/>
          <p:nvPr/>
        </p:nvSpPr>
        <p:spPr>
          <a:xfrm>
            <a:off x="3703320" y="2478024"/>
            <a:ext cx="2103120" cy="658368"/>
          </a:xfrm>
          <a:prstGeom prst="rect">
            <a:avLst/>
          </a:prstGeom>
          <a:noFill/>
          <a:ln/>
        </p:spPr>
        <p:txBody>
          <a:bodyPr wrap="square" lIns="0" tIns="0" rIns="0" bIns="0" rtlCol="0" anchor="t"/>
          <a:lstStyle/>
          <a:p>
            <a:pPr algn="l" indent="0" marL="0">
              <a:buNone/>
            </a:pPr>
            <a:r>
              <a:rPr lang="en-US" sz="1100" dirty="0">
                <a:solidFill>
                  <a:srgbClr val="1F2430"/>
                </a:solidFill>
              </a:rPr>
              <a:t>Be slower to name a fix and an owner</a:t>
            </a:r>
            <a:endParaRPr lang="en-US" sz="1100" dirty="0"/>
          </a:p>
        </p:txBody>
      </p:sp>
      <p:sp>
        <p:nvSpPr>
          <p:cNvPr id="29" name="Shape 27"/>
          <p:cNvSpPr/>
          <p:nvPr/>
        </p:nvSpPr>
        <p:spPr>
          <a:xfrm>
            <a:off x="3465576" y="3273552"/>
            <a:ext cx="109728" cy="109728"/>
          </a:xfrm>
          <a:prstGeom prst="ellipse">
            <a:avLst/>
          </a:prstGeom>
          <a:solidFill>
            <a:srgbClr val="F57F17"/>
          </a:solidFill>
          <a:ln/>
        </p:spPr>
      </p:sp>
      <p:sp>
        <p:nvSpPr>
          <p:cNvPr id="30" name="Text 28"/>
          <p:cNvSpPr txBox="1"/>
          <p:nvPr/>
        </p:nvSpPr>
        <p:spPr>
          <a:xfrm>
            <a:off x="3703320" y="3172968"/>
            <a:ext cx="2103120" cy="658368"/>
          </a:xfrm>
          <a:prstGeom prst="rect">
            <a:avLst/>
          </a:prstGeom>
          <a:noFill/>
          <a:ln/>
        </p:spPr>
        <p:txBody>
          <a:bodyPr wrap="square" lIns="0" tIns="0" rIns="0" bIns="0" rtlCol="0" anchor="t"/>
          <a:lstStyle/>
          <a:p>
            <a:pPr algn="l" indent="0" marL="0">
              <a:buNone/>
            </a:pPr>
            <a:r>
              <a:rPr lang="en-US" sz="1100" dirty="0">
                <a:solidFill>
                  <a:srgbClr val="1F2430"/>
                </a:solidFill>
              </a:rPr>
              <a:t>Notice we built the burden-shifting pattern into our own plan</a:t>
            </a:r>
            <a:endParaRPr lang="en-US" sz="1100" dirty="0"/>
          </a:p>
        </p:txBody>
      </p:sp>
      <p:sp>
        <p:nvSpPr>
          <p:cNvPr id="31" name="Shape 29"/>
          <p:cNvSpPr/>
          <p:nvPr/>
        </p:nvSpPr>
        <p:spPr>
          <a:xfrm>
            <a:off x="6035040" y="1280160"/>
            <a:ext cx="2651760" cy="2606040"/>
          </a:xfrm>
          <a:prstGeom prst="roundRect">
            <a:avLst>
              <a:gd name="adj" fmla="val 2807"/>
            </a:avLst>
          </a:prstGeom>
          <a:solidFill>
            <a:srgbClr val="E3F2FD"/>
          </a:solidFill>
          <a:ln w="12700">
            <a:solidFill>
              <a:srgbClr val="1565C0"/>
            </a:solidFill>
            <a:prstDash val="solid"/>
          </a:ln>
        </p:spPr>
      </p:sp>
      <p:sp>
        <p:nvSpPr>
          <p:cNvPr id="32" name="Text 30"/>
          <p:cNvSpPr txBox="1"/>
          <p:nvPr/>
        </p:nvSpPr>
        <p:spPr>
          <a:xfrm>
            <a:off x="6172200" y="1371600"/>
            <a:ext cx="2377440" cy="320040"/>
          </a:xfrm>
          <a:prstGeom prst="rect">
            <a:avLst/>
          </a:prstGeom>
          <a:noFill/>
          <a:ln/>
        </p:spPr>
        <p:txBody>
          <a:bodyPr wrap="square" lIns="0" tIns="0" rIns="0" bIns="0" rtlCol="0" anchor="t"/>
          <a:lstStyle/>
          <a:p>
            <a:pPr algn="l" indent="0" marL="0">
              <a:buNone/>
            </a:pPr>
            <a:r>
              <a:rPr lang="en-US" sz="1500" b="1" dirty="0">
                <a:solidFill>
                  <a:srgbClr val="1F2430"/>
                </a:solidFill>
                <a:latin typeface="Cambria" pitchFamily="34" charset="0"/>
                <a:ea typeface="Cambria" pitchFamily="34" charset="-122"/>
                <a:cs typeface="Cambria" pitchFamily="34" charset="-120"/>
              </a:rPr>
              <a:t>Next steps</a:t>
            </a:r>
            <a:endParaRPr lang="en-US" sz="1500" dirty="0"/>
          </a:p>
        </p:txBody>
      </p:sp>
      <p:sp>
        <p:nvSpPr>
          <p:cNvPr id="33" name="Shape 31"/>
          <p:cNvSpPr/>
          <p:nvPr/>
        </p:nvSpPr>
        <p:spPr>
          <a:xfrm>
            <a:off x="6254496" y="1883664"/>
            <a:ext cx="109728" cy="109728"/>
          </a:xfrm>
          <a:prstGeom prst="ellipse">
            <a:avLst/>
          </a:prstGeom>
          <a:solidFill>
            <a:srgbClr val="1565C0"/>
          </a:solidFill>
          <a:ln/>
        </p:spPr>
      </p:sp>
      <p:sp>
        <p:nvSpPr>
          <p:cNvPr id="34" name="Text 32"/>
          <p:cNvSpPr txBox="1"/>
          <p:nvPr/>
        </p:nvSpPr>
        <p:spPr>
          <a:xfrm>
            <a:off x="6492240" y="1783080"/>
            <a:ext cx="2103120" cy="658368"/>
          </a:xfrm>
          <a:prstGeom prst="rect">
            <a:avLst/>
          </a:prstGeom>
          <a:noFill/>
          <a:ln/>
        </p:spPr>
        <p:txBody>
          <a:bodyPr wrap="square" lIns="0" tIns="0" rIns="0" bIns="0" rtlCol="0" anchor="t"/>
          <a:lstStyle/>
          <a:p>
            <a:pPr algn="l" indent="0" marL="0">
              <a:buNone/>
            </a:pPr>
            <a:r>
              <a:rPr lang="en-US" sz="1100" dirty="0">
                <a:solidFill>
                  <a:srgbClr val="1F2430"/>
                </a:solidFill>
              </a:rPr>
              <a:t>Obtain the missing records, including Bakul’s item-level record</a:t>
            </a:r>
            <a:endParaRPr lang="en-US" sz="1100" dirty="0"/>
          </a:p>
        </p:txBody>
      </p:sp>
      <p:sp>
        <p:nvSpPr>
          <p:cNvPr id="35" name="Shape 33"/>
          <p:cNvSpPr/>
          <p:nvPr/>
        </p:nvSpPr>
        <p:spPr>
          <a:xfrm>
            <a:off x="6254496" y="2578608"/>
            <a:ext cx="109728" cy="109728"/>
          </a:xfrm>
          <a:prstGeom prst="ellipse">
            <a:avLst/>
          </a:prstGeom>
          <a:solidFill>
            <a:srgbClr val="1565C0"/>
          </a:solidFill>
          <a:ln/>
        </p:spPr>
      </p:sp>
      <p:sp>
        <p:nvSpPr>
          <p:cNvPr id="36" name="Text 34"/>
          <p:cNvSpPr txBox="1"/>
          <p:nvPr/>
        </p:nvSpPr>
        <p:spPr>
          <a:xfrm>
            <a:off x="6492240" y="2478024"/>
            <a:ext cx="2103120" cy="658368"/>
          </a:xfrm>
          <a:prstGeom prst="rect">
            <a:avLst/>
          </a:prstGeom>
          <a:noFill/>
          <a:ln/>
        </p:spPr>
        <p:txBody>
          <a:bodyPr wrap="square" lIns="0" tIns="0" rIns="0" bIns="0" rtlCol="0" anchor="t"/>
          <a:lstStyle/>
          <a:p>
            <a:pPr algn="l" indent="0" marL="0">
              <a:buNone/>
            </a:pPr>
            <a:r>
              <a:rPr lang="en-US" sz="1100" dirty="0">
                <a:solidFill>
                  <a:srgbClr val="1F2430"/>
                </a:solidFill>
              </a:rPr>
              <a:t>Settle each operator’s payment basis</a:t>
            </a:r>
            <a:endParaRPr lang="en-US" sz="1100" dirty="0"/>
          </a:p>
        </p:txBody>
      </p:sp>
      <p:sp>
        <p:nvSpPr>
          <p:cNvPr id="37" name="Shape 35"/>
          <p:cNvSpPr/>
          <p:nvPr/>
        </p:nvSpPr>
        <p:spPr>
          <a:xfrm>
            <a:off x="6254496" y="3273552"/>
            <a:ext cx="109728" cy="109728"/>
          </a:xfrm>
          <a:prstGeom prst="ellipse">
            <a:avLst/>
          </a:prstGeom>
          <a:solidFill>
            <a:srgbClr val="1565C0"/>
          </a:solidFill>
          <a:ln/>
        </p:spPr>
      </p:sp>
      <p:sp>
        <p:nvSpPr>
          <p:cNvPr id="38" name="Text 36"/>
          <p:cNvSpPr txBox="1"/>
          <p:nvPr/>
        </p:nvSpPr>
        <p:spPr>
          <a:xfrm>
            <a:off x="6492240" y="3172968"/>
            <a:ext cx="2103120" cy="658368"/>
          </a:xfrm>
          <a:prstGeom prst="rect">
            <a:avLst/>
          </a:prstGeom>
          <a:noFill/>
          <a:ln/>
        </p:spPr>
        <p:txBody>
          <a:bodyPr wrap="square" lIns="0" tIns="0" rIns="0" bIns="0" rtlCol="0" anchor="t"/>
          <a:lstStyle/>
          <a:p>
            <a:pPr algn="l" indent="0" marL="0">
              <a:buNone/>
            </a:pPr>
            <a:r>
              <a:rPr lang="en-US" sz="1100" dirty="0">
                <a:solidFill>
                  <a:srgbClr val="1F2430"/>
                </a:solidFill>
              </a:rPr>
              <a:t>Run the co-design tests, the pilot and a test of Sunday skip uptake; then extend to lunch and dinner</a:t>
            </a:r>
            <a:endParaRPr lang="en-US" sz="1100" dirty="0"/>
          </a:p>
        </p:txBody>
      </p:sp>
      <p:sp>
        <p:nvSpPr>
          <p:cNvPr id="39" name="Shape 37"/>
          <p:cNvSpPr/>
          <p:nvPr/>
        </p:nvSpPr>
        <p:spPr>
          <a:xfrm>
            <a:off x="457200" y="4069080"/>
            <a:ext cx="1371600" cy="548640"/>
          </a:xfrm>
          <a:prstGeom prst="roundRect">
            <a:avLst>
              <a:gd name="adj" fmla="val 13333"/>
            </a:avLst>
          </a:prstGeom>
          <a:solidFill>
            <a:srgbClr val="F3E5F5"/>
          </a:solidFill>
          <a:ln w="12700">
            <a:solidFill>
              <a:srgbClr val="6A1B9A"/>
            </a:solidFill>
            <a:prstDash val="solid"/>
          </a:ln>
        </p:spPr>
      </p:sp>
      <p:sp>
        <p:nvSpPr>
          <p:cNvPr id="40" name="Text 38"/>
          <p:cNvSpPr txBox="1"/>
          <p:nvPr/>
        </p:nvSpPr>
        <p:spPr>
          <a:xfrm>
            <a:off x="457200" y="4069080"/>
            <a:ext cx="1371600" cy="548640"/>
          </a:xfrm>
          <a:prstGeom prst="rect">
            <a:avLst/>
          </a:prstGeom>
          <a:noFill/>
          <a:ln/>
        </p:spPr>
        <p:txBody>
          <a:bodyPr wrap="square" lIns="0" tIns="0" rIns="0" bIns="0" rtlCol="0" anchor="ctr"/>
          <a:lstStyle/>
          <a:p>
            <a:pPr algn="ctr" indent="0" marL="0">
              <a:buNone/>
            </a:pPr>
            <a:r>
              <a:rPr lang="en-US" sz="1300" b="1" dirty="0">
                <a:solidFill>
                  <a:srgbClr val="1F2430"/>
                </a:solidFill>
              </a:rPr>
              <a:t>Records</a:t>
            </a:r>
            <a:endParaRPr lang="en-US" sz="1300" dirty="0"/>
          </a:p>
        </p:txBody>
      </p:sp>
      <p:sp>
        <p:nvSpPr>
          <p:cNvPr id="41" name="Shape 39"/>
          <p:cNvSpPr/>
          <p:nvPr/>
        </p:nvSpPr>
        <p:spPr>
          <a:xfrm>
            <a:off x="1874520" y="4343400"/>
            <a:ext cx="1188720" cy="0"/>
          </a:xfrm>
          <a:prstGeom prst="line">
            <a:avLst/>
          </a:prstGeom>
          <a:noFill/>
          <a:ln w="44450">
            <a:solidFill>
              <a:srgbClr val="2E7D32"/>
            </a:solidFill>
            <a:prstDash val="solid"/>
            <a:tailEnd type="triangle"/>
          </a:ln>
        </p:spPr>
      </p:sp>
      <p:sp>
        <p:nvSpPr>
          <p:cNvPr id="42" name="Shape 40"/>
          <p:cNvSpPr/>
          <p:nvPr/>
        </p:nvSpPr>
        <p:spPr>
          <a:xfrm>
            <a:off x="3108960" y="4069080"/>
            <a:ext cx="1371600" cy="548640"/>
          </a:xfrm>
          <a:prstGeom prst="roundRect">
            <a:avLst>
              <a:gd name="adj" fmla="val 13333"/>
            </a:avLst>
          </a:prstGeom>
          <a:solidFill>
            <a:srgbClr val="E0F2F1"/>
          </a:solidFill>
          <a:ln w="12700">
            <a:solidFill>
              <a:srgbClr val="00695C"/>
            </a:solidFill>
            <a:prstDash val="solid"/>
          </a:ln>
        </p:spPr>
      </p:sp>
      <p:sp>
        <p:nvSpPr>
          <p:cNvPr id="43" name="Text 41"/>
          <p:cNvSpPr txBox="1"/>
          <p:nvPr/>
        </p:nvSpPr>
        <p:spPr>
          <a:xfrm>
            <a:off x="3108960" y="4069080"/>
            <a:ext cx="1371600" cy="548640"/>
          </a:xfrm>
          <a:prstGeom prst="rect">
            <a:avLst/>
          </a:prstGeom>
          <a:noFill/>
          <a:ln/>
        </p:spPr>
        <p:txBody>
          <a:bodyPr wrap="square" lIns="0" tIns="0" rIns="0" bIns="0" rtlCol="0" anchor="ctr"/>
          <a:lstStyle/>
          <a:p>
            <a:pPr algn="ctr" indent="0" marL="0">
              <a:buNone/>
            </a:pPr>
            <a:r>
              <a:rPr lang="en-US" sz="1300" b="1" dirty="0">
                <a:solidFill>
                  <a:srgbClr val="1F2430"/>
                </a:solidFill>
              </a:rPr>
              <a:t>Rule setters</a:t>
            </a:r>
            <a:endParaRPr lang="en-US" sz="1300" dirty="0"/>
          </a:p>
        </p:txBody>
      </p:sp>
      <p:sp>
        <p:nvSpPr>
          <p:cNvPr id="44" name="Text 42"/>
          <p:cNvSpPr txBox="1"/>
          <p:nvPr/>
        </p:nvSpPr>
        <p:spPr>
          <a:xfrm>
            <a:off x="4754880" y="4069080"/>
            <a:ext cx="393192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The records existed all along.</a:t>
            </a:r>
            <a:endParaRPr lang="en-US" sz="18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731520"/>
          </a:xfrm>
          <a:prstGeom prst="rect">
            <a:avLst/>
          </a:prstGeom>
          <a:noFill/>
          <a:ln/>
        </p:spPr>
        <p:txBody>
          <a:bodyPr wrap="square" lIns="0" tIns="0" rIns="0" bIns="0" rtlCol="0" anchor="t"/>
          <a:lstStyle/>
          <a:p>
            <a:pPr algn="l" indent="0" marL="0">
              <a:buNone/>
            </a:pPr>
            <a:r>
              <a:rPr lang="en-US" sz="2400" b="1" dirty="0">
                <a:solidFill>
                  <a:srgbClr val="FFFFFF"/>
                </a:solidFill>
                <a:latin typeface="Cambria" pitchFamily="34" charset="0"/>
                <a:ea typeface="Cambria" pitchFamily="34" charset="-122"/>
                <a:cs typeface="Cambria" pitchFamily="34" charset="-120"/>
              </a:rPr>
              <a:t>Six questions test how the case applies to other systems</a:t>
            </a:r>
            <a:endParaRPr lang="en-US" sz="2400" dirty="0"/>
          </a:p>
        </p:txBody>
      </p:sp>
      <p:sp>
        <p:nvSpPr>
          <p:cNvPr id="3" name="Shape 1"/>
          <p:cNvSpPr/>
          <p:nvPr/>
        </p:nvSpPr>
        <p:spPr>
          <a:xfrm>
            <a:off x="457200" y="4864608"/>
            <a:ext cx="100584" cy="100584"/>
          </a:xfrm>
          <a:prstGeom prst="ellipse">
            <a:avLst/>
          </a:prstGeom>
          <a:solidFill>
            <a:srgbClr val="FFFFFF"/>
          </a:solidFill>
          <a:ln/>
        </p:spPr>
      </p:sp>
      <p:sp>
        <p:nvSpPr>
          <p:cNvPr id="4" name="Shape 2"/>
          <p:cNvSpPr/>
          <p:nvPr/>
        </p:nvSpPr>
        <p:spPr>
          <a:xfrm>
            <a:off x="640080" y="4864608"/>
            <a:ext cx="100584" cy="100584"/>
          </a:xfrm>
          <a:prstGeom prst="ellipse">
            <a:avLst/>
          </a:prstGeom>
          <a:solidFill>
            <a:srgbClr val="FFFFFF"/>
          </a:solidFill>
          <a:ln/>
        </p:spPr>
      </p:sp>
      <p:sp>
        <p:nvSpPr>
          <p:cNvPr id="5" name="Shape 3"/>
          <p:cNvSpPr/>
          <p:nvPr/>
        </p:nvSpPr>
        <p:spPr>
          <a:xfrm>
            <a:off x="822960" y="4864608"/>
            <a:ext cx="100584" cy="100584"/>
          </a:xfrm>
          <a:prstGeom prst="ellipse">
            <a:avLst/>
          </a:prstGeom>
          <a:solidFill>
            <a:srgbClr val="FFFFFF"/>
          </a:solidFill>
          <a:ln/>
        </p:spPr>
      </p:sp>
      <p:sp>
        <p:nvSpPr>
          <p:cNvPr id="6" name="Shape 4"/>
          <p:cNvSpPr/>
          <p:nvPr/>
        </p:nvSpPr>
        <p:spPr>
          <a:xfrm>
            <a:off x="1005840" y="4864608"/>
            <a:ext cx="100584" cy="100584"/>
          </a:xfrm>
          <a:prstGeom prst="ellipse">
            <a:avLst/>
          </a:prstGeom>
          <a:solidFill>
            <a:srgbClr val="FFFFFF"/>
          </a:solidFill>
          <a:ln/>
        </p:spPr>
      </p:sp>
      <p:sp>
        <p:nvSpPr>
          <p:cNvPr id="7" name="Shape 5"/>
          <p:cNvSpPr/>
          <p:nvPr/>
        </p:nvSpPr>
        <p:spPr>
          <a:xfrm>
            <a:off x="1188720" y="4864608"/>
            <a:ext cx="100584" cy="100584"/>
          </a:xfrm>
          <a:prstGeom prst="ellipse">
            <a:avLst/>
          </a:prstGeom>
          <a:solidFill>
            <a:srgbClr val="FFFFFF"/>
          </a:solidFill>
          <a:ln/>
        </p:spPr>
      </p:sp>
      <p:sp>
        <p:nvSpPr>
          <p:cNvPr id="8" name="Shape 6"/>
          <p:cNvSpPr/>
          <p:nvPr/>
        </p:nvSpPr>
        <p:spPr>
          <a:xfrm>
            <a:off x="1371600" y="4864608"/>
            <a:ext cx="100584" cy="100584"/>
          </a:xfrm>
          <a:prstGeom prst="ellipse">
            <a:avLst/>
          </a:prstGeom>
          <a:solidFill>
            <a:srgbClr val="FFFFFF"/>
          </a:solidFill>
          <a:ln/>
        </p:spPr>
      </p:sp>
      <p:sp>
        <p:nvSpPr>
          <p:cNvPr id="9" name="Shape 7"/>
          <p:cNvSpPr/>
          <p:nvPr/>
        </p:nvSpPr>
        <p:spPr>
          <a:xfrm>
            <a:off x="1554480" y="4864608"/>
            <a:ext cx="100584" cy="100584"/>
          </a:xfrm>
          <a:prstGeom prst="ellipse">
            <a:avLst/>
          </a:prstGeom>
          <a:solidFill>
            <a:srgbClr val="FFFFFF"/>
          </a:solidFill>
          <a:ln/>
        </p:spPr>
      </p:sp>
      <p:sp>
        <p:nvSpPr>
          <p:cNvPr id="10" name="Shape 8"/>
          <p:cNvSpPr/>
          <p:nvPr/>
        </p:nvSpPr>
        <p:spPr>
          <a:xfrm>
            <a:off x="1737360" y="4864608"/>
            <a:ext cx="100584" cy="100584"/>
          </a:xfrm>
          <a:prstGeom prst="ellipse">
            <a:avLst/>
          </a:prstGeom>
          <a:solidFill>
            <a:srgbClr val="FFFFFF"/>
          </a:solidFill>
          <a:ln/>
        </p:spPr>
      </p:sp>
      <p:sp>
        <p:nvSpPr>
          <p:cNvPr id="11" name="Shape 9"/>
          <p:cNvSpPr/>
          <p:nvPr/>
        </p:nvSpPr>
        <p:spPr>
          <a:xfrm>
            <a:off x="1920240" y="4864608"/>
            <a:ext cx="100584" cy="100584"/>
          </a:xfrm>
          <a:prstGeom prst="ellipse">
            <a:avLst/>
          </a:prstGeom>
          <a:solidFill>
            <a:srgbClr val="FFFFFF"/>
          </a:solidFill>
          <a:ln/>
        </p:spPr>
      </p:sp>
      <p:sp>
        <p:nvSpPr>
          <p:cNvPr id="12" name="Shape 10"/>
          <p:cNvSpPr/>
          <p:nvPr/>
        </p:nvSpPr>
        <p:spPr>
          <a:xfrm>
            <a:off x="2080260" y="4841748"/>
            <a:ext cx="146304" cy="146304"/>
          </a:xfrm>
          <a:prstGeom prst="ellipse">
            <a:avLst/>
          </a:prstGeom>
          <a:solidFill>
            <a:srgbClr val="FFFFFF"/>
          </a:solidFill>
          <a:ln/>
        </p:spPr>
      </p:sp>
      <p:sp>
        <p:nvSpPr>
          <p:cNvPr id="13" name="Shape 11"/>
          <p:cNvSpPr/>
          <p:nvPr/>
        </p:nvSpPr>
        <p:spPr>
          <a:xfrm>
            <a:off x="2043684" y="4805172"/>
            <a:ext cx="219456" cy="219456"/>
          </a:xfrm>
          <a:prstGeom prst="ellipse">
            <a:avLst/>
          </a:prstGeom>
          <a:ln w="9525">
            <a:solidFill>
              <a:srgbClr val="FFFFFF"/>
            </a:solidFill>
            <a:prstDash val="solid"/>
          </a:ln>
        </p:spPr>
      </p:sp>
      <p:sp>
        <p:nvSpPr>
          <p:cNvPr id="14" name="Text 12"/>
          <p:cNvSpPr txBox="1"/>
          <p:nvPr/>
        </p:nvSpPr>
        <p:spPr>
          <a:xfrm>
            <a:off x="2514600" y="4809744"/>
            <a:ext cx="5029200" cy="219456"/>
          </a:xfrm>
          <a:prstGeom prst="rect">
            <a:avLst/>
          </a:prstGeom>
          <a:noFill/>
          <a:ln/>
        </p:spPr>
        <p:txBody>
          <a:bodyPr wrap="square" lIns="0" tIns="0" rIns="0" bIns="0" rtlCol="0" anchor="ctr"/>
          <a:lstStyle/>
          <a:p>
            <a:pPr algn="l" indent="0" marL="0">
              <a:buNone/>
            </a:pPr>
            <a:r>
              <a:rPr lang="en-US" sz="1000" dirty="0">
                <a:solidFill>
                  <a:srgbClr val="B8BFE6"/>
                </a:solidFill>
              </a:rPr>
              <a:t>10 Questions for discussion</a:t>
            </a:r>
            <a:endParaRPr lang="en-US" sz="1000" dirty="0"/>
          </a:p>
        </p:txBody>
      </p:sp>
      <p:sp>
        <p:nvSpPr>
          <p:cNvPr id="15" name="Shape 13"/>
          <p:cNvSpPr/>
          <p:nvPr/>
        </p:nvSpPr>
        <p:spPr>
          <a:xfrm>
            <a:off x="457200" y="1280160"/>
            <a:ext cx="2651760" cy="1298448"/>
          </a:xfrm>
          <a:prstGeom prst="roundRect">
            <a:avLst>
              <a:gd name="adj" fmla="val 5634"/>
            </a:avLst>
          </a:prstGeom>
          <a:solidFill>
            <a:srgbClr val="E8EAF6"/>
          </a:solidFill>
          <a:ln w="12700">
            <a:solidFill>
              <a:srgbClr val="1A237E"/>
            </a:solidFill>
            <a:prstDash val="solid"/>
          </a:ln>
        </p:spPr>
      </p:sp>
      <p:sp>
        <p:nvSpPr>
          <p:cNvPr id="16" name="Shape 14"/>
          <p:cNvSpPr/>
          <p:nvPr/>
        </p:nvSpPr>
        <p:spPr>
          <a:xfrm>
            <a:off x="557784" y="1380744"/>
            <a:ext cx="347472" cy="347472"/>
          </a:xfrm>
          <a:prstGeom prst="ellipse">
            <a:avLst/>
          </a:prstGeom>
          <a:solidFill>
            <a:srgbClr val="1A237E"/>
          </a:solidFill>
          <a:ln/>
        </p:spPr>
      </p:sp>
      <p:sp>
        <p:nvSpPr>
          <p:cNvPr id="17" name="Text 15"/>
          <p:cNvSpPr txBox="1"/>
          <p:nvPr/>
        </p:nvSpPr>
        <p:spPr>
          <a:xfrm>
            <a:off x="557784" y="1380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8" name="Text 16"/>
          <p:cNvSpPr txBox="1"/>
          <p:nvPr/>
        </p:nvSpPr>
        <p:spPr>
          <a:xfrm>
            <a:off x="594360" y="1810512"/>
            <a:ext cx="2395728" cy="749808"/>
          </a:xfrm>
          <a:prstGeom prst="rect">
            <a:avLst/>
          </a:prstGeom>
          <a:noFill/>
          <a:ln/>
        </p:spPr>
        <p:txBody>
          <a:bodyPr wrap="square" lIns="0" tIns="0" rIns="0" bIns="0" rtlCol="0" anchor="t"/>
          <a:lstStyle/>
          <a:p>
            <a:pPr algn="l" indent="0" marL="0">
              <a:buNone/>
            </a:pPr>
            <a:r>
              <a:rPr lang="en-US" sz="1100" dirty="0">
                <a:solidFill>
                  <a:srgbClr val="1F2430"/>
                </a:solidFill>
              </a:rPr>
              <a:t>Why do people hold a belief above their own record, and how do you present a number so it is used, not feared?</a:t>
            </a:r>
            <a:endParaRPr lang="en-US" sz="1100" dirty="0"/>
          </a:p>
        </p:txBody>
      </p:sp>
      <p:sp>
        <p:nvSpPr>
          <p:cNvPr id="19" name="Shape 17"/>
          <p:cNvSpPr/>
          <p:nvPr/>
        </p:nvSpPr>
        <p:spPr>
          <a:xfrm>
            <a:off x="3246120" y="1280160"/>
            <a:ext cx="2651760" cy="1298448"/>
          </a:xfrm>
          <a:prstGeom prst="roundRect">
            <a:avLst>
              <a:gd name="adj" fmla="val 5634"/>
            </a:avLst>
          </a:prstGeom>
          <a:solidFill>
            <a:srgbClr val="E8EAF6"/>
          </a:solidFill>
          <a:ln w="12700">
            <a:solidFill>
              <a:srgbClr val="1A237E"/>
            </a:solidFill>
            <a:prstDash val="solid"/>
          </a:ln>
        </p:spPr>
      </p:sp>
      <p:sp>
        <p:nvSpPr>
          <p:cNvPr id="20" name="Shape 18"/>
          <p:cNvSpPr/>
          <p:nvPr/>
        </p:nvSpPr>
        <p:spPr>
          <a:xfrm>
            <a:off x="3346704" y="1380744"/>
            <a:ext cx="347472" cy="347472"/>
          </a:xfrm>
          <a:prstGeom prst="ellipse">
            <a:avLst/>
          </a:prstGeom>
          <a:solidFill>
            <a:srgbClr val="1A237E"/>
          </a:solidFill>
          <a:ln/>
        </p:spPr>
      </p:sp>
      <p:sp>
        <p:nvSpPr>
          <p:cNvPr id="21" name="Text 19"/>
          <p:cNvSpPr txBox="1"/>
          <p:nvPr/>
        </p:nvSpPr>
        <p:spPr>
          <a:xfrm>
            <a:off x="3346704" y="1380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2" name="Text 20"/>
          <p:cNvSpPr txBox="1"/>
          <p:nvPr/>
        </p:nvSpPr>
        <p:spPr>
          <a:xfrm>
            <a:off x="3383280" y="1810512"/>
            <a:ext cx="2395728" cy="749808"/>
          </a:xfrm>
          <a:prstGeom prst="rect">
            <a:avLst/>
          </a:prstGeom>
          <a:noFill/>
          <a:ln/>
        </p:spPr>
        <p:txBody>
          <a:bodyPr wrap="square" lIns="0" tIns="0" rIns="0" bIns="0" rtlCol="0" anchor="t"/>
          <a:lstStyle/>
          <a:p>
            <a:pPr algn="l" indent="0" marL="0">
              <a:buNone/>
            </a:pPr>
            <a:r>
              <a:rPr lang="en-US" sz="1100" dirty="0">
                <a:solidFill>
                  <a:srgbClr val="1F2430"/>
                </a:solidFill>
              </a:rPr>
              <a:t>Why did menu fatigue reach the rule setters while a larger, quiet gap did not?</a:t>
            </a:r>
            <a:endParaRPr lang="en-US" sz="1100" dirty="0"/>
          </a:p>
        </p:txBody>
      </p:sp>
      <p:sp>
        <p:nvSpPr>
          <p:cNvPr id="23" name="Shape 21"/>
          <p:cNvSpPr/>
          <p:nvPr/>
        </p:nvSpPr>
        <p:spPr>
          <a:xfrm>
            <a:off x="6035040" y="1280160"/>
            <a:ext cx="2651760" cy="1298448"/>
          </a:xfrm>
          <a:prstGeom prst="roundRect">
            <a:avLst>
              <a:gd name="adj" fmla="val 5634"/>
            </a:avLst>
          </a:prstGeom>
          <a:solidFill>
            <a:srgbClr val="E8EAF6"/>
          </a:solidFill>
          <a:ln w="12700">
            <a:solidFill>
              <a:srgbClr val="1A237E"/>
            </a:solidFill>
            <a:prstDash val="solid"/>
          </a:ln>
        </p:spPr>
      </p:sp>
      <p:sp>
        <p:nvSpPr>
          <p:cNvPr id="24" name="Shape 22"/>
          <p:cNvSpPr/>
          <p:nvPr/>
        </p:nvSpPr>
        <p:spPr>
          <a:xfrm>
            <a:off x="6135624" y="1380744"/>
            <a:ext cx="347472" cy="347472"/>
          </a:xfrm>
          <a:prstGeom prst="ellipse">
            <a:avLst/>
          </a:prstGeom>
          <a:solidFill>
            <a:srgbClr val="1A237E"/>
          </a:solidFill>
          <a:ln/>
        </p:spPr>
      </p:sp>
      <p:sp>
        <p:nvSpPr>
          <p:cNvPr id="25" name="Text 23"/>
          <p:cNvSpPr txBox="1"/>
          <p:nvPr/>
        </p:nvSpPr>
        <p:spPr>
          <a:xfrm>
            <a:off x="6135624" y="1380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6" name="Text 24"/>
          <p:cNvSpPr txBox="1"/>
          <p:nvPr/>
        </p:nvSpPr>
        <p:spPr>
          <a:xfrm>
            <a:off x="6172200" y="1810512"/>
            <a:ext cx="2395728" cy="749808"/>
          </a:xfrm>
          <a:prstGeom prst="rect">
            <a:avLst/>
          </a:prstGeom>
          <a:noFill/>
          <a:ln/>
        </p:spPr>
        <p:txBody>
          <a:bodyPr wrap="square" lIns="0" tIns="0" rIns="0" bIns="0" rtlCol="0" anchor="t"/>
          <a:lstStyle/>
          <a:p>
            <a:pPr algn="l" indent="0" marL="0">
              <a:buNone/>
            </a:pPr>
            <a:r>
              <a:rPr lang="en-US" sz="1100" dirty="0">
                <a:solidFill>
                  <a:srgbClr val="1F2430"/>
                </a:solidFill>
              </a:rPr>
              <a:t>Should the team propose a kitchen bundle that leaves bills untouched?</a:t>
            </a:r>
            <a:endParaRPr lang="en-US" sz="1100" dirty="0"/>
          </a:p>
        </p:txBody>
      </p:sp>
      <p:sp>
        <p:nvSpPr>
          <p:cNvPr id="27" name="Shape 25"/>
          <p:cNvSpPr/>
          <p:nvPr/>
        </p:nvSpPr>
        <p:spPr>
          <a:xfrm>
            <a:off x="457200" y="2697480"/>
            <a:ext cx="2651760" cy="1298448"/>
          </a:xfrm>
          <a:prstGeom prst="roundRect">
            <a:avLst>
              <a:gd name="adj" fmla="val 5634"/>
            </a:avLst>
          </a:prstGeom>
          <a:solidFill>
            <a:srgbClr val="E8EAF6"/>
          </a:solidFill>
          <a:ln w="12700">
            <a:solidFill>
              <a:srgbClr val="1A237E"/>
            </a:solidFill>
            <a:prstDash val="solid"/>
          </a:ln>
        </p:spPr>
      </p:sp>
      <p:sp>
        <p:nvSpPr>
          <p:cNvPr id="28" name="Shape 26"/>
          <p:cNvSpPr/>
          <p:nvPr/>
        </p:nvSpPr>
        <p:spPr>
          <a:xfrm>
            <a:off x="557784" y="2798064"/>
            <a:ext cx="347472" cy="347472"/>
          </a:xfrm>
          <a:prstGeom prst="ellipse">
            <a:avLst/>
          </a:prstGeom>
          <a:solidFill>
            <a:srgbClr val="1A237E"/>
          </a:solidFill>
          <a:ln/>
        </p:spPr>
      </p:sp>
      <p:sp>
        <p:nvSpPr>
          <p:cNvPr id="29" name="Text 27"/>
          <p:cNvSpPr txBox="1"/>
          <p:nvPr/>
        </p:nvSpPr>
        <p:spPr>
          <a:xfrm>
            <a:off x="557784" y="279806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0" name="Text 28"/>
          <p:cNvSpPr txBox="1"/>
          <p:nvPr/>
        </p:nvSpPr>
        <p:spPr>
          <a:xfrm>
            <a:off x="594360" y="3227832"/>
            <a:ext cx="2395728" cy="749808"/>
          </a:xfrm>
          <a:prstGeom prst="rect">
            <a:avLst/>
          </a:prstGeom>
          <a:noFill/>
          <a:ln/>
        </p:spPr>
        <p:txBody>
          <a:bodyPr wrap="square" lIns="0" tIns="0" rIns="0" bIns="0" rtlCol="0" anchor="t"/>
          <a:lstStyle/>
          <a:p>
            <a:pPr algn="l" indent="0" marL="0">
              <a:buNone/>
            </a:pPr>
            <a:r>
              <a:rPr lang="en-US" sz="1100" dirty="0">
                <a:solidFill>
                  <a:srgbClr val="1F2430"/>
                </a:solidFill>
              </a:rPr>
              <a:t>Billing on attendance ran twice and was switched off: which of three explanations would you test first?</a:t>
            </a:r>
            <a:endParaRPr lang="en-US" sz="1100" dirty="0"/>
          </a:p>
        </p:txBody>
      </p:sp>
      <p:sp>
        <p:nvSpPr>
          <p:cNvPr id="31" name="Shape 29"/>
          <p:cNvSpPr/>
          <p:nvPr/>
        </p:nvSpPr>
        <p:spPr>
          <a:xfrm>
            <a:off x="3246120" y="2697480"/>
            <a:ext cx="2651760" cy="1298448"/>
          </a:xfrm>
          <a:prstGeom prst="roundRect">
            <a:avLst>
              <a:gd name="adj" fmla="val 5634"/>
            </a:avLst>
          </a:prstGeom>
          <a:solidFill>
            <a:srgbClr val="E8EAF6"/>
          </a:solidFill>
          <a:ln w="12700">
            <a:solidFill>
              <a:srgbClr val="1A237E"/>
            </a:solidFill>
            <a:prstDash val="solid"/>
          </a:ln>
        </p:spPr>
      </p:sp>
      <p:sp>
        <p:nvSpPr>
          <p:cNvPr id="32" name="Shape 30"/>
          <p:cNvSpPr/>
          <p:nvPr/>
        </p:nvSpPr>
        <p:spPr>
          <a:xfrm>
            <a:off x="3346704" y="2798064"/>
            <a:ext cx="347472" cy="347472"/>
          </a:xfrm>
          <a:prstGeom prst="ellipse">
            <a:avLst/>
          </a:prstGeom>
          <a:solidFill>
            <a:srgbClr val="1A237E"/>
          </a:solidFill>
          <a:ln/>
        </p:spPr>
      </p:sp>
      <p:sp>
        <p:nvSpPr>
          <p:cNvPr id="33" name="Text 31"/>
          <p:cNvSpPr txBox="1"/>
          <p:nvPr/>
        </p:nvSpPr>
        <p:spPr>
          <a:xfrm>
            <a:off x="3346704" y="279806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4" name="Text 32"/>
          <p:cNvSpPr txBox="1"/>
          <p:nvPr/>
        </p:nvSpPr>
        <p:spPr>
          <a:xfrm>
            <a:off x="3383280" y="3227832"/>
            <a:ext cx="2395728" cy="749808"/>
          </a:xfrm>
          <a:prstGeom prst="rect">
            <a:avLst/>
          </a:prstGeom>
          <a:noFill/>
          <a:ln/>
        </p:spPr>
        <p:txBody>
          <a:bodyPr wrap="square" lIns="0" tIns="0" rIns="0" bIns="0" rtlCol="0" anchor="t"/>
          <a:lstStyle/>
          <a:p>
            <a:pPr algn="l" indent="0" marL="0">
              <a:buNone/>
            </a:pPr>
            <a:r>
              <a:rPr lang="en-US" sz="1100" dirty="0">
                <a:solidFill>
                  <a:srgbClr val="1F2430"/>
                </a:solidFill>
              </a:rPr>
              <a:t>How do you propose a rule whose fairness depends on a fact you cannot get?</a:t>
            </a:r>
            <a:endParaRPr lang="en-US" sz="1100" dirty="0"/>
          </a:p>
        </p:txBody>
      </p:sp>
      <p:sp>
        <p:nvSpPr>
          <p:cNvPr id="35" name="Shape 33"/>
          <p:cNvSpPr/>
          <p:nvPr/>
        </p:nvSpPr>
        <p:spPr>
          <a:xfrm>
            <a:off x="6035040" y="2697480"/>
            <a:ext cx="2651760" cy="1298448"/>
          </a:xfrm>
          <a:prstGeom prst="roundRect">
            <a:avLst>
              <a:gd name="adj" fmla="val 5634"/>
            </a:avLst>
          </a:prstGeom>
          <a:solidFill>
            <a:srgbClr val="E8EAF6"/>
          </a:solidFill>
          <a:ln w="12700">
            <a:solidFill>
              <a:srgbClr val="1A237E"/>
            </a:solidFill>
            <a:prstDash val="solid"/>
          </a:ln>
        </p:spPr>
      </p:sp>
      <p:sp>
        <p:nvSpPr>
          <p:cNvPr id="36" name="Shape 34"/>
          <p:cNvSpPr/>
          <p:nvPr/>
        </p:nvSpPr>
        <p:spPr>
          <a:xfrm>
            <a:off x="6135624" y="2798064"/>
            <a:ext cx="347472" cy="347472"/>
          </a:xfrm>
          <a:prstGeom prst="ellipse">
            <a:avLst/>
          </a:prstGeom>
          <a:solidFill>
            <a:srgbClr val="1A237E"/>
          </a:solidFill>
          <a:ln/>
        </p:spPr>
      </p:sp>
      <p:sp>
        <p:nvSpPr>
          <p:cNvPr id="37" name="Text 35"/>
          <p:cNvSpPr txBox="1"/>
          <p:nvPr/>
        </p:nvSpPr>
        <p:spPr>
          <a:xfrm>
            <a:off x="6135624" y="279806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8" name="Text 36"/>
          <p:cNvSpPr txBox="1"/>
          <p:nvPr/>
        </p:nvSpPr>
        <p:spPr>
          <a:xfrm>
            <a:off x="6172200" y="3227832"/>
            <a:ext cx="2395728" cy="749808"/>
          </a:xfrm>
          <a:prstGeom prst="rect">
            <a:avLst/>
          </a:prstGeom>
          <a:noFill/>
          <a:ln/>
        </p:spPr>
        <p:txBody>
          <a:bodyPr wrap="square" lIns="0" tIns="0" rIns="0" bIns="0" rtlCol="0" anchor="t"/>
          <a:lstStyle/>
          <a:p>
            <a:pPr algn="l" indent="0" marL="0">
              <a:buNone/>
            </a:pPr>
            <a:r>
              <a:rPr lang="en-US" sz="1100" dirty="0">
                <a:solidFill>
                  <a:srgbClr val="1F2430"/>
                </a:solidFill>
              </a:rPr>
              <a:t>Where in your own work would a deliberately weak concept be useful?</a:t>
            </a:r>
            <a:endParaRPr lang="en-US" sz="1100" dirty="0"/>
          </a:p>
        </p:txBody>
      </p:sp>
      <p:sp>
        <p:nvSpPr>
          <p:cNvPr id="39" name="Shape 37"/>
          <p:cNvSpPr/>
          <p:nvPr/>
        </p:nvSpPr>
        <p:spPr>
          <a:xfrm>
            <a:off x="7840980" y="4000500"/>
            <a:ext cx="685800" cy="685800"/>
          </a:xfrm>
          <a:prstGeom prst="ellipse">
            <a:avLst/>
          </a:prstGeom>
          <a:ln w="19050">
            <a:solidFill>
              <a:srgbClr val="B8BFE6"/>
            </a:solidFill>
            <a:prstDash val="solid"/>
          </a:ln>
        </p:spPr>
      </p:sp>
      <p:sp>
        <p:nvSpPr>
          <p:cNvPr id="40" name="Shape 38"/>
          <p:cNvSpPr/>
          <p:nvPr/>
        </p:nvSpPr>
        <p:spPr>
          <a:xfrm>
            <a:off x="7840980" y="4000500"/>
            <a:ext cx="685800" cy="685800"/>
          </a:xfrm>
          <a:prstGeom prst="pie">
            <a:avLst>
              <a:gd name="adj1" fmla="val 16200000"/>
              <a:gd name="adj2" fmla="val 2613600"/>
            </a:avLst>
          </a:prstGeom>
          <a:solidFill>
            <a:srgbClr val="E65100"/>
          </a:solidFill>
          <a:ln/>
        </p:spPr>
      </p:sp>
      <p:sp>
        <p:nvSpPr>
          <p:cNvPr id="41" name="Text 39"/>
          <p:cNvSpPr txBox="1"/>
          <p:nvPr/>
        </p:nvSpPr>
        <p:spPr>
          <a:xfrm>
            <a:off x="457200" y="4297680"/>
            <a:ext cx="5486400" cy="36576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Team Invictus. Thank you.</a:t>
            </a:r>
            <a:endParaRPr lang="en-US" sz="1800" dirty="0"/>
          </a:p>
        </p:txBody>
      </p:sp>
      <p:sp>
        <p:nvSpPr>
          <p:cNvPr id="42" name="Text 40"/>
          <p:cNvSpPr txBox="1"/>
          <p:nvPr/>
        </p:nvSpPr>
        <p:spPr>
          <a:xfrm>
            <a:off x="457200" y="4590288"/>
            <a:ext cx="5486400" cy="201168"/>
          </a:xfrm>
          <a:prstGeom prst="rect">
            <a:avLst/>
          </a:prstGeom>
          <a:noFill/>
          <a:ln/>
        </p:spPr>
        <p:txBody>
          <a:bodyPr wrap="square" lIns="0" tIns="0" rIns="0" bIns="0" rtlCol="0" anchor="t"/>
          <a:lstStyle/>
          <a:p>
            <a:pPr algn="l" indent="0" marL="0">
              <a:buNone/>
            </a:pPr>
            <a:r>
              <a:rPr lang="en-US" sz="1100" dirty="0">
                <a:solidFill>
                  <a:srgbClr val="B8BFE6"/>
                </a:solidFill>
              </a:rPr>
              <a:t>Sricharan Peri, Prathyusha Kalluri, Neha Susan Manoj</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8BFE6"/>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64008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Nine research objectives and the activities that addressed them</a:t>
            </a:r>
            <a:endParaRPr lang="en-US" sz="2400" dirty="0"/>
          </a:p>
        </p:txBody>
      </p:sp>
      <p:sp>
        <p:nvSpPr>
          <p:cNvPr id="3" name="Text 1"/>
          <p:cNvSpPr txBox="1"/>
          <p:nvPr/>
        </p:nvSpPr>
        <p:spPr>
          <a:xfrm>
            <a:off x="457200" y="4809744"/>
            <a:ext cx="3657600" cy="219456"/>
          </a:xfrm>
          <a:prstGeom prst="rect">
            <a:avLst/>
          </a:prstGeom>
          <a:noFill/>
          <a:ln/>
        </p:spPr>
        <p:txBody>
          <a:bodyPr wrap="square" lIns="0" tIns="0" rIns="0" bIns="0" rtlCol="0" anchor="ctr"/>
          <a:lstStyle/>
          <a:p>
            <a:pPr algn="l" indent="0" marL="0">
              <a:buNone/>
            </a:pPr>
            <a:r>
              <a:rPr lang="en-US" sz="1000" dirty="0">
                <a:solidFill>
                  <a:srgbClr val="616161"/>
                </a:solidFill>
              </a:rPr>
              <a:t>For reading, not presented live</a:t>
            </a:r>
            <a:endParaRPr lang="en-US" sz="1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548640"/>
                <a:gridCol w="5852160"/>
                <a:gridCol w="1097280"/>
                <a:gridCol w="731520"/>
              </a:tblGrid>
              <a:tr h="0">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Objective</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Activity</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Fix the boundary and separate visible symptoms from underlying issues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Identify the people and bodies in the system and what each needs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Establish who holds authority, power and leverage over each decision</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Trace how a registration becomes cooked food</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Measure behaviour over a morning, a week and a month</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Build a model and test which feedback mechanisms close</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Trace events to structures and beliefs, and reframe the problem</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7 and 8</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Find where change could act and what any change must protect</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Design, test and evaluate interventions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64008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Sources of evidence and their main limits</a:t>
            </a:r>
            <a:endParaRPr lang="en-US" sz="2400" dirty="0"/>
          </a:p>
        </p:txBody>
      </p:sp>
      <p:sp>
        <p:nvSpPr>
          <p:cNvPr id="3" name="Text 1"/>
          <p:cNvSpPr txBox="1"/>
          <p:nvPr/>
        </p:nvSpPr>
        <p:spPr>
          <a:xfrm>
            <a:off x="457200" y="4809744"/>
            <a:ext cx="3657600" cy="219456"/>
          </a:xfrm>
          <a:prstGeom prst="rect">
            <a:avLst/>
          </a:prstGeom>
          <a:noFill/>
          <a:ln/>
        </p:spPr>
        <p:txBody>
          <a:bodyPr wrap="square" lIns="0" tIns="0" rIns="0" bIns="0" rtlCol="0" anchor="ctr"/>
          <a:lstStyle/>
          <a:p>
            <a:pPr algn="l" indent="0" marL="0">
              <a:buNone/>
            </a:pPr>
            <a:r>
              <a:rPr lang="en-US" sz="1000" dirty="0">
                <a:solidFill>
                  <a:srgbClr val="616161"/>
                </a:solidFill>
              </a:rPr>
              <a:t>For reading, not presented live</a:t>
            </a:r>
            <a:endParaRPr lang="en-US" sz="10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291840"/>
                <a:gridCol w="2743200"/>
                <a:gridCol w="2194560"/>
              </a:tblGrid>
              <a:tr h="0">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What it gave</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Main limit</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A team member’s own account, 3 September</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The system and a student’s mornings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One person, who is also a stakeholder</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Nine portal screens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Registration dialog, capacities, rates and charges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Each screen shows one day</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Five student interviews, 6 September</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Two daily eaters and three skippers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Four or five distinct people</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Head of facilities, 13 September, with a walkthrough of Kadamba’s kitchen and four posters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Governance, menu rotation, stock, waste and food safety</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One respondent; posters state intent</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Operator visits to three kitchens, 26 September, and a first-hand account, 27 September</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Ordering, registers, rules of thumb and surplus routes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Operators describe their own practice</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Yuktāhār’s books and registers, 26 September</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26 photographs, turned into 22 tables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Some breakfast rows partly hidden by a hand</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Kadamba scan export, April 2026</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Every breakfast registration with its scan time</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One hall, one meal, one month</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64008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The twelve levers, the places they act on, and who can act</a:t>
            </a:r>
            <a:endParaRPr lang="en-US" sz="2400" dirty="0"/>
          </a:p>
        </p:txBody>
      </p:sp>
      <p:sp>
        <p:nvSpPr>
          <p:cNvPr id="3" name="Text 1"/>
          <p:cNvSpPr txBox="1"/>
          <p:nvPr/>
        </p:nvSpPr>
        <p:spPr>
          <a:xfrm>
            <a:off x="457200" y="4809744"/>
            <a:ext cx="3657600" cy="219456"/>
          </a:xfrm>
          <a:prstGeom prst="rect">
            <a:avLst/>
          </a:prstGeom>
          <a:noFill/>
          <a:ln/>
        </p:spPr>
        <p:txBody>
          <a:bodyPr wrap="square" lIns="0" tIns="0" rIns="0" bIns="0" rtlCol="0" anchor="ctr"/>
          <a:lstStyle/>
          <a:p>
            <a:pPr algn="l" indent="0" marL="0">
              <a:buNone/>
            </a:pPr>
            <a:r>
              <a:rPr lang="en-US" sz="1000" dirty="0">
                <a:solidFill>
                  <a:srgbClr val="616161"/>
                </a:solidFill>
              </a:rPr>
              <a:t>For reading, not presented live</a:t>
            </a:r>
            <a:endParaRPr lang="en-US" sz="1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640080"/>
                <a:gridCol w="3383280"/>
                <a:gridCol w="640080"/>
                <a:gridCol w="3566160"/>
              </a:tblGrid>
              <a:tr h="0">
                <a:tc>
                  <a:txBody>
                    <a:bodyPr/>
                    <a:lstStyle/>
                    <a:p>
                      <a:pPr indent="0" marL="0">
                        <a:buNone/>
                      </a:pPr>
                      <a:r>
                        <a:rPr lang="en-US" sz="1000" b="1" dirty="0">
                          <a:solidFill>
                            <a:srgbClr val="1F2430"/>
                          </a:solidFill>
                          <a:latin typeface="Calibri" pitchFamily="34" charset="0"/>
                          <a:ea typeface="Calibri" pitchFamily="34" charset="-122"/>
                          <a:cs typeface="Calibri" pitchFamily="34" charset="-120"/>
                        </a:rPr>
                        <a:t>Lever</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c>
                  <a:txBody>
                    <a:bodyPr/>
                    <a:lstStyle/>
                    <a:p>
                      <a:pPr indent="0" marL="0">
                        <a:buNone/>
                      </a:pPr>
                      <a:r>
                        <a:rPr lang="en-US" sz="1000" b="1" dirty="0">
                          <a:solidFill>
                            <a:srgbClr val="1F2430"/>
                          </a:solidFill>
                          <a:latin typeface="Calibri" pitchFamily="34" charset="0"/>
                          <a:ea typeface="Calibri" pitchFamily="34" charset="-122"/>
                          <a:cs typeface="Calibri" pitchFamily="34" charset="-120"/>
                        </a:rPr>
                        <a:t>What it is</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c>
                  <a:txBody>
                    <a:bodyPr/>
                    <a:lstStyle/>
                    <a:p>
                      <a:pPr indent="0" marL="0">
                        <a:buNone/>
                      </a:pPr>
                      <a:r>
                        <a:rPr lang="en-US" sz="1000" b="1" dirty="0">
                          <a:solidFill>
                            <a:srgbClr val="1F2430"/>
                          </a:solidFill>
                          <a:latin typeface="Calibri" pitchFamily="34" charset="0"/>
                          <a:ea typeface="Calibri" pitchFamily="34" charset="-122"/>
                          <a:cs typeface="Calibri" pitchFamily="34" charset="-120"/>
                        </a:rPr>
                        <a:t>Place</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c>
                  <a:txBody>
                    <a:bodyPr/>
                    <a:lstStyle/>
                    <a:p>
                      <a:pPr indent="0" marL="0">
                        <a:buNone/>
                      </a:pPr>
                      <a:r>
                        <a:rPr lang="en-US" sz="1000" b="1" dirty="0">
                          <a:solidFill>
                            <a:srgbClr val="1F2430"/>
                          </a:solidFill>
                          <a:latin typeface="Calibri" pitchFamily="34" charset="0"/>
                          <a:ea typeface="Calibri" pitchFamily="34" charset="-122"/>
                          <a:cs typeface="Calibri" pitchFamily="34" charset="-120"/>
                        </a:rPr>
                        <a:t>Can a student team act on it?</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r>
              <a:tr h="0">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LP1</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Build the missing routes from records to rule owners</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Yes: high to prototype, medium to deliver</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LP2</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Change the breakfast default and its exit</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Propose only; the rule owner decides</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LP3</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Make surplus a cost in the operator’s goal</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Low to medium; operator management</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LP4</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An operator forum that runs its own trials</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Medium; operators, with the dining services body convening</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LP5</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A record-calibrated first batch and a daily record</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6, 8</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Operator decides; high at Yuktāhār, medium at Kadamba, unsizeable at Bakul</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LP6</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Crest-aware top-up and a staged late batch</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6, 10</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Operator decides; high at Kadamba, low at Bakul</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LP7</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A cost trigger on the oversight line</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Medium, after LP1</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LP8</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Operator voice in the menu</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Medium; the menu committee</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LP9</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A named owner of booked, cooked and eaten</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Held; low</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LP10</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What a booking costs: billing at consumption</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Held; low</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LP11</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Test the governing mental models</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Medium; each belief’s holder</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LP12</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Change the goal actually sought</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000" dirty="0">
                          <a:solidFill>
                            <a:srgbClr val="1F2430"/>
                          </a:solidFill>
                          <a:latin typeface="Calibri" pitchFamily="34" charset="0"/>
                          <a:ea typeface="Calibri" pitchFamily="34" charset="-122"/>
                          <a:cs typeface="Calibri" pitchFamily="34" charset="-120"/>
                        </a:rPr>
                        <a:t>Low to medium; the parent and dining services bodies</a:t>
                      </a:r>
                      <a:endParaRPr lang="en-US" sz="10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bl>
          </a:graphicData>
        </a:graphic>
      </p:graphicFrame>
      <p:sp>
        <p:nvSpPr>
          <p:cNvPr id="5" name="Text 2"/>
          <p:cNvSpPr txBox="1"/>
          <p:nvPr/>
        </p:nvSpPr>
        <p:spPr>
          <a:xfrm>
            <a:off x="457200" y="4526280"/>
            <a:ext cx="8229600" cy="228600"/>
          </a:xfrm>
          <a:prstGeom prst="rect">
            <a:avLst/>
          </a:prstGeom>
          <a:noFill/>
          <a:ln/>
        </p:spPr>
        <p:txBody>
          <a:bodyPr wrap="square" lIns="0" tIns="0" rIns="0" bIns="0" rtlCol="0" anchor="t"/>
          <a:lstStyle/>
          <a:p>
            <a:pPr algn="l" indent="0" marL="0">
              <a:buNone/>
            </a:pPr>
            <a:r>
              <a:rPr lang="en-US" sz="1000" i="1" dirty="0">
                <a:solidFill>
                  <a:srgbClr val="616161"/>
                </a:solidFill>
              </a:rPr>
              <a:t>The ladder on slide 42 shows additional places for LP3, LP5, LP7 and LP8 and is the authority for the chip positions.</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64008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Decision points on the path to a booking that matches intent</a:t>
            </a:r>
            <a:endParaRPr lang="en-US" sz="2400" dirty="0"/>
          </a:p>
        </p:txBody>
      </p:sp>
      <p:sp>
        <p:nvSpPr>
          <p:cNvPr id="3" name="Text 1"/>
          <p:cNvSpPr txBox="1"/>
          <p:nvPr/>
        </p:nvSpPr>
        <p:spPr>
          <a:xfrm>
            <a:off x="457200" y="4809744"/>
            <a:ext cx="3657600" cy="219456"/>
          </a:xfrm>
          <a:prstGeom prst="rect">
            <a:avLst/>
          </a:prstGeom>
          <a:noFill/>
          <a:ln/>
        </p:spPr>
        <p:txBody>
          <a:bodyPr wrap="square" lIns="0" tIns="0" rIns="0" bIns="0" rtlCol="0" anchor="ctr"/>
          <a:lstStyle/>
          <a:p>
            <a:pPr algn="l" indent="0" marL="0">
              <a:buNone/>
            </a:pPr>
            <a:r>
              <a:rPr lang="en-US" sz="1000" dirty="0">
                <a:solidFill>
                  <a:srgbClr val="616161"/>
                </a:solidFill>
              </a:rPr>
              <a:t>For reading, not presented live</a:t>
            </a:r>
            <a:endParaRPr lang="en-US" sz="10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2011680"/>
                <a:gridCol w="4206240"/>
              </a:tblGrid>
              <a:tr h="0">
                <a:tc>
                  <a:txBody>
                    <a:bodyPr/>
                    <a:lstStyle/>
                    <a:p>
                      <a:pPr indent="0" marL="0">
                        <a:buNone/>
                      </a:pPr>
                      <a:r>
                        <a:rPr lang="en-US" sz="1200" b="1" dirty="0">
                          <a:solidFill>
                            <a:srgbClr val="1F2430"/>
                          </a:solidFill>
                          <a:latin typeface="Calibri" pitchFamily="34" charset="0"/>
                          <a:ea typeface="Calibri" pitchFamily="34" charset="-122"/>
                          <a:cs typeface="Calibri" pitchFamily="34" charset="-120"/>
                        </a:rPr>
                        <a:t>Decision point</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c>
                  <a:txBody>
                    <a:bodyPr/>
                    <a:lstStyle/>
                    <a:p>
                      <a:pPr indent="0" marL="0">
                        <a:buNone/>
                      </a:pPr>
                      <a:r>
                        <a:rPr lang="en-US" sz="1200" b="1" dirty="0">
                          <a:solidFill>
                            <a:srgbClr val="1F2430"/>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c>
                  <a:txBody>
                    <a:bodyPr/>
                    <a:lstStyle/>
                    <a:p>
                      <a:pPr indent="0" marL="0">
                        <a:buNone/>
                      </a:pPr>
                      <a:r>
                        <a:rPr lang="en-US" sz="1200" b="1" dirty="0">
                          <a:solidFill>
                            <a:srgbClr val="1F2430"/>
                          </a:solidFill>
                          <a:latin typeface="Calibri" pitchFamily="34" charset="0"/>
                          <a:ea typeface="Calibri" pitchFamily="34" charset="-122"/>
                          <a:cs typeface="Calibri" pitchFamily="34" charset="-120"/>
                        </a:rPr>
                        <a:t>Rule, and what happens if the evidence goes the other way</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r>
              <a:tr h="0">
                <a:tc>
                  <a:txBody>
                    <a:bodyPr/>
                    <a:lstStyle/>
                    <a:p>
                      <a:pPr indent="0" marL="0">
                        <a:buNone/>
                      </a:pPr>
                      <a:r>
                        <a:rPr lang="en-US" sz="1200" dirty="0">
                          <a:solidFill>
                            <a:srgbClr val="1F2430"/>
                          </a:solidFill>
                          <a:latin typeface="Calibri" pitchFamily="34" charset="0"/>
                          <a:ea typeface="Calibri" pitchFamily="34" charset="-122"/>
                          <a:cs typeface="Calibri" pitchFamily="34" charset="-120"/>
                        </a:rPr>
                        <a:t>DP1 Sunday skip</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Calibri" pitchFamily="34" charset="0"/>
                          <a:ea typeface="Calibri" pitchFamily="34" charset="-122"/>
                          <a:cs typeface="Calibri" pitchFamily="34" charset="-120"/>
                        </a:rPr>
                        <a:t>Week 6; in force about week 10</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Calibri" pitchFamily="34" charset="0"/>
                          <a:ea typeface="Calibri" pitchFamily="34" charset="-122"/>
                          <a:cs typeface="Calibri" pitchFamily="34" charset="-120"/>
                        </a:rPr>
                        <a:t>Goes ahead on this date; if declined, the Sunday charge line goes to the escalation forum</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Calibri" pitchFamily="34" charset="0"/>
                          <a:ea typeface="Calibri" pitchFamily="34" charset="-122"/>
                          <a:cs typeface="Calibri" pitchFamily="34" charset="-120"/>
                        </a:rPr>
                        <a:t>DP2 Every-day skip</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200" dirty="0">
                          <a:solidFill>
                            <a:srgbClr val="1F2430"/>
                          </a:solidFill>
                          <a:latin typeface="Calibri" pitchFamily="34" charset="0"/>
                          <a:ea typeface="Calibri" pitchFamily="34" charset="-122"/>
                          <a:cs typeface="Calibri" pitchFamily="34" charset="-120"/>
                        </a:rPr>
                        <a:t>Week 14; from about week 16</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200" dirty="0">
                          <a:solidFill>
                            <a:srgbClr val="1F2430"/>
                          </a:solidFill>
                          <a:latin typeface="Calibri" pitchFamily="34" charset="0"/>
                          <a:ea typeface="Calibri" pitchFamily="34" charset="-122"/>
                          <a:cs typeface="Calibri" pitchFamily="34" charset="-120"/>
                        </a:rPr>
                        <a:t>Sunday uptake at least 25 per cent and no Sunday more than 10 short; if uptake is under 10 per cent, the wording is retested</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200" dirty="0">
                          <a:solidFill>
                            <a:srgbClr val="1F2430"/>
                          </a:solidFill>
                          <a:latin typeface="Calibri" pitchFamily="34" charset="0"/>
                          <a:ea typeface="Calibri" pitchFamily="34" charset="-122"/>
                          <a:cs typeface="Calibri" pitchFamily="34" charset="-120"/>
                        </a:rPr>
                        <a:t>DP3 Default matched to intent</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Calibri" pitchFamily="34" charset="0"/>
                          <a:ea typeface="Calibri" pitchFamily="34" charset="-122"/>
                          <a:cs typeface="Calibri" pitchFamily="34" charset="-120"/>
                        </a:rPr>
                        <a:t>After a term of DP2</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200" dirty="0">
                          <a:solidFill>
                            <a:srgbClr val="1F2430"/>
                          </a:solidFill>
                          <a:latin typeface="Calibri" pitchFamily="34" charset="0"/>
                          <a:ea typeface="Calibri" pitchFamily="34" charset="-122"/>
                          <a:cs typeface="Calibri" pitchFamily="34" charset="-120"/>
                        </a:rPr>
                        <a:t>Opt-in on the lowest-turnout days; if uptake is low and the charge stable, the skip and default stay</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430"/>
                          </a:solidFill>
                          <a:latin typeface="Calibri" pitchFamily="34" charset="0"/>
                          <a:ea typeface="Calibri" pitchFamily="34" charset="-122"/>
                          <a:cs typeface="Calibri" pitchFamily="34" charset="-120"/>
                        </a:rPr>
                        <a:t>DP4 Billing and payment</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200" dirty="0">
                          <a:solidFill>
                            <a:srgbClr val="1F2430"/>
                          </a:solidFill>
                          <a:latin typeface="Calibri" pitchFamily="34" charset="0"/>
                          <a:ea typeface="Calibri" pitchFamily="34" charset="-122"/>
                          <a:cs typeface="Calibri" pitchFamily="34" charset="-120"/>
                        </a:rPr>
                        <a:t>Once the payment basis is known</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200" dirty="0">
                          <a:solidFill>
                            <a:srgbClr val="1F2430"/>
                          </a:solidFill>
                          <a:latin typeface="Calibri" pitchFamily="34" charset="0"/>
                          <a:ea typeface="Calibri" pitchFamily="34" charset="-122"/>
                          <a:cs typeface="Calibri" pitchFamily="34" charset="-120"/>
                        </a:rPr>
                        <a:t>Billing at consumption or payment on served plates; if plates are registered and there is no rate agreement, billing stays and the skip carries the students</a:t>
                      </a:r>
                      <a:endParaRPr lang="en-US" sz="12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bl>
          </a:graphicData>
        </a:graphic>
      </p:graphicFrame>
      <p:sp>
        <p:nvSpPr>
          <p:cNvPr id="5" name="Text 2"/>
          <p:cNvSpPr txBox="1"/>
          <p:nvPr/>
        </p:nvSpPr>
        <p:spPr>
          <a:xfrm>
            <a:off x="457200" y="4434840"/>
            <a:ext cx="5486400" cy="228600"/>
          </a:xfrm>
          <a:prstGeom prst="rect">
            <a:avLst/>
          </a:prstGeom>
          <a:noFill/>
          <a:ln/>
        </p:spPr>
        <p:txBody>
          <a:bodyPr wrap="square" lIns="0" tIns="0" rIns="0" bIns="0" rtlCol="0" anchor="t"/>
          <a:lstStyle/>
          <a:p>
            <a:pPr algn="l" indent="0" marL="0">
              <a:buNone/>
            </a:pPr>
            <a:r>
              <a:rPr lang="en-US" sz="1100" i="1" dirty="0">
                <a:solidFill>
                  <a:srgbClr val="616161"/>
                </a:solidFill>
              </a:rPr>
              <a:t>The thresholds are the team’s judgement.</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310896"/>
            <a:ext cx="8229600" cy="640080"/>
          </a:xfrm>
          <a:prstGeom prst="rect">
            <a:avLst/>
          </a:prstGeom>
          <a:noFill/>
          <a:ln/>
        </p:spPr>
        <p:txBody>
          <a:bodyPr wrap="square" lIns="0" tIns="0" rIns="0" bIns="0" rtlCol="0" anchor="t"/>
          <a:lstStyle/>
          <a:p>
            <a:pPr algn="l" indent="0" marL="0">
              <a:buNone/>
            </a:pPr>
            <a:r>
              <a:rPr lang="en-US" sz="2400" b="1" dirty="0">
                <a:solidFill>
                  <a:srgbClr val="1F2430"/>
                </a:solidFill>
                <a:latin typeface="Cambria" pitchFamily="34" charset="0"/>
                <a:ea typeface="Cambria" pitchFamily="34" charset="-122"/>
                <a:cs typeface="Cambria" pitchFamily="34" charset="-120"/>
              </a:rPr>
              <a:t>Open questions and who could answer them</a:t>
            </a:r>
            <a:endParaRPr lang="en-US" sz="2400" dirty="0"/>
          </a:p>
        </p:txBody>
      </p:sp>
      <p:sp>
        <p:nvSpPr>
          <p:cNvPr id="3" name="Text 1"/>
          <p:cNvSpPr txBox="1"/>
          <p:nvPr/>
        </p:nvSpPr>
        <p:spPr>
          <a:xfrm>
            <a:off x="457200" y="4809744"/>
            <a:ext cx="3657600" cy="219456"/>
          </a:xfrm>
          <a:prstGeom prst="rect">
            <a:avLst/>
          </a:prstGeom>
          <a:noFill/>
          <a:ln/>
        </p:spPr>
        <p:txBody>
          <a:bodyPr wrap="square" lIns="0" tIns="0" rIns="0" bIns="0" rtlCol="0" anchor="ctr"/>
          <a:lstStyle/>
          <a:p>
            <a:pPr algn="l" indent="0" marL="0">
              <a:buNone/>
            </a:pPr>
            <a:r>
              <a:rPr lang="en-US" sz="1000" dirty="0">
                <a:solidFill>
                  <a:srgbClr val="616161"/>
                </a:solidFill>
              </a:rPr>
              <a:t>For reading, not presented live</a:t>
            </a:r>
            <a:endParaRPr lang="en-US" sz="10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5669280"/>
                <a:gridCol w="2560320"/>
              </a:tblGrid>
              <a:tr h="0">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c>
                  <a:txBody>
                    <a:bodyPr/>
                    <a:lstStyle/>
                    <a:p>
                      <a:pPr indent="0" marL="0">
                        <a:buNone/>
                      </a:pPr>
                      <a:r>
                        <a:rPr lang="en-US" sz="1100" b="1" dirty="0">
                          <a:solidFill>
                            <a:srgbClr val="1F2430"/>
                          </a:solidFill>
                          <a:latin typeface="Calibri" pitchFamily="34" charset="0"/>
                          <a:ea typeface="Calibri" pitchFamily="34" charset="-122"/>
                          <a:cs typeface="Calibri" pitchFamily="34" charset="-120"/>
                        </a:rPr>
                        <a:t>Who could answer it</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E8EAF6"/>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What a plate counts for in each operator’s monthly payment; no contract has been seen</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The institution’s contracts or the dining services body</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Whether Skip Meal lowers the count that Kadamba cooks from</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The dining services body</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How many students would take a Sunday skip (assumed 25 to 50% of no-shows, tested from 10 to 75)</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The students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Whether a late batch cooked at 9:00 can land by about 9:15 without delaying service at the crest</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The operators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What Kadamba’s stated 5 to 10% waste figure is a percentage of</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The operators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Who set the four-day close and the limit of five cancellations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The institution and its contracts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Who heads the dining services body</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The dining services body</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Whether the April pattern holds in other months and at the halls without records</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Scan exports not yet obtained</a:t>
                      </a:r>
                      <a:endParaRPr lang="en-US" sz="1100" dirty="0">
                        <a:latin typeface="Calibri" charset="0"/>
                        <a:ea typeface="Calibri" charset="0"/>
                        <a:cs typeface="Calibri" charset="0"/>
                      </a:endParaRPr>
                    </a:p>
                  </a:txBody>
                  <a:tcPr marL="64008" marR="64008" marT="36576" marB="36576" anchor="ctr">
                    <a:lnL w="6350" cap="flat" cmpd="sng" algn="ctr">
                      <a:solidFill>
                        <a:srgbClr val="C9CDE0"/>
                      </a:solidFill>
                      <a:prstDash val="solid"/>
                      <a:round/>
                      <a:headEnd type="none" w="med" len="med"/>
                      <a:tailEnd type="none" w="med" len="med"/>
                    </a:lnL>
                    <a:lnR w="6350" cap="flat" cmpd="sng" algn="ctr">
                      <a:solidFill>
                        <a:srgbClr val="C9CDE0"/>
                      </a:solidFill>
                      <a:prstDash val="solid"/>
                      <a:round/>
                      <a:headEnd type="none" w="med" len="med"/>
                      <a:tailEnd type="none" w="med" len="med"/>
                    </a:lnR>
                    <a:lnT w="6350" cap="flat" cmpd="sng" algn="ctr">
                      <a:solidFill>
                        <a:srgbClr val="C9CDE0"/>
                      </a:solidFill>
                      <a:prstDash val="solid"/>
                      <a:round/>
                      <a:headEnd type="none" w="med" len="med"/>
                      <a:tailEnd type="none" w="med" len="med"/>
                    </a:lnT>
                    <a:lnB w="6350" cap="flat" cmpd="sng" algn="ctr">
                      <a:solidFill>
                        <a:srgbClr val="C9CDE0"/>
                      </a:solidFill>
                      <a:prstDash val="solid"/>
                      <a:round/>
                      <a:headEnd type="none" w="med" len="med"/>
                      <a:tailEnd type="none" w="med" len="med"/>
                    </a:lnB>
                    <a:solidFill>
                      <a:srgbClr val="F6F6F9"/>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16161"/>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theme/theme1.xml><?xml version="1.0" encoding="utf-8"?>
<a:theme xmlns:a="http://schemas.openxmlformats.org/drawingml/2006/main" name="Breakfast Paradox">
  <a:themeElements>
    <a:clrScheme name="Breakfast Paradox">
      <a:dk1>
        <a:srgbClr val="1F2430"/>
      </a:dk1>
      <a:lt1>
        <a:srgbClr val="FAF8F4"/>
      </a:lt1>
      <a:dk2>
        <a:srgbClr val="0E1440"/>
      </a:dk2>
      <a:lt2>
        <a:srgbClr val="E8EAF6"/>
      </a:lt2>
      <a:accent1>
        <a:srgbClr val="E65100"/>
      </a:accent1>
      <a:accent2>
        <a:srgbClr val="1565C0"/>
      </a:accent2>
      <a:accent3>
        <a:srgbClr val="00695C"/>
      </a:accent3>
      <a:accent4>
        <a:srgbClr val="6A1B9A"/>
      </a:accent4>
      <a:accent5>
        <a:srgbClr val="C62828"/>
      </a:accent5>
      <a:accent6>
        <a:srgbClr val="2E7D32"/>
      </a:accent6>
      <a:hlink>
        <a:srgbClr val="1A237E"/>
      </a:hlink>
      <a:folHlink>
        <a:srgbClr val="F57F17"/>
      </a:folHlink>
    </a:clrScheme>
    <a:fontScheme name="Breakfast Parado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subject> </dc:subject>
  <dc:creator> </dc:creator>
  <cp:lastModifiedBy> </cp:lastModifiedBy>
  <cp:revision>1</cp:revision>
  <dcterms:created xsi:type="dcterms:W3CDTF">2026-10-13T14:48:51Z</dcterms:created>
  <dcterms:modified xsi:type="dcterms:W3CDTF">2026-10-13T14:48:51Z</dcterms:modified>
</cp:coreProperties>
</file>